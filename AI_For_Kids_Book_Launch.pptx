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310" r:id="rId12"/>
    <p:sldId id="311"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252" autoAdjust="0"/>
  </p:normalViewPr>
  <p:slideViewPr>
    <p:cSldViewPr snapToGrid="0" snapToObjects="1">
      <p:cViewPr varScale="1">
        <p:scale>
          <a:sx n="109" d="100"/>
          <a:sy n="109" d="100"/>
        </p:scale>
        <p:origin x="114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116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AI FOR KIDS Book Launch. Introduce yourself as Women in AI Nigeria Lead and Associate Professor at OOU. Mention the significance of this moment for AI literacy in Nigeria.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world our children inherit is radically different from ours. AI is not a future concern — it is the present. These numbers from the WEF make one thing clear: AI literacy is not optional for the next generation.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literacy is not about making every child a programmer. It is about giving them the conceptual vocabulary and critical capacity to navigate an AI-shaped world. The three pillars — Awareness, Ethics, Agency — form the foundation.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learn languages fastest before age 12. The same neuroplasticity applies to computational thinking. The earlier we introduce AI concepts — even informally — the more intuitive these skills become. The 'AI FOR KIDS' series targets exactly this critical window.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Nigeria has the youngest and largest population in Africa. Yet the AI tools, datasets, and educational materials that will shape the future rarely reflect Nigerian faces, names, languages, or contexts. Books like 'AI FOR KIDS' by Cecilia Adenusi are an act of cultural reclamation.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FOR KIDS' series is a landmark publication — the first of its kind in Nigeria to use native contexts, relatable characters, and responsible AI values as its backbone. Book 1, 'Smart Machines Around Us', opens the door gently and powerfully.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literacy is not a narrow technical skill — it is a broad capability multiplier. A child who understands AI concepts thinks more critically, creates more boldly, and participates more equitably in a digital society.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literacy starts at home and in the classroom. These five practical actions require no technical background — just intention and curiosity. Every parent and every teacher in this room can start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FOR KIDS' series is not just a book. It is a declaration: that African children deserve to see themselves in the future of AI — not as bystanders, but as architects.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Invite the audience to get their copy, share with schools, and join the Women in AI Nigeria movement. Celebrate Mrs. Cecilia Adenusi and the entire panel for this landmark contribution to AI education in Nigeria.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365760" y="320040"/>
            <a:ext cx="8412480" cy="1325880"/>
          </a:xfrm>
          <a:prstGeom prst="roundRect">
            <a:avLst>
              <a:gd name="adj" fmla="val 8276"/>
            </a:avLst>
          </a:prstGeom>
          <a:solidFill>
            <a:srgbClr val="1A56C4"/>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365760" y="320040"/>
            <a:ext cx="8412480" cy="13258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AI LITERACY FOR CHILDREN</a:t>
            </a:r>
            <a:endParaRPr lang="en-US" sz="3400" dirty="0"/>
          </a:p>
        </p:txBody>
      </p:sp>
      <p:sp>
        <p:nvSpPr>
          <p:cNvPr id="4" name="Text 2"/>
          <p:cNvSpPr/>
          <p:nvPr/>
        </p:nvSpPr>
        <p:spPr>
          <a:xfrm>
            <a:off x="457200" y="1783080"/>
            <a:ext cx="8229600" cy="457200"/>
          </a:xfrm>
          <a:prstGeom prst="rect">
            <a:avLst/>
          </a:prstGeom>
          <a:noFill/>
          <a:ln/>
        </p:spPr>
        <p:txBody>
          <a:bodyPr wrap="square" rtlCol="0" anchor="ctr"/>
          <a:lstStyle/>
          <a:p>
            <a:pPr marL="0" indent="0" algn="ctr">
              <a:buNone/>
            </a:pPr>
            <a:r>
              <a:rPr lang="en-US" sz="1800" i="1" dirty="0">
                <a:solidFill>
                  <a:srgbClr val="F5C518"/>
                </a:solidFill>
                <a:latin typeface="Calibri" pitchFamily="34" charset="0"/>
                <a:ea typeface="Calibri" pitchFamily="34" charset="-122"/>
                <a:cs typeface="Calibri" pitchFamily="34" charset="-120"/>
              </a:rPr>
              <a:t>Why It Matters · Why Now · Why Nigeria</a:t>
            </a:r>
            <a:endParaRPr lang="en-US" sz="1800" dirty="0"/>
          </a:p>
        </p:txBody>
      </p:sp>
      <p:pic>
        <p:nvPicPr>
          <p:cNvPr id="5" name="Image 0" descr="preencoded.png"/>
          <p:cNvPicPr>
            <a:picLocks noChangeAspect="1"/>
          </p:cNvPicPr>
          <p:nvPr/>
        </p:nvPicPr>
        <p:blipFill>
          <a:blip r:embed="rId3"/>
          <a:stretch>
            <a:fillRect/>
          </a:stretch>
        </p:blipFill>
        <p:spPr>
          <a:xfrm>
            <a:off x="640080" y="2331720"/>
            <a:ext cx="320040" cy="320040"/>
          </a:xfrm>
          <a:prstGeom prst="rect">
            <a:avLst/>
          </a:prstGeom>
        </p:spPr>
      </p:pic>
      <p:pic>
        <p:nvPicPr>
          <p:cNvPr id="6" name="Image 1" descr="preencoded.png"/>
          <p:cNvPicPr>
            <a:picLocks noChangeAspect="1"/>
          </p:cNvPicPr>
          <p:nvPr/>
        </p:nvPicPr>
        <p:blipFill>
          <a:blip r:embed="rId3"/>
          <a:stretch>
            <a:fillRect/>
          </a:stretch>
        </p:blipFill>
        <p:spPr>
          <a:xfrm>
            <a:off x="1188720" y="2331720"/>
            <a:ext cx="320040" cy="320040"/>
          </a:xfrm>
          <a:prstGeom prst="rect">
            <a:avLst/>
          </a:prstGeom>
        </p:spPr>
      </p:pic>
      <p:pic>
        <p:nvPicPr>
          <p:cNvPr id="7" name="Image 2" descr="preencoded.png"/>
          <p:cNvPicPr>
            <a:picLocks noChangeAspect="1"/>
          </p:cNvPicPr>
          <p:nvPr/>
        </p:nvPicPr>
        <p:blipFill>
          <a:blip r:embed="rId3"/>
          <a:stretch>
            <a:fillRect/>
          </a:stretch>
        </p:blipFill>
        <p:spPr>
          <a:xfrm>
            <a:off x="7680960" y="2331720"/>
            <a:ext cx="320040" cy="320040"/>
          </a:xfrm>
          <a:prstGeom prst="rect">
            <a:avLst/>
          </a:prstGeom>
        </p:spPr>
      </p:pic>
      <p:pic>
        <p:nvPicPr>
          <p:cNvPr id="8" name="Image 3" descr="preencoded.png"/>
          <p:cNvPicPr>
            <a:picLocks noChangeAspect="1"/>
          </p:cNvPicPr>
          <p:nvPr/>
        </p:nvPicPr>
        <p:blipFill>
          <a:blip r:embed="rId3"/>
          <a:stretch>
            <a:fillRect/>
          </a:stretch>
        </p:blipFill>
        <p:spPr>
          <a:xfrm>
            <a:off x="8229600" y="2331720"/>
            <a:ext cx="320040" cy="320040"/>
          </a:xfrm>
          <a:prstGeom prst="rect">
            <a:avLst/>
          </a:prstGeom>
        </p:spPr>
      </p:pic>
      <p:sp>
        <p:nvSpPr>
          <p:cNvPr id="9" name="Shape 3"/>
          <p:cNvSpPr/>
          <p:nvPr/>
        </p:nvSpPr>
        <p:spPr>
          <a:xfrm>
            <a:off x="1371600" y="2697480"/>
            <a:ext cx="6400800" cy="1691640"/>
          </a:xfrm>
          <a:prstGeom prst="roundRect">
            <a:avLst>
              <a:gd name="adj" fmla="val 8108"/>
            </a:avLst>
          </a:prstGeom>
          <a:solidFill>
            <a:srgbClr val="132060"/>
          </a:solidFill>
          <a:ln/>
          <a:effectLst>
            <a:outerShdw blurRad="101600" dist="38100" dir="2700000" algn="bl" rotWithShape="0">
              <a:srgbClr val="000000">
                <a:alpha val="13000"/>
              </a:srgbClr>
            </a:outerShdw>
          </a:effectLst>
        </p:spPr>
        <p:txBody>
          <a:bodyPr/>
          <a:lstStyle/>
          <a:p>
            <a:endParaRPr lang="en-GB"/>
          </a:p>
        </p:txBody>
      </p:sp>
      <p:sp>
        <p:nvSpPr>
          <p:cNvPr id="10" name="Text 4"/>
          <p:cNvSpPr/>
          <p:nvPr/>
        </p:nvSpPr>
        <p:spPr>
          <a:xfrm>
            <a:off x="1371600" y="2697480"/>
            <a:ext cx="6400800" cy="1691640"/>
          </a:xfrm>
          <a:prstGeom prst="rect">
            <a:avLst/>
          </a:prstGeom>
          <a:noFill/>
          <a:ln/>
        </p:spPr>
        <p:txBody>
          <a:bodyPr wrap="square" rtlCol="0" anchor="ctr"/>
          <a:lstStyle/>
          <a:p>
            <a:pPr marL="0" indent="0" algn="ctr">
              <a:buNone/>
            </a:pPr>
            <a:r>
              <a:rPr lang="en-US" sz="1600" b="1" dirty="0">
                <a:solidFill>
                  <a:srgbClr val="F5C518"/>
                </a:solidFill>
                <a:latin typeface="Calibri" pitchFamily="34" charset="0"/>
                <a:ea typeface="Calibri" pitchFamily="34" charset="-122"/>
                <a:cs typeface="Calibri" pitchFamily="34" charset="-120"/>
              </a:rPr>
              <a:t>AI FOR KIDS Book Launch</a:t>
            </a:r>
            <a:endParaRPr lang="en-US" sz="1600" dirty="0"/>
          </a:p>
          <a:p>
            <a:pPr marL="0" indent="0" algn="ctr">
              <a:buNone/>
            </a:pPr>
            <a:r>
              <a:rPr lang="en-US" sz="1300" dirty="0">
                <a:solidFill>
                  <a:srgbClr val="FFFFFF"/>
                </a:solidFill>
                <a:latin typeface="Calibri" pitchFamily="34" charset="0"/>
                <a:ea typeface="Calibri" pitchFamily="34" charset="-122"/>
                <a:cs typeface="Calibri" pitchFamily="34" charset="-120"/>
              </a:rPr>
              <a:t>Thursday, 18th June 2026  ·  4:00 PM</a:t>
            </a:r>
            <a:endParaRPr lang="en-US" sz="1600" dirty="0"/>
          </a:p>
          <a:p>
            <a:pPr marL="0" indent="0" algn="ctr">
              <a:buNone/>
            </a:pPr>
            <a:r>
              <a:rPr lang="en-US" sz="1300" dirty="0">
                <a:solidFill>
                  <a:srgbClr val="D6E8FF"/>
                </a:solidFill>
                <a:latin typeface="Calibri" pitchFamily="34" charset="0"/>
                <a:ea typeface="Calibri" pitchFamily="34" charset="-122"/>
                <a:cs typeface="Calibri" pitchFamily="34" charset="-120"/>
              </a:rPr>
              <a:t>Basco Plaza, Bashorun, Ibadan</a:t>
            </a:r>
            <a:endParaRPr lang="en-US" sz="1600" dirty="0"/>
          </a:p>
        </p:txBody>
      </p:sp>
      <p:sp>
        <p:nvSpPr>
          <p:cNvPr id="11" name="Text 5"/>
          <p:cNvSpPr/>
          <p:nvPr/>
        </p:nvSpPr>
        <p:spPr>
          <a:xfrm>
            <a:off x="457200" y="4572000"/>
            <a:ext cx="8229600" cy="365760"/>
          </a:xfrm>
          <a:prstGeom prst="rect">
            <a:avLst/>
          </a:prstGeom>
          <a:noFill/>
          <a:ln/>
        </p:spPr>
        <p:txBody>
          <a:bodyPr wrap="square" rtlCol="0" anchor="ctr"/>
          <a:lstStyle/>
          <a:p>
            <a:pPr marL="0" indent="0" algn="ctr">
              <a:buNone/>
            </a:pPr>
            <a:r>
              <a:rPr lang="en-US" sz="1100" dirty="0">
                <a:solidFill>
                  <a:srgbClr val="6B7A9A"/>
                </a:solidFill>
                <a:latin typeface="Calibri" pitchFamily="34" charset="0"/>
                <a:ea typeface="Calibri" pitchFamily="34" charset="-122"/>
                <a:cs typeface="Calibri" pitchFamily="34" charset="-120"/>
              </a:rPr>
              <a:t>Presented by: Dr. Sakinat Folorunso  |  Women in AI Nigeria Lead  |  Associate Professor, OOU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0D1B4B"/>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The World Our Children Are Inheriting</a:t>
            </a:r>
            <a:endParaRPr lang="en-US" sz="2600" dirty="0"/>
          </a:p>
        </p:txBody>
      </p:sp>
      <p:sp>
        <p:nvSpPr>
          <p:cNvPr id="4" name="Shape 2"/>
          <p:cNvSpPr/>
          <p:nvPr/>
        </p:nvSpPr>
        <p:spPr>
          <a:xfrm>
            <a:off x="274320" y="1097280"/>
            <a:ext cx="2011680" cy="3383280"/>
          </a:xfrm>
          <a:prstGeom prst="roundRect">
            <a:avLst>
              <a:gd name="adj" fmla="val 6818"/>
            </a:avLst>
          </a:prstGeom>
          <a:solidFill>
            <a:srgbClr val="D6E8FF"/>
          </a:solidFill>
          <a:ln/>
          <a:effectLst>
            <a:outerShdw blurRad="101600" dist="38100" dir="2700000" algn="bl" rotWithShape="0">
              <a:srgbClr val="000000">
                <a:alpha val="13000"/>
              </a:srgbClr>
            </a:outerShdw>
          </a:effectLst>
        </p:spPr>
        <p:txBody>
          <a:bodyPr/>
          <a:lstStyle/>
          <a:p>
            <a:endParaRPr lang="en-GB"/>
          </a:p>
        </p:txBody>
      </p:sp>
      <p:sp>
        <p:nvSpPr>
          <p:cNvPr id="5" name="Shape 3"/>
          <p:cNvSpPr/>
          <p:nvPr/>
        </p:nvSpPr>
        <p:spPr>
          <a:xfrm>
            <a:off x="822960" y="1261872"/>
            <a:ext cx="914400" cy="914400"/>
          </a:xfrm>
          <a:prstGeom prst="ellipse">
            <a:avLst/>
          </a:prstGeom>
          <a:solidFill>
            <a:srgbClr val="1A56C4"/>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960120" y="1389888"/>
            <a:ext cx="457200" cy="457200"/>
          </a:xfrm>
          <a:prstGeom prst="rect">
            <a:avLst/>
          </a:prstGeom>
        </p:spPr>
      </p:pic>
      <p:sp>
        <p:nvSpPr>
          <p:cNvPr id="7" name="Text 4"/>
          <p:cNvSpPr/>
          <p:nvPr/>
        </p:nvSpPr>
        <p:spPr>
          <a:xfrm>
            <a:off x="365760" y="2286000"/>
            <a:ext cx="1828800" cy="685800"/>
          </a:xfrm>
          <a:prstGeom prst="rect">
            <a:avLst/>
          </a:prstGeom>
          <a:noFill/>
          <a:ln/>
        </p:spPr>
        <p:txBody>
          <a:bodyPr wrap="square" lIns="0" tIns="0" rIns="0" bIns="0" rtlCol="0" anchor="ctr"/>
          <a:lstStyle/>
          <a:p>
            <a:pPr marL="0" indent="0" algn="ctr">
              <a:buNone/>
            </a:pPr>
            <a:r>
              <a:rPr lang="en-US" sz="3200" b="1" dirty="0">
                <a:solidFill>
                  <a:srgbClr val="1A56C4"/>
                </a:solidFill>
                <a:latin typeface="Cambria" pitchFamily="34" charset="0"/>
                <a:ea typeface="Cambria" pitchFamily="34" charset="-122"/>
                <a:cs typeface="Cambria" pitchFamily="34" charset="-120"/>
              </a:rPr>
              <a:t>85M</a:t>
            </a:r>
            <a:endParaRPr lang="en-US" sz="3200" dirty="0"/>
          </a:p>
        </p:txBody>
      </p:sp>
      <p:sp>
        <p:nvSpPr>
          <p:cNvPr id="8" name="Text 5"/>
          <p:cNvSpPr/>
          <p:nvPr/>
        </p:nvSpPr>
        <p:spPr>
          <a:xfrm>
            <a:off x="365760" y="3017520"/>
            <a:ext cx="1828800" cy="118872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Jobs transformed</a:t>
            </a:r>
            <a:endParaRPr lang="en-US" sz="1300" dirty="0"/>
          </a:p>
          <a:p>
            <a:pPr marL="0" indent="0" algn="ctr">
              <a:buNone/>
            </a:pPr>
            <a:r>
              <a:rPr lang="en-US" sz="1300" dirty="0">
                <a:solidFill>
                  <a:srgbClr val="1A1A2E"/>
                </a:solidFill>
                <a:latin typeface="Calibri" pitchFamily="34" charset="0"/>
                <a:ea typeface="Calibri" pitchFamily="34" charset="-122"/>
                <a:cs typeface="Calibri" pitchFamily="34" charset="-120"/>
              </a:rPr>
              <a:t>by AI by 2025</a:t>
            </a:r>
            <a:endParaRPr lang="en-US" sz="1300" dirty="0"/>
          </a:p>
        </p:txBody>
      </p:sp>
      <p:sp>
        <p:nvSpPr>
          <p:cNvPr id="9" name="Shape 6"/>
          <p:cNvSpPr/>
          <p:nvPr/>
        </p:nvSpPr>
        <p:spPr>
          <a:xfrm>
            <a:off x="2468880" y="1097280"/>
            <a:ext cx="2011680" cy="3383280"/>
          </a:xfrm>
          <a:prstGeom prst="roundRect">
            <a:avLst>
              <a:gd name="adj" fmla="val 6818"/>
            </a:avLst>
          </a:prstGeom>
          <a:solidFill>
            <a:srgbClr val="D6F5E0"/>
          </a:solidFill>
          <a:ln/>
          <a:effectLst>
            <a:outerShdw blurRad="101600" dist="38100" dir="2700000" algn="bl" rotWithShape="0">
              <a:srgbClr val="000000">
                <a:alpha val="13000"/>
              </a:srgbClr>
            </a:outerShdw>
          </a:effectLst>
        </p:spPr>
        <p:txBody>
          <a:bodyPr/>
          <a:lstStyle/>
          <a:p>
            <a:endParaRPr lang="en-GB"/>
          </a:p>
        </p:txBody>
      </p:sp>
      <p:sp>
        <p:nvSpPr>
          <p:cNvPr id="10" name="Shape 7"/>
          <p:cNvSpPr/>
          <p:nvPr/>
        </p:nvSpPr>
        <p:spPr>
          <a:xfrm>
            <a:off x="3017520" y="1261872"/>
            <a:ext cx="914400" cy="914400"/>
          </a:xfrm>
          <a:prstGeom prst="ellipse">
            <a:avLst/>
          </a:prstGeom>
          <a:solidFill>
            <a:srgbClr val="2D9E47"/>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3154680" y="1389888"/>
            <a:ext cx="457200" cy="457200"/>
          </a:xfrm>
          <a:prstGeom prst="rect">
            <a:avLst/>
          </a:prstGeom>
        </p:spPr>
      </p:pic>
      <p:sp>
        <p:nvSpPr>
          <p:cNvPr id="12" name="Text 8"/>
          <p:cNvSpPr/>
          <p:nvPr/>
        </p:nvSpPr>
        <p:spPr>
          <a:xfrm>
            <a:off x="2560320" y="2286000"/>
            <a:ext cx="1828800" cy="685800"/>
          </a:xfrm>
          <a:prstGeom prst="rect">
            <a:avLst/>
          </a:prstGeom>
          <a:noFill/>
          <a:ln/>
        </p:spPr>
        <p:txBody>
          <a:bodyPr wrap="square" lIns="0" tIns="0" rIns="0" bIns="0" rtlCol="0" anchor="ctr"/>
          <a:lstStyle/>
          <a:p>
            <a:pPr marL="0" indent="0" algn="ctr">
              <a:buNone/>
            </a:pPr>
            <a:r>
              <a:rPr lang="en-US" sz="3200" b="1" dirty="0">
                <a:solidFill>
                  <a:srgbClr val="2D9E47"/>
                </a:solidFill>
                <a:latin typeface="Cambria" pitchFamily="34" charset="0"/>
                <a:ea typeface="Cambria" pitchFamily="34" charset="-122"/>
                <a:cs typeface="Cambria" pitchFamily="34" charset="-120"/>
              </a:rPr>
              <a:t>97M</a:t>
            </a:r>
            <a:endParaRPr lang="en-US" sz="3200" dirty="0"/>
          </a:p>
        </p:txBody>
      </p:sp>
      <p:sp>
        <p:nvSpPr>
          <p:cNvPr id="13" name="Text 9"/>
          <p:cNvSpPr/>
          <p:nvPr/>
        </p:nvSpPr>
        <p:spPr>
          <a:xfrm>
            <a:off x="2560320" y="3017520"/>
            <a:ext cx="1828800" cy="118872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New AI-related</a:t>
            </a:r>
            <a:endParaRPr lang="en-US" sz="1300" dirty="0"/>
          </a:p>
          <a:p>
            <a:pPr marL="0" indent="0" algn="ctr">
              <a:buNone/>
            </a:pPr>
            <a:r>
              <a:rPr lang="en-US" sz="1300" dirty="0">
                <a:solidFill>
                  <a:srgbClr val="1A1A2E"/>
                </a:solidFill>
                <a:latin typeface="Calibri" pitchFamily="34" charset="0"/>
                <a:ea typeface="Calibri" pitchFamily="34" charset="-122"/>
                <a:cs typeface="Calibri" pitchFamily="34" charset="-120"/>
              </a:rPr>
              <a:t>roles emerging</a:t>
            </a:r>
            <a:endParaRPr lang="en-US" sz="1300" dirty="0"/>
          </a:p>
        </p:txBody>
      </p:sp>
      <p:sp>
        <p:nvSpPr>
          <p:cNvPr id="14" name="Shape 10"/>
          <p:cNvSpPr/>
          <p:nvPr/>
        </p:nvSpPr>
        <p:spPr>
          <a:xfrm>
            <a:off x="4663440" y="1097280"/>
            <a:ext cx="2011680" cy="3383280"/>
          </a:xfrm>
          <a:prstGeom prst="roundRect">
            <a:avLst>
              <a:gd name="adj" fmla="val 6818"/>
            </a:avLst>
          </a:prstGeom>
          <a:solidFill>
            <a:srgbClr val="FFF0E0"/>
          </a:solidFill>
          <a:ln/>
          <a:effectLst>
            <a:outerShdw blurRad="101600" dist="38100" dir="2700000" algn="bl" rotWithShape="0">
              <a:srgbClr val="000000">
                <a:alpha val="13000"/>
              </a:srgbClr>
            </a:outerShdw>
          </a:effectLst>
        </p:spPr>
        <p:txBody>
          <a:bodyPr/>
          <a:lstStyle/>
          <a:p>
            <a:endParaRPr lang="en-GB"/>
          </a:p>
        </p:txBody>
      </p:sp>
      <p:sp>
        <p:nvSpPr>
          <p:cNvPr id="15" name="Shape 11"/>
          <p:cNvSpPr/>
          <p:nvPr/>
        </p:nvSpPr>
        <p:spPr>
          <a:xfrm>
            <a:off x="5212080" y="1261872"/>
            <a:ext cx="914400" cy="914400"/>
          </a:xfrm>
          <a:prstGeom prst="ellipse">
            <a:avLst/>
          </a:prstGeom>
          <a:solidFill>
            <a:srgbClr val="F5821F"/>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5349240" y="1389888"/>
            <a:ext cx="457200" cy="457200"/>
          </a:xfrm>
          <a:prstGeom prst="rect">
            <a:avLst/>
          </a:prstGeom>
        </p:spPr>
      </p:pic>
      <p:sp>
        <p:nvSpPr>
          <p:cNvPr id="17" name="Text 12"/>
          <p:cNvSpPr/>
          <p:nvPr/>
        </p:nvSpPr>
        <p:spPr>
          <a:xfrm>
            <a:off x="4754880" y="2286000"/>
            <a:ext cx="1828800" cy="685800"/>
          </a:xfrm>
          <a:prstGeom prst="rect">
            <a:avLst/>
          </a:prstGeom>
          <a:noFill/>
          <a:ln/>
        </p:spPr>
        <p:txBody>
          <a:bodyPr wrap="square" lIns="0" tIns="0" rIns="0" bIns="0" rtlCol="0" anchor="ctr"/>
          <a:lstStyle/>
          <a:p>
            <a:pPr marL="0" indent="0" algn="ctr">
              <a:buNone/>
            </a:pPr>
            <a:r>
              <a:rPr lang="en-US" sz="3200" b="1" dirty="0">
                <a:solidFill>
                  <a:srgbClr val="F5821F"/>
                </a:solidFill>
                <a:latin typeface="Cambria" pitchFamily="34" charset="0"/>
                <a:ea typeface="Cambria" pitchFamily="34" charset="-122"/>
                <a:cs typeface="Cambria" pitchFamily="34" charset="-120"/>
              </a:rPr>
              <a:t>70%</a:t>
            </a:r>
            <a:endParaRPr lang="en-US" sz="3200" dirty="0"/>
          </a:p>
        </p:txBody>
      </p:sp>
      <p:sp>
        <p:nvSpPr>
          <p:cNvPr id="18" name="Text 13"/>
          <p:cNvSpPr/>
          <p:nvPr/>
        </p:nvSpPr>
        <p:spPr>
          <a:xfrm>
            <a:off x="4754880" y="3017520"/>
            <a:ext cx="1828800" cy="118872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Future jobs</a:t>
            </a:r>
            <a:endParaRPr lang="en-US" sz="1300" dirty="0"/>
          </a:p>
          <a:p>
            <a:pPr marL="0" indent="0" algn="ctr">
              <a:buNone/>
            </a:pPr>
            <a:r>
              <a:rPr lang="en-US" sz="1300" dirty="0">
                <a:solidFill>
                  <a:srgbClr val="1A1A2E"/>
                </a:solidFill>
                <a:latin typeface="Calibri" pitchFamily="34" charset="0"/>
                <a:ea typeface="Calibri" pitchFamily="34" charset="-122"/>
                <a:cs typeface="Calibri" pitchFamily="34" charset="-120"/>
              </a:rPr>
              <a:t>not yet invented</a:t>
            </a:r>
            <a:endParaRPr lang="en-US" sz="1300" dirty="0"/>
          </a:p>
        </p:txBody>
      </p:sp>
      <p:sp>
        <p:nvSpPr>
          <p:cNvPr id="19" name="Shape 14"/>
          <p:cNvSpPr/>
          <p:nvPr/>
        </p:nvSpPr>
        <p:spPr>
          <a:xfrm>
            <a:off x="6858000" y="1097280"/>
            <a:ext cx="2011680" cy="3383280"/>
          </a:xfrm>
          <a:prstGeom prst="roundRect">
            <a:avLst>
              <a:gd name="adj" fmla="val 6818"/>
            </a:avLst>
          </a:prstGeom>
          <a:solidFill>
            <a:srgbClr val="EDE0F5"/>
          </a:solidFill>
          <a:ln/>
          <a:effectLst>
            <a:outerShdw blurRad="101600" dist="38100" dir="2700000" algn="bl" rotWithShape="0">
              <a:srgbClr val="000000">
                <a:alpha val="13000"/>
              </a:srgbClr>
            </a:outerShdw>
          </a:effectLst>
        </p:spPr>
        <p:txBody>
          <a:bodyPr/>
          <a:lstStyle/>
          <a:p>
            <a:endParaRPr lang="en-GB"/>
          </a:p>
        </p:txBody>
      </p:sp>
      <p:sp>
        <p:nvSpPr>
          <p:cNvPr id="20" name="Shape 15"/>
          <p:cNvSpPr/>
          <p:nvPr/>
        </p:nvSpPr>
        <p:spPr>
          <a:xfrm>
            <a:off x="7406640" y="1261872"/>
            <a:ext cx="914400" cy="914400"/>
          </a:xfrm>
          <a:prstGeom prst="ellipse">
            <a:avLst/>
          </a:prstGeom>
          <a:solidFill>
            <a:srgbClr val="7B3FA0"/>
          </a:solidFill>
          <a:ln/>
        </p:spPr>
        <p:txBody>
          <a:bodyPr/>
          <a:lstStyle/>
          <a:p>
            <a:endParaRPr lang="en-GB"/>
          </a:p>
        </p:txBody>
      </p:sp>
      <p:pic>
        <p:nvPicPr>
          <p:cNvPr id="21" name="Image 3" descr="preencoded.png"/>
          <p:cNvPicPr>
            <a:picLocks noChangeAspect="1"/>
          </p:cNvPicPr>
          <p:nvPr/>
        </p:nvPicPr>
        <p:blipFill>
          <a:blip r:embed="rId6"/>
          <a:stretch>
            <a:fillRect/>
          </a:stretch>
        </p:blipFill>
        <p:spPr>
          <a:xfrm>
            <a:off x="7543800" y="1389888"/>
            <a:ext cx="457200" cy="457200"/>
          </a:xfrm>
          <a:prstGeom prst="rect">
            <a:avLst/>
          </a:prstGeom>
        </p:spPr>
      </p:pic>
      <p:sp>
        <p:nvSpPr>
          <p:cNvPr id="22" name="Text 16"/>
          <p:cNvSpPr/>
          <p:nvPr/>
        </p:nvSpPr>
        <p:spPr>
          <a:xfrm>
            <a:off x="6949440" y="2286000"/>
            <a:ext cx="1828800" cy="685800"/>
          </a:xfrm>
          <a:prstGeom prst="rect">
            <a:avLst/>
          </a:prstGeom>
          <a:noFill/>
          <a:ln/>
        </p:spPr>
        <p:txBody>
          <a:bodyPr wrap="square" lIns="0" tIns="0" rIns="0" bIns="0" rtlCol="0" anchor="ctr"/>
          <a:lstStyle/>
          <a:p>
            <a:pPr marL="0" indent="0" algn="ctr">
              <a:buNone/>
            </a:pPr>
            <a:r>
              <a:rPr lang="en-US" sz="3200" b="1" dirty="0">
                <a:solidFill>
                  <a:srgbClr val="7B3FA0"/>
                </a:solidFill>
                <a:latin typeface="Cambria" pitchFamily="34" charset="0"/>
                <a:ea typeface="Cambria" pitchFamily="34" charset="-122"/>
                <a:cs typeface="Cambria" pitchFamily="34" charset="-120"/>
              </a:rPr>
              <a:t>#1</a:t>
            </a:r>
            <a:endParaRPr lang="en-US" sz="3200" dirty="0"/>
          </a:p>
        </p:txBody>
      </p:sp>
      <p:sp>
        <p:nvSpPr>
          <p:cNvPr id="23" name="Text 17"/>
          <p:cNvSpPr/>
          <p:nvPr/>
        </p:nvSpPr>
        <p:spPr>
          <a:xfrm>
            <a:off x="6949440" y="3017520"/>
            <a:ext cx="1828800" cy="1188720"/>
          </a:xfrm>
          <a:prstGeom prst="rect">
            <a:avLst/>
          </a:prstGeom>
          <a:noFill/>
          <a:ln/>
        </p:spPr>
        <p:txBody>
          <a:bodyPr wrap="square" rtlCol="0" anchor="t"/>
          <a:lstStyle/>
          <a:p>
            <a:pPr marL="0" indent="0" algn="ctr">
              <a:buNone/>
            </a:pPr>
            <a:r>
              <a:rPr lang="en-US" sz="1300" dirty="0">
                <a:solidFill>
                  <a:srgbClr val="1A1A2E"/>
                </a:solidFill>
                <a:latin typeface="Calibri" pitchFamily="34" charset="0"/>
                <a:ea typeface="Calibri" pitchFamily="34" charset="-122"/>
                <a:cs typeface="Calibri" pitchFamily="34" charset="-120"/>
              </a:rPr>
              <a:t>Most needed skill:</a:t>
            </a:r>
            <a:endParaRPr lang="en-US" sz="1300" dirty="0"/>
          </a:p>
          <a:p>
            <a:pPr marL="0" indent="0" algn="ctr">
              <a:buNone/>
            </a:pPr>
            <a:r>
              <a:rPr lang="en-US" sz="1300" dirty="0">
                <a:solidFill>
                  <a:srgbClr val="1A1A2E"/>
                </a:solidFill>
                <a:latin typeface="Calibri" pitchFamily="34" charset="0"/>
                <a:ea typeface="Calibri" pitchFamily="34" charset="-122"/>
                <a:cs typeface="Calibri" pitchFamily="34" charset="-120"/>
              </a:rPr>
              <a:t>Digital &amp; AI literacy</a:t>
            </a:r>
            <a:endParaRPr lang="en-US" sz="1300" dirty="0"/>
          </a:p>
        </p:txBody>
      </p:sp>
      <p:sp>
        <p:nvSpPr>
          <p:cNvPr id="24" name="Text 18"/>
          <p:cNvSpPr/>
          <p:nvPr/>
        </p:nvSpPr>
        <p:spPr>
          <a:xfrm>
            <a:off x="457200" y="4800600"/>
            <a:ext cx="8229600" cy="274320"/>
          </a:xfrm>
          <a:prstGeom prst="rect">
            <a:avLst/>
          </a:prstGeom>
          <a:noFill/>
          <a:ln/>
        </p:spPr>
        <p:txBody>
          <a:bodyPr wrap="square" rtlCol="0" anchor="ctr"/>
          <a:lstStyle/>
          <a:p>
            <a:pPr marL="0" indent="0" algn="r">
              <a:buNone/>
            </a:pPr>
            <a:r>
              <a:rPr lang="en-US" sz="900" i="1" dirty="0">
                <a:solidFill>
                  <a:srgbClr val="6B7A9A"/>
                </a:solidFill>
                <a:latin typeface="Calibri" pitchFamily="34" charset="0"/>
                <a:ea typeface="Calibri" pitchFamily="34" charset="-122"/>
                <a:cs typeface="Calibri" pitchFamily="34" charset="-120"/>
              </a:rPr>
              <a:t>Sources: World Economic Forum Future of Jobs Report 2023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2D9E47"/>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What Is AI Literacy?</a:t>
            </a:r>
            <a:endParaRPr lang="en-US" sz="2800" dirty="0"/>
          </a:p>
        </p:txBody>
      </p:sp>
      <p:sp>
        <p:nvSpPr>
          <p:cNvPr id="4" name="Shape 2"/>
          <p:cNvSpPr/>
          <p:nvPr/>
        </p:nvSpPr>
        <p:spPr>
          <a:xfrm>
            <a:off x="274320" y="1097280"/>
            <a:ext cx="3931920" cy="3566160"/>
          </a:xfrm>
          <a:prstGeom prst="roundRect">
            <a:avLst>
              <a:gd name="adj" fmla="val 3846"/>
            </a:avLst>
          </a:prstGeom>
          <a:solidFill>
            <a:srgbClr val="E8F5EB"/>
          </a:solidFill>
          <a:ln/>
          <a:effectLst>
            <a:outerShdw blurRad="101600" dist="38100" dir="2700000" algn="bl" rotWithShape="0">
              <a:srgbClr val="000000">
                <a:alpha val="13000"/>
              </a:srgbClr>
            </a:outerShdw>
          </a:effectLst>
        </p:spPr>
        <p:txBody>
          <a:bodyPr/>
          <a:lstStyle/>
          <a:p>
            <a:endParaRPr lang="en-GB"/>
          </a:p>
        </p:txBody>
      </p:sp>
      <p:sp>
        <p:nvSpPr>
          <p:cNvPr id="5" name="Text 3"/>
          <p:cNvSpPr/>
          <p:nvPr/>
        </p:nvSpPr>
        <p:spPr>
          <a:xfrm>
            <a:off x="457200" y="1234440"/>
            <a:ext cx="3566160" cy="365760"/>
          </a:xfrm>
          <a:prstGeom prst="rect">
            <a:avLst/>
          </a:prstGeom>
          <a:noFill/>
          <a:ln/>
        </p:spPr>
        <p:txBody>
          <a:bodyPr wrap="square" rtlCol="0" anchor="ctr"/>
          <a:lstStyle/>
          <a:p>
            <a:pPr marL="0" indent="0">
              <a:buNone/>
            </a:pPr>
            <a:r>
              <a:rPr lang="en-US" sz="1400" b="1" dirty="0">
                <a:solidFill>
                  <a:srgbClr val="1A1A2E"/>
                </a:solidFill>
                <a:latin typeface="Cambria" pitchFamily="34" charset="0"/>
                <a:ea typeface="Cambria" pitchFamily="34" charset="-122"/>
                <a:cs typeface="Cambria" pitchFamily="34" charset="-120"/>
              </a:rPr>
              <a:t>AI literacy is the ability to:</a:t>
            </a:r>
            <a:endParaRPr lang="en-US" sz="1400" dirty="0"/>
          </a:p>
        </p:txBody>
      </p:sp>
      <p:sp>
        <p:nvSpPr>
          <p:cNvPr id="6" name="Text 4"/>
          <p:cNvSpPr/>
          <p:nvPr/>
        </p:nvSpPr>
        <p:spPr>
          <a:xfrm>
            <a:off x="457200" y="1691640"/>
            <a:ext cx="3566160" cy="2651760"/>
          </a:xfrm>
          <a:prstGeom prst="rect">
            <a:avLst/>
          </a:prstGeom>
          <a:noFill/>
          <a:ln/>
        </p:spPr>
        <p:txBody>
          <a:bodyPr wrap="square" rtlCol="0" anchor="t"/>
          <a:lstStyle/>
          <a:p>
            <a:pPr marL="0" indent="0">
              <a:spcAft>
                <a:spcPts val="800"/>
              </a:spcAft>
              <a:buNone/>
            </a:pPr>
            <a:r>
              <a:rPr lang="en-US" sz="1300" b="1" dirty="0">
                <a:solidFill>
                  <a:srgbClr val="1A56C4"/>
                </a:solidFill>
                <a:latin typeface="Calibri" pitchFamily="34" charset="0"/>
                <a:ea typeface="Calibri" pitchFamily="34" charset="-122"/>
                <a:cs typeface="Calibri" pitchFamily="34" charset="-120"/>
              </a:rPr>
              <a:t>Understand</a:t>
            </a:r>
            <a:r>
              <a:rPr lang="en-US" sz="1300" dirty="0">
                <a:solidFill>
                  <a:srgbClr val="1A1A2E"/>
                </a:solidFill>
                <a:latin typeface="Calibri" pitchFamily="34" charset="0"/>
                <a:ea typeface="Calibri" pitchFamily="34" charset="-122"/>
                <a:cs typeface="Calibri" pitchFamily="34" charset="-120"/>
              </a:rPr>
              <a:t> how AI systems work at a conceptual level</a:t>
            </a:r>
            <a:endParaRPr lang="en-US" sz="1300" dirty="0"/>
          </a:p>
          <a:p>
            <a:pPr marL="0" indent="0">
              <a:spcAft>
                <a:spcPts val="800"/>
              </a:spcAft>
              <a:buNone/>
            </a:pPr>
            <a:r>
              <a:rPr lang="en-US" sz="1300" dirty="0">
                <a:solidFill>
                  <a:srgbClr val="000000"/>
                </a:solidFill>
                <a:latin typeface="Calibri" pitchFamily="34" charset="0"/>
                <a:ea typeface="Calibri" pitchFamily="34" charset="-122"/>
                <a:cs typeface="Calibri" pitchFamily="34" charset="-120"/>
              </a:rPr>
              <a:t>
</a:t>
            </a:r>
            <a:r>
              <a:rPr lang="en-US" sz="1300" b="1" dirty="0">
                <a:solidFill>
                  <a:srgbClr val="2D9E47"/>
                </a:solidFill>
                <a:latin typeface="Calibri" pitchFamily="34" charset="0"/>
                <a:ea typeface="Calibri" pitchFamily="34" charset="-122"/>
                <a:cs typeface="Calibri" pitchFamily="34" charset="-120"/>
              </a:rPr>
              <a:t>Use</a:t>
            </a:r>
            <a:r>
              <a:rPr lang="en-US" sz="1300" dirty="0">
                <a:solidFill>
                  <a:srgbClr val="1A1A2E"/>
                </a:solidFill>
                <a:latin typeface="Calibri" pitchFamily="34" charset="0"/>
                <a:ea typeface="Calibri" pitchFamily="34" charset="-122"/>
                <a:cs typeface="Calibri" pitchFamily="34" charset="-120"/>
              </a:rPr>
              <a:t> AI tools effectively and responsibly</a:t>
            </a:r>
            <a:endParaRPr lang="en-US" sz="1300" dirty="0"/>
          </a:p>
          <a:p>
            <a:pPr marL="0" indent="0">
              <a:spcAft>
                <a:spcPts val="800"/>
              </a:spcAft>
              <a:buNone/>
            </a:pPr>
            <a:r>
              <a:rPr lang="en-US" sz="1300" dirty="0">
                <a:solidFill>
                  <a:srgbClr val="000000"/>
                </a:solidFill>
                <a:latin typeface="Calibri" pitchFamily="34" charset="0"/>
                <a:ea typeface="Calibri" pitchFamily="34" charset="-122"/>
                <a:cs typeface="Calibri" pitchFamily="34" charset="-120"/>
              </a:rPr>
              <a:t>
</a:t>
            </a:r>
            <a:r>
              <a:rPr lang="en-US" sz="1300" b="1" dirty="0">
                <a:solidFill>
                  <a:srgbClr val="F5821F"/>
                </a:solidFill>
                <a:latin typeface="Calibri" pitchFamily="34" charset="0"/>
                <a:ea typeface="Calibri" pitchFamily="34" charset="-122"/>
                <a:cs typeface="Calibri" pitchFamily="34" charset="-120"/>
              </a:rPr>
              <a:t>Evaluate</a:t>
            </a:r>
            <a:r>
              <a:rPr lang="en-US" sz="1300" dirty="0">
                <a:solidFill>
                  <a:srgbClr val="1A1A2E"/>
                </a:solidFill>
                <a:latin typeface="Calibri" pitchFamily="34" charset="0"/>
                <a:ea typeface="Calibri" pitchFamily="34" charset="-122"/>
                <a:cs typeface="Calibri" pitchFamily="34" charset="-120"/>
              </a:rPr>
              <a:t> AI outputs critically</a:t>
            </a:r>
            <a:endParaRPr lang="en-US" sz="1300" dirty="0"/>
          </a:p>
          <a:p>
            <a:pPr marL="0" indent="0">
              <a:spcAft>
                <a:spcPts val="800"/>
              </a:spcAft>
              <a:buNone/>
            </a:pPr>
            <a:r>
              <a:rPr lang="en-US" sz="1300" dirty="0">
                <a:solidFill>
                  <a:srgbClr val="000000"/>
                </a:solidFill>
                <a:latin typeface="Calibri" pitchFamily="34" charset="0"/>
                <a:ea typeface="Calibri" pitchFamily="34" charset="-122"/>
                <a:cs typeface="Calibri" pitchFamily="34" charset="-120"/>
              </a:rPr>
              <a:t>
</a:t>
            </a:r>
            <a:r>
              <a:rPr lang="en-US" sz="1300" b="1" dirty="0">
                <a:solidFill>
                  <a:srgbClr val="7B3FA0"/>
                </a:solidFill>
                <a:latin typeface="Calibri" pitchFamily="34" charset="0"/>
                <a:ea typeface="Calibri" pitchFamily="34" charset="-122"/>
                <a:cs typeface="Calibri" pitchFamily="34" charset="-120"/>
              </a:rPr>
              <a:t>Design</a:t>
            </a:r>
            <a:r>
              <a:rPr lang="en-US" sz="1300" dirty="0">
                <a:solidFill>
                  <a:srgbClr val="1A1A2E"/>
                </a:solidFill>
                <a:latin typeface="Calibri" pitchFamily="34" charset="0"/>
                <a:ea typeface="Calibri" pitchFamily="34" charset="-122"/>
                <a:cs typeface="Calibri" pitchFamily="34" charset="-120"/>
              </a:rPr>
              <a:t> human-centred AI solutions</a:t>
            </a:r>
            <a:endParaRPr lang="en-US" sz="1300" dirty="0"/>
          </a:p>
        </p:txBody>
      </p:sp>
      <p:sp>
        <p:nvSpPr>
          <p:cNvPr id="7" name="Shape 5"/>
          <p:cNvSpPr/>
          <p:nvPr/>
        </p:nvSpPr>
        <p:spPr>
          <a:xfrm>
            <a:off x="4480560" y="1097280"/>
            <a:ext cx="4297680" cy="1097280"/>
          </a:xfrm>
          <a:prstGeom prst="roundRect">
            <a:avLst>
              <a:gd name="adj" fmla="val 10000"/>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4663440" y="1325880"/>
            <a:ext cx="502920" cy="502920"/>
          </a:xfrm>
          <a:prstGeom prst="rect">
            <a:avLst/>
          </a:prstGeom>
        </p:spPr>
      </p:pic>
      <p:sp>
        <p:nvSpPr>
          <p:cNvPr id="9" name="Text 6"/>
          <p:cNvSpPr/>
          <p:nvPr/>
        </p:nvSpPr>
        <p:spPr>
          <a:xfrm>
            <a:off x="5303520" y="1170432"/>
            <a:ext cx="3200400" cy="365760"/>
          </a:xfrm>
          <a:prstGeom prst="rect">
            <a:avLst/>
          </a:prstGeom>
          <a:noFill/>
          <a:ln/>
        </p:spPr>
        <p:txBody>
          <a:bodyPr wrap="square" rtlCol="0" anchor="ctr"/>
          <a:lstStyle/>
          <a:p>
            <a:pPr marL="0" indent="0">
              <a:buNone/>
            </a:pPr>
            <a:r>
              <a:rPr lang="en-US" sz="1500" b="1" dirty="0">
                <a:solidFill>
                  <a:srgbClr val="1A56C4"/>
                </a:solidFill>
                <a:latin typeface="Cambria" pitchFamily="34" charset="0"/>
                <a:ea typeface="Cambria" pitchFamily="34" charset="-122"/>
                <a:cs typeface="Cambria" pitchFamily="34" charset="-120"/>
              </a:rPr>
              <a:t>Awareness</a:t>
            </a:r>
            <a:endParaRPr lang="en-US" sz="1500" dirty="0"/>
          </a:p>
        </p:txBody>
      </p:sp>
      <p:sp>
        <p:nvSpPr>
          <p:cNvPr id="10" name="Text 7"/>
          <p:cNvSpPr/>
          <p:nvPr/>
        </p:nvSpPr>
        <p:spPr>
          <a:xfrm>
            <a:off x="5303520" y="1572768"/>
            <a:ext cx="3200400" cy="457200"/>
          </a:xfrm>
          <a:prstGeom prst="rect">
            <a:avLst/>
          </a:prstGeom>
          <a:noFill/>
          <a:ln/>
        </p:spPr>
        <p:txBody>
          <a:bodyPr wrap="square" rtlCol="0" anchor="ctr"/>
          <a:lstStyle/>
          <a:p>
            <a:pPr marL="0" indent="0">
              <a:buNone/>
            </a:pPr>
            <a:r>
              <a:rPr lang="en-US" sz="1200" dirty="0">
                <a:solidFill>
                  <a:srgbClr val="3D4D6B"/>
                </a:solidFill>
                <a:latin typeface="Calibri" pitchFamily="34" charset="0"/>
                <a:ea typeface="Calibri" pitchFamily="34" charset="-122"/>
                <a:cs typeface="Calibri" pitchFamily="34" charset="-120"/>
              </a:rPr>
              <a:t>Know what AI is and is not</a:t>
            </a:r>
            <a:endParaRPr lang="en-US" sz="1200" dirty="0"/>
          </a:p>
        </p:txBody>
      </p:sp>
      <p:sp>
        <p:nvSpPr>
          <p:cNvPr id="11" name="Shape 8"/>
          <p:cNvSpPr/>
          <p:nvPr/>
        </p:nvSpPr>
        <p:spPr>
          <a:xfrm>
            <a:off x="4480560" y="2331720"/>
            <a:ext cx="4297680" cy="1097280"/>
          </a:xfrm>
          <a:prstGeom prst="roundRect">
            <a:avLst>
              <a:gd name="adj" fmla="val 10000"/>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12" name="Image 1" descr="preencoded.png"/>
          <p:cNvPicPr>
            <a:picLocks noChangeAspect="1"/>
          </p:cNvPicPr>
          <p:nvPr/>
        </p:nvPicPr>
        <p:blipFill>
          <a:blip r:embed="rId4"/>
          <a:stretch>
            <a:fillRect/>
          </a:stretch>
        </p:blipFill>
        <p:spPr>
          <a:xfrm>
            <a:off x="4663440" y="2560320"/>
            <a:ext cx="502920" cy="502920"/>
          </a:xfrm>
          <a:prstGeom prst="rect">
            <a:avLst/>
          </a:prstGeom>
        </p:spPr>
      </p:pic>
      <p:sp>
        <p:nvSpPr>
          <p:cNvPr id="13" name="Text 9"/>
          <p:cNvSpPr/>
          <p:nvPr/>
        </p:nvSpPr>
        <p:spPr>
          <a:xfrm>
            <a:off x="5303520" y="2404872"/>
            <a:ext cx="3200400" cy="365760"/>
          </a:xfrm>
          <a:prstGeom prst="rect">
            <a:avLst/>
          </a:prstGeom>
          <a:noFill/>
          <a:ln/>
        </p:spPr>
        <p:txBody>
          <a:bodyPr wrap="square" rtlCol="0" anchor="ctr"/>
          <a:lstStyle/>
          <a:p>
            <a:pPr marL="0" indent="0">
              <a:buNone/>
            </a:pPr>
            <a:r>
              <a:rPr lang="en-US" sz="1500" b="1" dirty="0">
                <a:solidFill>
                  <a:srgbClr val="F5821F"/>
                </a:solidFill>
                <a:latin typeface="Cambria" pitchFamily="34" charset="0"/>
                <a:ea typeface="Cambria" pitchFamily="34" charset="-122"/>
                <a:cs typeface="Cambria" pitchFamily="34" charset="-120"/>
              </a:rPr>
              <a:t>Ethics</a:t>
            </a:r>
            <a:endParaRPr lang="en-US" sz="1500" dirty="0"/>
          </a:p>
        </p:txBody>
      </p:sp>
      <p:sp>
        <p:nvSpPr>
          <p:cNvPr id="14" name="Text 10"/>
          <p:cNvSpPr/>
          <p:nvPr/>
        </p:nvSpPr>
        <p:spPr>
          <a:xfrm>
            <a:off x="5303520" y="2807208"/>
            <a:ext cx="3200400" cy="457200"/>
          </a:xfrm>
          <a:prstGeom prst="rect">
            <a:avLst/>
          </a:prstGeom>
          <a:noFill/>
          <a:ln/>
        </p:spPr>
        <p:txBody>
          <a:bodyPr wrap="square" rtlCol="0" anchor="ctr"/>
          <a:lstStyle/>
          <a:p>
            <a:pPr marL="0" indent="0">
              <a:buNone/>
            </a:pPr>
            <a:r>
              <a:rPr lang="en-US" sz="1200" dirty="0">
                <a:solidFill>
                  <a:srgbClr val="3D4D6B"/>
                </a:solidFill>
                <a:latin typeface="Calibri" pitchFamily="34" charset="0"/>
                <a:ea typeface="Calibri" pitchFamily="34" charset="-122"/>
                <a:cs typeface="Calibri" pitchFamily="34" charset="-120"/>
              </a:rPr>
              <a:t>Understand fairness, bias &amp; safety</a:t>
            </a:r>
            <a:endParaRPr lang="en-US" sz="1200" dirty="0"/>
          </a:p>
        </p:txBody>
      </p:sp>
      <p:sp>
        <p:nvSpPr>
          <p:cNvPr id="15" name="Shape 11"/>
          <p:cNvSpPr/>
          <p:nvPr/>
        </p:nvSpPr>
        <p:spPr>
          <a:xfrm>
            <a:off x="4480560" y="3566160"/>
            <a:ext cx="4297680" cy="1097280"/>
          </a:xfrm>
          <a:prstGeom prst="roundRect">
            <a:avLst>
              <a:gd name="adj" fmla="val 10000"/>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16" name="Image 2" descr="preencoded.png"/>
          <p:cNvPicPr>
            <a:picLocks noChangeAspect="1"/>
          </p:cNvPicPr>
          <p:nvPr/>
        </p:nvPicPr>
        <p:blipFill>
          <a:blip r:embed="rId5"/>
          <a:stretch>
            <a:fillRect/>
          </a:stretch>
        </p:blipFill>
        <p:spPr>
          <a:xfrm>
            <a:off x="4663440" y="3794760"/>
            <a:ext cx="502920" cy="502920"/>
          </a:xfrm>
          <a:prstGeom prst="rect">
            <a:avLst/>
          </a:prstGeom>
        </p:spPr>
      </p:pic>
      <p:sp>
        <p:nvSpPr>
          <p:cNvPr id="17" name="Text 12"/>
          <p:cNvSpPr/>
          <p:nvPr/>
        </p:nvSpPr>
        <p:spPr>
          <a:xfrm>
            <a:off x="5303520" y="3639312"/>
            <a:ext cx="3200400" cy="365760"/>
          </a:xfrm>
          <a:prstGeom prst="rect">
            <a:avLst/>
          </a:prstGeom>
          <a:noFill/>
          <a:ln/>
        </p:spPr>
        <p:txBody>
          <a:bodyPr wrap="square" rtlCol="0" anchor="ctr"/>
          <a:lstStyle/>
          <a:p>
            <a:pPr marL="0" indent="0">
              <a:buNone/>
            </a:pPr>
            <a:r>
              <a:rPr lang="en-US" sz="1500" b="1" dirty="0">
                <a:solidFill>
                  <a:srgbClr val="2D9E47"/>
                </a:solidFill>
                <a:latin typeface="Cambria" pitchFamily="34" charset="0"/>
                <a:ea typeface="Cambria" pitchFamily="34" charset="-122"/>
                <a:cs typeface="Cambria" pitchFamily="34" charset="-120"/>
              </a:rPr>
              <a:t>Agency</a:t>
            </a:r>
            <a:endParaRPr lang="en-US" sz="1500" dirty="0"/>
          </a:p>
        </p:txBody>
      </p:sp>
      <p:sp>
        <p:nvSpPr>
          <p:cNvPr id="18" name="Text 13"/>
          <p:cNvSpPr/>
          <p:nvPr/>
        </p:nvSpPr>
        <p:spPr>
          <a:xfrm>
            <a:off x="5303520" y="4041648"/>
            <a:ext cx="3200400" cy="457200"/>
          </a:xfrm>
          <a:prstGeom prst="rect">
            <a:avLst/>
          </a:prstGeom>
          <a:noFill/>
          <a:ln/>
        </p:spPr>
        <p:txBody>
          <a:bodyPr wrap="square" rtlCol="0" anchor="ctr"/>
          <a:lstStyle/>
          <a:p>
            <a:pPr marL="0" indent="0">
              <a:buNone/>
            </a:pPr>
            <a:r>
              <a:rPr lang="en-US" sz="1200" dirty="0">
                <a:solidFill>
                  <a:srgbClr val="3D4D6B"/>
                </a:solidFill>
                <a:latin typeface="Calibri" pitchFamily="34" charset="0"/>
                <a:ea typeface="Calibri" pitchFamily="34" charset="-122"/>
                <a:cs typeface="Calibri" pitchFamily="34" charset="-120"/>
              </a:rPr>
              <a:t>Create, not just consume AI</a:t>
            </a:r>
            <a:endParaRPr lang="en-US" sz="1200" dirty="0"/>
          </a:p>
        </p:txBody>
      </p:sp>
      <p:sp>
        <p:nvSpPr>
          <p:cNvPr id="19" name="Shape 14"/>
          <p:cNvSpPr/>
          <p:nvPr/>
        </p:nvSpPr>
        <p:spPr>
          <a:xfrm>
            <a:off x="274320" y="4617720"/>
            <a:ext cx="8595360" cy="411480"/>
          </a:xfrm>
          <a:prstGeom prst="roundRect">
            <a:avLst>
              <a:gd name="adj" fmla="val 17778"/>
            </a:avLst>
          </a:prstGeom>
          <a:solidFill>
            <a:srgbClr val="0D1B4B"/>
          </a:solidFill>
          <a:ln/>
        </p:spPr>
        <p:txBody>
          <a:bodyPr/>
          <a:lstStyle/>
          <a:p>
            <a:endParaRPr lang="en-GB"/>
          </a:p>
        </p:txBody>
      </p:sp>
      <p:sp>
        <p:nvSpPr>
          <p:cNvPr id="20" name="Text 15"/>
          <p:cNvSpPr/>
          <p:nvPr/>
        </p:nvSpPr>
        <p:spPr>
          <a:xfrm>
            <a:off x="274320" y="4617720"/>
            <a:ext cx="8595360" cy="411480"/>
          </a:xfrm>
          <a:prstGeom prst="rect">
            <a:avLst/>
          </a:prstGeom>
          <a:noFill/>
          <a:ln/>
        </p:spPr>
        <p:txBody>
          <a:bodyPr wrap="square" lIns="0" tIns="0" rIns="0" bIns="0" rtlCol="0" anchor="ctr"/>
          <a:lstStyle/>
          <a:p>
            <a:pPr marL="0" indent="0" algn="ctr">
              <a:buNone/>
            </a:pPr>
            <a:r>
              <a:rPr lang="en-US" sz="1300" i="1" dirty="0">
                <a:solidFill>
                  <a:srgbClr val="F5C518"/>
                </a:solidFill>
                <a:latin typeface="Calibri" pitchFamily="34" charset="0"/>
                <a:ea typeface="Calibri" pitchFamily="34" charset="-122"/>
                <a:cs typeface="Calibri" pitchFamily="34" charset="-120"/>
              </a:rPr>
              <a:t>AI literacy is the reading and writing of the 21st century.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F5821F"/>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Why Start with Children?</a:t>
            </a:r>
            <a:endParaRPr lang="en-US" sz="2800" dirty="0"/>
          </a:p>
        </p:txBody>
      </p:sp>
      <p:sp>
        <p:nvSpPr>
          <p:cNvPr id="4" name="Shape 2"/>
          <p:cNvSpPr/>
          <p:nvPr/>
        </p:nvSpPr>
        <p:spPr>
          <a:xfrm>
            <a:off x="274320" y="1097280"/>
            <a:ext cx="2011680" cy="3474720"/>
          </a:xfrm>
          <a:prstGeom prst="roundRect">
            <a:avLst>
              <a:gd name="adj" fmla="val 681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5" name="Shape 3"/>
          <p:cNvSpPr/>
          <p:nvPr/>
        </p:nvSpPr>
        <p:spPr>
          <a:xfrm>
            <a:off x="274320" y="1097280"/>
            <a:ext cx="2011680" cy="548640"/>
          </a:xfrm>
          <a:prstGeom prst="roundRect">
            <a:avLst>
              <a:gd name="adj" fmla="val 16667"/>
            </a:avLst>
          </a:prstGeom>
          <a:solidFill>
            <a:srgbClr val="D72638"/>
          </a:solidFill>
          <a:ln/>
        </p:spPr>
        <p:txBody>
          <a:bodyPr/>
          <a:lstStyle/>
          <a:p>
            <a:endParaRPr lang="en-GB"/>
          </a:p>
        </p:txBody>
      </p:sp>
      <p:sp>
        <p:nvSpPr>
          <p:cNvPr id="6" name="Text 4"/>
          <p:cNvSpPr/>
          <p:nvPr/>
        </p:nvSpPr>
        <p:spPr>
          <a:xfrm>
            <a:off x="274320" y="1097280"/>
            <a:ext cx="20116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Ages 4–7</a:t>
            </a:r>
            <a:endParaRPr lang="en-US" sz="1400" dirty="0"/>
          </a:p>
        </p:txBody>
      </p:sp>
      <p:sp>
        <p:nvSpPr>
          <p:cNvPr id="7" name="Text 5"/>
          <p:cNvSpPr/>
          <p:nvPr/>
        </p:nvSpPr>
        <p:spPr>
          <a:xfrm>
            <a:off x="365760" y="1719072"/>
            <a:ext cx="1828800" cy="457200"/>
          </a:xfrm>
          <a:prstGeom prst="rect">
            <a:avLst/>
          </a:prstGeom>
          <a:noFill/>
          <a:ln/>
        </p:spPr>
        <p:txBody>
          <a:bodyPr wrap="square" rtlCol="0" anchor="ctr"/>
          <a:lstStyle/>
          <a:p>
            <a:pPr marL="0" indent="0" algn="ctr">
              <a:buNone/>
            </a:pPr>
            <a:r>
              <a:rPr lang="en-US" sz="1500" b="1" dirty="0">
                <a:solidFill>
                  <a:srgbClr val="D72638"/>
                </a:solidFill>
                <a:latin typeface="Cambria" pitchFamily="34" charset="0"/>
                <a:ea typeface="Cambria" pitchFamily="34" charset="-122"/>
                <a:cs typeface="Cambria" pitchFamily="34" charset="-120"/>
              </a:rPr>
              <a:t>Curiosity</a:t>
            </a:r>
            <a:endParaRPr lang="en-US" sz="1500" dirty="0"/>
          </a:p>
        </p:txBody>
      </p:sp>
      <p:sp>
        <p:nvSpPr>
          <p:cNvPr id="8" name="Text 6"/>
          <p:cNvSpPr/>
          <p:nvPr/>
        </p:nvSpPr>
        <p:spPr>
          <a:xfrm>
            <a:off x="411480" y="2240280"/>
            <a:ext cx="1737360" cy="2103120"/>
          </a:xfrm>
          <a:prstGeom prst="rect">
            <a:avLst/>
          </a:prstGeom>
          <a:noFill/>
          <a:ln/>
        </p:spPr>
        <p:txBody>
          <a:bodyPr wrap="square" rtlCol="0" anchor="t"/>
          <a:lstStyle/>
          <a:p>
            <a:pPr marL="0" indent="0" algn="ctr">
              <a:buNone/>
            </a:pPr>
            <a:r>
              <a:rPr lang="en-US" sz="1200" dirty="0">
                <a:solidFill>
                  <a:srgbClr val="1A1A2E"/>
                </a:solidFill>
                <a:latin typeface="Calibri" pitchFamily="34" charset="0"/>
                <a:ea typeface="Calibri" pitchFamily="34" charset="-122"/>
                <a:cs typeface="Calibri" pitchFamily="34" charset="-120"/>
              </a:rPr>
              <a:t>AI lives in toys, voice assistants &amp; games</a:t>
            </a:r>
            <a:endParaRPr lang="en-US" sz="1200" dirty="0"/>
          </a:p>
        </p:txBody>
      </p:sp>
      <p:sp>
        <p:nvSpPr>
          <p:cNvPr id="9" name="Shape 7"/>
          <p:cNvSpPr/>
          <p:nvPr/>
        </p:nvSpPr>
        <p:spPr>
          <a:xfrm>
            <a:off x="2468880" y="1097280"/>
            <a:ext cx="2011680" cy="3474720"/>
          </a:xfrm>
          <a:prstGeom prst="roundRect">
            <a:avLst>
              <a:gd name="adj" fmla="val 681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0" name="Shape 8"/>
          <p:cNvSpPr/>
          <p:nvPr/>
        </p:nvSpPr>
        <p:spPr>
          <a:xfrm>
            <a:off x="2468880" y="1097280"/>
            <a:ext cx="2011680" cy="548640"/>
          </a:xfrm>
          <a:prstGeom prst="roundRect">
            <a:avLst>
              <a:gd name="adj" fmla="val 16667"/>
            </a:avLst>
          </a:prstGeom>
          <a:solidFill>
            <a:srgbClr val="F5821F"/>
          </a:solidFill>
          <a:ln/>
        </p:spPr>
        <p:txBody>
          <a:bodyPr/>
          <a:lstStyle/>
          <a:p>
            <a:endParaRPr lang="en-GB"/>
          </a:p>
        </p:txBody>
      </p:sp>
      <p:sp>
        <p:nvSpPr>
          <p:cNvPr id="11" name="Text 9"/>
          <p:cNvSpPr/>
          <p:nvPr/>
        </p:nvSpPr>
        <p:spPr>
          <a:xfrm>
            <a:off x="2468880" y="1097280"/>
            <a:ext cx="20116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Ages 8–11</a:t>
            </a:r>
            <a:endParaRPr lang="en-US" sz="1400" dirty="0"/>
          </a:p>
        </p:txBody>
      </p:sp>
      <p:sp>
        <p:nvSpPr>
          <p:cNvPr id="12" name="Text 10"/>
          <p:cNvSpPr/>
          <p:nvPr/>
        </p:nvSpPr>
        <p:spPr>
          <a:xfrm>
            <a:off x="2560320" y="1719072"/>
            <a:ext cx="1828800" cy="457200"/>
          </a:xfrm>
          <a:prstGeom prst="rect">
            <a:avLst/>
          </a:prstGeom>
          <a:noFill/>
          <a:ln/>
        </p:spPr>
        <p:txBody>
          <a:bodyPr wrap="square" rtlCol="0" anchor="ctr"/>
          <a:lstStyle/>
          <a:p>
            <a:pPr marL="0" indent="0" algn="ctr">
              <a:buNone/>
            </a:pPr>
            <a:r>
              <a:rPr lang="en-US" sz="1500" b="1" dirty="0">
                <a:solidFill>
                  <a:srgbClr val="F5821F"/>
                </a:solidFill>
                <a:latin typeface="Cambria" pitchFamily="34" charset="0"/>
                <a:ea typeface="Cambria" pitchFamily="34" charset="-122"/>
                <a:cs typeface="Cambria" pitchFamily="34" charset="-120"/>
              </a:rPr>
              <a:t>Exploration</a:t>
            </a:r>
            <a:endParaRPr lang="en-US" sz="1500" dirty="0"/>
          </a:p>
        </p:txBody>
      </p:sp>
      <p:sp>
        <p:nvSpPr>
          <p:cNvPr id="13" name="Text 11"/>
          <p:cNvSpPr/>
          <p:nvPr/>
        </p:nvSpPr>
        <p:spPr>
          <a:xfrm>
            <a:off x="2606040" y="2240280"/>
            <a:ext cx="1737360" cy="2103120"/>
          </a:xfrm>
          <a:prstGeom prst="rect">
            <a:avLst/>
          </a:prstGeom>
          <a:noFill/>
          <a:ln/>
        </p:spPr>
        <p:txBody>
          <a:bodyPr wrap="square" rtlCol="0" anchor="t"/>
          <a:lstStyle/>
          <a:p>
            <a:pPr marL="0" indent="0" algn="ctr">
              <a:buNone/>
            </a:pPr>
            <a:r>
              <a:rPr lang="en-US" sz="1200" dirty="0">
                <a:solidFill>
                  <a:srgbClr val="1A1A2E"/>
                </a:solidFill>
                <a:latin typeface="Calibri" pitchFamily="34" charset="0"/>
                <a:ea typeface="Calibri" pitchFamily="34" charset="-122"/>
                <a:cs typeface="Calibri" pitchFamily="34" charset="-120"/>
              </a:rPr>
              <a:t>Visual coding, smart apps, data patterns</a:t>
            </a:r>
            <a:endParaRPr lang="en-US" sz="1200" dirty="0"/>
          </a:p>
        </p:txBody>
      </p:sp>
      <p:sp>
        <p:nvSpPr>
          <p:cNvPr id="14" name="Shape 12"/>
          <p:cNvSpPr/>
          <p:nvPr/>
        </p:nvSpPr>
        <p:spPr>
          <a:xfrm>
            <a:off x="4663440" y="1097280"/>
            <a:ext cx="2011680" cy="3474720"/>
          </a:xfrm>
          <a:prstGeom prst="roundRect">
            <a:avLst>
              <a:gd name="adj" fmla="val 681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5" name="Shape 13"/>
          <p:cNvSpPr/>
          <p:nvPr/>
        </p:nvSpPr>
        <p:spPr>
          <a:xfrm>
            <a:off x="4663440" y="1097280"/>
            <a:ext cx="2011680" cy="548640"/>
          </a:xfrm>
          <a:prstGeom prst="roundRect">
            <a:avLst>
              <a:gd name="adj" fmla="val 16667"/>
            </a:avLst>
          </a:prstGeom>
          <a:solidFill>
            <a:srgbClr val="2D9E47"/>
          </a:solidFill>
          <a:ln/>
        </p:spPr>
        <p:txBody>
          <a:bodyPr/>
          <a:lstStyle/>
          <a:p>
            <a:endParaRPr lang="en-GB"/>
          </a:p>
        </p:txBody>
      </p:sp>
      <p:sp>
        <p:nvSpPr>
          <p:cNvPr id="16" name="Text 14"/>
          <p:cNvSpPr/>
          <p:nvPr/>
        </p:nvSpPr>
        <p:spPr>
          <a:xfrm>
            <a:off x="4663440" y="1097280"/>
            <a:ext cx="20116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Ages 12–15</a:t>
            </a:r>
            <a:endParaRPr lang="en-US" sz="1400" dirty="0"/>
          </a:p>
        </p:txBody>
      </p:sp>
      <p:sp>
        <p:nvSpPr>
          <p:cNvPr id="17" name="Text 15"/>
          <p:cNvSpPr/>
          <p:nvPr/>
        </p:nvSpPr>
        <p:spPr>
          <a:xfrm>
            <a:off x="4754880" y="1719072"/>
            <a:ext cx="1828800" cy="457200"/>
          </a:xfrm>
          <a:prstGeom prst="rect">
            <a:avLst/>
          </a:prstGeom>
          <a:noFill/>
          <a:ln/>
        </p:spPr>
        <p:txBody>
          <a:bodyPr wrap="square" rtlCol="0" anchor="ctr"/>
          <a:lstStyle/>
          <a:p>
            <a:pPr marL="0" indent="0" algn="ctr">
              <a:buNone/>
            </a:pPr>
            <a:r>
              <a:rPr lang="en-US" sz="1500" b="1" dirty="0">
                <a:solidFill>
                  <a:srgbClr val="2D9E47"/>
                </a:solidFill>
                <a:latin typeface="Cambria" pitchFamily="34" charset="0"/>
                <a:ea typeface="Cambria" pitchFamily="34" charset="-122"/>
                <a:cs typeface="Cambria" pitchFamily="34" charset="-120"/>
              </a:rPr>
              <a:t>Creation</a:t>
            </a:r>
            <a:endParaRPr lang="en-US" sz="1500" dirty="0"/>
          </a:p>
        </p:txBody>
      </p:sp>
      <p:sp>
        <p:nvSpPr>
          <p:cNvPr id="18" name="Text 16"/>
          <p:cNvSpPr/>
          <p:nvPr/>
        </p:nvSpPr>
        <p:spPr>
          <a:xfrm>
            <a:off x="4800600" y="2240280"/>
            <a:ext cx="1737360" cy="2103120"/>
          </a:xfrm>
          <a:prstGeom prst="rect">
            <a:avLst/>
          </a:prstGeom>
          <a:noFill/>
          <a:ln/>
        </p:spPr>
        <p:txBody>
          <a:bodyPr wrap="square" rtlCol="0" anchor="t"/>
          <a:lstStyle/>
          <a:p>
            <a:pPr marL="0" indent="0" algn="ctr">
              <a:buNone/>
            </a:pPr>
            <a:r>
              <a:rPr lang="en-US" sz="1200" dirty="0">
                <a:solidFill>
                  <a:srgbClr val="1A1A2E"/>
                </a:solidFill>
                <a:latin typeface="Calibri" pitchFamily="34" charset="0"/>
                <a:ea typeface="Calibri" pitchFamily="34" charset="-122"/>
                <a:cs typeface="Calibri" pitchFamily="34" charset="-120"/>
              </a:rPr>
              <a:t>Build AI models, chatbots, ML projects</a:t>
            </a:r>
            <a:endParaRPr lang="en-US" sz="1200" dirty="0"/>
          </a:p>
        </p:txBody>
      </p:sp>
      <p:sp>
        <p:nvSpPr>
          <p:cNvPr id="19" name="Shape 17"/>
          <p:cNvSpPr/>
          <p:nvPr/>
        </p:nvSpPr>
        <p:spPr>
          <a:xfrm>
            <a:off x="6858000" y="1097280"/>
            <a:ext cx="2011680" cy="3474720"/>
          </a:xfrm>
          <a:prstGeom prst="roundRect">
            <a:avLst>
              <a:gd name="adj" fmla="val 681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20" name="Shape 18"/>
          <p:cNvSpPr/>
          <p:nvPr/>
        </p:nvSpPr>
        <p:spPr>
          <a:xfrm>
            <a:off x="6858000" y="1097280"/>
            <a:ext cx="2011680" cy="548640"/>
          </a:xfrm>
          <a:prstGeom prst="roundRect">
            <a:avLst>
              <a:gd name="adj" fmla="val 16667"/>
            </a:avLst>
          </a:prstGeom>
          <a:solidFill>
            <a:srgbClr val="1A56C4"/>
          </a:solidFill>
          <a:ln/>
        </p:spPr>
        <p:txBody>
          <a:bodyPr/>
          <a:lstStyle/>
          <a:p>
            <a:endParaRPr lang="en-GB"/>
          </a:p>
        </p:txBody>
      </p:sp>
      <p:sp>
        <p:nvSpPr>
          <p:cNvPr id="21" name="Text 19"/>
          <p:cNvSpPr/>
          <p:nvPr/>
        </p:nvSpPr>
        <p:spPr>
          <a:xfrm>
            <a:off x="6858000" y="1097280"/>
            <a:ext cx="201168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Ages 16+</a:t>
            </a:r>
            <a:endParaRPr lang="en-US" sz="1400" dirty="0"/>
          </a:p>
        </p:txBody>
      </p:sp>
      <p:sp>
        <p:nvSpPr>
          <p:cNvPr id="22" name="Text 20"/>
          <p:cNvSpPr/>
          <p:nvPr/>
        </p:nvSpPr>
        <p:spPr>
          <a:xfrm>
            <a:off x="6949440" y="1719072"/>
            <a:ext cx="1828800" cy="457200"/>
          </a:xfrm>
          <a:prstGeom prst="rect">
            <a:avLst/>
          </a:prstGeom>
          <a:noFill/>
          <a:ln/>
        </p:spPr>
        <p:txBody>
          <a:bodyPr wrap="square" rtlCol="0" anchor="ctr"/>
          <a:lstStyle/>
          <a:p>
            <a:pPr marL="0" indent="0" algn="ctr">
              <a:buNone/>
            </a:pPr>
            <a:r>
              <a:rPr lang="en-US" sz="1500" b="1" dirty="0">
                <a:solidFill>
                  <a:srgbClr val="1A56C4"/>
                </a:solidFill>
                <a:latin typeface="Cambria" pitchFamily="34" charset="0"/>
                <a:ea typeface="Cambria" pitchFamily="34" charset="-122"/>
                <a:cs typeface="Cambria" pitchFamily="34" charset="-120"/>
              </a:rPr>
              <a:t>Leadership</a:t>
            </a:r>
            <a:endParaRPr lang="en-US" sz="1500" dirty="0"/>
          </a:p>
        </p:txBody>
      </p:sp>
      <p:sp>
        <p:nvSpPr>
          <p:cNvPr id="23" name="Text 21"/>
          <p:cNvSpPr/>
          <p:nvPr/>
        </p:nvSpPr>
        <p:spPr>
          <a:xfrm>
            <a:off x="6995160" y="2240280"/>
            <a:ext cx="1737360" cy="2103120"/>
          </a:xfrm>
          <a:prstGeom prst="rect">
            <a:avLst/>
          </a:prstGeom>
          <a:noFill/>
          <a:ln/>
        </p:spPr>
        <p:txBody>
          <a:bodyPr wrap="square" rtlCol="0" anchor="t"/>
          <a:lstStyle/>
          <a:p>
            <a:pPr marL="0" indent="0" algn="ctr">
              <a:buNone/>
            </a:pPr>
            <a:r>
              <a:rPr lang="en-US" sz="1200" dirty="0">
                <a:solidFill>
                  <a:srgbClr val="1A1A2E"/>
                </a:solidFill>
                <a:latin typeface="Calibri" pitchFamily="34" charset="0"/>
                <a:ea typeface="Calibri" pitchFamily="34" charset="-122"/>
                <a:cs typeface="Calibri" pitchFamily="34" charset="-120"/>
              </a:rPr>
              <a:t>Ethics, policy, entrepreneurship with AI</a:t>
            </a:r>
            <a:endParaRPr lang="en-US" sz="1200" dirty="0"/>
          </a:p>
        </p:txBody>
      </p:sp>
      <p:sp>
        <p:nvSpPr>
          <p:cNvPr id="24" name="Shape 22"/>
          <p:cNvSpPr/>
          <p:nvPr/>
        </p:nvSpPr>
        <p:spPr>
          <a:xfrm>
            <a:off x="274320" y="4617720"/>
            <a:ext cx="8595360" cy="411480"/>
          </a:xfrm>
          <a:prstGeom prst="roundRect">
            <a:avLst>
              <a:gd name="adj" fmla="val 17778"/>
            </a:avLst>
          </a:prstGeom>
          <a:solidFill>
            <a:srgbClr val="0D1B4B"/>
          </a:solidFill>
          <a:ln/>
        </p:spPr>
        <p:txBody>
          <a:bodyPr/>
          <a:lstStyle/>
          <a:p>
            <a:endParaRPr lang="en-GB"/>
          </a:p>
        </p:txBody>
      </p:sp>
      <p:sp>
        <p:nvSpPr>
          <p:cNvPr id="25" name="Text 23"/>
          <p:cNvSpPr/>
          <p:nvPr/>
        </p:nvSpPr>
        <p:spPr>
          <a:xfrm>
            <a:off x="274320" y="4617720"/>
            <a:ext cx="8595360" cy="411480"/>
          </a:xfrm>
          <a:prstGeom prst="rect">
            <a:avLst/>
          </a:prstGeom>
          <a:noFill/>
          <a:ln/>
        </p:spPr>
        <p:txBody>
          <a:bodyPr wrap="square" lIns="0" tIns="0" rIns="0" bIns="0" rtlCol="0" anchor="ctr"/>
          <a:lstStyle/>
          <a:p>
            <a:pPr marL="0" indent="0" algn="ctr">
              <a:buNone/>
            </a:pPr>
            <a:r>
              <a:rPr lang="en-US" sz="1300" i="1" dirty="0">
                <a:solidFill>
                  <a:srgbClr val="F5C518"/>
                </a:solidFill>
                <a:latin typeface="Calibri" pitchFamily="34" charset="0"/>
                <a:ea typeface="Calibri" pitchFamily="34" charset="-122"/>
                <a:cs typeface="Calibri" pitchFamily="34" charset="-120"/>
              </a:rPr>
              <a:t>Early exposure builds cognitive scaffolding that lasts a lifetime.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7B3FA0"/>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Nigeria's AI Opportunity — And Our Responsibility</a:t>
            </a:r>
            <a:endParaRPr lang="en-US" sz="2400" dirty="0"/>
          </a:p>
        </p:txBody>
      </p:sp>
      <p:sp>
        <p:nvSpPr>
          <p:cNvPr id="4" name="Shape 2"/>
          <p:cNvSpPr/>
          <p:nvPr/>
        </p:nvSpPr>
        <p:spPr>
          <a:xfrm>
            <a:off x="274320" y="1051560"/>
            <a:ext cx="3931920" cy="3657600"/>
          </a:xfrm>
          <a:prstGeom prst="roundRect">
            <a:avLst>
              <a:gd name="adj" fmla="val 3750"/>
            </a:avLst>
          </a:prstGeom>
          <a:solidFill>
            <a:srgbClr val="F0EBF7"/>
          </a:solidFill>
          <a:ln/>
          <a:effectLst>
            <a:outerShdw blurRad="101600" dist="38100" dir="2700000" algn="bl" rotWithShape="0">
              <a:srgbClr val="000000">
                <a:alpha val="13000"/>
              </a:srgbClr>
            </a:outerShdw>
          </a:effectLst>
        </p:spPr>
        <p:txBody>
          <a:bodyPr/>
          <a:lstStyle/>
          <a:p>
            <a:endParaRPr lang="en-GB"/>
          </a:p>
        </p:txBody>
      </p:sp>
      <p:sp>
        <p:nvSpPr>
          <p:cNvPr id="5" name="Text 3"/>
          <p:cNvSpPr/>
          <p:nvPr/>
        </p:nvSpPr>
        <p:spPr>
          <a:xfrm>
            <a:off x="457200" y="1188720"/>
            <a:ext cx="3566160" cy="365760"/>
          </a:xfrm>
          <a:prstGeom prst="rect">
            <a:avLst/>
          </a:prstGeom>
          <a:noFill/>
          <a:ln/>
        </p:spPr>
        <p:txBody>
          <a:bodyPr wrap="square" rtlCol="0" anchor="ctr"/>
          <a:lstStyle/>
          <a:p>
            <a:pPr marL="0" indent="0">
              <a:buNone/>
            </a:pPr>
            <a:r>
              <a:rPr lang="en-US" sz="1500" b="1" dirty="0">
                <a:solidFill>
                  <a:srgbClr val="7B3FA0"/>
                </a:solidFill>
                <a:latin typeface="Cambria" pitchFamily="34" charset="0"/>
                <a:ea typeface="Cambria" pitchFamily="34" charset="-122"/>
                <a:cs typeface="Cambria" pitchFamily="34" charset="-120"/>
              </a:rPr>
              <a:t>Nigeria by Numbers</a:t>
            </a:r>
            <a:endParaRPr lang="en-US" sz="1500" dirty="0"/>
          </a:p>
        </p:txBody>
      </p:sp>
      <p:sp>
        <p:nvSpPr>
          <p:cNvPr id="6" name="Text 4"/>
          <p:cNvSpPr/>
          <p:nvPr/>
        </p:nvSpPr>
        <p:spPr>
          <a:xfrm>
            <a:off x="457200" y="1645920"/>
            <a:ext cx="1188720" cy="548640"/>
          </a:xfrm>
          <a:prstGeom prst="rect">
            <a:avLst/>
          </a:prstGeom>
          <a:noFill/>
          <a:ln/>
        </p:spPr>
        <p:txBody>
          <a:bodyPr wrap="square" rtlCol="0" anchor="ctr"/>
          <a:lstStyle/>
          <a:p>
            <a:pPr marL="0" indent="0">
              <a:buNone/>
            </a:pPr>
            <a:r>
              <a:rPr lang="en-US" sz="2200" b="1" dirty="0">
                <a:solidFill>
                  <a:srgbClr val="7B3FA0"/>
                </a:solidFill>
                <a:latin typeface="Cambria" pitchFamily="34" charset="0"/>
                <a:ea typeface="Cambria" pitchFamily="34" charset="-122"/>
                <a:cs typeface="Cambria" pitchFamily="34" charset="-120"/>
              </a:rPr>
              <a:t>220M+</a:t>
            </a:r>
            <a:endParaRPr lang="en-US" sz="2200" dirty="0"/>
          </a:p>
        </p:txBody>
      </p:sp>
      <p:sp>
        <p:nvSpPr>
          <p:cNvPr id="7" name="Text 5"/>
          <p:cNvSpPr/>
          <p:nvPr/>
        </p:nvSpPr>
        <p:spPr>
          <a:xfrm>
            <a:off x="1691640" y="1691640"/>
            <a:ext cx="228600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population — largest in Africa</a:t>
            </a:r>
            <a:endParaRPr lang="en-US" sz="1200" dirty="0"/>
          </a:p>
        </p:txBody>
      </p:sp>
      <p:sp>
        <p:nvSpPr>
          <p:cNvPr id="8" name="Text 6"/>
          <p:cNvSpPr/>
          <p:nvPr/>
        </p:nvSpPr>
        <p:spPr>
          <a:xfrm>
            <a:off x="457200" y="2423160"/>
            <a:ext cx="1188720" cy="548640"/>
          </a:xfrm>
          <a:prstGeom prst="rect">
            <a:avLst/>
          </a:prstGeom>
          <a:noFill/>
          <a:ln/>
        </p:spPr>
        <p:txBody>
          <a:bodyPr wrap="square" rtlCol="0" anchor="ctr"/>
          <a:lstStyle/>
          <a:p>
            <a:pPr marL="0" indent="0">
              <a:buNone/>
            </a:pPr>
            <a:r>
              <a:rPr lang="en-US" sz="2200" b="1" dirty="0">
                <a:solidFill>
                  <a:srgbClr val="7B3FA0"/>
                </a:solidFill>
                <a:latin typeface="Cambria" pitchFamily="34" charset="0"/>
                <a:ea typeface="Cambria" pitchFamily="34" charset="-122"/>
                <a:cs typeface="Cambria" pitchFamily="34" charset="-120"/>
              </a:rPr>
              <a:t>~43%</a:t>
            </a:r>
            <a:endParaRPr lang="en-US" sz="2200" dirty="0"/>
          </a:p>
        </p:txBody>
      </p:sp>
      <p:sp>
        <p:nvSpPr>
          <p:cNvPr id="9" name="Text 7"/>
          <p:cNvSpPr/>
          <p:nvPr/>
        </p:nvSpPr>
        <p:spPr>
          <a:xfrm>
            <a:off x="1691640" y="2468880"/>
            <a:ext cx="228600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under 15 years old</a:t>
            </a:r>
            <a:endParaRPr lang="en-US" sz="1200" dirty="0"/>
          </a:p>
        </p:txBody>
      </p:sp>
      <p:sp>
        <p:nvSpPr>
          <p:cNvPr id="10" name="Text 8"/>
          <p:cNvSpPr/>
          <p:nvPr/>
        </p:nvSpPr>
        <p:spPr>
          <a:xfrm>
            <a:off x="457200" y="3200400"/>
            <a:ext cx="1188720" cy="548640"/>
          </a:xfrm>
          <a:prstGeom prst="rect">
            <a:avLst/>
          </a:prstGeom>
          <a:noFill/>
          <a:ln/>
        </p:spPr>
        <p:txBody>
          <a:bodyPr wrap="square" rtlCol="0" anchor="ctr"/>
          <a:lstStyle/>
          <a:p>
            <a:pPr marL="0" indent="0">
              <a:buNone/>
            </a:pPr>
            <a:r>
              <a:rPr lang="en-US" sz="2200" b="1" dirty="0">
                <a:solidFill>
                  <a:srgbClr val="7B3FA0"/>
                </a:solidFill>
                <a:latin typeface="Cambria" pitchFamily="34" charset="0"/>
                <a:ea typeface="Cambria" pitchFamily="34" charset="-122"/>
                <a:cs typeface="Cambria" pitchFamily="34" charset="-120"/>
              </a:rPr>
              <a:t>200+</a:t>
            </a:r>
            <a:endParaRPr lang="en-US" sz="2200" dirty="0"/>
          </a:p>
        </p:txBody>
      </p:sp>
      <p:sp>
        <p:nvSpPr>
          <p:cNvPr id="11" name="Text 9"/>
          <p:cNvSpPr/>
          <p:nvPr/>
        </p:nvSpPr>
        <p:spPr>
          <a:xfrm>
            <a:off x="1691640" y="3246120"/>
            <a:ext cx="228600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languages and cultures to represent in AI</a:t>
            </a:r>
            <a:endParaRPr lang="en-US" sz="1200" dirty="0"/>
          </a:p>
        </p:txBody>
      </p:sp>
      <p:sp>
        <p:nvSpPr>
          <p:cNvPr id="12" name="Text 10"/>
          <p:cNvSpPr/>
          <p:nvPr/>
        </p:nvSpPr>
        <p:spPr>
          <a:xfrm>
            <a:off x="457200" y="3977640"/>
            <a:ext cx="1188720" cy="548640"/>
          </a:xfrm>
          <a:prstGeom prst="rect">
            <a:avLst/>
          </a:prstGeom>
          <a:noFill/>
          <a:ln/>
        </p:spPr>
        <p:txBody>
          <a:bodyPr wrap="square" rtlCol="0" anchor="ctr"/>
          <a:lstStyle/>
          <a:p>
            <a:pPr marL="0" indent="0">
              <a:buNone/>
            </a:pPr>
            <a:r>
              <a:rPr lang="en-US" sz="2200" b="1" dirty="0">
                <a:solidFill>
                  <a:srgbClr val="7B3FA0"/>
                </a:solidFill>
                <a:latin typeface="Cambria" pitchFamily="34" charset="0"/>
                <a:ea typeface="Cambria" pitchFamily="34" charset="-122"/>
                <a:cs typeface="Cambria" pitchFamily="34" charset="-120"/>
              </a:rPr>
              <a:t>#1</a:t>
            </a:r>
            <a:endParaRPr lang="en-US" sz="2200" dirty="0"/>
          </a:p>
        </p:txBody>
      </p:sp>
      <p:sp>
        <p:nvSpPr>
          <p:cNvPr id="13" name="Text 11"/>
          <p:cNvSpPr/>
          <p:nvPr/>
        </p:nvSpPr>
        <p:spPr>
          <a:xfrm>
            <a:off x="1691640" y="4023360"/>
            <a:ext cx="2286000" cy="4572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tech startup ecosystem in Africa (Lagos)</a:t>
            </a:r>
            <a:endParaRPr lang="en-US" sz="1200" dirty="0"/>
          </a:p>
        </p:txBody>
      </p:sp>
      <p:sp>
        <p:nvSpPr>
          <p:cNvPr id="14" name="Shape 12"/>
          <p:cNvSpPr/>
          <p:nvPr/>
        </p:nvSpPr>
        <p:spPr>
          <a:xfrm>
            <a:off x="4480560" y="1051560"/>
            <a:ext cx="4297680" cy="1691640"/>
          </a:xfrm>
          <a:prstGeom prst="roundRect">
            <a:avLst>
              <a:gd name="adj" fmla="val 6486"/>
            </a:avLst>
          </a:prstGeom>
          <a:solidFill>
            <a:srgbClr val="FDECEA"/>
          </a:solidFill>
          <a:ln/>
          <a:effectLst>
            <a:outerShdw blurRad="101600" dist="38100" dir="2700000" algn="bl" rotWithShape="0">
              <a:srgbClr val="000000">
                <a:alpha val="13000"/>
              </a:srgbClr>
            </a:outerShdw>
          </a:effectLst>
        </p:spPr>
        <p:txBody>
          <a:bodyPr/>
          <a:lstStyle/>
          <a:p>
            <a:endParaRPr lang="en-GB"/>
          </a:p>
        </p:txBody>
      </p:sp>
      <p:sp>
        <p:nvSpPr>
          <p:cNvPr id="15" name="Text 13"/>
          <p:cNvSpPr/>
          <p:nvPr/>
        </p:nvSpPr>
        <p:spPr>
          <a:xfrm>
            <a:off x="4663440" y="1143000"/>
            <a:ext cx="3931920" cy="365760"/>
          </a:xfrm>
          <a:prstGeom prst="rect">
            <a:avLst/>
          </a:prstGeom>
          <a:noFill/>
          <a:ln/>
        </p:spPr>
        <p:txBody>
          <a:bodyPr wrap="square" rtlCol="0" anchor="ctr"/>
          <a:lstStyle/>
          <a:p>
            <a:pPr marL="0" indent="0">
              <a:buNone/>
            </a:pPr>
            <a:r>
              <a:rPr lang="en-US" sz="1400" b="1" dirty="0">
                <a:solidFill>
                  <a:srgbClr val="D72638"/>
                </a:solidFill>
                <a:latin typeface="Cambria" pitchFamily="34" charset="0"/>
                <a:ea typeface="Cambria" pitchFamily="34" charset="-122"/>
                <a:cs typeface="Cambria" pitchFamily="34" charset="-120"/>
              </a:rPr>
              <a:t>The Challenge</a:t>
            </a:r>
            <a:endParaRPr lang="en-US" sz="1400" dirty="0"/>
          </a:p>
        </p:txBody>
      </p:sp>
      <p:sp>
        <p:nvSpPr>
          <p:cNvPr id="16" name="Text 14"/>
          <p:cNvSpPr/>
          <p:nvPr/>
        </p:nvSpPr>
        <p:spPr>
          <a:xfrm>
            <a:off x="4663440" y="1527048"/>
            <a:ext cx="3931920" cy="329184"/>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AI datasets rarely reflect African contexts</a:t>
            </a:r>
            <a:endParaRPr lang="en-US" sz="1200" dirty="0"/>
          </a:p>
        </p:txBody>
      </p:sp>
      <p:sp>
        <p:nvSpPr>
          <p:cNvPr id="17" name="Text 15"/>
          <p:cNvSpPr/>
          <p:nvPr/>
        </p:nvSpPr>
        <p:spPr>
          <a:xfrm>
            <a:off x="4663440" y="1874520"/>
            <a:ext cx="3931920" cy="329184"/>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Few AI books written for Nigerian children</a:t>
            </a:r>
            <a:endParaRPr lang="en-US" sz="1200" dirty="0"/>
          </a:p>
        </p:txBody>
      </p:sp>
      <p:sp>
        <p:nvSpPr>
          <p:cNvPr id="18" name="Text 16"/>
          <p:cNvSpPr/>
          <p:nvPr/>
        </p:nvSpPr>
        <p:spPr>
          <a:xfrm>
            <a:off x="4663440" y="2221992"/>
            <a:ext cx="3931920" cy="329184"/>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Digital divide limits access &amp; exposure</a:t>
            </a:r>
            <a:endParaRPr lang="en-US" sz="1200" dirty="0"/>
          </a:p>
        </p:txBody>
      </p:sp>
      <p:sp>
        <p:nvSpPr>
          <p:cNvPr id="19" name="Shape 17"/>
          <p:cNvSpPr/>
          <p:nvPr/>
        </p:nvSpPr>
        <p:spPr>
          <a:xfrm>
            <a:off x="4480560" y="2926080"/>
            <a:ext cx="4297680" cy="1691640"/>
          </a:xfrm>
          <a:prstGeom prst="roundRect">
            <a:avLst>
              <a:gd name="adj" fmla="val 6486"/>
            </a:avLst>
          </a:prstGeom>
          <a:solidFill>
            <a:srgbClr val="E8F5EB"/>
          </a:solidFill>
          <a:ln/>
          <a:effectLst>
            <a:outerShdw blurRad="101600" dist="38100" dir="2700000" algn="bl" rotWithShape="0">
              <a:srgbClr val="000000">
                <a:alpha val="13000"/>
              </a:srgbClr>
            </a:outerShdw>
          </a:effectLst>
        </p:spPr>
        <p:txBody>
          <a:bodyPr/>
          <a:lstStyle/>
          <a:p>
            <a:endParaRPr lang="en-GB"/>
          </a:p>
        </p:txBody>
      </p:sp>
      <p:sp>
        <p:nvSpPr>
          <p:cNvPr id="20" name="Text 18"/>
          <p:cNvSpPr/>
          <p:nvPr/>
        </p:nvSpPr>
        <p:spPr>
          <a:xfrm>
            <a:off x="4663440" y="3017520"/>
            <a:ext cx="3931920" cy="365760"/>
          </a:xfrm>
          <a:prstGeom prst="rect">
            <a:avLst/>
          </a:prstGeom>
          <a:noFill/>
          <a:ln/>
        </p:spPr>
        <p:txBody>
          <a:bodyPr wrap="square" rtlCol="0" anchor="ctr"/>
          <a:lstStyle/>
          <a:p>
            <a:pPr marL="0" indent="0">
              <a:buNone/>
            </a:pPr>
            <a:r>
              <a:rPr lang="en-US" sz="1400" b="1" dirty="0">
                <a:solidFill>
                  <a:srgbClr val="2D9E47"/>
                </a:solidFill>
                <a:latin typeface="Cambria" pitchFamily="34" charset="0"/>
                <a:ea typeface="Cambria" pitchFamily="34" charset="-122"/>
                <a:cs typeface="Cambria" pitchFamily="34" charset="-120"/>
              </a:rPr>
              <a:t>Our Opportunity</a:t>
            </a:r>
            <a:endParaRPr lang="en-US" sz="1400" dirty="0"/>
          </a:p>
        </p:txBody>
      </p:sp>
      <p:sp>
        <p:nvSpPr>
          <p:cNvPr id="21" name="Text 19"/>
          <p:cNvSpPr/>
          <p:nvPr/>
        </p:nvSpPr>
        <p:spPr>
          <a:xfrm>
            <a:off x="4663440" y="3401568"/>
            <a:ext cx="3931920" cy="329184"/>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Nigeria produces 2.3M graduates/year</a:t>
            </a:r>
            <a:endParaRPr lang="en-US" sz="1200" dirty="0"/>
          </a:p>
        </p:txBody>
      </p:sp>
      <p:sp>
        <p:nvSpPr>
          <p:cNvPr id="22" name="Text 20"/>
          <p:cNvSpPr/>
          <p:nvPr/>
        </p:nvSpPr>
        <p:spPr>
          <a:xfrm>
            <a:off x="4663440" y="3749040"/>
            <a:ext cx="3931920" cy="329184"/>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Youth median age: 18.1 years</a:t>
            </a:r>
            <a:endParaRPr lang="en-US" sz="1200" dirty="0"/>
          </a:p>
        </p:txBody>
      </p:sp>
      <p:sp>
        <p:nvSpPr>
          <p:cNvPr id="23" name="Text 21"/>
          <p:cNvSpPr/>
          <p:nvPr/>
        </p:nvSpPr>
        <p:spPr>
          <a:xfrm>
            <a:off x="4663440" y="4096512"/>
            <a:ext cx="3931920" cy="329184"/>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Books like AI FOR KIDS fill a critical gap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F5C518"/>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600" b="1" dirty="0">
                <a:solidFill>
                  <a:srgbClr val="0D1B4B"/>
                </a:solidFill>
                <a:latin typeface="Cambria" pitchFamily="34" charset="0"/>
                <a:ea typeface="Cambria" pitchFamily="34" charset="-122"/>
                <a:cs typeface="Cambria" pitchFamily="34" charset="-120"/>
              </a:rPr>
              <a:t>Introducing: AI FOR KIDS Book Series</a:t>
            </a:r>
            <a:endParaRPr lang="en-US" sz="2600" dirty="0"/>
          </a:p>
        </p:txBody>
      </p:sp>
      <p:sp>
        <p:nvSpPr>
          <p:cNvPr id="4" name="Text 2"/>
          <p:cNvSpPr/>
          <p:nvPr/>
        </p:nvSpPr>
        <p:spPr>
          <a:xfrm>
            <a:off x="457200" y="1051560"/>
            <a:ext cx="8229600" cy="320040"/>
          </a:xfrm>
          <a:prstGeom prst="rect">
            <a:avLst/>
          </a:prstGeom>
          <a:noFill/>
          <a:ln/>
        </p:spPr>
        <p:txBody>
          <a:bodyPr wrap="square" rtlCol="0" anchor="ctr"/>
          <a:lstStyle/>
          <a:p>
            <a:pPr marL="0" indent="0" algn="ctr">
              <a:buNone/>
            </a:pPr>
            <a:r>
              <a:rPr lang="en-US" sz="1300" i="1" dirty="0">
                <a:solidFill>
                  <a:srgbClr val="D6E8FF"/>
                </a:solidFill>
                <a:latin typeface="Calibri" pitchFamily="34" charset="0"/>
                <a:ea typeface="Calibri" pitchFamily="34" charset="-122"/>
                <a:cs typeface="Calibri" pitchFamily="34" charset="-120"/>
              </a:rPr>
              <a:t>by Mrs. Cecilia Adenusi  ·  STEM Educator &amp; AI Advocate</a:t>
            </a:r>
            <a:endParaRPr lang="en-US" sz="1300" dirty="0"/>
          </a:p>
        </p:txBody>
      </p:sp>
      <p:sp>
        <p:nvSpPr>
          <p:cNvPr id="5" name="Shape 3"/>
          <p:cNvSpPr/>
          <p:nvPr/>
        </p:nvSpPr>
        <p:spPr>
          <a:xfrm>
            <a:off x="274320" y="1463040"/>
            <a:ext cx="8595360" cy="594360"/>
          </a:xfrm>
          <a:prstGeom prst="roundRect">
            <a:avLst>
              <a:gd name="adj" fmla="val 15385"/>
            </a:avLst>
          </a:prstGeom>
          <a:solidFill>
            <a:srgbClr val="132060"/>
          </a:solidFill>
          <a:ln/>
          <a:effectLst>
            <a:outerShdw blurRad="101600" dist="38100" dir="2700000" algn="bl" rotWithShape="0">
              <a:srgbClr val="000000">
                <a:alpha val="13000"/>
              </a:srgbClr>
            </a:outerShdw>
          </a:effectLst>
        </p:spPr>
        <p:txBody>
          <a:bodyPr/>
          <a:lstStyle/>
          <a:p>
            <a:endParaRPr lang="en-GB"/>
          </a:p>
        </p:txBody>
      </p:sp>
      <p:sp>
        <p:nvSpPr>
          <p:cNvPr id="6" name="Text 4"/>
          <p:cNvSpPr/>
          <p:nvPr/>
        </p:nvSpPr>
        <p:spPr>
          <a:xfrm>
            <a:off x="274320" y="1463040"/>
            <a:ext cx="8595360" cy="594360"/>
          </a:xfrm>
          <a:prstGeom prst="rect">
            <a:avLst/>
          </a:prstGeom>
          <a:noFill/>
          <a:ln/>
        </p:spPr>
        <p:txBody>
          <a:bodyPr wrap="square" lIns="0" tIns="0" rIns="0" bIns="0" rtlCol="0" anchor="ctr"/>
          <a:lstStyle/>
          <a:p>
            <a:pPr marL="0" indent="0" algn="ctr">
              <a:buNone/>
            </a:pPr>
            <a:r>
              <a:rPr lang="en-US" sz="1800" b="1" dirty="0">
                <a:solidFill>
                  <a:srgbClr val="F5C518"/>
                </a:solidFill>
                <a:latin typeface="Cambria" pitchFamily="34" charset="0"/>
                <a:ea typeface="Cambria" pitchFamily="34" charset="-122"/>
                <a:cs typeface="Cambria" pitchFamily="34" charset="-120"/>
              </a:rPr>
              <a:t>Book 1: Smart Machines Around Us</a:t>
            </a:r>
            <a:endParaRPr lang="en-US" sz="1800" dirty="0"/>
          </a:p>
        </p:txBody>
      </p:sp>
      <p:sp>
        <p:nvSpPr>
          <p:cNvPr id="7" name="Shape 5"/>
          <p:cNvSpPr/>
          <p:nvPr/>
        </p:nvSpPr>
        <p:spPr>
          <a:xfrm>
            <a:off x="274320" y="2194560"/>
            <a:ext cx="2697480" cy="2560320"/>
          </a:xfrm>
          <a:prstGeom prst="roundRect">
            <a:avLst>
              <a:gd name="adj" fmla="val 5357"/>
            </a:avLst>
          </a:prstGeom>
          <a:solidFill>
            <a:srgbClr val="132060"/>
          </a:solidFill>
          <a:ln/>
          <a:effectLst>
            <a:outerShdw blurRad="101600" dist="38100" dir="2700000" algn="bl" rotWithShape="0">
              <a:srgbClr val="000000">
                <a:alpha val="13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1280160" y="2331720"/>
            <a:ext cx="640080" cy="640080"/>
          </a:xfrm>
          <a:prstGeom prst="rect">
            <a:avLst/>
          </a:prstGeom>
        </p:spPr>
      </p:pic>
      <p:sp>
        <p:nvSpPr>
          <p:cNvPr id="9" name="Text 6"/>
          <p:cNvSpPr/>
          <p:nvPr/>
        </p:nvSpPr>
        <p:spPr>
          <a:xfrm>
            <a:off x="365760" y="3044952"/>
            <a:ext cx="2514600" cy="411480"/>
          </a:xfrm>
          <a:prstGeom prst="rect">
            <a:avLst/>
          </a:prstGeom>
          <a:noFill/>
          <a:ln/>
        </p:spPr>
        <p:txBody>
          <a:bodyPr wrap="square" rtlCol="0" anchor="ctr"/>
          <a:lstStyle/>
          <a:p>
            <a:pPr marL="0" indent="0" algn="ctr">
              <a:buNone/>
            </a:pPr>
            <a:r>
              <a:rPr lang="en-US" sz="1400" b="1" dirty="0">
                <a:solidFill>
                  <a:srgbClr val="1A56C4"/>
                </a:solidFill>
                <a:latin typeface="Cambria" pitchFamily="34" charset="0"/>
                <a:ea typeface="Cambria" pitchFamily="34" charset="-122"/>
                <a:cs typeface="Cambria" pitchFamily="34" charset="-120"/>
              </a:rPr>
              <a:t>Age-Appropriate</a:t>
            </a:r>
            <a:endParaRPr lang="en-US" sz="1400" dirty="0"/>
          </a:p>
        </p:txBody>
      </p:sp>
      <p:sp>
        <p:nvSpPr>
          <p:cNvPr id="10" name="Text 7"/>
          <p:cNvSpPr/>
          <p:nvPr/>
        </p:nvSpPr>
        <p:spPr>
          <a:xfrm>
            <a:off x="411480" y="3502152"/>
            <a:ext cx="2423160" cy="1005840"/>
          </a:xfrm>
          <a:prstGeom prst="rect">
            <a:avLst/>
          </a:prstGeom>
          <a:noFill/>
          <a:ln/>
        </p:spPr>
        <p:txBody>
          <a:bodyPr wrap="square" rtlCol="0" anchor="t"/>
          <a:lstStyle/>
          <a:p>
            <a:pPr marL="0" indent="0" algn="ctr">
              <a:buNone/>
            </a:pPr>
            <a:r>
              <a:rPr lang="en-US" sz="1200" dirty="0">
                <a:solidFill>
                  <a:srgbClr val="D6E8FF"/>
                </a:solidFill>
                <a:latin typeface="Calibri" pitchFamily="34" charset="0"/>
                <a:ea typeface="Calibri" pitchFamily="34" charset="-122"/>
                <a:cs typeface="Calibri" pitchFamily="34" charset="-120"/>
              </a:rPr>
              <a:t>Designed for children with relatable Nigerian characters &amp; contexts</a:t>
            </a:r>
            <a:endParaRPr lang="en-US" sz="1200" dirty="0"/>
          </a:p>
        </p:txBody>
      </p:sp>
      <p:sp>
        <p:nvSpPr>
          <p:cNvPr id="11" name="Shape 8"/>
          <p:cNvSpPr/>
          <p:nvPr/>
        </p:nvSpPr>
        <p:spPr>
          <a:xfrm>
            <a:off x="3172968" y="2194560"/>
            <a:ext cx="2697480" cy="2560320"/>
          </a:xfrm>
          <a:prstGeom prst="roundRect">
            <a:avLst>
              <a:gd name="adj" fmla="val 5357"/>
            </a:avLst>
          </a:prstGeom>
          <a:solidFill>
            <a:srgbClr val="132060"/>
          </a:solidFill>
          <a:ln/>
          <a:effectLst>
            <a:outerShdw blurRad="101600" dist="38100" dir="2700000" algn="bl" rotWithShape="0">
              <a:srgbClr val="000000">
                <a:alpha val="13000"/>
              </a:srgbClr>
            </a:outerShdw>
          </a:effectLst>
        </p:spPr>
        <p:txBody>
          <a:bodyPr/>
          <a:lstStyle/>
          <a:p>
            <a:endParaRPr lang="en-GB"/>
          </a:p>
        </p:txBody>
      </p:sp>
      <p:pic>
        <p:nvPicPr>
          <p:cNvPr id="12" name="Image 1" descr="preencoded.png"/>
          <p:cNvPicPr>
            <a:picLocks noChangeAspect="1"/>
          </p:cNvPicPr>
          <p:nvPr/>
        </p:nvPicPr>
        <p:blipFill>
          <a:blip r:embed="rId4"/>
          <a:stretch>
            <a:fillRect/>
          </a:stretch>
        </p:blipFill>
        <p:spPr>
          <a:xfrm>
            <a:off x="4178808" y="2331720"/>
            <a:ext cx="640080" cy="640080"/>
          </a:xfrm>
          <a:prstGeom prst="rect">
            <a:avLst/>
          </a:prstGeom>
        </p:spPr>
      </p:pic>
      <p:sp>
        <p:nvSpPr>
          <p:cNvPr id="13" name="Text 9"/>
          <p:cNvSpPr/>
          <p:nvPr/>
        </p:nvSpPr>
        <p:spPr>
          <a:xfrm>
            <a:off x="3264408" y="3044952"/>
            <a:ext cx="2514600" cy="411480"/>
          </a:xfrm>
          <a:prstGeom prst="rect">
            <a:avLst/>
          </a:prstGeom>
          <a:noFill/>
          <a:ln/>
        </p:spPr>
        <p:txBody>
          <a:bodyPr wrap="square" rtlCol="0" anchor="ctr"/>
          <a:lstStyle/>
          <a:p>
            <a:pPr marL="0" indent="0" algn="ctr">
              <a:buNone/>
            </a:pPr>
            <a:r>
              <a:rPr lang="en-US" sz="1400" b="1" dirty="0">
                <a:solidFill>
                  <a:srgbClr val="2D9E47"/>
                </a:solidFill>
                <a:latin typeface="Cambria" pitchFamily="34" charset="0"/>
                <a:ea typeface="Cambria" pitchFamily="34" charset="-122"/>
                <a:cs typeface="Cambria" pitchFamily="34" charset="-120"/>
              </a:rPr>
              <a:t>Curriculum-Aligned</a:t>
            </a:r>
            <a:endParaRPr lang="en-US" sz="1400" dirty="0"/>
          </a:p>
        </p:txBody>
      </p:sp>
      <p:sp>
        <p:nvSpPr>
          <p:cNvPr id="14" name="Text 10"/>
          <p:cNvSpPr/>
          <p:nvPr/>
        </p:nvSpPr>
        <p:spPr>
          <a:xfrm>
            <a:off x="3310128" y="3502152"/>
            <a:ext cx="2423160" cy="1005840"/>
          </a:xfrm>
          <a:prstGeom prst="rect">
            <a:avLst/>
          </a:prstGeom>
          <a:noFill/>
          <a:ln/>
        </p:spPr>
        <p:txBody>
          <a:bodyPr wrap="square" rtlCol="0" anchor="t"/>
          <a:lstStyle/>
          <a:p>
            <a:pPr marL="0" indent="0" algn="ctr">
              <a:buNone/>
            </a:pPr>
            <a:r>
              <a:rPr lang="en-US" sz="1200" dirty="0">
                <a:solidFill>
                  <a:srgbClr val="D6E8FF"/>
                </a:solidFill>
                <a:latin typeface="Calibri" pitchFamily="34" charset="0"/>
                <a:ea typeface="Calibri" pitchFamily="34" charset="-122"/>
                <a:cs typeface="Calibri" pitchFamily="34" charset="-120"/>
              </a:rPr>
              <a:t>Supports STEM education goals with hands-on activities</a:t>
            </a:r>
            <a:endParaRPr lang="en-US" sz="1200" dirty="0"/>
          </a:p>
        </p:txBody>
      </p:sp>
      <p:sp>
        <p:nvSpPr>
          <p:cNvPr id="15" name="Shape 11"/>
          <p:cNvSpPr/>
          <p:nvPr/>
        </p:nvSpPr>
        <p:spPr>
          <a:xfrm>
            <a:off x="6071616" y="2194560"/>
            <a:ext cx="2697480" cy="2560320"/>
          </a:xfrm>
          <a:prstGeom prst="roundRect">
            <a:avLst>
              <a:gd name="adj" fmla="val 5357"/>
            </a:avLst>
          </a:prstGeom>
          <a:solidFill>
            <a:srgbClr val="132060"/>
          </a:solidFill>
          <a:ln/>
          <a:effectLst>
            <a:outerShdw blurRad="101600" dist="38100" dir="2700000" algn="bl" rotWithShape="0">
              <a:srgbClr val="000000">
                <a:alpha val="13000"/>
              </a:srgbClr>
            </a:outerShdw>
          </a:effectLst>
        </p:spPr>
        <p:txBody>
          <a:bodyPr/>
          <a:lstStyle/>
          <a:p>
            <a:endParaRPr lang="en-GB"/>
          </a:p>
        </p:txBody>
      </p:sp>
      <p:pic>
        <p:nvPicPr>
          <p:cNvPr id="16" name="Image 2" descr="preencoded.png"/>
          <p:cNvPicPr>
            <a:picLocks noChangeAspect="1"/>
          </p:cNvPicPr>
          <p:nvPr/>
        </p:nvPicPr>
        <p:blipFill>
          <a:blip r:embed="rId5"/>
          <a:stretch>
            <a:fillRect/>
          </a:stretch>
        </p:blipFill>
        <p:spPr>
          <a:xfrm>
            <a:off x="7077456" y="2331720"/>
            <a:ext cx="640080" cy="640080"/>
          </a:xfrm>
          <a:prstGeom prst="rect">
            <a:avLst/>
          </a:prstGeom>
        </p:spPr>
      </p:pic>
      <p:sp>
        <p:nvSpPr>
          <p:cNvPr id="17" name="Text 12"/>
          <p:cNvSpPr/>
          <p:nvPr/>
        </p:nvSpPr>
        <p:spPr>
          <a:xfrm>
            <a:off x="6163056" y="3044952"/>
            <a:ext cx="2514600" cy="411480"/>
          </a:xfrm>
          <a:prstGeom prst="rect">
            <a:avLst/>
          </a:prstGeom>
          <a:noFill/>
          <a:ln/>
        </p:spPr>
        <p:txBody>
          <a:bodyPr wrap="square" rtlCol="0" anchor="ctr"/>
          <a:lstStyle/>
          <a:p>
            <a:pPr marL="0" indent="0" algn="ctr">
              <a:buNone/>
            </a:pPr>
            <a:r>
              <a:rPr lang="en-US" sz="1400" b="1" dirty="0">
                <a:solidFill>
                  <a:srgbClr val="D72638"/>
                </a:solidFill>
                <a:latin typeface="Cambria" pitchFamily="34" charset="0"/>
                <a:ea typeface="Cambria" pitchFamily="34" charset="-122"/>
                <a:cs typeface="Cambria" pitchFamily="34" charset="-120"/>
              </a:rPr>
              <a:t>Values-Centred</a:t>
            </a:r>
            <a:endParaRPr lang="en-US" sz="1400" dirty="0"/>
          </a:p>
        </p:txBody>
      </p:sp>
      <p:sp>
        <p:nvSpPr>
          <p:cNvPr id="18" name="Text 13"/>
          <p:cNvSpPr/>
          <p:nvPr/>
        </p:nvSpPr>
        <p:spPr>
          <a:xfrm>
            <a:off x="6208776" y="3502152"/>
            <a:ext cx="2423160" cy="1005840"/>
          </a:xfrm>
          <a:prstGeom prst="rect">
            <a:avLst/>
          </a:prstGeom>
          <a:noFill/>
          <a:ln/>
        </p:spPr>
        <p:txBody>
          <a:bodyPr wrap="square" rtlCol="0" anchor="t"/>
          <a:lstStyle/>
          <a:p>
            <a:pPr marL="0" indent="0" algn="ctr">
              <a:buNone/>
            </a:pPr>
            <a:r>
              <a:rPr lang="en-US" sz="1200" dirty="0">
                <a:solidFill>
                  <a:srgbClr val="D6E8FF"/>
                </a:solidFill>
                <a:latin typeface="Calibri" pitchFamily="34" charset="0"/>
                <a:ea typeface="Calibri" pitchFamily="34" charset="-122"/>
                <a:cs typeface="Calibri" pitchFamily="34" charset="-120"/>
              </a:rPr>
              <a:t>Embeds responsible AI, kindness, and ethical thinking</a:t>
            </a:r>
            <a:endParaRPr lang="en-US" sz="1200" dirty="0"/>
          </a:p>
        </p:txBody>
      </p:sp>
      <p:sp>
        <p:nvSpPr>
          <p:cNvPr id="19" name="Shape 14"/>
          <p:cNvSpPr/>
          <p:nvPr/>
        </p:nvSpPr>
        <p:spPr>
          <a:xfrm>
            <a:off x="274320" y="4663440"/>
            <a:ext cx="8595360" cy="365760"/>
          </a:xfrm>
          <a:prstGeom prst="roundRect">
            <a:avLst>
              <a:gd name="adj" fmla="val 20000"/>
            </a:avLst>
          </a:prstGeom>
          <a:solidFill>
            <a:srgbClr val="F5821F"/>
          </a:solidFill>
          <a:ln/>
        </p:spPr>
        <p:txBody>
          <a:bodyPr/>
          <a:lstStyle/>
          <a:p>
            <a:endParaRPr lang="en-GB"/>
          </a:p>
        </p:txBody>
      </p:sp>
      <p:sp>
        <p:nvSpPr>
          <p:cNvPr id="20" name="Text 15"/>
          <p:cNvSpPr/>
          <p:nvPr/>
        </p:nvSpPr>
        <p:spPr>
          <a:xfrm>
            <a:off x="274320" y="4663440"/>
            <a:ext cx="85953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Pre-order now at  bit.ly/HSAIBOOK  from 6th June 2026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1A56C4"/>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What AI Literacy Unlocks for a Child</a:t>
            </a:r>
            <a:endParaRPr lang="en-US" sz="2600" dirty="0"/>
          </a:p>
        </p:txBody>
      </p:sp>
      <p:sp>
        <p:nvSpPr>
          <p:cNvPr id="4" name="Shape 2"/>
          <p:cNvSpPr/>
          <p:nvPr/>
        </p:nvSpPr>
        <p:spPr>
          <a:xfrm>
            <a:off x="274320" y="1097280"/>
            <a:ext cx="2697480" cy="1554480"/>
          </a:xfrm>
          <a:prstGeom prst="roundRect">
            <a:avLst>
              <a:gd name="adj" fmla="val 7059"/>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5" name="Image 0" descr="preencoded.png"/>
          <p:cNvPicPr>
            <a:picLocks noChangeAspect="1"/>
          </p:cNvPicPr>
          <p:nvPr/>
        </p:nvPicPr>
        <p:blipFill>
          <a:blip r:embed="rId3"/>
          <a:stretch>
            <a:fillRect/>
          </a:stretch>
        </p:blipFill>
        <p:spPr>
          <a:xfrm>
            <a:off x="411480" y="1508760"/>
            <a:ext cx="502920" cy="502920"/>
          </a:xfrm>
          <a:prstGeom prst="rect">
            <a:avLst/>
          </a:prstGeom>
        </p:spPr>
      </p:pic>
      <p:sp>
        <p:nvSpPr>
          <p:cNvPr id="6" name="Text 3"/>
          <p:cNvSpPr/>
          <p:nvPr/>
        </p:nvSpPr>
        <p:spPr>
          <a:xfrm>
            <a:off x="1005840" y="1207008"/>
            <a:ext cx="1828800" cy="411480"/>
          </a:xfrm>
          <a:prstGeom prst="rect">
            <a:avLst/>
          </a:prstGeom>
          <a:noFill/>
          <a:ln/>
        </p:spPr>
        <p:txBody>
          <a:bodyPr wrap="square" rtlCol="0" anchor="ctr"/>
          <a:lstStyle/>
          <a:p>
            <a:pPr marL="0" indent="0">
              <a:buNone/>
            </a:pPr>
            <a:r>
              <a:rPr lang="en-US" sz="1300" b="1" dirty="0">
                <a:solidFill>
                  <a:srgbClr val="1A56C4"/>
                </a:solidFill>
                <a:latin typeface="Cambria" pitchFamily="34" charset="0"/>
                <a:ea typeface="Cambria" pitchFamily="34" charset="-122"/>
                <a:cs typeface="Cambria" pitchFamily="34" charset="-120"/>
              </a:rPr>
              <a:t>Critical Thinking</a:t>
            </a:r>
            <a:endParaRPr lang="en-US" sz="1300" dirty="0"/>
          </a:p>
        </p:txBody>
      </p:sp>
      <p:sp>
        <p:nvSpPr>
          <p:cNvPr id="7" name="Text 4"/>
          <p:cNvSpPr/>
          <p:nvPr/>
        </p:nvSpPr>
        <p:spPr>
          <a:xfrm>
            <a:off x="1005840" y="1645920"/>
            <a:ext cx="1828800" cy="777240"/>
          </a:xfrm>
          <a:prstGeom prst="rect">
            <a:avLst/>
          </a:prstGeom>
          <a:noFill/>
          <a:ln/>
        </p:spPr>
        <p:txBody>
          <a:bodyPr wrap="square" rtlCol="0" anchor="t"/>
          <a:lstStyle/>
          <a:p>
            <a:pPr marL="0" indent="0">
              <a:buNone/>
            </a:pPr>
            <a:r>
              <a:rPr lang="en-US" sz="1100" dirty="0">
                <a:solidFill>
                  <a:srgbClr val="3D4D6B"/>
                </a:solidFill>
                <a:latin typeface="Calibri" pitchFamily="34" charset="0"/>
                <a:ea typeface="Calibri" pitchFamily="34" charset="-122"/>
                <a:cs typeface="Calibri" pitchFamily="34" charset="-120"/>
              </a:rPr>
              <a:t>Question AI outputs; spot misinformation and bias</a:t>
            </a:r>
            <a:endParaRPr lang="en-US" sz="1100" dirty="0"/>
          </a:p>
        </p:txBody>
      </p:sp>
      <p:sp>
        <p:nvSpPr>
          <p:cNvPr id="8" name="Shape 5"/>
          <p:cNvSpPr/>
          <p:nvPr/>
        </p:nvSpPr>
        <p:spPr>
          <a:xfrm>
            <a:off x="3172968" y="1097280"/>
            <a:ext cx="2697480" cy="1554480"/>
          </a:xfrm>
          <a:prstGeom prst="roundRect">
            <a:avLst>
              <a:gd name="adj" fmla="val 7059"/>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9" name="Image 1" descr="preencoded.png"/>
          <p:cNvPicPr>
            <a:picLocks noChangeAspect="1"/>
          </p:cNvPicPr>
          <p:nvPr/>
        </p:nvPicPr>
        <p:blipFill>
          <a:blip r:embed="rId4"/>
          <a:stretch>
            <a:fillRect/>
          </a:stretch>
        </p:blipFill>
        <p:spPr>
          <a:xfrm>
            <a:off x="3310128" y="1508760"/>
            <a:ext cx="502920" cy="502920"/>
          </a:xfrm>
          <a:prstGeom prst="rect">
            <a:avLst/>
          </a:prstGeom>
        </p:spPr>
      </p:pic>
      <p:sp>
        <p:nvSpPr>
          <p:cNvPr id="10" name="Text 6"/>
          <p:cNvSpPr/>
          <p:nvPr/>
        </p:nvSpPr>
        <p:spPr>
          <a:xfrm>
            <a:off x="3904488" y="1207008"/>
            <a:ext cx="1828800" cy="411480"/>
          </a:xfrm>
          <a:prstGeom prst="rect">
            <a:avLst/>
          </a:prstGeom>
          <a:noFill/>
          <a:ln/>
        </p:spPr>
        <p:txBody>
          <a:bodyPr wrap="square" rtlCol="0" anchor="ctr"/>
          <a:lstStyle/>
          <a:p>
            <a:pPr marL="0" indent="0">
              <a:buNone/>
            </a:pPr>
            <a:r>
              <a:rPr lang="en-US" sz="1300" b="1" dirty="0">
                <a:solidFill>
                  <a:srgbClr val="D72638"/>
                </a:solidFill>
                <a:latin typeface="Cambria" pitchFamily="34" charset="0"/>
                <a:ea typeface="Cambria" pitchFamily="34" charset="-122"/>
                <a:cs typeface="Cambria" pitchFamily="34" charset="-120"/>
              </a:rPr>
              <a:t>Digital Safety</a:t>
            </a:r>
            <a:endParaRPr lang="en-US" sz="1300" dirty="0"/>
          </a:p>
        </p:txBody>
      </p:sp>
      <p:sp>
        <p:nvSpPr>
          <p:cNvPr id="11" name="Text 7"/>
          <p:cNvSpPr/>
          <p:nvPr/>
        </p:nvSpPr>
        <p:spPr>
          <a:xfrm>
            <a:off x="3904488" y="1645920"/>
            <a:ext cx="1828800" cy="777240"/>
          </a:xfrm>
          <a:prstGeom prst="rect">
            <a:avLst/>
          </a:prstGeom>
          <a:noFill/>
          <a:ln/>
        </p:spPr>
        <p:txBody>
          <a:bodyPr wrap="square" rtlCol="0" anchor="t"/>
          <a:lstStyle/>
          <a:p>
            <a:pPr marL="0" indent="0">
              <a:buNone/>
            </a:pPr>
            <a:r>
              <a:rPr lang="en-US" sz="1100" dirty="0">
                <a:solidFill>
                  <a:srgbClr val="3D4D6B"/>
                </a:solidFill>
                <a:latin typeface="Calibri" pitchFamily="34" charset="0"/>
                <a:ea typeface="Calibri" pitchFamily="34" charset="-122"/>
                <a:cs typeface="Calibri" pitchFamily="34" charset="-120"/>
              </a:rPr>
              <a:t>Navigate online spaces with awareness and confidence</a:t>
            </a:r>
            <a:endParaRPr lang="en-US" sz="1100" dirty="0"/>
          </a:p>
        </p:txBody>
      </p:sp>
      <p:sp>
        <p:nvSpPr>
          <p:cNvPr id="12" name="Shape 8"/>
          <p:cNvSpPr/>
          <p:nvPr/>
        </p:nvSpPr>
        <p:spPr>
          <a:xfrm>
            <a:off x="6071616" y="1097280"/>
            <a:ext cx="2697480" cy="1554480"/>
          </a:xfrm>
          <a:prstGeom prst="roundRect">
            <a:avLst>
              <a:gd name="adj" fmla="val 7059"/>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13" name="Image 2" descr="preencoded.png"/>
          <p:cNvPicPr>
            <a:picLocks noChangeAspect="1"/>
          </p:cNvPicPr>
          <p:nvPr/>
        </p:nvPicPr>
        <p:blipFill>
          <a:blip r:embed="rId5"/>
          <a:stretch>
            <a:fillRect/>
          </a:stretch>
        </p:blipFill>
        <p:spPr>
          <a:xfrm>
            <a:off x="6208776" y="1508760"/>
            <a:ext cx="502920" cy="502920"/>
          </a:xfrm>
          <a:prstGeom prst="rect">
            <a:avLst/>
          </a:prstGeom>
        </p:spPr>
      </p:pic>
      <p:sp>
        <p:nvSpPr>
          <p:cNvPr id="14" name="Text 9"/>
          <p:cNvSpPr/>
          <p:nvPr/>
        </p:nvSpPr>
        <p:spPr>
          <a:xfrm>
            <a:off x="6803136" y="1207008"/>
            <a:ext cx="1828800" cy="411480"/>
          </a:xfrm>
          <a:prstGeom prst="rect">
            <a:avLst/>
          </a:prstGeom>
          <a:noFill/>
          <a:ln/>
        </p:spPr>
        <p:txBody>
          <a:bodyPr wrap="square" rtlCol="0" anchor="ctr"/>
          <a:lstStyle/>
          <a:p>
            <a:pPr marL="0" indent="0">
              <a:buNone/>
            </a:pPr>
            <a:r>
              <a:rPr lang="en-US" sz="1300" b="1" dirty="0">
                <a:solidFill>
                  <a:srgbClr val="2D9E47"/>
                </a:solidFill>
                <a:latin typeface="Cambria" pitchFamily="34" charset="0"/>
                <a:ea typeface="Cambria" pitchFamily="34" charset="-122"/>
                <a:cs typeface="Cambria" pitchFamily="34" charset="-120"/>
              </a:rPr>
              <a:t>Global Citizenship</a:t>
            </a:r>
            <a:endParaRPr lang="en-US" sz="1300" dirty="0"/>
          </a:p>
        </p:txBody>
      </p:sp>
      <p:sp>
        <p:nvSpPr>
          <p:cNvPr id="15" name="Text 10"/>
          <p:cNvSpPr/>
          <p:nvPr/>
        </p:nvSpPr>
        <p:spPr>
          <a:xfrm>
            <a:off x="6803136" y="1645920"/>
            <a:ext cx="1828800" cy="777240"/>
          </a:xfrm>
          <a:prstGeom prst="rect">
            <a:avLst/>
          </a:prstGeom>
          <a:noFill/>
          <a:ln/>
        </p:spPr>
        <p:txBody>
          <a:bodyPr wrap="square" rtlCol="0" anchor="t"/>
          <a:lstStyle/>
          <a:p>
            <a:pPr marL="0" indent="0">
              <a:buNone/>
            </a:pPr>
            <a:r>
              <a:rPr lang="en-US" sz="1100" dirty="0">
                <a:solidFill>
                  <a:srgbClr val="3D4D6B"/>
                </a:solidFill>
                <a:latin typeface="Calibri" pitchFamily="34" charset="0"/>
                <a:ea typeface="Calibri" pitchFamily="34" charset="-122"/>
                <a:cs typeface="Calibri" pitchFamily="34" charset="-120"/>
              </a:rPr>
              <a:t>Engage with AI-driven global challenges responsibly</a:t>
            </a:r>
            <a:endParaRPr lang="en-US" sz="1100" dirty="0"/>
          </a:p>
        </p:txBody>
      </p:sp>
      <p:sp>
        <p:nvSpPr>
          <p:cNvPr id="16" name="Shape 11"/>
          <p:cNvSpPr/>
          <p:nvPr/>
        </p:nvSpPr>
        <p:spPr>
          <a:xfrm>
            <a:off x="274320" y="2834640"/>
            <a:ext cx="2697480" cy="1554480"/>
          </a:xfrm>
          <a:prstGeom prst="roundRect">
            <a:avLst>
              <a:gd name="adj" fmla="val 7059"/>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17" name="Image 3" descr="preencoded.png"/>
          <p:cNvPicPr>
            <a:picLocks noChangeAspect="1"/>
          </p:cNvPicPr>
          <p:nvPr/>
        </p:nvPicPr>
        <p:blipFill>
          <a:blip r:embed="rId6"/>
          <a:stretch>
            <a:fillRect/>
          </a:stretch>
        </p:blipFill>
        <p:spPr>
          <a:xfrm>
            <a:off x="411480" y="3246120"/>
            <a:ext cx="502920" cy="502920"/>
          </a:xfrm>
          <a:prstGeom prst="rect">
            <a:avLst/>
          </a:prstGeom>
        </p:spPr>
      </p:pic>
      <p:sp>
        <p:nvSpPr>
          <p:cNvPr id="18" name="Text 12"/>
          <p:cNvSpPr/>
          <p:nvPr/>
        </p:nvSpPr>
        <p:spPr>
          <a:xfrm>
            <a:off x="1005840" y="2944368"/>
            <a:ext cx="1828800" cy="411480"/>
          </a:xfrm>
          <a:prstGeom prst="rect">
            <a:avLst/>
          </a:prstGeom>
          <a:noFill/>
          <a:ln/>
        </p:spPr>
        <p:txBody>
          <a:bodyPr wrap="square" rtlCol="0" anchor="ctr"/>
          <a:lstStyle/>
          <a:p>
            <a:pPr marL="0" indent="0">
              <a:buNone/>
            </a:pPr>
            <a:r>
              <a:rPr lang="en-US" sz="1300" b="1" dirty="0">
                <a:solidFill>
                  <a:srgbClr val="F5821F"/>
                </a:solidFill>
                <a:latin typeface="Cambria" pitchFamily="34" charset="0"/>
                <a:ea typeface="Cambria" pitchFamily="34" charset="-122"/>
                <a:cs typeface="Cambria" pitchFamily="34" charset="-120"/>
              </a:rPr>
              <a:t>Career Readiness</a:t>
            </a:r>
            <a:endParaRPr lang="en-US" sz="1300" dirty="0"/>
          </a:p>
        </p:txBody>
      </p:sp>
      <p:sp>
        <p:nvSpPr>
          <p:cNvPr id="19" name="Text 13"/>
          <p:cNvSpPr/>
          <p:nvPr/>
        </p:nvSpPr>
        <p:spPr>
          <a:xfrm>
            <a:off x="1005840" y="3383280"/>
            <a:ext cx="1828800" cy="777240"/>
          </a:xfrm>
          <a:prstGeom prst="rect">
            <a:avLst/>
          </a:prstGeom>
          <a:noFill/>
          <a:ln/>
        </p:spPr>
        <p:txBody>
          <a:bodyPr wrap="square" rtlCol="0" anchor="t"/>
          <a:lstStyle/>
          <a:p>
            <a:pPr marL="0" indent="0">
              <a:buNone/>
            </a:pPr>
            <a:r>
              <a:rPr lang="en-US" sz="1100" dirty="0">
                <a:solidFill>
                  <a:srgbClr val="3D4D6B"/>
                </a:solidFill>
                <a:latin typeface="Calibri" pitchFamily="34" charset="0"/>
                <a:ea typeface="Calibri" pitchFamily="34" charset="-122"/>
                <a:cs typeface="Calibri" pitchFamily="34" charset="-120"/>
              </a:rPr>
              <a:t>Prepared for jobs across ALL sectors that use AI</a:t>
            </a:r>
            <a:endParaRPr lang="en-US" sz="1100" dirty="0"/>
          </a:p>
        </p:txBody>
      </p:sp>
      <p:sp>
        <p:nvSpPr>
          <p:cNvPr id="20" name="Shape 14"/>
          <p:cNvSpPr/>
          <p:nvPr/>
        </p:nvSpPr>
        <p:spPr>
          <a:xfrm>
            <a:off x="3172968" y="2834640"/>
            <a:ext cx="2697480" cy="1554480"/>
          </a:xfrm>
          <a:prstGeom prst="roundRect">
            <a:avLst>
              <a:gd name="adj" fmla="val 7059"/>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21" name="Image 4" descr="preencoded.png"/>
          <p:cNvPicPr>
            <a:picLocks noChangeAspect="1"/>
          </p:cNvPicPr>
          <p:nvPr/>
        </p:nvPicPr>
        <p:blipFill>
          <a:blip r:embed="rId7"/>
          <a:stretch>
            <a:fillRect/>
          </a:stretch>
        </p:blipFill>
        <p:spPr>
          <a:xfrm>
            <a:off x="3310128" y="3246120"/>
            <a:ext cx="502920" cy="502920"/>
          </a:xfrm>
          <a:prstGeom prst="rect">
            <a:avLst/>
          </a:prstGeom>
        </p:spPr>
      </p:pic>
      <p:sp>
        <p:nvSpPr>
          <p:cNvPr id="22" name="Text 15"/>
          <p:cNvSpPr/>
          <p:nvPr/>
        </p:nvSpPr>
        <p:spPr>
          <a:xfrm>
            <a:off x="3904488" y="2944368"/>
            <a:ext cx="1828800" cy="411480"/>
          </a:xfrm>
          <a:prstGeom prst="rect">
            <a:avLst/>
          </a:prstGeom>
          <a:noFill/>
          <a:ln/>
        </p:spPr>
        <p:txBody>
          <a:bodyPr wrap="square" rtlCol="0" anchor="ctr"/>
          <a:lstStyle/>
          <a:p>
            <a:pPr marL="0" indent="0">
              <a:buNone/>
            </a:pPr>
            <a:r>
              <a:rPr lang="en-US" sz="1300" b="1" dirty="0">
                <a:solidFill>
                  <a:srgbClr val="7B3FA0"/>
                </a:solidFill>
                <a:latin typeface="Cambria" pitchFamily="34" charset="0"/>
                <a:ea typeface="Cambria" pitchFamily="34" charset="-122"/>
                <a:cs typeface="Cambria" pitchFamily="34" charset="-120"/>
              </a:rPr>
              <a:t>Inclusive Innovation</a:t>
            </a:r>
            <a:endParaRPr lang="en-US" sz="1300" dirty="0"/>
          </a:p>
        </p:txBody>
      </p:sp>
      <p:sp>
        <p:nvSpPr>
          <p:cNvPr id="23" name="Text 16"/>
          <p:cNvSpPr/>
          <p:nvPr/>
        </p:nvSpPr>
        <p:spPr>
          <a:xfrm>
            <a:off x="3904488" y="3383280"/>
            <a:ext cx="1828800" cy="777240"/>
          </a:xfrm>
          <a:prstGeom prst="rect">
            <a:avLst/>
          </a:prstGeom>
          <a:noFill/>
          <a:ln/>
        </p:spPr>
        <p:txBody>
          <a:bodyPr wrap="square" rtlCol="0" anchor="t"/>
          <a:lstStyle/>
          <a:p>
            <a:pPr marL="0" indent="0">
              <a:buNone/>
            </a:pPr>
            <a:r>
              <a:rPr lang="en-US" sz="1100" dirty="0">
                <a:solidFill>
                  <a:srgbClr val="3D4D6B"/>
                </a:solidFill>
                <a:latin typeface="Calibri" pitchFamily="34" charset="0"/>
                <a:ea typeface="Calibri" pitchFamily="34" charset="-122"/>
                <a:cs typeface="Calibri" pitchFamily="34" charset="-120"/>
              </a:rPr>
              <a:t>Build AI that reflects diverse African perspectives</a:t>
            </a:r>
            <a:endParaRPr lang="en-US" sz="1100" dirty="0"/>
          </a:p>
        </p:txBody>
      </p:sp>
      <p:sp>
        <p:nvSpPr>
          <p:cNvPr id="24" name="Shape 17"/>
          <p:cNvSpPr/>
          <p:nvPr/>
        </p:nvSpPr>
        <p:spPr>
          <a:xfrm>
            <a:off x="6071616" y="2834640"/>
            <a:ext cx="2697480" cy="1554480"/>
          </a:xfrm>
          <a:prstGeom prst="roundRect">
            <a:avLst>
              <a:gd name="adj" fmla="val 7059"/>
            </a:avLst>
          </a:prstGeom>
          <a:solidFill>
            <a:srgbClr val="FFFFFF"/>
          </a:solidFill>
          <a:ln/>
          <a:effectLst>
            <a:outerShdw blurRad="101600" dist="38100" dir="2700000" algn="bl" rotWithShape="0">
              <a:srgbClr val="000000">
                <a:alpha val="13000"/>
              </a:srgbClr>
            </a:outerShdw>
          </a:effectLst>
        </p:spPr>
        <p:txBody>
          <a:bodyPr/>
          <a:lstStyle/>
          <a:p>
            <a:endParaRPr lang="en-GB"/>
          </a:p>
        </p:txBody>
      </p:sp>
      <p:pic>
        <p:nvPicPr>
          <p:cNvPr id="25" name="Image 5" descr="preencoded.png"/>
          <p:cNvPicPr>
            <a:picLocks noChangeAspect="1"/>
          </p:cNvPicPr>
          <p:nvPr/>
        </p:nvPicPr>
        <p:blipFill>
          <a:blip r:embed="rId8"/>
          <a:stretch>
            <a:fillRect/>
          </a:stretch>
        </p:blipFill>
        <p:spPr>
          <a:xfrm>
            <a:off x="6208776" y="3246120"/>
            <a:ext cx="502920" cy="502920"/>
          </a:xfrm>
          <a:prstGeom prst="rect">
            <a:avLst/>
          </a:prstGeom>
        </p:spPr>
      </p:pic>
      <p:sp>
        <p:nvSpPr>
          <p:cNvPr id="26" name="Text 18"/>
          <p:cNvSpPr/>
          <p:nvPr/>
        </p:nvSpPr>
        <p:spPr>
          <a:xfrm>
            <a:off x="6803136" y="2944368"/>
            <a:ext cx="1828800" cy="411480"/>
          </a:xfrm>
          <a:prstGeom prst="rect">
            <a:avLst/>
          </a:prstGeom>
          <a:noFill/>
          <a:ln/>
        </p:spPr>
        <p:txBody>
          <a:bodyPr wrap="square" rtlCol="0" anchor="ctr"/>
          <a:lstStyle/>
          <a:p>
            <a:pPr marL="0" indent="0">
              <a:buNone/>
            </a:pPr>
            <a:r>
              <a:rPr lang="en-US" sz="1300" b="1" dirty="0">
                <a:solidFill>
                  <a:srgbClr val="0D1B4B"/>
                </a:solidFill>
                <a:latin typeface="Cambria" pitchFamily="34" charset="0"/>
                <a:ea typeface="Cambria" pitchFamily="34" charset="-122"/>
                <a:cs typeface="Cambria" pitchFamily="34" charset="-120"/>
              </a:rPr>
              <a:t>Entrepreneurship</a:t>
            </a:r>
            <a:endParaRPr lang="en-US" sz="1300" dirty="0"/>
          </a:p>
        </p:txBody>
      </p:sp>
      <p:sp>
        <p:nvSpPr>
          <p:cNvPr id="27" name="Text 19"/>
          <p:cNvSpPr/>
          <p:nvPr/>
        </p:nvSpPr>
        <p:spPr>
          <a:xfrm>
            <a:off x="6803136" y="3383280"/>
            <a:ext cx="1828800" cy="777240"/>
          </a:xfrm>
          <a:prstGeom prst="rect">
            <a:avLst/>
          </a:prstGeom>
          <a:noFill/>
          <a:ln/>
        </p:spPr>
        <p:txBody>
          <a:bodyPr wrap="square" rtlCol="0" anchor="t"/>
          <a:lstStyle/>
          <a:p>
            <a:pPr marL="0" indent="0">
              <a:buNone/>
            </a:pPr>
            <a:r>
              <a:rPr lang="en-US" sz="1100" dirty="0">
                <a:solidFill>
                  <a:srgbClr val="3D4D6B"/>
                </a:solidFill>
                <a:latin typeface="Calibri" pitchFamily="34" charset="0"/>
                <a:ea typeface="Calibri" pitchFamily="34" charset="-122"/>
                <a:cs typeface="Calibri" pitchFamily="34" charset="-120"/>
              </a:rPr>
              <a:t>Create apps, tools &amp; businesses powered by AI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2D9E47"/>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How Parents &amp; Educators Can Act Now</a:t>
            </a:r>
            <a:endParaRPr lang="en-US" sz="2600" dirty="0"/>
          </a:p>
        </p:txBody>
      </p:sp>
      <p:sp>
        <p:nvSpPr>
          <p:cNvPr id="4" name="Shape 2"/>
          <p:cNvSpPr/>
          <p:nvPr/>
        </p:nvSpPr>
        <p:spPr>
          <a:xfrm>
            <a:off x="274320" y="1097280"/>
            <a:ext cx="8595360" cy="685800"/>
          </a:xfrm>
          <a:prstGeom prst="roundRect">
            <a:avLst>
              <a:gd name="adj" fmla="val 13333"/>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5" name="Shape 3"/>
          <p:cNvSpPr/>
          <p:nvPr/>
        </p:nvSpPr>
        <p:spPr>
          <a:xfrm>
            <a:off x="411480" y="1188720"/>
            <a:ext cx="502920" cy="502920"/>
          </a:xfrm>
          <a:prstGeom prst="ellipse">
            <a:avLst/>
          </a:prstGeom>
          <a:solidFill>
            <a:srgbClr val="1A56C4"/>
          </a:solidFill>
          <a:ln/>
        </p:spPr>
        <p:txBody>
          <a:bodyPr/>
          <a:lstStyle/>
          <a:p>
            <a:endParaRPr lang="en-GB"/>
          </a:p>
        </p:txBody>
      </p:sp>
      <p:sp>
        <p:nvSpPr>
          <p:cNvPr id="6" name="Text 4"/>
          <p:cNvSpPr/>
          <p:nvPr/>
        </p:nvSpPr>
        <p:spPr>
          <a:xfrm>
            <a:off x="411480" y="11887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051560" y="1143000"/>
            <a:ext cx="5029200" cy="347472"/>
          </a:xfrm>
          <a:prstGeom prst="rect">
            <a:avLst/>
          </a:prstGeom>
          <a:noFill/>
          <a:ln/>
        </p:spPr>
        <p:txBody>
          <a:bodyPr wrap="square"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Read AI FOR KIDS together</a:t>
            </a:r>
            <a:endParaRPr lang="en-US" sz="1300" dirty="0"/>
          </a:p>
        </p:txBody>
      </p:sp>
      <p:sp>
        <p:nvSpPr>
          <p:cNvPr id="8" name="Text 6"/>
          <p:cNvSpPr/>
          <p:nvPr/>
        </p:nvSpPr>
        <p:spPr>
          <a:xfrm>
            <a:off x="1051560" y="1481328"/>
            <a:ext cx="7589520" cy="274320"/>
          </a:xfrm>
          <a:prstGeom prst="rect">
            <a:avLst/>
          </a:prstGeom>
          <a:noFill/>
          <a:ln/>
        </p:spPr>
        <p:txBody>
          <a:bodyPr wrap="square" rtlCol="0" anchor="ctr"/>
          <a:lstStyle/>
          <a:p>
            <a:pPr marL="0" indent="0">
              <a:buNone/>
            </a:pPr>
            <a:r>
              <a:rPr lang="en-US" sz="1100" dirty="0">
                <a:solidFill>
                  <a:srgbClr val="6B7A9A"/>
                </a:solidFill>
                <a:latin typeface="Calibri" pitchFamily="34" charset="0"/>
                <a:ea typeface="Calibri" pitchFamily="34" charset="-122"/>
                <a:cs typeface="Calibri" pitchFamily="34" charset="-120"/>
              </a:rPr>
              <a:t>Use Book 1 as a conversation starter at home and in class</a:t>
            </a:r>
            <a:endParaRPr lang="en-US" sz="1100" dirty="0"/>
          </a:p>
        </p:txBody>
      </p:sp>
      <p:sp>
        <p:nvSpPr>
          <p:cNvPr id="9" name="Shape 7"/>
          <p:cNvSpPr/>
          <p:nvPr/>
        </p:nvSpPr>
        <p:spPr>
          <a:xfrm>
            <a:off x="274320" y="1856232"/>
            <a:ext cx="8595360" cy="685800"/>
          </a:xfrm>
          <a:prstGeom prst="roundRect">
            <a:avLst>
              <a:gd name="adj" fmla="val 13333"/>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0" name="Shape 8"/>
          <p:cNvSpPr/>
          <p:nvPr/>
        </p:nvSpPr>
        <p:spPr>
          <a:xfrm>
            <a:off x="411480" y="1947672"/>
            <a:ext cx="502920" cy="502920"/>
          </a:xfrm>
          <a:prstGeom prst="ellipse">
            <a:avLst/>
          </a:prstGeom>
          <a:solidFill>
            <a:srgbClr val="F5821F"/>
          </a:solidFill>
          <a:ln/>
        </p:spPr>
        <p:txBody>
          <a:bodyPr/>
          <a:lstStyle/>
          <a:p>
            <a:endParaRPr lang="en-GB"/>
          </a:p>
        </p:txBody>
      </p:sp>
      <p:sp>
        <p:nvSpPr>
          <p:cNvPr id="11" name="Text 9"/>
          <p:cNvSpPr/>
          <p:nvPr/>
        </p:nvSpPr>
        <p:spPr>
          <a:xfrm>
            <a:off x="411480" y="19476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2" name="Text 10"/>
          <p:cNvSpPr/>
          <p:nvPr/>
        </p:nvSpPr>
        <p:spPr>
          <a:xfrm>
            <a:off x="1051560" y="1901952"/>
            <a:ext cx="5029200" cy="347472"/>
          </a:xfrm>
          <a:prstGeom prst="rect">
            <a:avLst/>
          </a:prstGeom>
          <a:noFill/>
          <a:ln/>
        </p:spPr>
        <p:txBody>
          <a:bodyPr wrap="square"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Ask 'What do you think the AI is doing?'</a:t>
            </a:r>
            <a:endParaRPr lang="en-US" sz="1300" dirty="0"/>
          </a:p>
        </p:txBody>
      </p:sp>
      <p:sp>
        <p:nvSpPr>
          <p:cNvPr id="13" name="Text 11"/>
          <p:cNvSpPr/>
          <p:nvPr/>
        </p:nvSpPr>
        <p:spPr>
          <a:xfrm>
            <a:off x="1051560" y="2240280"/>
            <a:ext cx="7589520" cy="274320"/>
          </a:xfrm>
          <a:prstGeom prst="rect">
            <a:avLst/>
          </a:prstGeom>
          <a:noFill/>
          <a:ln/>
        </p:spPr>
        <p:txBody>
          <a:bodyPr wrap="square" rtlCol="0" anchor="ctr"/>
          <a:lstStyle/>
          <a:p>
            <a:pPr marL="0" indent="0">
              <a:buNone/>
            </a:pPr>
            <a:r>
              <a:rPr lang="en-US" sz="1100" dirty="0">
                <a:solidFill>
                  <a:srgbClr val="6B7A9A"/>
                </a:solidFill>
                <a:latin typeface="Calibri" pitchFamily="34" charset="0"/>
                <a:ea typeface="Calibri" pitchFamily="34" charset="-122"/>
                <a:cs typeface="Calibri" pitchFamily="34" charset="-120"/>
              </a:rPr>
              <a:t>When children use apps, voice assistants, or recommendation systems</a:t>
            </a:r>
            <a:endParaRPr lang="en-US" sz="1100" dirty="0"/>
          </a:p>
        </p:txBody>
      </p:sp>
      <p:sp>
        <p:nvSpPr>
          <p:cNvPr id="14" name="Shape 12"/>
          <p:cNvSpPr/>
          <p:nvPr/>
        </p:nvSpPr>
        <p:spPr>
          <a:xfrm>
            <a:off x="274320" y="2615184"/>
            <a:ext cx="8595360" cy="685800"/>
          </a:xfrm>
          <a:prstGeom prst="roundRect">
            <a:avLst>
              <a:gd name="adj" fmla="val 13333"/>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5" name="Shape 13"/>
          <p:cNvSpPr/>
          <p:nvPr/>
        </p:nvSpPr>
        <p:spPr>
          <a:xfrm>
            <a:off x="411480" y="2706624"/>
            <a:ext cx="502920" cy="502920"/>
          </a:xfrm>
          <a:prstGeom prst="ellipse">
            <a:avLst/>
          </a:prstGeom>
          <a:solidFill>
            <a:srgbClr val="2D9E47"/>
          </a:solidFill>
          <a:ln/>
        </p:spPr>
        <p:txBody>
          <a:bodyPr/>
          <a:lstStyle/>
          <a:p>
            <a:endParaRPr lang="en-GB"/>
          </a:p>
        </p:txBody>
      </p:sp>
      <p:sp>
        <p:nvSpPr>
          <p:cNvPr id="16" name="Text 14"/>
          <p:cNvSpPr/>
          <p:nvPr/>
        </p:nvSpPr>
        <p:spPr>
          <a:xfrm>
            <a:off x="411480" y="270662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5"/>
          <p:cNvSpPr/>
          <p:nvPr/>
        </p:nvSpPr>
        <p:spPr>
          <a:xfrm>
            <a:off x="1051560" y="2660904"/>
            <a:ext cx="5029200" cy="347472"/>
          </a:xfrm>
          <a:prstGeom prst="rect">
            <a:avLst/>
          </a:prstGeom>
          <a:noFill/>
          <a:ln/>
        </p:spPr>
        <p:txBody>
          <a:bodyPr wrap="square"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Introduce visual / block coding</a:t>
            </a:r>
            <a:endParaRPr lang="en-US" sz="1300" dirty="0"/>
          </a:p>
        </p:txBody>
      </p:sp>
      <p:sp>
        <p:nvSpPr>
          <p:cNvPr id="18" name="Text 16"/>
          <p:cNvSpPr/>
          <p:nvPr/>
        </p:nvSpPr>
        <p:spPr>
          <a:xfrm>
            <a:off x="1051560" y="2999232"/>
            <a:ext cx="7589520" cy="274320"/>
          </a:xfrm>
          <a:prstGeom prst="rect">
            <a:avLst/>
          </a:prstGeom>
          <a:noFill/>
          <a:ln/>
        </p:spPr>
        <p:txBody>
          <a:bodyPr wrap="square" rtlCol="0" anchor="ctr"/>
          <a:lstStyle/>
          <a:p>
            <a:pPr marL="0" indent="0">
              <a:buNone/>
            </a:pPr>
            <a:r>
              <a:rPr lang="en-US" sz="1100" dirty="0">
                <a:solidFill>
                  <a:srgbClr val="6B7A9A"/>
                </a:solidFill>
                <a:latin typeface="Calibri" pitchFamily="34" charset="0"/>
                <a:ea typeface="Calibri" pitchFamily="34" charset="-122"/>
                <a:cs typeface="Calibri" pitchFamily="34" charset="-120"/>
              </a:rPr>
              <a:t>Scratch, Code.org, or micro:bit — free, fun, and AI-ready</a:t>
            </a:r>
            <a:endParaRPr lang="en-US" sz="1100" dirty="0"/>
          </a:p>
        </p:txBody>
      </p:sp>
      <p:sp>
        <p:nvSpPr>
          <p:cNvPr id="19" name="Shape 17"/>
          <p:cNvSpPr/>
          <p:nvPr/>
        </p:nvSpPr>
        <p:spPr>
          <a:xfrm>
            <a:off x="274320" y="3374136"/>
            <a:ext cx="8595360" cy="685800"/>
          </a:xfrm>
          <a:prstGeom prst="roundRect">
            <a:avLst>
              <a:gd name="adj" fmla="val 13333"/>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20" name="Shape 18"/>
          <p:cNvSpPr/>
          <p:nvPr/>
        </p:nvSpPr>
        <p:spPr>
          <a:xfrm>
            <a:off x="411480" y="3465576"/>
            <a:ext cx="502920" cy="502920"/>
          </a:xfrm>
          <a:prstGeom prst="ellipse">
            <a:avLst/>
          </a:prstGeom>
          <a:solidFill>
            <a:srgbClr val="7B3FA0"/>
          </a:solidFill>
          <a:ln/>
        </p:spPr>
        <p:txBody>
          <a:bodyPr/>
          <a:lstStyle/>
          <a:p>
            <a:endParaRPr lang="en-GB"/>
          </a:p>
        </p:txBody>
      </p:sp>
      <p:sp>
        <p:nvSpPr>
          <p:cNvPr id="21" name="Text 19"/>
          <p:cNvSpPr/>
          <p:nvPr/>
        </p:nvSpPr>
        <p:spPr>
          <a:xfrm>
            <a:off x="411480" y="346557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2" name="Text 20"/>
          <p:cNvSpPr/>
          <p:nvPr/>
        </p:nvSpPr>
        <p:spPr>
          <a:xfrm>
            <a:off x="1051560" y="3419856"/>
            <a:ext cx="5029200" cy="347472"/>
          </a:xfrm>
          <a:prstGeom prst="rect">
            <a:avLst/>
          </a:prstGeom>
          <a:noFill/>
          <a:ln/>
        </p:spPr>
        <p:txBody>
          <a:bodyPr wrap="square"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Discuss AI ethics at the dinner table</a:t>
            </a:r>
            <a:endParaRPr lang="en-US" sz="1300" dirty="0"/>
          </a:p>
        </p:txBody>
      </p:sp>
      <p:sp>
        <p:nvSpPr>
          <p:cNvPr id="23" name="Text 21"/>
          <p:cNvSpPr/>
          <p:nvPr/>
        </p:nvSpPr>
        <p:spPr>
          <a:xfrm>
            <a:off x="1051560" y="3758184"/>
            <a:ext cx="7589520" cy="274320"/>
          </a:xfrm>
          <a:prstGeom prst="rect">
            <a:avLst/>
          </a:prstGeom>
          <a:noFill/>
          <a:ln/>
        </p:spPr>
        <p:txBody>
          <a:bodyPr wrap="square" rtlCol="0" anchor="ctr"/>
          <a:lstStyle/>
          <a:p>
            <a:pPr marL="0" indent="0">
              <a:buNone/>
            </a:pPr>
            <a:r>
              <a:rPr lang="en-US" sz="1100" dirty="0">
                <a:solidFill>
                  <a:srgbClr val="6B7A9A"/>
                </a:solidFill>
                <a:latin typeface="Calibri" pitchFamily="34" charset="0"/>
                <a:ea typeface="Calibri" pitchFamily="34" charset="-122"/>
                <a:cs typeface="Calibri" pitchFamily="34" charset="-120"/>
              </a:rPr>
              <a:t>Fairness, privacy, and kindness apply online too</a:t>
            </a:r>
            <a:endParaRPr lang="en-US" sz="1100" dirty="0"/>
          </a:p>
        </p:txBody>
      </p:sp>
      <p:sp>
        <p:nvSpPr>
          <p:cNvPr id="24" name="Shape 22"/>
          <p:cNvSpPr/>
          <p:nvPr/>
        </p:nvSpPr>
        <p:spPr>
          <a:xfrm>
            <a:off x="274320" y="4133088"/>
            <a:ext cx="8595360" cy="685800"/>
          </a:xfrm>
          <a:prstGeom prst="roundRect">
            <a:avLst>
              <a:gd name="adj" fmla="val 13333"/>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25" name="Shape 23"/>
          <p:cNvSpPr/>
          <p:nvPr/>
        </p:nvSpPr>
        <p:spPr>
          <a:xfrm>
            <a:off x="411480" y="4224528"/>
            <a:ext cx="502920" cy="502920"/>
          </a:xfrm>
          <a:prstGeom prst="ellipse">
            <a:avLst/>
          </a:prstGeom>
          <a:solidFill>
            <a:srgbClr val="D72638"/>
          </a:solidFill>
          <a:ln/>
        </p:spPr>
        <p:txBody>
          <a:bodyPr/>
          <a:lstStyle/>
          <a:p>
            <a:endParaRPr lang="en-GB"/>
          </a:p>
        </p:txBody>
      </p:sp>
      <p:sp>
        <p:nvSpPr>
          <p:cNvPr id="26" name="Text 24"/>
          <p:cNvSpPr/>
          <p:nvPr/>
        </p:nvSpPr>
        <p:spPr>
          <a:xfrm>
            <a:off x="411480" y="422452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7" name="Text 25"/>
          <p:cNvSpPr/>
          <p:nvPr/>
        </p:nvSpPr>
        <p:spPr>
          <a:xfrm>
            <a:off x="1051560" y="4178808"/>
            <a:ext cx="5029200" cy="347472"/>
          </a:xfrm>
          <a:prstGeom prst="rect">
            <a:avLst/>
          </a:prstGeom>
          <a:noFill/>
          <a:ln/>
        </p:spPr>
        <p:txBody>
          <a:bodyPr wrap="square"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Celebrate curiosity, not just answers</a:t>
            </a:r>
            <a:endParaRPr lang="en-US" sz="1300" dirty="0"/>
          </a:p>
        </p:txBody>
      </p:sp>
      <p:sp>
        <p:nvSpPr>
          <p:cNvPr id="28" name="Text 26"/>
          <p:cNvSpPr/>
          <p:nvPr/>
        </p:nvSpPr>
        <p:spPr>
          <a:xfrm>
            <a:off x="1051560" y="4517136"/>
            <a:ext cx="7589520" cy="274320"/>
          </a:xfrm>
          <a:prstGeom prst="rect">
            <a:avLst/>
          </a:prstGeom>
          <a:noFill/>
          <a:ln/>
        </p:spPr>
        <p:txBody>
          <a:bodyPr wrap="square" rtlCol="0" anchor="ctr"/>
          <a:lstStyle/>
          <a:p>
            <a:pPr marL="0" indent="0">
              <a:buNone/>
            </a:pPr>
            <a:r>
              <a:rPr lang="en-US" sz="1100" dirty="0">
                <a:solidFill>
                  <a:srgbClr val="6B7A9A"/>
                </a:solidFill>
                <a:latin typeface="Calibri" pitchFamily="34" charset="0"/>
                <a:ea typeface="Calibri" pitchFamily="34" charset="-122"/>
                <a:cs typeface="Calibri" pitchFamily="34" charset="-120"/>
              </a:rPr>
              <a:t>AI literacy thrives when children are empowered to question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777240"/>
          </a:xfrm>
          <a:prstGeom prst="roundRect">
            <a:avLst>
              <a:gd name="adj" fmla="val 11765"/>
            </a:avLst>
          </a:prstGeom>
          <a:solidFill>
            <a:srgbClr val="D72638"/>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The Bigger Vision: African Children as AI Builders</a:t>
            </a:r>
            <a:endParaRPr lang="en-US" sz="2400" dirty="0"/>
          </a:p>
        </p:txBody>
      </p:sp>
      <p:sp>
        <p:nvSpPr>
          <p:cNvPr id="4" name="Shape 2"/>
          <p:cNvSpPr/>
          <p:nvPr/>
        </p:nvSpPr>
        <p:spPr>
          <a:xfrm>
            <a:off x="274320" y="1051560"/>
            <a:ext cx="8595360" cy="1371600"/>
          </a:xfrm>
          <a:prstGeom prst="roundRect">
            <a:avLst>
              <a:gd name="adj" fmla="val 10000"/>
            </a:avLst>
          </a:prstGeom>
          <a:solidFill>
            <a:srgbClr val="FFF3F0"/>
          </a:solidFill>
          <a:ln/>
          <a:effectLst>
            <a:outerShdw blurRad="101600" dist="38100" dir="2700000" algn="bl" rotWithShape="0">
              <a:srgbClr val="000000">
                <a:alpha val="13000"/>
              </a:srgbClr>
            </a:outerShdw>
          </a:effectLst>
        </p:spPr>
        <p:txBody>
          <a:bodyPr/>
          <a:lstStyle/>
          <a:p>
            <a:endParaRPr lang="en-GB"/>
          </a:p>
        </p:txBody>
      </p:sp>
      <p:sp>
        <p:nvSpPr>
          <p:cNvPr id="5" name="Text 3"/>
          <p:cNvSpPr/>
          <p:nvPr/>
        </p:nvSpPr>
        <p:spPr>
          <a:xfrm>
            <a:off x="548640" y="1097280"/>
            <a:ext cx="8046720" cy="1280160"/>
          </a:xfrm>
          <a:prstGeom prst="rect">
            <a:avLst/>
          </a:prstGeom>
          <a:noFill/>
          <a:ln/>
        </p:spPr>
        <p:txBody>
          <a:bodyPr wrap="square" rtlCol="0" anchor="ctr"/>
          <a:lstStyle/>
          <a:p>
            <a:pPr marL="0" indent="0" algn="ctr">
              <a:buNone/>
            </a:pPr>
            <a:r>
              <a:rPr lang="en-US" sz="1500" i="1" dirty="0">
                <a:solidFill>
                  <a:srgbClr val="0D1B4B"/>
                </a:solidFill>
                <a:latin typeface="Cambria" pitchFamily="34" charset="0"/>
                <a:ea typeface="Cambria" pitchFamily="34" charset="-122"/>
                <a:cs typeface="Cambria" pitchFamily="34" charset="-120"/>
              </a:rPr>
              <a:t>We do not want Africa's children to simply consume AI built elsewhere.</a:t>
            </a:r>
            <a:endParaRPr lang="en-US" sz="1500" dirty="0"/>
          </a:p>
          <a:p>
            <a:pPr marL="0" indent="0" algn="ctr">
              <a:buNone/>
            </a:pPr>
            <a:r>
              <a:rPr lang="en-US" sz="1500" i="1" dirty="0">
                <a:solidFill>
                  <a:srgbClr val="0D1B4B"/>
                </a:solidFill>
                <a:latin typeface="Cambria" pitchFamily="34" charset="0"/>
                <a:ea typeface="Cambria" pitchFamily="34" charset="-122"/>
                <a:cs typeface="Cambria" pitchFamily="34" charset="-120"/>
              </a:rPr>
              <a:t>We want them to BUILD AI — infused with African values, African languages, and African futures.</a:t>
            </a:r>
            <a:endParaRPr lang="en-US" sz="1500" dirty="0"/>
          </a:p>
        </p:txBody>
      </p:sp>
      <p:sp>
        <p:nvSpPr>
          <p:cNvPr id="6" name="Shape 4"/>
          <p:cNvSpPr/>
          <p:nvPr/>
        </p:nvSpPr>
        <p:spPr>
          <a:xfrm>
            <a:off x="274320" y="2560320"/>
            <a:ext cx="2697480" cy="2103120"/>
          </a:xfrm>
          <a:prstGeom prst="roundRect">
            <a:avLst>
              <a:gd name="adj" fmla="val 6522"/>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7" name="Shape 5"/>
          <p:cNvSpPr/>
          <p:nvPr/>
        </p:nvSpPr>
        <p:spPr>
          <a:xfrm>
            <a:off x="1280160" y="2651760"/>
            <a:ext cx="685800" cy="685800"/>
          </a:xfrm>
          <a:prstGeom prst="ellipse">
            <a:avLst/>
          </a:prstGeom>
          <a:solidFill>
            <a:srgbClr val="1A56C4"/>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1417320" y="2761488"/>
            <a:ext cx="411480" cy="411480"/>
          </a:xfrm>
          <a:prstGeom prst="rect">
            <a:avLst/>
          </a:prstGeom>
        </p:spPr>
      </p:pic>
      <p:sp>
        <p:nvSpPr>
          <p:cNvPr id="9" name="Text 6"/>
          <p:cNvSpPr/>
          <p:nvPr/>
        </p:nvSpPr>
        <p:spPr>
          <a:xfrm>
            <a:off x="365760" y="3429000"/>
            <a:ext cx="2514600" cy="411480"/>
          </a:xfrm>
          <a:prstGeom prst="rect">
            <a:avLst/>
          </a:prstGeom>
          <a:noFill/>
          <a:ln/>
        </p:spPr>
        <p:txBody>
          <a:bodyPr wrap="square" rtlCol="0" anchor="ctr"/>
          <a:lstStyle/>
          <a:p>
            <a:pPr marL="0" indent="0" algn="ctr">
              <a:buNone/>
            </a:pPr>
            <a:r>
              <a:rPr lang="en-US" sz="1600" b="1" dirty="0">
                <a:solidFill>
                  <a:srgbClr val="1A56C4"/>
                </a:solidFill>
                <a:latin typeface="Cambria" pitchFamily="34" charset="0"/>
                <a:ea typeface="Cambria" pitchFamily="34" charset="-122"/>
                <a:cs typeface="Cambria" pitchFamily="34" charset="-120"/>
              </a:rPr>
              <a:t>Represent</a:t>
            </a:r>
            <a:endParaRPr lang="en-US" sz="1600" dirty="0"/>
          </a:p>
        </p:txBody>
      </p:sp>
      <p:sp>
        <p:nvSpPr>
          <p:cNvPr id="10" name="Text 7"/>
          <p:cNvSpPr/>
          <p:nvPr/>
        </p:nvSpPr>
        <p:spPr>
          <a:xfrm>
            <a:off x="411480" y="3886200"/>
            <a:ext cx="2423160" cy="685800"/>
          </a:xfrm>
          <a:prstGeom prst="rect">
            <a:avLst/>
          </a:prstGeom>
          <a:noFill/>
          <a:ln/>
        </p:spPr>
        <p:txBody>
          <a:bodyPr wrap="square" rtlCol="0" anchor="ctr"/>
          <a:lstStyle/>
          <a:p>
            <a:pPr marL="0" indent="0" algn="ctr">
              <a:buNone/>
            </a:pPr>
            <a:r>
              <a:rPr lang="en-US" sz="1200" dirty="0">
                <a:solidFill>
                  <a:srgbClr val="3D4D6B"/>
                </a:solidFill>
                <a:latin typeface="Calibri" pitchFamily="34" charset="0"/>
                <a:ea typeface="Calibri" pitchFamily="34" charset="-122"/>
                <a:cs typeface="Calibri" pitchFamily="34" charset="-120"/>
              </a:rPr>
              <a:t>Nigerian stories, names, and contexts in every AI dataset and model</a:t>
            </a:r>
            <a:endParaRPr lang="en-US" sz="1200" dirty="0"/>
          </a:p>
        </p:txBody>
      </p:sp>
      <p:sp>
        <p:nvSpPr>
          <p:cNvPr id="11" name="Shape 8"/>
          <p:cNvSpPr/>
          <p:nvPr/>
        </p:nvSpPr>
        <p:spPr>
          <a:xfrm>
            <a:off x="3172968" y="2560320"/>
            <a:ext cx="2697480" cy="2103120"/>
          </a:xfrm>
          <a:prstGeom prst="roundRect">
            <a:avLst>
              <a:gd name="adj" fmla="val 6522"/>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2" name="Shape 9"/>
          <p:cNvSpPr/>
          <p:nvPr/>
        </p:nvSpPr>
        <p:spPr>
          <a:xfrm>
            <a:off x="4178808" y="2651760"/>
            <a:ext cx="685800" cy="685800"/>
          </a:xfrm>
          <a:prstGeom prst="ellipse">
            <a:avLst/>
          </a:prstGeom>
          <a:solidFill>
            <a:srgbClr val="2D9E47"/>
          </a:solidFill>
          <a:ln/>
        </p:spPr>
        <p:txBody>
          <a:bodyPr/>
          <a:lstStyle/>
          <a:p>
            <a:endParaRPr lang="en-GB"/>
          </a:p>
        </p:txBody>
      </p:sp>
      <p:pic>
        <p:nvPicPr>
          <p:cNvPr id="13" name="Image 1" descr="preencoded.png"/>
          <p:cNvPicPr>
            <a:picLocks noChangeAspect="1"/>
          </p:cNvPicPr>
          <p:nvPr/>
        </p:nvPicPr>
        <p:blipFill>
          <a:blip r:embed="rId4"/>
          <a:stretch>
            <a:fillRect/>
          </a:stretch>
        </p:blipFill>
        <p:spPr>
          <a:xfrm>
            <a:off x="4315968" y="2761488"/>
            <a:ext cx="411480" cy="411480"/>
          </a:xfrm>
          <a:prstGeom prst="rect">
            <a:avLst/>
          </a:prstGeom>
        </p:spPr>
      </p:pic>
      <p:sp>
        <p:nvSpPr>
          <p:cNvPr id="14" name="Text 10"/>
          <p:cNvSpPr/>
          <p:nvPr/>
        </p:nvSpPr>
        <p:spPr>
          <a:xfrm>
            <a:off x="3264408" y="3429000"/>
            <a:ext cx="2514600" cy="411480"/>
          </a:xfrm>
          <a:prstGeom prst="rect">
            <a:avLst/>
          </a:prstGeom>
          <a:noFill/>
          <a:ln/>
        </p:spPr>
        <p:txBody>
          <a:bodyPr wrap="square" rtlCol="0" anchor="ctr"/>
          <a:lstStyle/>
          <a:p>
            <a:pPr marL="0" indent="0" algn="ctr">
              <a:buNone/>
            </a:pPr>
            <a:r>
              <a:rPr lang="en-US" sz="1600" b="1" dirty="0">
                <a:solidFill>
                  <a:srgbClr val="2D9E47"/>
                </a:solidFill>
                <a:latin typeface="Cambria" pitchFamily="34" charset="0"/>
                <a:ea typeface="Cambria" pitchFamily="34" charset="-122"/>
                <a:cs typeface="Cambria" pitchFamily="34" charset="-120"/>
              </a:rPr>
              <a:t>Participate</a:t>
            </a:r>
            <a:endParaRPr lang="en-US" sz="1600" dirty="0"/>
          </a:p>
        </p:txBody>
      </p:sp>
      <p:sp>
        <p:nvSpPr>
          <p:cNvPr id="15" name="Text 11"/>
          <p:cNvSpPr/>
          <p:nvPr/>
        </p:nvSpPr>
        <p:spPr>
          <a:xfrm>
            <a:off x="3310128" y="3886200"/>
            <a:ext cx="2423160" cy="685800"/>
          </a:xfrm>
          <a:prstGeom prst="rect">
            <a:avLst/>
          </a:prstGeom>
          <a:noFill/>
          <a:ln/>
        </p:spPr>
        <p:txBody>
          <a:bodyPr wrap="square" rtlCol="0" anchor="ctr"/>
          <a:lstStyle/>
          <a:p>
            <a:pPr marL="0" indent="0" algn="ctr">
              <a:buNone/>
            </a:pPr>
            <a:r>
              <a:rPr lang="en-US" sz="1200" dirty="0">
                <a:solidFill>
                  <a:srgbClr val="3D4D6B"/>
                </a:solidFill>
                <a:latin typeface="Calibri" pitchFamily="34" charset="0"/>
                <a:ea typeface="Calibri" pitchFamily="34" charset="-122"/>
                <a:cs typeface="Calibri" pitchFamily="34" charset="-120"/>
              </a:rPr>
              <a:t>Nigerian researchers, developers, and entrepreneurs shaping global AI</a:t>
            </a:r>
            <a:endParaRPr lang="en-US" sz="1200" dirty="0"/>
          </a:p>
        </p:txBody>
      </p:sp>
      <p:sp>
        <p:nvSpPr>
          <p:cNvPr id="16" name="Shape 12"/>
          <p:cNvSpPr/>
          <p:nvPr/>
        </p:nvSpPr>
        <p:spPr>
          <a:xfrm>
            <a:off x="6071616" y="2560320"/>
            <a:ext cx="2697480" cy="2103120"/>
          </a:xfrm>
          <a:prstGeom prst="roundRect">
            <a:avLst>
              <a:gd name="adj" fmla="val 6522"/>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7" name="Shape 13"/>
          <p:cNvSpPr/>
          <p:nvPr/>
        </p:nvSpPr>
        <p:spPr>
          <a:xfrm>
            <a:off x="7077456" y="2651760"/>
            <a:ext cx="685800" cy="685800"/>
          </a:xfrm>
          <a:prstGeom prst="ellipse">
            <a:avLst/>
          </a:prstGeom>
          <a:solidFill>
            <a:srgbClr val="F5821F"/>
          </a:solidFill>
          <a:ln/>
        </p:spPr>
        <p:txBody>
          <a:bodyPr/>
          <a:lstStyle/>
          <a:p>
            <a:endParaRPr lang="en-GB"/>
          </a:p>
        </p:txBody>
      </p:sp>
      <p:pic>
        <p:nvPicPr>
          <p:cNvPr id="18" name="Image 2" descr="preencoded.png"/>
          <p:cNvPicPr>
            <a:picLocks noChangeAspect="1"/>
          </p:cNvPicPr>
          <p:nvPr/>
        </p:nvPicPr>
        <p:blipFill>
          <a:blip r:embed="rId5"/>
          <a:stretch>
            <a:fillRect/>
          </a:stretch>
        </p:blipFill>
        <p:spPr>
          <a:xfrm>
            <a:off x="7214616" y="2761488"/>
            <a:ext cx="411480" cy="411480"/>
          </a:xfrm>
          <a:prstGeom prst="rect">
            <a:avLst/>
          </a:prstGeom>
        </p:spPr>
      </p:pic>
      <p:sp>
        <p:nvSpPr>
          <p:cNvPr id="19" name="Text 14"/>
          <p:cNvSpPr/>
          <p:nvPr/>
        </p:nvSpPr>
        <p:spPr>
          <a:xfrm>
            <a:off x="6163056" y="3429000"/>
            <a:ext cx="2514600" cy="411480"/>
          </a:xfrm>
          <a:prstGeom prst="rect">
            <a:avLst/>
          </a:prstGeom>
          <a:noFill/>
          <a:ln/>
        </p:spPr>
        <p:txBody>
          <a:bodyPr wrap="square" rtlCol="0" anchor="ctr"/>
          <a:lstStyle/>
          <a:p>
            <a:pPr marL="0" indent="0" algn="ctr">
              <a:buNone/>
            </a:pPr>
            <a:r>
              <a:rPr lang="en-US" sz="1600" b="1" dirty="0">
                <a:solidFill>
                  <a:srgbClr val="F5821F"/>
                </a:solidFill>
                <a:latin typeface="Cambria" pitchFamily="34" charset="0"/>
                <a:ea typeface="Cambria" pitchFamily="34" charset="-122"/>
                <a:cs typeface="Cambria" pitchFamily="34" charset="-120"/>
              </a:rPr>
              <a:t>Lead</a:t>
            </a:r>
            <a:endParaRPr lang="en-US" sz="1600" dirty="0"/>
          </a:p>
        </p:txBody>
      </p:sp>
      <p:sp>
        <p:nvSpPr>
          <p:cNvPr id="20" name="Text 15"/>
          <p:cNvSpPr/>
          <p:nvPr/>
        </p:nvSpPr>
        <p:spPr>
          <a:xfrm>
            <a:off x="6208776" y="3886200"/>
            <a:ext cx="2423160" cy="685800"/>
          </a:xfrm>
          <a:prstGeom prst="rect">
            <a:avLst/>
          </a:prstGeom>
          <a:noFill/>
          <a:ln/>
        </p:spPr>
        <p:txBody>
          <a:bodyPr wrap="square" rtlCol="0" anchor="ctr"/>
          <a:lstStyle/>
          <a:p>
            <a:pPr marL="0" indent="0" algn="ctr">
              <a:buNone/>
            </a:pPr>
            <a:r>
              <a:rPr lang="en-US" sz="1200" dirty="0">
                <a:solidFill>
                  <a:srgbClr val="3D4D6B"/>
                </a:solidFill>
                <a:latin typeface="Calibri" pitchFamily="34" charset="0"/>
                <a:ea typeface="Calibri" pitchFamily="34" charset="-122"/>
                <a:cs typeface="Calibri" pitchFamily="34" charset="-120"/>
              </a:rPr>
              <a:t>Africa-first AI solutions to health, education, agriculture &amp; governance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1051560"/>
          </a:xfrm>
          <a:prstGeom prst="roundRect">
            <a:avLst>
              <a:gd name="adj" fmla="val 10435"/>
            </a:avLst>
          </a:prstGeom>
          <a:solidFill>
            <a:srgbClr val="F5C518"/>
          </a:solidFill>
          <a:ln/>
          <a:effectLst>
            <a:outerShdw blurRad="101600" dist="38100" dir="2700000" algn="bl" rotWithShape="0">
              <a:srgbClr val="000000">
                <a:alpha val="13000"/>
              </a:srgbClr>
            </a:outerShdw>
          </a:effectLst>
        </p:spPr>
        <p:txBody>
          <a:bodyPr/>
          <a:lstStyle/>
          <a:p>
            <a:endParaRPr lang="en-GB"/>
          </a:p>
        </p:txBody>
      </p:sp>
      <p:sp>
        <p:nvSpPr>
          <p:cNvPr id="3" name="Text 1"/>
          <p:cNvSpPr/>
          <p:nvPr/>
        </p:nvSpPr>
        <p:spPr>
          <a:xfrm>
            <a:off x="274320" y="182880"/>
            <a:ext cx="8595360" cy="1051560"/>
          </a:xfrm>
          <a:prstGeom prst="rect">
            <a:avLst/>
          </a:prstGeom>
          <a:noFill/>
          <a:ln/>
        </p:spPr>
        <p:txBody>
          <a:bodyPr wrap="square" lIns="0" tIns="0" rIns="0" bIns="0" rtlCol="0" anchor="ctr"/>
          <a:lstStyle/>
          <a:p>
            <a:pPr marL="0" indent="0" algn="ctr">
              <a:buNone/>
            </a:pPr>
            <a:r>
              <a:rPr lang="en-US" sz="2600" b="1" dirty="0">
                <a:solidFill>
                  <a:srgbClr val="0D1B4B"/>
                </a:solidFill>
                <a:latin typeface="Cambria" pitchFamily="34" charset="0"/>
                <a:ea typeface="Cambria" pitchFamily="34" charset="-122"/>
                <a:cs typeface="Cambria" pitchFamily="34" charset="-120"/>
              </a:rPr>
              <a:t>Let's Build a Smarter, Kinder Future — Together!</a:t>
            </a:r>
            <a:endParaRPr lang="en-US" sz="2600" dirty="0"/>
          </a:p>
        </p:txBody>
      </p:sp>
      <p:sp>
        <p:nvSpPr>
          <p:cNvPr id="4" name="Shape 2"/>
          <p:cNvSpPr/>
          <p:nvPr/>
        </p:nvSpPr>
        <p:spPr>
          <a:xfrm>
            <a:off x="274320" y="1417320"/>
            <a:ext cx="2697480" cy="2011680"/>
          </a:xfrm>
          <a:prstGeom prst="roundRect">
            <a:avLst>
              <a:gd name="adj" fmla="val 6818"/>
            </a:avLst>
          </a:prstGeom>
          <a:solidFill>
            <a:srgbClr val="132060"/>
          </a:solidFill>
          <a:ln/>
          <a:effectLst>
            <a:outerShdw blurRad="101600" dist="38100" dir="2700000" algn="bl" rotWithShape="0">
              <a:srgbClr val="000000">
                <a:alpha val="13000"/>
              </a:srgbClr>
            </a:outerShdw>
          </a:effectLst>
        </p:spPr>
        <p:txBody>
          <a:bodyPr/>
          <a:lstStyle/>
          <a:p>
            <a:endParaRPr lang="en-GB"/>
          </a:p>
        </p:txBody>
      </p:sp>
      <p:sp>
        <p:nvSpPr>
          <p:cNvPr id="5" name="Text 3"/>
          <p:cNvSpPr/>
          <p:nvPr/>
        </p:nvSpPr>
        <p:spPr>
          <a:xfrm>
            <a:off x="365760" y="1508760"/>
            <a:ext cx="2514600" cy="548640"/>
          </a:xfrm>
          <a:prstGeom prst="rect">
            <a:avLst/>
          </a:prstGeom>
          <a:noFill/>
          <a:ln/>
        </p:spPr>
        <p:txBody>
          <a:bodyPr wrap="square" rtlCol="0" anchor="ctr"/>
          <a:lstStyle/>
          <a:p>
            <a:pPr marL="0" indent="0" algn="ctr">
              <a:buNone/>
            </a:pPr>
            <a:r>
              <a:rPr lang="en-US" sz="1500" b="1" dirty="0">
                <a:solidFill>
                  <a:srgbClr val="1A56C4"/>
                </a:solidFill>
                <a:latin typeface="Cambria" pitchFamily="34" charset="0"/>
                <a:ea typeface="Cambria" pitchFamily="34" charset="-122"/>
                <a:cs typeface="Cambria" pitchFamily="34" charset="-120"/>
              </a:rPr>
              <a:t>📚 Buy the Book</a:t>
            </a:r>
            <a:endParaRPr lang="en-US" sz="1500" dirty="0"/>
          </a:p>
        </p:txBody>
      </p:sp>
      <p:sp>
        <p:nvSpPr>
          <p:cNvPr id="6" name="Text 4"/>
          <p:cNvSpPr/>
          <p:nvPr/>
        </p:nvSpPr>
        <p:spPr>
          <a:xfrm>
            <a:off x="365760" y="2103120"/>
            <a:ext cx="2514600" cy="1097280"/>
          </a:xfrm>
          <a:prstGeom prst="rect">
            <a:avLst/>
          </a:prstGeom>
          <a:noFill/>
          <a:ln/>
        </p:spPr>
        <p:txBody>
          <a:bodyPr wrap="square" rtlCol="0" anchor="ctr"/>
          <a:lstStyle/>
          <a:p>
            <a:pPr marL="0" indent="0" algn="ctr">
              <a:buNone/>
            </a:pPr>
            <a:r>
              <a:rPr lang="en-US" sz="1200" dirty="0">
                <a:solidFill>
                  <a:srgbClr val="D6E8FF"/>
                </a:solidFill>
                <a:latin typeface="Calibri" pitchFamily="34" charset="0"/>
                <a:ea typeface="Calibri" pitchFamily="34" charset="-122"/>
                <a:cs typeface="Calibri" pitchFamily="34" charset="-120"/>
              </a:rPr>
              <a:t>bit.ly/HSAIBOOK</a:t>
            </a:r>
            <a:endParaRPr lang="en-US" sz="1200" dirty="0"/>
          </a:p>
          <a:p>
            <a:pPr marL="0" indent="0" algn="ctr">
              <a:buNone/>
            </a:pPr>
            <a:r>
              <a:rPr lang="en-US" sz="1200" dirty="0">
                <a:solidFill>
                  <a:srgbClr val="D6E8FF"/>
                </a:solidFill>
                <a:latin typeface="Calibri" pitchFamily="34" charset="0"/>
                <a:ea typeface="Calibri" pitchFamily="34" charset="-122"/>
                <a:cs typeface="Calibri" pitchFamily="34" charset="-120"/>
              </a:rPr>
              <a:t>Pre-order open now!</a:t>
            </a:r>
            <a:endParaRPr lang="en-US" sz="1200" dirty="0"/>
          </a:p>
        </p:txBody>
      </p:sp>
      <p:sp>
        <p:nvSpPr>
          <p:cNvPr id="7" name="Shape 5"/>
          <p:cNvSpPr/>
          <p:nvPr/>
        </p:nvSpPr>
        <p:spPr>
          <a:xfrm>
            <a:off x="3172968" y="1417320"/>
            <a:ext cx="2697480" cy="2011680"/>
          </a:xfrm>
          <a:prstGeom prst="roundRect">
            <a:avLst>
              <a:gd name="adj" fmla="val 6818"/>
            </a:avLst>
          </a:prstGeom>
          <a:solidFill>
            <a:srgbClr val="132060"/>
          </a:solidFill>
          <a:ln/>
          <a:effectLst>
            <a:outerShdw blurRad="101600" dist="38100" dir="2700000" algn="bl" rotWithShape="0">
              <a:srgbClr val="000000">
                <a:alpha val="13000"/>
              </a:srgbClr>
            </a:outerShdw>
          </a:effectLst>
        </p:spPr>
        <p:txBody>
          <a:bodyPr/>
          <a:lstStyle/>
          <a:p>
            <a:endParaRPr lang="en-GB"/>
          </a:p>
        </p:txBody>
      </p:sp>
      <p:sp>
        <p:nvSpPr>
          <p:cNvPr id="8" name="Text 6"/>
          <p:cNvSpPr/>
          <p:nvPr/>
        </p:nvSpPr>
        <p:spPr>
          <a:xfrm>
            <a:off x="3264408" y="1508760"/>
            <a:ext cx="2514600" cy="548640"/>
          </a:xfrm>
          <a:prstGeom prst="rect">
            <a:avLst/>
          </a:prstGeom>
          <a:noFill/>
          <a:ln/>
        </p:spPr>
        <p:txBody>
          <a:bodyPr wrap="square" rtlCol="0" anchor="ctr"/>
          <a:lstStyle/>
          <a:p>
            <a:pPr marL="0" indent="0" algn="ctr">
              <a:buNone/>
            </a:pPr>
            <a:r>
              <a:rPr lang="en-US" sz="1500" b="1" dirty="0">
                <a:solidFill>
                  <a:srgbClr val="2D9E47"/>
                </a:solidFill>
                <a:latin typeface="Cambria" pitchFamily="34" charset="0"/>
                <a:ea typeface="Cambria" pitchFamily="34" charset="-122"/>
                <a:cs typeface="Cambria" pitchFamily="34" charset="-120"/>
              </a:rPr>
              <a:t>🤝 Join the Movement</a:t>
            </a:r>
            <a:endParaRPr lang="en-US" sz="1500" dirty="0"/>
          </a:p>
        </p:txBody>
      </p:sp>
      <p:sp>
        <p:nvSpPr>
          <p:cNvPr id="9" name="Text 7"/>
          <p:cNvSpPr/>
          <p:nvPr/>
        </p:nvSpPr>
        <p:spPr>
          <a:xfrm>
            <a:off x="3264408" y="2103120"/>
            <a:ext cx="2514600" cy="1097280"/>
          </a:xfrm>
          <a:prstGeom prst="rect">
            <a:avLst/>
          </a:prstGeom>
          <a:noFill/>
          <a:ln/>
        </p:spPr>
        <p:txBody>
          <a:bodyPr wrap="square" rtlCol="0" anchor="ctr"/>
          <a:lstStyle/>
          <a:p>
            <a:pPr marL="0" indent="0" algn="ctr">
              <a:buNone/>
            </a:pPr>
            <a:r>
              <a:rPr lang="en-US" sz="1200" dirty="0">
                <a:solidFill>
                  <a:srgbClr val="D6E8FF"/>
                </a:solidFill>
                <a:latin typeface="Calibri" pitchFamily="34" charset="0"/>
                <a:ea typeface="Calibri" pitchFamily="34" charset="-122"/>
                <a:cs typeface="Calibri" pitchFamily="34" charset="-120"/>
              </a:rPr>
              <a:t>Women in AI Nigeria</a:t>
            </a:r>
            <a:endParaRPr lang="en-US" sz="1200" dirty="0"/>
          </a:p>
          <a:p>
            <a:pPr marL="0" indent="0" algn="ctr">
              <a:buNone/>
            </a:pPr>
            <a:r>
              <a:rPr lang="en-US" sz="1200" dirty="0">
                <a:solidFill>
                  <a:srgbClr val="D6E8FF"/>
                </a:solidFill>
                <a:latin typeface="Calibri" pitchFamily="34" charset="0"/>
                <a:ea typeface="Calibri" pitchFamily="34" charset="-122"/>
                <a:cs typeface="Calibri" pitchFamily="34" charset="-120"/>
              </a:rPr>
              <a:t>AI advocacy for African children</a:t>
            </a:r>
            <a:endParaRPr lang="en-US" sz="1200" dirty="0"/>
          </a:p>
        </p:txBody>
      </p:sp>
      <p:sp>
        <p:nvSpPr>
          <p:cNvPr id="10" name="Shape 8"/>
          <p:cNvSpPr/>
          <p:nvPr/>
        </p:nvSpPr>
        <p:spPr>
          <a:xfrm>
            <a:off x="6071616" y="1417320"/>
            <a:ext cx="2697480" cy="2011680"/>
          </a:xfrm>
          <a:prstGeom prst="roundRect">
            <a:avLst>
              <a:gd name="adj" fmla="val 6818"/>
            </a:avLst>
          </a:prstGeom>
          <a:solidFill>
            <a:srgbClr val="132060"/>
          </a:solidFill>
          <a:ln/>
          <a:effectLst>
            <a:outerShdw blurRad="101600" dist="38100" dir="2700000" algn="bl" rotWithShape="0">
              <a:srgbClr val="000000">
                <a:alpha val="13000"/>
              </a:srgbClr>
            </a:outerShdw>
          </a:effectLst>
        </p:spPr>
        <p:txBody>
          <a:bodyPr/>
          <a:lstStyle/>
          <a:p>
            <a:endParaRPr lang="en-GB"/>
          </a:p>
        </p:txBody>
      </p:sp>
      <p:sp>
        <p:nvSpPr>
          <p:cNvPr id="11" name="Text 9"/>
          <p:cNvSpPr/>
          <p:nvPr/>
        </p:nvSpPr>
        <p:spPr>
          <a:xfrm>
            <a:off x="6163056" y="1508760"/>
            <a:ext cx="2514600" cy="548640"/>
          </a:xfrm>
          <a:prstGeom prst="rect">
            <a:avLst/>
          </a:prstGeom>
          <a:noFill/>
          <a:ln/>
        </p:spPr>
        <p:txBody>
          <a:bodyPr wrap="square" rtlCol="0" anchor="ctr"/>
          <a:lstStyle/>
          <a:p>
            <a:pPr marL="0" indent="0" algn="ctr">
              <a:buNone/>
            </a:pPr>
            <a:r>
              <a:rPr lang="en-US" sz="1500" b="1" dirty="0">
                <a:solidFill>
                  <a:srgbClr val="F5821F"/>
                </a:solidFill>
                <a:latin typeface="Cambria" pitchFamily="34" charset="0"/>
                <a:ea typeface="Cambria" pitchFamily="34" charset="-122"/>
                <a:cs typeface="Cambria" pitchFamily="34" charset="-120"/>
              </a:rPr>
              <a:t>📢 Spread the Word</a:t>
            </a:r>
            <a:endParaRPr lang="en-US" sz="1500" dirty="0"/>
          </a:p>
        </p:txBody>
      </p:sp>
      <p:sp>
        <p:nvSpPr>
          <p:cNvPr id="12" name="Text 10"/>
          <p:cNvSpPr/>
          <p:nvPr/>
        </p:nvSpPr>
        <p:spPr>
          <a:xfrm>
            <a:off x="6163056" y="2103120"/>
            <a:ext cx="2514600" cy="1097280"/>
          </a:xfrm>
          <a:prstGeom prst="rect">
            <a:avLst/>
          </a:prstGeom>
          <a:noFill/>
          <a:ln/>
        </p:spPr>
        <p:txBody>
          <a:bodyPr wrap="square" rtlCol="0" anchor="ctr"/>
          <a:lstStyle/>
          <a:p>
            <a:pPr marL="0" indent="0" algn="ctr">
              <a:buNone/>
            </a:pPr>
            <a:r>
              <a:rPr lang="en-US" sz="1200" dirty="0">
                <a:solidFill>
                  <a:srgbClr val="D6E8FF"/>
                </a:solidFill>
                <a:latin typeface="Calibri" pitchFamily="34" charset="0"/>
                <a:ea typeface="Calibri" pitchFamily="34" charset="-122"/>
                <a:cs typeface="Calibri" pitchFamily="34" charset="-120"/>
              </a:rPr>
              <a:t>Share this event</a:t>
            </a:r>
            <a:endParaRPr lang="en-US" sz="1200" dirty="0"/>
          </a:p>
          <a:p>
            <a:pPr marL="0" indent="0" algn="ctr">
              <a:buNone/>
            </a:pPr>
            <a:r>
              <a:rPr lang="en-US" sz="1200" dirty="0">
                <a:solidFill>
                  <a:srgbClr val="D6E8FF"/>
                </a:solidFill>
                <a:latin typeface="Calibri" pitchFamily="34" charset="0"/>
                <a:ea typeface="Calibri" pitchFamily="34" charset="-122"/>
                <a:cs typeface="Calibri" pitchFamily="34" charset="-120"/>
              </a:rPr>
              <a:t>+234 806 064 0287</a:t>
            </a:r>
            <a:endParaRPr lang="en-US" sz="1200" dirty="0"/>
          </a:p>
        </p:txBody>
      </p:sp>
      <p:sp>
        <p:nvSpPr>
          <p:cNvPr id="13" name="Shape 11"/>
          <p:cNvSpPr/>
          <p:nvPr/>
        </p:nvSpPr>
        <p:spPr>
          <a:xfrm>
            <a:off x="274320" y="3566160"/>
            <a:ext cx="8595360" cy="1005840"/>
          </a:xfrm>
          <a:prstGeom prst="roundRect">
            <a:avLst>
              <a:gd name="adj" fmla="val 10909"/>
            </a:avLst>
          </a:prstGeom>
          <a:solidFill>
            <a:srgbClr val="132060"/>
          </a:solidFill>
          <a:ln/>
          <a:effectLst>
            <a:outerShdw blurRad="101600" dist="38100" dir="2700000" algn="bl" rotWithShape="0">
              <a:srgbClr val="000000">
                <a:alpha val="13000"/>
              </a:srgbClr>
            </a:outerShdw>
          </a:effectLst>
        </p:spPr>
        <p:txBody>
          <a:bodyPr/>
          <a:lstStyle/>
          <a:p>
            <a:endParaRPr lang="en-GB"/>
          </a:p>
        </p:txBody>
      </p:sp>
      <p:sp>
        <p:nvSpPr>
          <p:cNvPr id="14" name="Text 12"/>
          <p:cNvSpPr/>
          <p:nvPr/>
        </p:nvSpPr>
        <p:spPr>
          <a:xfrm>
            <a:off x="274320" y="3566160"/>
            <a:ext cx="8595360" cy="1005840"/>
          </a:xfrm>
          <a:prstGeom prst="rect">
            <a:avLst/>
          </a:prstGeom>
          <a:noFill/>
          <a:ln/>
        </p:spPr>
        <p:txBody>
          <a:bodyPr wrap="square" rtlCol="0" anchor="ctr"/>
          <a:lstStyle/>
          <a:p>
            <a:pPr marL="0" indent="0" algn="ctr">
              <a:buNone/>
            </a:pPr>
            <a:r>
              <a:rPr lang="en-US" sz="1300" b="1" dirty="0">
                <a:solidFill>
                  <a:srgbClr val="F5C518"/>
                </a:solidFill>
                <a:latin typeface="Calibri" pitchFamily="34" charset="0"/>
                <a:ea typeface="Calibri" pitchFamily="34" charset="-122"/>
                <a:cs typeface="Calibri" pitchFamily="34" charset="-120"/>
              </a:rPr>
              <a:t>📅 18th June 2026  ·  4:00 PM  ·  Basco Plaza, Bashorun, Ibadan</a:t>
            </a:r>
            <a:endParaRPr lang="en-US" sz="1300" dirty="0"/>
          </a:p>
          <a:p>
            <a:pPr marL="0" indent="0" algn="ctr">
              <a:buNone/>
            </a:pPr>
            <a:r>
              <a:rPr lang="en-US" sz="1100" dirty="0">
                <a:solidFill>
                  <a:srgbClr val="D6E8FF"/>
                </a:solidFill>
                <a:latin typeface="Calibri" pitchFamily="34" charset="0"/>
                <a:ea typeface="Calibri" pitchFamily="34" charset="-122"/>
                <a:cs typeface="Calibri" pitchFamily="34" charset="-120"/>
              </a:rPr>
              <a:t>Author: Mrs. Cecilia Adenusi  |  Foreword: Prof. O.R. Vincent  |  Women in AI Nigeria Lead: Dr. Sakinat Folorunso</a:t>
            </a:r>
            <a:endParaRPr lang="en-US" sz="1300" dirty="0"/>
          </a:p>
        </p:txBody>
      </p:sp>
      <p:sp>
        <p:nvSpPr>
          <p:cNvPr id="15" name="Text 13"/>
          <p:cNvSpPr/>
          <p:nvPr/>
        </p:nvSpPr>
        <p:spPr>
          <a:xfrm>
            <a:off x="457200" y="4663440"/>
            <a:ext cx="8229600" cy="365760"/>
          </a:xfrm>
          <a:prstGeom prst="rect">
            <a:avLst/>
          </a:prstGeom>
          <a:noFill/>
          <a:ln/>
        </p:spPr>
        <p:txBody>
          <a:bodyPr wrap="square" rtlCol="0" anchor="ctr"/>
          <a:lstStyle/>
          <a:p>
            <a:pPr marL="0" indent="0" algn="ctr">
              <a:buNone/>
            </a:pPr>
            <a:r>
              <a:rPr lang="en-US" sz="1300" b="1" kern="0" spc="200">
                <a:solidFill>
                  <a:srgbClr val="6B7A9A"/>
                </a:solidFill>
                <a:latin typeface="Cambria" pitchFamily="34" charset="0"/>
                <a:ea typeface="Cambria" pitchFamily="34" charset="-122"/>
                <a:cs typeface="Cambria" pitchFamily="34" charset="-120"/>
              </a:rPr>
              <a:t>DISCOVER </a:t>
            </a:r>
            <a:r>
              <a:rPr lang="en-US" sz="1300" b="1" kern="0" spc="200" dirty="0">
                <a:solidFill>
                  <a:srgbClr val="6B7A9A"/>
                </a:solidFill>
                <a:latin typeface="Cambria" pitchFamily="34" charset="0"/>
                <a:ea typeface="Cambria" pitchFamily="34" charset="-122"/>
                <a:cs typeface="Cambria" pitchFamily="34" charset="-120"/>
              </a:rPr>
              <a:t>· LEARN · THINK SMART · CHANGE OUR WORLD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B951EB-590C-4EEC-9A71-2EB56AC48A89}"/>
              </a:ext>
            </a:extLst>
          </p:cNvPr>
          <p:cNvPicPr>
            <a:picLocks noChangeAspect="1"/>
          </p:cNvPicPr>
          <p:nvPr/>
        </p:nvPicPr>
        <p:blipFill>
          <a:blip r:embed="rId2"/>
          <a:srcRect t="4741" b="20694"/>
          <a:stretch>
            <a:fillRect/>
          </a:stretch>
        </p:blipFill>
        <p:spPr>
          <a:xfrm>
            <a:off x="20" y="10"/>
            <a:ext cx="9143979" cy="4551208"/>
          </a:xfrm>
          <a:prstGeom prst="rect">
            <a:avLst/>
          </a:prstGeom>
        </p:spPr>
      </p:pic>
    </p:spTree>
    <p:extLst>
      <p:ext uri="{BB962C8B-B14F-4D97-AF65-F5344CB8AC3E}">
        <p14:creationId xmlns:p14="http://schemas.microsoft.com/office/powerpoint/2010/main" val="43220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131D7D-D234-8AD4-0CE4-8B68E2AAA1D6}"/>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4234451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1158</Words>
  <Application>Microsoft Office PowerPoint</Application>
  <PresentationFormat>On-screen Show (16:9)</PresentationFormat>
  <Paragraphs>146</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Importance of AI Literacy for Children — AI For Kids Book Launch</dc:title>
  <dc:subject>PptxGenJS Presentation</dc:subject>
  <dc:creator>Dr. Sakinat Folorunso</dc:creator>
  <cp:lastModifiedBy>Sakinat TijaniFolorunso</cp:lastModifiedBy>
  <cp:revision>3</cp:revision>
  <dcterms:created xsi:type="dcterms:W3CDTF">2026-06-17T22:14:28Z</dcterms:created>
  <dcterms:modified xsi:type="dcterms:W3CDTF">2026-06-18T13:48:07Z</dcterms:modified>
</cp:coreProperties>
</file>