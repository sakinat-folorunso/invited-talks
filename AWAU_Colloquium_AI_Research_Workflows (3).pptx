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9" r:id="rId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62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
          </a:p>
        </p:txBody>
      </p:sp>
      <p:sp>
        <p:nvSpPr>
          <p:cNvPr id="3" name="Date Placeholder 2"/>
          <p:cNvSpPr>
            <a:spLocks noGrp="1"/>
          </p:cNvSpPr>
          <p:nvPr>
            <p:ph type="dt" idx="1"/>
          </p:nvPr>
        </p:nvSpPr>
        <p:spPr>
          <a:xfrm>
            <a:off x="2913063" y="0"/>
            <a:ext cx="2228850" cy="458788"/>
          </a:xfrm>
          <a:prstGeom prst="rect">
            <a:avLst/>
          </a:prstGeom>
        </p:spPr>
        <p:txBody>
          <a:bodyPr vert="horz" lIns="91440" tIns="45720" rIns="91440" bIns="45720" rtlCol="0"/>
          <a:lstStyle>
            <a:lvl1pPr algn="r">
              <a:defRPr sz="1200"/>
            </a:lvl1pPr>
          </a:lstStyle>
          <a:p>
            <a:fld id="{FADAF4C4-B663-FD4C-BA0F-3DBD8B0F9114}" type="datetimeFigureOut">
              <a:rPr lang=""/>
              <a:t>07/10/2026</a:t>
            </a:fld>
            <a:endParaRPr lang=""/>
          </a:p>
        </p:txBody>
      </p:sp>
      <p:sp>
        <p:nvSpPr>
          <p:cNvPr id="4" name="Slide Image Placeholder 3"/>
          <p:cNvSpPr>
            <a:spLocks noGrp="1" noRot="1" noChangeAspect="1"/>
          </p:cNvSpPr>
          <p:nvPr>
            <p:ph type="sldImg" idx="2"/>
          </p:nvPr>
        </p:nvSpPr>
        <p:spPr>
          <a:xfrm>
            <a:off x="-171450" y="1143000"/>
            <a:ext cx="5486400" cy="3086100"/>
          </a:xfrm>
          <a:prstGeom prst="rect">
            <a:avLst/>
          </a:prstGeom>
          <a:noFill/>
          <a:ln w="12700">
            <a:solidFill>
              <a:prstClr val="black"/>
            </a:solidFill>
          </a:ln>
        </p:spPr>
        <p:txBody>
          <a:bodyPr vert="horz" lIns="91440" tIns="45720" rIns="91440" bIns="45720" rtlCol="0" anchor="ctr"/>
          <a:lstStyle/>
          <a:p>
            <a:endParaRPr lang=""/>
          </a:p>
        </p:txBody>
      </p:sp>
      <p:sp>
        <p:nvSpPr>
          <p:cNvPr id="5" name="Notes Placeholder 4"/>
          <p:cNvSpPr>
            <a:spLocks noGrp="1"/>
          </p:cNvSpPr>
          <p:nvPr>
            <p:ph type="body" sz="quarter" idx="3"/>
          </p:nvPr>
        </p:nvSpPr>
        <p:spPr>
          <a:xfrm>
            <a:off x="514350" y="4400550"/>
            <a:ext cx="411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
          </a:p>
        </p:txBody>
      </p:sp>
      <p:sp>
        <p:nvSpPr>
          <p:cNvPr id="6" name="Footer Placeholder 5"/>
          <p:cNvSpPr>
            <a:spLocks noGrp="1"/>
          </p:cNvSpPr>
          <p:nvPr>
            <p:ph type="ftr" sz="quarter" idx="4"/>
          </p:nvPr>
        </p:nvSpPr>
        <p:spPr>
          <a:xfrm>
            <a:off x="0" y="8685213"/>
            <a:ext cx="2228850" cy="458787"/>
          </a:xfrm>
          <a:prstGeom prst="rect">
            <a:avLst/>
          </a:prstGeom>
        </p:spPr>
        <p:txBody>
          <a:bodyPr vert="horz" lIns="91440" tIns="45720" rIns="91440" bIns="45720" rtlCol="0" anchor="b"/>
          <a:lstStyle>
            <a:lvl1pPr algn="l">
              <a:defRPr sz="1200"/>
            </a:lvl1pPr>
          </a:lstStyle>
          <a:p>
            <a:endParaRPr lang=""/>
          </a:p>
        </p:txBody>
      </p:sp>
      <p:sp>
        <p:nvSpPr>
          <p:cNvPr id="7" name="Slide Number Placeholder 6"/>
          <p:cNvSpPr>
            <a:spLocks noGrp="1"/>
          </p:cNvSpPr>
          <p:nvPr>
            <p:ph type="sldNum" sz="quarter" idx="5"/>
          </p:nvPr>
        </p:nvSpPr>
        <p:spPr>
          <a:xfrm>
            <a:off x="2913063" y="8685213"/>
            <a:ext cx="2228850" cy="458787"/>
          </a:xfrm>
          <a:prstGeom prst="rect">
            <a:avLst/>
          </a:prstGeom>
        </p:spPr>
        <p:txBody>
          <a:bodyPr vert="horz" lIns="91440" tIns="45720" rIns="91440" bIns="45720" rtlCol="0" anchor="b"/>
          <a:lstStyle>
            <a:lvl1pPr algn="r">
              <a:defRPr sz="1200"/>
            </a:lvl1pPr>
          </a:lstStyle>
          <a:p>
            <a:fld id="{E3CBD764-F902-5E42-9AA2-E2BD9A92FC60}" type="slidenum">
              <a:rPr lang=""/>
              <a:t>‹#›</a:t>
            </a:fld>
            <a:endParaRPr lang=""/>
          </a:p>
        </p:txBody>
      </p:sp>
    </p:spTree>
    <p:extLst>
      <p:ext uri="{BB962C8B-B14F-4D97-AF65-F5344CB8AC3E}">
        <p14:creationId xmlns:p14="http://schemas.microsoft.com/office/powerpoint/2010/main" val="35638273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Thank the AWAU Chairman, Prof. Wahab Olasupo Egbewole (SAN), for the invitation. Frame the hour: this is a practical talk for lecturers from EVERY field — law, humanities, health, agriculture, education, sciences. Promise: by the end, each person leaves with (1) a mental model of what AI is and is not, (2) a five-step framework (ADAPT) they can apply on Monday, and (3) one concrete task to try this week. Housekeeping: questions in the chat throughout; dedicated Q&amp;A at the end.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opener: ask in chat — 'How long did YOUR last literature review take? Type a number of months.' Read a few aloud. Then tell the story of the two colleagues. Emphasise: Dr. Bello is not lazier or less scholarly — she read MORE relevant papers, because AI did the triage and she did the judgement. Land the punchline on the last line: the standards did not change; the method did. That is what 'methodology transformation' means in this talk.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this is not a future debate — adoption has already happened, quietly, across our departments and among our students. Verbally add the sharper figure that doesn't fit on the card: of that 84%, 62% is specifically for research or publication tasks, up from 45% in 2024 — the growth is concentrated exactly where this talk is aimed. The question for a university association is not WHETHER staff use AI, but whether they use it competently, transparently, and with integrity. Note for accuracy: figures are from Wiley's ExplanAItions 2025 study (2,430 researchers globally, published Oct 2025 — overall adoption rose from 57% in 2024 to 84% in 2025; research-specific use rose from 45% to 62% over the same period) and Nature's 2023 postdoc survey (3,838 respondents, 93 countries). Invite attendees to look them up. Bridge: 'So if the tools are here, the real question is: what exactly ARE they good for — and what are they dangerously bad 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useful mental model. An assistant with these three traits: you would happily hand them the photocopying, the first-pass reading, the formatting — but you would NEVER let them sign the paper, choose the theory, or submit the grant unchecked. Story to tell: the widely reported 2023 US court case where lawyers filed a brief with six fabricated AI-generated case citations and were sanctioned. Every discipline has its version of that risk. Repeat the mantra — 'delegate the labour, never the judgement' — you will return to it throughout.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the audience: whatever your field, your workflow passes through these six stations. AI is not one tool for one stage — it is a layer across all six. Reassure the non-STEM audience explicitly here: 'If you are in law, literature, theology or music — this talk is for you too, and you will see your field in the examples.' Transition: 'But a map is not a method. Before we walk the stations, you need a compass — a framework for deciding WHEN and HOW to use AI at each 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slide — spend 4–5 minutes. Walk each letter with a quick example: ASSESS — 'summarising public papers' = labour, fine; 'deciding my theoretical framing' = judgement, mine; 'pasting student records or unpublished patient data' = sensitive, stop. DELEGATE — ask for an outline, then a section, then a critique; never 'write my paper'. ANCHOR — the quality of output tracks the expertise in your prompt; generic prompts get generic answers. PROBE — open every cited PDF; re-run every statistic; ask the model to argue against itself. TAKE OWNERSHIP — COPE and ICMJE: AI cannot be an author; disclosure per venue; you carry the accountability. Tell them the rest of the talk simply applies ADAPT at each workflow stage.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tool categories rather than endorsing one product: semantic search engines (Semantic Scholar, Elicit, Consensus, ResearchRabbit) plus general LLMs for triage. Walk the law example fully: the model groups the cases — the lecturer then verifies each citation in the official law reports before a single line enters the manuscript. That is the P (Probe) of ADAPT. Emphasise the golden rule; fabricated references are the number one AI failure in academia. ADAPT mapping: Assess (public literature = safe), Delegate (triage, not selection), Probe (open every PDF).</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reframe: at the design stage, AI's value is ADVERSARIAL, not generative. You do not ask 'is my design good?' (it will flatter you); you ask it to attack. Demonstrate live if possible: paste one paragraph of a real proposal and run the 'hostile Reviewer 2' prompt — audiences love watching this. Warn: models are agreeable by default; you must explicitly instruct them to be critical. ADAPT mapping: Anchor (you supply the theory it must attack), Probe (you decide which criticisms are valid).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usually gets the biggest reaction from humanities and social-science colleagues — transcription is their most hated labour. Walk the pipeline: the machine does pass one; humans do correction, anonymisation and validation. Publishing tip: reporting inter-rater agreement (Cohen's kappa) between human coders on an AI-assisted codebook is exactly what reviewers now expect. Hit the privacy point hard: participant data, student records, clinical notes — these do NOT go into public chatbots. NDPA 2023 in Nigeria and equivalent laws elsewhere apply. Local/offline models are an option for sensitive corpora. ADAPT mapping: Assess flagged the sensitivity; Delegate = transcription; judgement (final codebook) stays human.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Democratising point: colleagues who never learned R or Python can now produce competent analysis code through conversation — this levels the field between departments with and without statisticians. But stress the failure mode: models sometimes 'report' plausible-looking results for code that was never run. The rule is absolute — YOU execute the script, YOU inspect the output. The viva test is a good line for lecturers supervising postgraduates: if your student cannot defend a number without the chatbot, they do not own the analysis. ADAPT mapping: Delegate (syntax) vs. judgement (model choice, interpretation); Probe (hand-check one cell).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writing support as the strongest equity story: brilliant scholars publishing in a second or third language have long been penalised for prose, not ideas. AI editing narrows that gap — and journals broadly permit language polishing. Then draw the bright lines. COPE and ICMJE: no AI authorship, because authorship requires accountability. Disclosure requirements vary by publisher — check the venue every time. Anecdote option: mention that journals now routinely desk-reject papers containing tell-tale unedited AI phrases ('As a large language model...') — the laziness is detectable. ADAPT mapping: T — Take ownership — dominates this stage.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immediately transferable slide — encourage screenshots. Read the weak prompt, then the strong one aloud; the difference is audible. Map the five colours of the strong prompt to the five labels: Role, Context, Task, Format, Constraints. Key insight for academics: CONTEXT is where your expertise enters — the more disciplinary knowledge you put in, the more expert the output. This is the 'Anchor' step of ADAPT operationalised. Suggest they keep a personal 'prompt library' document — every prompt that worked well, saved and reused. Their library becomes a lab notebook for AI.</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all three aloud in sequence, pausing after each. BAD gets a generic summary. GOOD narrows the lens to methodology. EXCELLENT installs a role, a named external standard, and a structured deliverable. Point out that EXCELLENT is the same anatomy from the previous slide — Role, Context, Task, Format — applied to a new task. That is the transferable skill.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pause-and-do moment of the talk — plan for a full 10 minutes including the neighbour debrief, and warn the audience beforehand so they have a device and a chat assistant open. Run all three prompts as written, or let each attendee pick just one if time is short — the Research Challenge prompt works for literally every discipline in the room, so it is the safest default if you must pick a single task. The debrief question is deliberately open — you want a few people unmuting to share a surprising output, not a lecture recap. If the room is large or on Zoom, ask people to drop one surprising line into chat instead. This slide directly answers the 'this talk needs a live demo' note — you are not performing the demo yourself, you are having the whole room perform it simultaneously, which scales better on a webinar.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own work — speak freely and with energy. Key beats: the corpus (731 Nigerian songs with lyrics), the task (multilingual metadata enrichment), the design (LLM few-shot generation, expert gold standard of 50–100 records, quantitative evaluation with F1 and Cohen's kappa across frontier and local open models). The generalisation is the point for this audience: substitute 'songs' with the artefacts of THEIR discipline — case law, oral histories, archival letters, biological specimens. The loop is identical: machine proposes at scale, experts validate on a gold standard, agreement is measured, nothing enters the record unverified. This also plants the West Africa flag: our cultural materials are invisible to global AI unless WE build the datasets — foreshadows the West Africa opportunity slide later in the deck.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in this audience teaches, so land this hard. Quick wins: a full continuous-assessment question bank in an afternoon; rubric drafting; converting terse margin comments into humane feedback at scale. The localisation card matters in West Africa — imported textbooks are full of foreign contexts; AI lets you re-situate every example in Accra, Ibadan or Dakar in minutes. On assessment: the take-home essay as sole assessment is no longer defensible. Do not frame this as an arms race of detectors (they are unreliable and biased against EAL writers); redesign toward authentic assessment instead. Closing line of the slide is the ethos: model the behaviour — show students YOUR verification workflow.</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Live-demo option: if bandwidth allows, actually run this prompt on screen, live, substituting a real colleague's name — the audience seeing a plausible fabricated citation appear in real time is more persuasive than any warning slide. If you cannot demo live, narrate this exact example; it is realistic and reproducible. Land the mechanism: the model is not lying or retrieving from a broken database — it is doing exactly what it is built to do, predicting likely text. Fabrication is a structural feature, not a bug you can prompt away. Cite the sanctioned-lawyers case (Mata v. Avianca, 2023, US) as the cautionary tale every discipline should know. Bridge line into the Pitfalls slide: 'Hallucination is only the first of five habits of mind you need.'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quickly — one line each — the table carries itself; you already showed hallucination live on the previous slide, so that row needs only a nod. Bias: give a local example — ask a model about 'traditional medicine' or 'music theory' and notice whose tradition it assumes. Our epistemologies are under-represented; that is a research opportunity, not just a complaint. Privacy: name the law — Nigeria Data Protection Act 2023; other jurisdictions have equivalents. Institutional accounts and local models mitigate. Skill atrophy matters most for our postgraduate students: they must be able to do the thing before they automate the thing. Voice: reviewers already recognise default AI prose; your final pass keeps your fingerprint.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defensibility test is the takeaway — it works for a first-year essay and for a professor's monograph alike, and it is discipline-neutral. For AWAU specifically: this association is exactly the body to coordinate a model AI-in-research policy that member universities can adapt, instead of many institutions improvising inconsistent rules. Plant that seed explicitly and invite follow-up. Mention that several member institutions likely already have draft policies — a colloquium like this is the place to share them. The next slides (publisher policies, and the 'never do' list) give them concrete material to take back to their own policy committees.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Shift the emotional register here — from caution to ambition. Read the language grid aloud slowly; hearing eight names named with equal weight and dignity is itself the point. The 'low-resource' framing: global models underperform on our languages and contexts because the data was never collected. That is not our weakness; it is our research frontier. Every dataset an AWAU member builds becomes citable infrastructure the whole world must use. Practical answers to the objections you will hear: no budget (free tiers and consortium licensing), poor bandwidth (quantised open models run offline — our group does this routinely), data sovereignty (sensitive corpora never leave the machine). Closing line is the applause line — deliver it slowly.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answers the question every audience asks first: 'which tool should I use?' Deliberately named by CATEGORY rather than brand — tools change monthly, categories are stable, and this avoids the talk reading as product endorsement. If asked to name specific products in Q&amp;A, answer verbally rather than on-slide: general assistants (ChatGPT, Claude, Gemini), semantic search (Semantic Scholar, Elicit, Consensus, ResearchRabbit), reference managers (Zotero with AI plugins), code assistants (GitHub Copilot), stats environments (R/Python, JASP, Jamovi), slide generators (Gamma, Canva AI), grammar tools (Grammarly). Reiterate the caption: choose by task fit and your institution's data policy — a tool that retains your prompts is unsuitable for unpublished data regardless of how popular it is.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a live reference, not a memorisation task — the exact wording of each publisher's policy changes; the underlying principle (no AI authorship, disclosure for substantive use) has been stable since 2023. Tell them to bookmark their target journal's 'guide for authors' page and re-check it at every submission, since policies are still being refined. This table is a good candidate for the shared-resources follow-up document you offer at the end of the talk.</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audience writes grants constantly, so this lands well. Emphasise the reviewer-simulation step — running a 'hostile panel' prompt against your own Specific Aims before submission catches exactly the objections a real panel will raise. Caution: AI-drafted budgets and impact figures are placeholders only — funders can and do fact-check institutional overheads, staff costs and reported outcomes; every number must be verified against your own institution's finance office before submission. This slide reuses the same ADAPT loop as the Design stage (slide 8) — flag that continuity if you have time.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mirror image of the ADAPT framework — ADAPT tells them what TO do; this slide is the short, unambiguous list of what never to do, useful precisely because it needs no judgement call to apply. Keep this slide brisk — five bullets, one breath each. It works well projected during a Q&amp;A if someone asks 'so where exactly is the line?' The ethics-application point matters especially for postgraduate supervision: AI can help a student structure a draft, but the supervisor's sign-off must reflect the supervisor's own judgement, not the model's.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ask small and specific — behaviour change fails when the first step is vague. Week 1: ONE task only. The reverse-outline exercise is the best first task because it is low-risk, uses only your own text, and the payoff is immediate. Week 2: the prompt library is the compounding asset — in three months it becomes a personal methods manual. Week 4 is deliberate: AWAU's strength is its network; if each attendee runs one departmental demo, this colloquium reaches thousands. Repeat the rule of thumb once more, slowly.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 four numbered takeaways from memory, looking at the camera, not the slide. The closing line in the tinted band is the emotional pivot into Thank You — deliver it slowly, then pause, before moving to the final slide. Bridge to Q&amp;A: 'I promised you a mental model, a framework and a first task. You have all three. Now let us talk about YOUR workflows — what is the one task in your research you would most like to hand over?' That question makes an excellent Q&amp;A opener if the chat is quiet.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Multilingual thank-you (Yorùbá, Hausa, Igbo, English) — a warm, regional close for a West African audience. Read the pull-quote beneath it slowly; it is the intended final impression before Q&amp;A opens. Offer to share the slides and your prompt-library template through AWAU. A quick-reference appendix slide follows this one (not for live presentation) with prepared answers to the questions you are most likely to receive — glance at it if the chat goes quiet or a specific question stalls you.</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 keep off the main run-through and jump to it only if useful during live Q&amp;A, or leave it in the shared deck as a takeaway resource. Not read aloud top-to-bottom; use it as a lookup while fielding specific questions from the floor.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backup slide — not part of the live run-through. Include it in the shared/downloadable version of the deck for attendees who specifically want brand names rather than categories. This is deliberately consistent with, not a replacement for, the categorical Tool Ecosystem slide earlier in the talk: that slide teaches the durable mental model (categories don't go stale); this one is the perishable cheat-sheet (specific products, correct as of mid-2026, will need updating in future deliveries).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1E0AB-BB11-A677-BF55-7EBAE2B2B2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EF23D7-4719-609B-35C2-F699B8930D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0289D-C40F-8F7E-0226-080906DC67CE}"/>
              </a:ext>
            </a:extLst>
          </p:cNvPr>
          <p:cNvSpPr>
            <a:spLocks noGrp="1"/>
          </p:cNvSpPr>
          <p:nvPr>
            <p:ph type="body" idx="1"/>
          </p:nvPr>
        </p:nvSpPr>
        <p:spPr/>
        <p:txBody>
          <a:bodyPr/>
          <a:lstStyle/>
          <a:p>
            <a:r>
              <a:rPr lang="en-US" dirty="0"/>
              <a:t>This is the mirror image of the ADAPT framework — ADAPT tells them what TO do; this slide is the short, unambiguous list of what never to do, useful precisely because it needs no judgement call to apply. Keep this slide brisk — five bullets, one breath each. It works well projected during a Q&amp;A if someone asks 'so where exactly is the line?' The ethics-application point matters especially for postgraduate supervision: AI can help a student structure a draft, but the supervisor's sign-off must reflect the supervisor's own judgement, not the model's.</a:t>
            </a:r>
          </a:p>
        </p:txBody>
      </p:sp>
      <p:sp>
        <p:nvSpPr>
          <p:cNvPr id="4" name="Slide Number Placeholder 3">
            <a:extLst>
              <a:ext uri="{FF2B5EF4-FFF2-40B4-BE49-F238E27FC236}">
                <a16:creationId xmlns:a16="http://schemas.microsoft.com/office/drawing/2014/main" id="{4C8F453F-22F7-5E23-95BA-BE7392FF5294}"/>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5172651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11.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9.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31.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hyperlink" Target="https://github.com/Sakinat-Folorunso" TargetMode="External"/><Relationship Id="rId3" Type="http://schemas.openxmlformats.org/officeDocument/2006/relationships/hyperlink" Target="mailto:sakinat.folorunso@oouagoiwoye.edu.ng" TargetMode="External"/><Relationship Id="rId7" Type="http://schemas.openxmlformats.org/officeDocument/2006/relationships/hyperlink" Target="https://sites.google.com/view/sakinatfolorunso/home"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hyperlink" Target="https://www.linkedin.com/in/sakinat-folorunso-8b747760/" TargetMode="External"/><Relationship Id="rId5" Type="http://schemas.openxmlformats.org/officeDocument/2006/relationships/hyperlink" Target="https://orcid.org/0000-0002-7058-8618" TargetMode="External"/><Relationship Id="rId4" Type="http://schemas.openxmlformats.org/officeDocument/2006/relationships/hyperlink" Target="https://scholar.google.com/citations?hl=en&amp;user=CpOk_oIAAAAJ"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2314"/>
        </a:solidFill>
        <a:effectLst/>
      </p:bgPr>
    </p:bg>
    <p:spTree>
      <p:nvGrpSpPr>
        <p:cNvPr id="1" name=""/>
        <p:cNvGrpSpPr/>
        <p:nvPr/>
      </p:nvGrpSpPr>
      <p:grpSpPr>
        <a:xfrm>
          <a:off x="0" y="0"/>
          <a:ext cx="0" cy="0"/>
          <a:chOff x="0" y="0"/>
          <a:chExt cx="0" cy="0"/>
        </a:xfrm>
      </p:grpSpPr>
      <p:sp>
        <p:nvSpPr>
          <p:cNvPr id="2" name="Shape 0"/>
          <p:cNvSpPr/>
          <p:nvPr/>
        </p:nvSpPr>
        <p:spPr>
          <a:xfrm>
            <a:off x="7863840" y="640080"/>
            <a:ext cx="146304" cy="146304"/>
          </a:xfrm>
          <a:prstGeom prst="ellipse">
            <a:avLst/>
          </a:prstGeom>
          <a:solidFill>
            <a:srgbClr val="D99B32">
              <a:alpha val="65000"/>
            </a:srgbClr>
          </a:solidFill>
          <a:ln/>
        </p:spPr>
        <p:txBody>
          <a:bodyPr/>
          <a:lstStyle/>
          <a:p>
            <a:endParaRPr lang="en-GB"/>
          </a:p>
        </p:txBody>
      </p:sp>
      <p:sp>
        <p:nvSpPr>
          <p:cNvPr id="3" name="Shape 1"/>
          <p:cNvSpPr/>
          <p:nvPr/>
        </p:nvSpPr>
        <p:spPr>
          <a:xfrm>
            <a:off x="8412480" y="1188720"/>
            <a:ext cx="91440" cy="91440"/>
          </a:xfrm>
          <a:prstGeom prst="ellipse">
            <a:avLst/>
          </a:prstGeom>
          <a:solidFill>
            <a:srgbClr val="D99B32">
              <a:alpha val="65000"/>
            </a:srgbClr>
          </a:solidFill>
          <a:ln/>
        </p:spPr>
        <p:txBody>
          <a:bodyPr/>
          <a:lstStyle/>
          <a:p>
            <a:endParaRPr lang="en-GB"/>
          </a:p>
        </p:txBody>
      </p:sp>
      <p:sp>
        <p:nvSpPr>
          <p:cNvPr id="4" name="Shape 2"/>
          <p:cNvSpPr/>
          <p:nvPr/>
        </p:nvSpPr>
        <p:spPr>
          <a:xfrm>
            <a:off x="8138160" y="1920240"/>
            <a:ext cx="201168" cy="201168"/>
          </a:xfrm>
          <a:prstGeom prst="ellipse">
            <a:avLst/>
          </a:prstGeom>
          <a:solidFill>
            <a:srgbClr val="D99B32">
              <a:alpha val="65000"/>
            </a:srgbClr>
          </a:solidFill>
          <a:ln/>
        </p:spPr>
        <p:txBody>
          <a:bodyPr/>
          <a:lstStyle/>
          <a:p>
            <a:endParaRPr lang="en-GB"/>
          </a:p>
        </p:txBody>
      </p:sp>
      <p:sp>
        <p:nvSpPr>
          <p:cNvPr id="5" name="Shape 3"/>
          <p:cNvSpPr/>
          <p:nvPr/>
        </p:nvSpPr>
        <p:spPr>
          <a:xfrm>
            <a:off x="8595360" y="2651760"/>
            <a:ext cx="118872" cy="118872"/>
          </a:xfrm>
          <a:prstGeom prst="ellipse">
            <a:avLst/>
          </a:prstGeom>
          <a:solidFill>
            <a:srgbClr val="D99B32">
              <a:alpha val="65000"/>
            </a:srgbClr>
          </a:solidFill>
          <a:ln/>
        </p:spPr>
        <p:txBody>
          <a:bodyPr/>
          <a:lstStyle/>
          <a:p>
            <a:endParaRPr lang="en-GB"/>
          </a:p>
        </p:txBody>
      </p:sp>
      <p:sp>
        <p:nvSpPr>
          <p:cNvPr id="6" name="Shape 4"/>
          <p:cNvSpPr/>
          <p:nvPr/>
        </p:nvSpPr>
        <p:spPr>
          <a:xfrm>
            <a:off x="7772400" y="3291840"/>
            <a:ext cx="91440" cy="91440"/>
          </a:xfrm>
          <a:prstGeom prst="ellipse">
            <a:avLst/>
          </a:prstGeom>
          <a:solidFill>
            <a:srgbClr val="D99B32">
              <a:alpha val="65000"/>
            </a:srgbClr>
          </a:solidFill>
          <a:ln/>
        </p:spPr>
        <p:txBody>
          <a:bodyPr/>
          <a:lstStyle/>
          <a:p>
            <a:endParaRPr lang="en-GB"/>
          </a:p>
        </p:txBody>
      </p:sp>
      <p:sp>
        <p:nvSpPr>
          <p:cNvPr id="7" name="Shape 5"/>
          <p:cNvSpPr/>
          <p:nvPr/>
        </p:nvSpPr>
        <p:spPr>
          <a:xfrm>
            <a:off x="8321040" y="4023360"/>
            <a:ext cx="164592" cy="164592"/>
          </a:xfrm>
          <a:prstGeom prst="ellipse">
            <a:avLst/>
          </a:prstGeom>
          <a:solidFill>
            <a:srgbClr val="D99B32">
              <a:alpha val="65000"/>
            </a:srgbClr>
          </a:solidFill>
          <a:ln/>
        </p:spPr>
        <p:txBody>
          <a:bodyPr/>
          <a:lstStyle/>
          <a:p>
            <a:endParaRPr lang="en-GB"/>
          </a:p>
        </p:txBody>
      </p:sp>
      <p:sp>
        <p:nvSpPr>
          <p:cNvPr id="8" name="Shape 6"/>
          <p:cNvSpPr/>
          <p:nvPr/>
        </p:nvSpPr>
        <p:spPr>
          <a:xfrm>
            <a:off x="7955280" y="4572000"/>
            <a:ext cx="109728" cy="109728"/>
          </a:xfrm>
          <a:prstGeom prst="ellipse">
            <a:avLst/>
          </a:prstGeom>
          <a:solidFill>
            <a:srgbClr val="D99B32">
              <a:alpha val="65000"/>
            </a:srgbClr>
          </a:solidFill>
          <a:ln/>
        </p:spPr>
        <p:txBody>
          <a:bodyPr/>
          <a:lstStyle/>
          <a:p>
            <a:endParaRPr lang="en-GB"/>
          </a:p>
        </p:txBody>
      </p:sp>
      <p:sp>
        <p:nvSpPr>
          <p:cNvPr id="9" name="Text 7"/>
          <p:cNvSpPr/>
          <p:nvPr/>
        </p:nvSpPr>
        <p:spPr>
          <a:xfrm>
            <a:off x="548640" y="502920"/>
            <a:ext cx="8046720" cy="274320"/>
          </a:xfrm>
          <a:prstGeom prst="rect">
            <a:avLst/>
          </a:prstGeom>
          <a:noFill/>
          <a:ln/>
        </p:spPr>
        <p:txBody>
          <a:bodyPr wrap="square" lIns="0" tIns="0" rIns="0" bIns="0" rtlCol="0" anchor="ctr"/>
          <a:lstStyle/>
          <a:p>
            <a:pPr marL="0" indent="0">
              <a:buNone/>
            </a:pPr>
            <a:r>
              <a:rPr lang="en-US" sz="1250" b="1" kern="0" spc="250" dirty="0">
                <a:solidFill>
                  <a:srgbClr val="D99B32"/>
                </a:solidFill>
                <a:latin typeface="Calibri" pitchFamily="34" charset="0"/>
                <a:ea typeface="Calibri" pitchFamily="34" charset="-122"/>
                <a:cs typeface="Calibri" pitchFamily="34" charset="-120"/>
              </a:rPr>
              <a:t>ASSOCIATION OF WEST AFRICA UNIVERSITIES  ·  MONTHLY COLLOQUIUM SERIES</a:t>
            </a:r>
            <a:endParaRPr lang="en-US" sz="1250" dirty="0"/>
          </a:p>
        </p:txBody>
      </p:sp>
      <p:sp>
        <p:nvSpPr>
          <p:cNvPr id="10" name="Text 8"/>
          <p:cNvSpPr/>
          <p:nvPr/>
        </p:nvSpPr>
        <p:spPr>
          <a:xfrm>
            <a:off x="548640" y="960120"/>
            <a:ext cx="7680960" cy="1691640"/>
          </a:xfrm>
          <a:prstGeom prst="rect">
            <a:avLst/>
          </a:prstGeom>
          <a:noFill/>
          <a:ln/>
        </p:spPr>
        <p:txBody>
          <a:bodyPr wrap="square" lIns="0" tIns="0" rIns="0" bIns="0" rtlCol="0" anchor="ctr"/>
          <a:lstStyle/>
          <a:p>
            <a:pPr marL="0" indent="0">
              <a:lnSpc>
                <a:spcPts val="5600"/>
              </a:lnSpc>
              <a:buNone/>
            </a:pPr>
            <a:r>
              <a:rPr lang="en-US" sz="5400" b="1" dirty="0">
                <a:solidFill>
                  <a:srgbClr val="FFFFFF"/>
                </a:solidFill>
                <a:latin typeface="Cambria" pitchFamily="34" charset="0"/>
                <a:ea typeface="Cambria" pitchFamily="34" charset="-122"/>
                <a:cs typeface="Cambria" pitchFamily="34" charset="-120"/>
              </a:rPr>
              <a:t>Methodology</a:t>
            </a:r>
            <a:endParaRPr lang="en-US" sz="5400" dirty="0"/>
          </a:p>
          <a:p>
            <a:pPr marL="0" indent="0">
              <a:lnSpc>
                <a:spcPts val="5600"/>
              </a:lnSpc>
              <a:buNone/>
            </a:pPr>
            <a:r>
              <a:rPr lang="en-US" sz="5400" b="1" dirty="0">
                <a:solidFill>
                  <a:srgbClr val="FFFFFF"/>
                </a:solidFill>
                <a:latin typeface="Cambria" pitchFamily="34" charset="0"/>
                <a:ea typeface="Cambria" pitchFamily="34" charset="-122"/>
                <a:cs typeface="Cambria" pitchFamily="34" charset="-120"/>
              </a:rPr>
              <a:t>Transformation</a:t>
            </a:r>
            <a:endParaRPr lang="en-US" sz="5400" dirty="0"/>
          </a:p>
        </p:txBody>
      </p:sp>
      <p:sp>
        <p:nvSpPr>
          <p:cNvPr id="11" name="Text 9"/>
          <p:cNvSpPr/>
          <p:nvPr/>
        </p:nvSpPr>
        <p:spPr>
          <a:xfrm>
            <a:off x="548640" y="2724912"/>
            <a:ext cx="6949440" cy="411480"/>
          </a:xfrm>
          <a:prstGeom prst="rect">
            <a:avLst/>
          </a:prstGeom>
          <a:noFill/>
          <a:ln/>
        </p:spPr>
        <p:txBody>
          <a:bodyPr wrap="square" lIns="0" tIns="0" rIns="0" bIns="0" rtlCol="0" anchor="ctr"/>
          <a:lstStyle/>
          <a:p>
            <a:pPr marL="0" indent="0">
              <a:buNone/>
            </a:pPr>
            <a:r>
              <a:rPr lang="en-US" sz="1900" i="1" dirty="0">
                <a:solidFill>
                  <a:srgbClr val="EAD9C4"/>
                </a:solidFill>
                <a:latin typeface="Calibri" pitchFamily="34" charset="0"/>
                <a:ea typeface="Calibri" pitchFamily="34" charset="-122"/>
                <a:cs typeface="Calibri" pitchFamily="34" charset="-120"/>
              </a:rPr>
              <a:t>Integrating AI into Research Workflows — without surrendering rigour</a:t>
            </a:r>
            <a:endParaRPr lang="en-US" sz="1900" dirty="0"/>
          </a:p>
        </p:txBody>
      </p:sp>
      <p:sp>
        <p:nvSpPr>
          <p:cNvPr id="12" name="Shape 10"/>
          <p:cNvSpPr/>
          <p:nvPr/>
        </p:nvSpPr>
        <p:spPr>
          <a:xfrm>
            <a:off x="576072" y="3383280"/>
            <a:ext cx="5120640" cy="0"/>
          </a:xfrm>
          <a:prstGeom prst="line">
            <a:avLst/>
          </a:prstGeom>
          <a:noFill/>
          <a:ln w="19050">
            <a:solidFill>
              <a:srgbClr val="BE5320"/>
            </a:solidFill>
            <a:prstDash val="solid"/>
          </a:ln>
        </p:spPr>
        <p:txBody>
          <a:bodyPr/>
          <a:lstStyle/>
          <a:p>
            <a:endParaRPr lang="en-GB"/>
          </a:p>
        </p:txBody>
      </p:sp>
      <p:sp>
        <p:nvSpPr>
          <p:cNvPr id="13" name="Text 11"/>
          <p:cNvSpPr/>
          <p:nvPr/>
        </p:nvSpPr>
        <p:spPr>
          <a:xfrm>
            <a:off x="548640" y="3547872"/>
            <a:ext cx="7132320" cy="86868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Dr. Sakinat Oluwabukonla Folorunso</a:t>
            </a:r>
            <a:endParaRPr lang="en-US" sz="1600" dirty="0"/>
          </a:p>
          <a:p>
            <a:pPr marL="0" indent="0">
              <a:buNone/>
            </a:pPr>
            <a:r>
              <a:rPr lang="en-US" sz="1250" dirty="0">
                <a:solidFill>
                  <a:srgbClr val="D8C5AE"/>
                </a:solidFill>
                <a:latin typeface="Calibri" pitchFamily="34" charset="0"/>
                <a:ea typeface="Calibri" pitchFamily="34" charset="-122"/>
                <a:cs typeface="Calibri" pitchFamily="34" charset="-120"/>
              </a:rPr>
              <a:t>Lead Researcher, Artificial Intelligence Systems Research Group (ARISG)</a:t>
            </a:r>
            <a:endParaRPr lang="en-US" sz="1600" dirty="0"/>
          </a:p>
          <a:p>
            <a:pPr marL="0" indent="0">
              <a:buNone/>
            </a:pPr>
            <a:r>
              <a:rPr lang="en-US" sz="1250" dirty="0">
                <a:solidFill>
                  <a:srgbClr val="D8C5AE"/>
                </a:solidFill>
                <a:latin typeface="Calibri" pitchFamily="34" charset="0"/>
                <a:ea typeface="Calibri" pitchFamily="34" charset="-122"/>
                <a:cs typeface="Calibri" pitchFamily="34" charset="-120"/>
              </a:rPr>
              <a:t>Department of Computer Sciences, Olabisi Onabanjo University, Ago-Iwoye, Nigeria</a:t>
            </a:r>
            <a:endParaRPr lang="en-US" sz="1600" dirty="0"/>
          </a:p>
        </p:txBody>
      </p:sp>
      <p:sp>
        <p:nvSpPr>
          <p:cNvPr id="14" name="Text 12"/>
          <p:cNvSpPr/>
          <p:nvPr/>
        </p:nvSpPr>
        <p:spPr>
          <a:xfrm>
            <a:off x="548640" y="4526280"/>
            <a:ext cx="5943600" cy="320040"/>
          </a:xfrm>
          <a:prstGeom prst="rect">
            <a:avLst/>
          </a:prstGeom>
          <a:noFill/>
          <a:ln/>
        </p:spPr>
        <p:txBody>
          <a:bodyPr wrap="square" lIns="0" tIns="0" rIns="0" bIns="0" rtlCol="0" anchor="ctr"/>
          <a:lstStyle/>
          <a:p>
            <a:pPr marL="0" indent="0">
              <a:buNone/>
            </a:pPr>
            <a:r>
              <a:rPr lang="en-US" sz="1300" b="1" dirty="0">
                <a:solidFill>
                  <a:srgbClr val="D99B32"/>
                </a:solidFill>
                <a:latin typeface="Calibri" pitchFamily="34" charset="0"/>
                <a:ea typeface="Calibri" pitchFamily="34" charset="-122"/>
                <a:cs typeface="Calibri" pitchFamily="34" charset="-120"/>
              </a:rPr>
              <a:t>Saturday, 11 July 2026  ·  09:00 WAT  ·  Zoom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marL="0" indent="0">
              <a:buNone/>
            </a:pPr>
            <a:r>
              <a:rPr lang="en-US" sz="1200" b="1" kern="0" spc="300" dirty="0">
                <a:solidFill>
                  <a:srgbClr val="BE5320"/>
                </a:solidFill>
                <a:latin typeface="Calibri" pitchFamily="34" charset="0"/>
                <a:ea typeface="Calibri" pitchFamily="34" charset="-122"/>
                <a:cs typeface="Calibri" pitchFamily="34" charset="-120"/>
              </a:rPr>
              <a:t>LET US BEGIN WITH A STORY</a:t>
            </a:r>
            <a:endParaRPr lang="en-US" sz="120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3000" b="1" dirty="0">
                <a:solidFill>
                  <a:srgbClr val="3B2314"/>
                </a:solidFill>
                <a:latin typeface="Cambria" pitchFamily="34" charset="0"/>
                <a:ea typeface="Cambria" pitchFamily="34" charset="-122"/>
                <a:cs typeface="Cambria" pitchFamily="34" charset="-120"/>
              </a:rPr>
              <a:t>A Tale of Two Literature Reviews</a:t>
            </a:r>
            <a:endParaRPr lang="en-US" sz="3000" dirty="0"/>
          </a:p>
        </p:txBody>
      </p:sp>
      <p:sp>
        <p:nvSpPr>
          <p:cNvPr id="4" name="Shape 2"/>
          <p:cNvSpPr/>
          <p:nvPr/>
        </p:nvSpPr>
        <p:spPr>
          <a:xfrm>
            <a:off x="502920" y="1417320"/>
            <a:ext cx="3931920" cy="2926080"/>
          </a:xfrm>
          <a:prstGeom prst="roundRect">
            <a:avLst>
              <a:gd name="adj" fmla="val 2500"/>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5" name="Shape 3"/>
          <p:cNvSpPr/>
          <p:nvPr/>
        </p:nvSpPr>
        <p:spPr>
          <a:xfrm>
            <a:off x="777240" y="1691640"/>
            <a:ext cx="457200" cy="457200"/>
          </a:xfrm>
          <a:prstGeom prst="ellipse">
            <a:avLst/>
          </a:prstGeom>
          <a:solidFill>
            <a:srgbClr val="54341E"/>
          </a:solidFill>
          <a:ln/>
        </p:spPr>
        <p:txBody>
          <a:bodyPr/>
          <a:lstStyle/>
          <a:p>
            <a:endParaRPr lang="en-GB"/>
          </a:p>
        </p:txBody>
      </p:sp>
      <p:pic>
        <p:nvPicPr>
          <p:cNvPr id="6" name="Image 0" descr="preencoded.png"/>
          <p:cNvPicPr>
            <a:picLocks noChangeAspect="1"/>
          </p:cNvPicPr>
          <p:nvPr/>
        </p:nvPicPr>
        <p:blipFill>
          <a:blip r:embed="rId3"/>
          <a:stretch>
            <a:fillRect/>
          </a:stretch>
        </p:blipFill>
        <p:spPr>
          <a:xfrm>
            <a:off x="839804" y="1754204"/>
            <a:ext cx="338328" cy="338328"/>
          </a:xfrm>
          <a:prstGeom prst="rect">
            <a:avLst/>
          </a:prstGeom>
        </p:spPr>
      </p:pic>
      <p:sp>
        <p:nvSpPr>
          <p:cNvPr id="7" name="Text 4"/>
          <p:cNvSpPr/>
          <p:nvPr/>
        </p:nvSpPr>
        <p:spPr>
          <a:xfrm>
            <a:off x="1371600" y="1737360"/>
            <a:ext cx="2926080" cy="365760"/>
          </a:xfrm>
          <a:prstGeom prst="rect">
            <a:avLst/>
          </a:prstGeom>
          <a:noFill/>
          <a:ln/>
        </p:spPr>
        <p:txBody>
          <a:bodyPr wrap="square" lIns="0" tIns="0" rIns="0" bIns="0" rtlCol="0" anchor="ctr"/>
          <a:lstStyle/>
          <a:p>
            <a:pPr marL="0" indent="0">
              <a:buNone/>
            </a:pPr>
            <a:r>
              <a:rPr lang="en-US" sz="1700" b="1" dirty="0">
                <a:solidFill>
                  <a:srgbClr val="3B2314"/>
                </a:solidFill>
                <a:latin typeface="Cambria" pitchFamily="34" charset="0"/>
                <a:ea typeface="Cambria" pitchFamily="34" charset="-122"/>
                <a:cs typeface="Cambria" pitchFamily="34" charset="-120"/>
              </a:rPr>
              <a:t>Dr. Adeyemi — 2019</a:t>
            </a:r>
            <a:endParaRPr lang="en-US" sz="1700" dirty="0"/>
          </a:p>
        </p:txBody>
      </p:sp>
      <p:sp>
        <p:nvSpPr>
          <p:cNvPr id="8" name="Text 5"/>
          <p:cNvSpPr/>
          <p:nvPr/>
        </p:nvSpPr>
        <p:spPr>
          <a:xfrm>
            <a:off x="777240" y="2286000"/>
            <a:ext cx="3429000" cy="192024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2B2118"/>
                </a:solidFill>
                <a:latin typeface="Calibri" pitchFamily="34" charset="0"/>
                <a:ea typeface="Calibri" pitchFamily="34" charset="-122"/>
                <a:cs typeface="Calibri" pitchFamily="34" charset="-120"/>
              </a:rPr>
              <a:t>6 months hand-searching databases</a:t>
            </a:r>
            <a:endParaRPr lang="en-US" sz="1350" dirty="0"/>
          </a:p>
          <a:p>
            <a:pPr marL="342900" indent="-342900">
              <a:spcAft>
                <a:spcPts val="800"/>
              </a:spcAft>
              <a:buSzPct val="100000"/>
              <a:buChar char="•"/>
            </a:pPr>
            <a:r>
              <a:rPr lang="en-US" sz="1350" dirty="0">
                <a:solidFill>
                  <a:srgbClr val="2B2118"/>
                </a:solidFill>
                <a:latin typeface="Calibri" pitchFamily="34" charset="0"/>
                <a:ea typeface="Calibri" pitchFamily="34" charset="-122"/>
                <a:cs typeface="Calibri" pitchFamily="34" charset="-120"/>
              </a:rPr>
              <a:t>82 papers read; 40 cited</a:t>
            </a:r>
            <a:endParaRPr lang="en-US" sz="1350" dirty="0"/>
          </a:p>
          <a:p>
            <a:pPr marL="342900" indent="-342900">
              <a:spcAft>
                <a:spcPts val="800"/>
              </a:spcAft>
              <a:buSzPct val="100000"/>
              <a:buChar char="•"/>
            </a:pPr>
            <a:r>
              <a:rPr lang="en-US" sz="1350" dirty="0">
                <a:solidFill>
                  <a:srgbClr val="2B2118"/>
                </a:solidFill>
                <a:latin typeface="Calibri" pitchFamily="34" charset="0"/>
                <a:ea typeface="Calibri" pitchFamily="34" charset="-122"/>
                <a:cs typeface="Calibri" pitchFamily="34" charset="-120"/>
              </a:rPr>
              <a:t>Screening notes in three notebooks</a:t>
            </a:r>
            <a:endParaRPr lang="en-US" sz="1350" dirty="0"/>
          </a:p>
          <a:p>
            <a:pPr marL="342900" indent="-342900">
              <a:spcAft>
                <a:spcPts val="800"/>
              </a:spcAft>
              <a:buSzPct val="100000"/>
              <a:buChar char="•"/>
            </a:pPr>
            <a:r>
              <a:rPr lang="en-US" sz="1350" dirty="0">
                <a:solidFill>
                  <a:srgbClr val="2B2118"/>
                </a:solidFill>
                <a:latin typeface="Calibri" pitchFamily="34" charset="0"/>
                <a:ea typeface="Calibri" pitchFamily="34" charset="-122"/>
                <a:cs typeface="Calibri" pitchFamily="34" charset="-120"/>
              </a:rPr>
              <a:t>Review already dated at submission</a:t>
            </a:r>
            <a:endParaRPr lang="en-US" sz="1350" dirty="0"/>
          </a:p>
        </p:txBody>
      </p:sp>
      <p:sp>
        <p:nvSpPr>
          <p:cNvPr id="9" name="Shape 6"/>
          <p:cNvSpPr/>
          <p:nvPr/>
        </p:nvSpPr>
        <p:spPr>
          <a:xfrm>
            <a:off x="4709160" y="1417320"/>
            <a:ext cx="3931920" cy="2926080"/>
          </a:xfrm>
          <a:prstGeom prst="roundRect">
            <a:avLst>
              <a:gd name="adj" fmla="val 2500"/>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10" name="Shape 7"/>
          <p:cNvSpPr/>
          <p:nvPr/>
        </p:nvSpPr>
        <p:spPr>
          <a:xfrm>
            <a:off x="4983480" y="1691640"/>
            <a:ext cx="457200" cy="457200"/>
          </a:xfrm>
          <a:prstGeom prst="ellipse">
            <a:avLst/>
          </a:prstGeom>
          <a:solidFill>
            <a:srgbClr val="BE5320"/>
          </a:solidFill>
          <a:ln/>
        </p:spPr>
        <p:txBody>
          <a:bodyPr/>
          <a:lstStyle/>
          <a:p>
            <a:endParaRPr lang="en-GB"/>
          </a:p>
        </p:txBody>
      </p:sp>
      <p:pic>
        <p:nvPicPr>
          <p:cNvPr id="11" name="Image 1" descr="preencoded.png"/>
          <p:cNvPicPr>
            <a:picLocks noChangeAspect="1"/>
          </p:cNvPicPr>
          <p:nvPr/>
        </p:nvPicPr>
        <p:blipFill>
          <a:blip r:embed="rId4"/>
          <a:stretch>
            <a:fillRect/>
          </a:stretch>
        </p:blipFill>
        <p:spPr>
          <a:xfrm>
            <a:off x="5046044" y="1754204"/>
            <a:ext cx="338328" cy="338328"/>
          </a:xfrm>
          <a:prstGeom prst="rect">
            <a:avLst/>
          </a:prstGeom>
        </p:spPr>
      </p:pic>
      <p:sp>
        <p:nvSpPr>
          <p:cNvPr id="12" name="Text 8"/>
          <p:cNvSpPr/>
          <p:nvPr/>
        </p:nvSpPr>
        <p:spPr>
          <a:xfrm>
            <a:off x="5577840" y="1737360"/>
            <a:ext cx="2926080" cy="365760"/>
          </a:xfrm>
          <a:prstGeom prst="rect">
            <a:avLst/>
          </a:prstGeom>
          <a:noFill/>
          <a:ln/>
        </p:spPr>
        <p:txBody>
          <a:bodyPr wrap="square" lIns="0" tIns="0" rIns="0" bIns="0" rtlCol="0" anchor="ctr"/>
          <a:lstStyle/>
          <a:p>
            <a:pPr marL="0" indent="0">
              <a:buNone/>
            </a:pPr>
            <a:r>
              <a:rPr lang="en-US" sz="1700" b="1" dirty="0">
                <a:solidFill>
                  <a:srgbClr val="BE5320"/>
                </a:solidFill>
                <a:latin typeface="Cambria" pitchFamily="34" charset="0"/>
                <a:ea typeface="Cambria" pitchFamily="34" charset="-122"/>
                <a:cs typeface="Cambria" pitchFamily="34" charset="-120"/>
              </a:rPr>
              <a:t>Dr. Bello — 2026</a:t>
            </a:r>
            <a:endParaRPr lang="en-US" sz="1700" dirty="0"/>
          </a:p>
        </p:txBody>
      </p:sp>
      <p:sp>
        <p:nvSpPr>
          <p:cNvPr id="13" name="Text 9"/>
          <p:cNvSpPr/>
          <p:nvPr/>
        </p:nvSpPr>
        <p:spPr>
          <a:xfrm>
            <a:off x="4983480" y="2286000"/>
            <a:ext cx="3429000" cy="192024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2B2118"/>
                </a:solidFill>
                <a:latin typeface="Calibri" pitchFamily="34" charset="0"/>
                <a:ea typeface="Calibri" pitchFamily="34" charset="-122"/>
                <a:cs typeface="Calibri" pitchFamily="34" charset="-120"/>
              </a:rPr>
              <a:t>3 weeks with AI-assisted screening</a:t>
            </a:r>
            <a:endParaRPr lang="en-US" sz="1350" dirty="0"/>
          </a:p>
          <a:p>
            <a:pPr marL="342900" indent="-342900">
              <a:spcAft>
                <a:spcPts val="800"/>
              </a:spcAft>
              <a:buSzPct val="100000"/>
              <a:buChar char="•"/>
            </a:pPr>
            <a:r>
              <a:rPr lang="en-US" sz="1350" dirty="0">
                <a:solidFill>
                  <a:srgbClr val="2B2118"/>
                </a:solidFill>
                <a:latin typeface="Calibri" pitchFamily="34" charset="0"/>
                <a:ea typeface="Calibri" pitchFamily="34" charset="-122"/>
                <a:cs typeface="Calibri" pitchFamily="34" charset="-120"/>
              </a:rPr>
              <a:t>600+ abstracts triaged; 95 read in full</a:t>
            </a:r>
            <a:endParaRPr lang="en-US" sz="1350" dirty="0"/>
          </a:p>
          <a:p>
            <a:pPr marL="342900" indent="-342900">
              <a:spcAft>
                <a:spcPts val="800"/>
              </a:spcAft>
              <a:buSzPct val="100000"/>
              <a:buChar char="•"/>
            </a:pPr>
            <a:r>
              <a:rPr lang="en-US" sz="1350" dirty="0">
                <a:solidFill>
                  <a:srgbClr val="2B2118"/>
                </a:solidFill>
                <a:latin typeface="Calibri" pitchFamily="34" charset="0"/>
                <a:ea typeface="Calibri" pitchFamily="34" charset="-122"/>
                <a:cs typeface="Calibri" pitchFamily="34" charset="-120"/>
              </a:rPr>
              <a:t>Every claim verified against the PDF</a:t>
            </a:r>
            <a:endParaRPr lang="en-US" sz="1350" dirty="0"/>
          </a:p>
          <a:p>
            <a:pPr marL="342900" indent="-342900">
              <a:spcAft>
                <a:spcPts val="800"/>
              </a:spcAft>
              <a:buSzPct val="100000"/>
              <a:buChar char="•"/>
            </a:pPr>
            <a:r>
              <a:rPr lang="en-US" sz="1350" b="1" dirty="0">
                <a:solidFill>
                  <a:srgbClr val="2B2118"/>
                </a:solidFill>
                <a:latin typeface="Calibri" pitchFamily="34" charset="0"/>
                <a:ea typeface="Calibri" pitchFamily="34" charset="-122"/>
                <a:cs typeface="Calibri" pitchFamily="34" charset="-120"/>
              </a:rPr>
              <a:t>Same rigour — different workflow</a:t>
            </a:r>
            <a:endParaRPr lang="en-US" sz="1350" dirty="0"/>
          </a:p>
        </p:txBody>
      </p:sp>
      <p:sp>
        <p:nvSpPr>
          <p:cNvPr id="14" name="Text 10"/>
          <p:cNvSpPr/>
          <p:nvPr/>
        </p:nvSpPr>
        <p:spPr>
          <a:xfrm>
            <a:off x="502920" y="4526280"/>
            <a:ext cx="8138160" cy="365760"/>
          </a:xfrm>
          <a:prstGeom prst="rect">
            <a:avLst/>
          </a:prstGeom>
          <a:noFill/>
          <a:ln/>
        </p:spPr>
        <p:txBody>
          <a:bodyPr wrap="square" lIns="0" tIns="0" rIns="0" bIns="0" rtlCol="0" anchor="ctr"/>
          <a:lstStyle/>
          <a:p>
            <a:pPr marL="0" indent="0" algn="ctr">
              <a:buNone/>
            </a:pPr>
            <a:r>
              <a:rPr lang="en-US" sz="1700" b="1" i="1" dirty="0">
                <a:solidFill>
                  <a:srgbClr val="31402A"/>
                </a:solidFill>
                <a:latin typeface="Cambria" pitchFamily="34" charset="0"/>
                <a:ea typeface="Cambria" pitchFamily="34" charset="-122"/>
                <a:cs typeface="Cambria" pitchFamily="34" charset="-120"/>
              </a:rPr>
              <a:t>The standards did not change. The method did.</a:t>
            </a:r>
            <a:endParaRPr lang="en-US" sz="1700" dirty="0"/>
          </a:p>
        </p:txBody>
      </p:sp>
      <p:sp>
        <p:nvSpPr>
          <p:cNvPr id="15" name="Text 11"/>
          <p:cNvSpPr/>
          <p:nvPr/>
        </p:nvSpPr>
        <p:spPr>
          <a:xfrm>
            <a:off x="502920" y="4846320"/>
            <a:ext cx="4114800" cy="228600"/>
          </a:xfrm>
          <a:prstGeom prst="rect">
            <a:avLst/>
          </a:prstGeom>
          <a:noFill/>
          <a:ln/>
        </p:spPr>
        <p:txBody>
          <a:bodyPr wrap="square" lIns="0" tIns="0" rIns="0" bIns="0" rtlCol="0" anchor="ctr"/>
          <a:lstStyle/>
          <a:p>
            <a:pPr marL="0" indent="0">
              <a:buNone/>
            </a:pPr>
            <a:r>
              <a:rPr lang="en-US" sz="900" dirty="0">
                <a:solidFill>
                  <a:srgbClr val="8A7A6B"/>
                </a:solidFill>
                <a:latin typeface="Calibri" pitchFamily="34" charset="0"/>
                <a:ea typeface="Calibri" pitchFamily="34" charset="-122"/>
                <a:cs typeface="Calibri" pitchFamily="34" charset="-120"/>
              </a:rPr>
              <a:t>AWAU Monthly Colloquium  ·  July 2026</a:t>
            </a:r>
            <a:endParaRPr lang="en-US" sz="900" dirty="0"/>
          </a:p>
        </p:txBody>
      </p:sp>
      <p:sp>
        <p:nvSpPr>
          <p:cNvPr id="16" name="Text 12"/>
          <p:cNvSpPr/>
          <p:nvPr/>
        </p:nvSpPr>
        <p:spPr>
          <a:xfrm>
            <a:off x="8503920" y="4846320"/>
            <a:ext cx="320040" cy="228600"/>
          </a:xfrm>
          <a:prstGeom prst="rect">
            <a:avLst/>
          </a:prstGeom>
          <a:noFill/>
          <a:ln/>
        </p:spPr>
        <p:txBody>
          <a:bodyPr wrap="square" lIns="0" tIns="0" rIns="0" bIns="0" rtlCol="0" anchor="ctr"/>
          <a:lstStyle/>
          <a:p>
            <a:pPr marL="0" indent="0" algn="r">
              <a:buNone/>
            </a:pPr>
            <a:r>
              <a:rPr lang="en-US" sz="900" dirty="0">
                <a:solidFill>
                  <a:srgbClr val="8A7A6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marL="0" indent="0">
              <a:buNone/>
            </a:pPr>
            <a:r>
              <a:rPr lang="en-US" sz="1200" b="1" kern="0" spc="300" dirty="0">
                <a:solidFill>
                  <a:srgbClr val="BE5320"/>
                </a:solidFill>
                <a:latin typeface="Calibri" pitchFamily="34" charset="0"/>
                <a:ea typeface="Calibri" pitchFamily="34" charset="-122"/>
                <a:cs typeface="Calibri" pitchFamily="34" charset="-120"/>
              </a:rPr>
              <a:t>WHY NOW</a:t>
            </a:r>
            <a:endParaRPr lang="en-US" sz="120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3000" b="1" dirty="0">
                <a:solidFill>
                  <a:srgbClr val="3B2314"/>
                </a:solidFill>
                <a:latin typeface="Cambria" pitchFamily="34" charset="0"/>
                <a:ea typeface="Cambria" pitchFamily="34" charset="-122"/>
                <a:cs typeface="Cambria" pitchFamily="34" charset="-120"/>
              </a:rPr>
              <a:t>This Shift Is Already Underway</a:t>
            </a:r>
            <a:endParaRPr lang="en-US" sz="3000" dirty="0"/>
          </a:p>
        </p:txBody>
      </p:sp>
      <p:sp>
        <p:nvSpPr>
          <p:cNvPr id="4" name="Shape 2"/>
          <p:cNvSpPr/>
          <p:nvPr/>
        </p:nvSpPr>
        <p:spPr>
          <a:xfrm>
            <a:off x="502920" y="1463040"/>
            <a:ext cx="2606040" cy="2286000"/>
          </a:xfrm>
          <a:prstGeom prst="roundRect">
            <a:avLst>
              <a:gd name="adj" fmla="val 3200"/>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5" name="Shape 3"/>
          <p:cNvSpPr/>
          <p:nvPr/>
        </p:nvSpPr>
        <p:spPr>
          <a:xfrm>
            <a:off x="731520" y="1691640"/>
            <a:ext cx="457200" cy="457200"/>
          </a:xfrm>
          <a:prstGeom prst="ellipse">
            <a:avLst/>
          </a:prstGeom>
          <a:solidFill>
            <a:srgbClr val="BE5320"/>
          </a:solidFill>
          <a:ln/>
        </p:spPr>
        <p:txBody>
          <a:bodyPr/>
          <a:lstStyle/>
          <a:p>
            <a:endParaRPr lang="en-GB"/>
          </a:p>
        </p:txBody>
      </p:sp>
      <p:pic>
        <p:nvPicPr>
          <p:cNvPr id="6" name="Image 0" descr="preencoded.png"/>
          <p:cNvPicPr>
            <a:picLocks noChangeAspect="1"/>
          </p:cNvPicPr>
          <p:nvPr/>
        </p:nvPicPr>
        <p:blipFill>
          <a:blip r:embed="rId3"/>
          <a:stretch>
            <a:fillRect/>
          </a:stretch>
        </p:blipFill>
        <p:spPr>
          <a:xfrm>
            <a:off x="794084" y="1754204"/>
            <a:ext cx="338328" cy="338328"/>
          </a:xfrm>
          <a:prstGeom prst="rect">
            <a:avLst/>
          </a:prstGeom>
        </p:spPr>
      </p:pic>
      <p:sp>
        <p:nvSpPr>
          <p:cNvPr id="7" name="Text 4"/>
          <p:cNvSpPr/>
          <p:nvPr/>
        </p:nvSpPr>
        <p:spPr>
          <a:xfrm>
            <a:off x="685800" y="2240280"/>
            <a:ext cx="2240280" cy="685800"/>
          </a:xfrm>
          <a:prstGeom prst="rect">
            <a:avLst/>
          </a:prstGeom>
          <a:noFill/>
          <a:ln/>
        </p:spPr>
        <p:txBody>
          <a:bodyPr wrap="square" lIns="0" tIns="0" rIns="0" bIns="0" rtlCol="0" anchor="ctr"/>
          <a:lstStyle/>
          <a:p>
            <a:pPr marL="0" indent="0">
              <a:buNone/>
            </a:pPr>
            <a:r>
              <a:rPr lang="en-US" sz="4000" b="1" dirty="0">
                <a:solidFill>
                  <a:srgbClr val="BE5320"/>
                </a:solidFill>
                <a:latin typeface="Cambria" pitchFamily="34" charset="0"/>
                <a:ea typeface="Cambria" pitchFamily="34" charset="-122"/>
                <a:cs typeface="Cambria" pitchFamily="34" charset="-120"/>
              </a:rPr>
              <a:t>84%</a:t>
            </a:r>
            <a:endParaRPr lang="en-US" sz="4000" dirty="0"/>
          </a:p>
        </p:txBody>
      </p:sp>
      <p:sp>
        <p:nvSpPr>
          <p:cNvPr id="8" name="Text 5"/>
          <p:cNvSpPr/>
          <p:nvPr/>
        </p:nvSpPr>
        <p:spPr>
          <a:xfrm>
            <a:off x="731520" y="2926080"/>
            <a:ext cx="2194560" cy="777240"/>
          </a:xfrm>
          <a:prstGeom prst="rect">
            <a:avLst/>
          </a:prstGeom>
          <a:noFill/>
          <a:ln/>
        </p:spPr>
        <p:txBody>
          <a:bodyPr wrap="square" lIns="0" tIns="0" rIns="0" bIns="0" rtlCol="0" anchor="ctr"/>
          <a:lstStyle/>
          <a:p>
            <a:pPr marL="0" indent="0">
              <a:buNone/>
            </a:pPr>
            <a:r>
              <a:rPr lang="en-US" sz="1150" dirty="0">
                <a:solidFill>
                  <a:srgbClr val="2B2118"/>
                </a:solidFill>
                <a:latin typeface="Calibri" pitchFamily="34" charset="0"/>
                <a:ea typeface="Calibri" pitchFamily="34" charset="-122"/>
                <a:cs typeface="Calibri" pitchFamily="34" charset="-120"/>
              </a:rPr>
              <a:t>of researchers now use AI in their work (Wiley ExplanAItions, 2025)</a:t>
            </a:r>
            <a:endParaRPr lang="en-US" sz="1150" dirty="0"/>
          </a:p>
        </p:txBody>
      </p:sp>
      <p:sp>
        <p:nvSpPr>
          <p:cNvPr id="9" name="Shape 6"/>
          <p:cNvSpPr/>
          <p:nvPr/>
        </p:nvSpPr>
        <p:spPr>
          <a:xfrm>
            <a:off x="3291840" y="1463040"/>
            <a:ext cx="2606040" cy="2286000"/>
          </a:xfrm>
          <a:prstGeom prst="roundRect">
            <a:avLst>
              <a:gd name="adj" fmla="val 3200"/>
            </a:avLst>
          </a:prstGeom>
          <a:solidFill>
            <a:srgbClr val="F3E7D7"/>
          </a:solidFill>
          <a:ln/>
          <a:effectLst>
            <a:outerShdw blurRad="88900" dist="25400" dir="2700000" algn="bl" rotWithShape="0">
              <a:srgbClr val="000000">
                <a:alpha val="14000"/>
              </a:srgbClr>
            </a:outerShdw>
          </a:effectLst>
        </p:spPr>
        <p:txBody>
          <a:bodyPr/>
          <a:lstStyle/>
          <a:p>
            <a:endParaRPr lang="en-GB"/>
          </a:p>
        </p:txBody>
      </p:sp>
      <p:sp>
        <p:nvSpPr>
          <p:cNvPr id="10" name="Shape 7"/>
          <p:cNvSpPr/>
          <p:nvPr/>
        </p:nvSpPr>
        <p:spPr>
          <a:xfrm>
            <a:off x="3520440" y="1691640"/>
            <a:ext cx="457200" cy="457200"/>
          </a:xfrm>
          <a:prstGeom prst="ellipse">
            <a:avLst/>
          </a:prstGeom>
          <a:solidFill>
            <a:srgbClr val="BE5320"/>
          </a:solidFill>
          <a:ln/>
        </p:spPr>
        <p:txBody>
          <a:bodyPr/>
          <a:lstStyle/>
          <a:p>
            <a:endParaRPr lang="en-GB"/>
          </a:p>
        </p:txBody>
      </p:sp>
      <p:pic>
        <p:nvPicPr>
          <p:cNvPr id="11" name="Image 1" descr="preencoded.png"/>
          <p:cNvPicPr>
            <a:picLocks noChangeAspect="1"/>
          </p:cNvPicPr>
          <p:nvPr/>
        </p:nvPicPr>
        <p:blipFill>
          <a:blip r:embed="rId4"/>
          <a:stretch>
            <a:fillRect/>
          </a:stretch>
        </p:blipFill>
        <p:spPr>
          <a:xfrm>
            <a:off x="3583004" y="1754204"/>
            <a:ext cx="338328" cy="338328"/>
          </a:xfrm>
          <a:prstGeom prst="rect">
            <a:avLst/>
          </a:prstGeom>
        </p:spPr>
      </p:pic>
      <p:sp>
        <p:nvSpPr>
          <p:cNvPr id="12" name="Text 8"/>
          <p:cNvSpPr/>
          <p:nvPr/>
        </p:nvSpPr>
        <p:spPr>
          <a:xfrm>
            <a:off x="3474720" y="2240280"/>
            <a:ext cx="2240280" cy="685800"/>
          </a:xfrm>
          <a:prstGeom prst="rect">
            <a:avLst/>
          </a:prstGeom>
          <a:noFill/>
          <a:ln/>
        </p:spPr>
        <p:txBody>
          <a:bodyPr wrap="square" lIns="0" tIns="0" rIns="0" bIns="0" rtlCol="0" anchor="ctr"/>
          <a:lstStyle/>
          <a:p>
            <a:pPr marL="0" indent="0">
              <a:buNone/>
            </a:pPr>
            <a:r>
              <a:rPr lang="en-US" sz="4000" b="1" dirty="0">
                <a:solidFill>
                  <a:srgbClr val="BE5320"/>
                </a:solidFill>
                <a:latin typeface="Cambria" pitchFamily="34" charset="0"/>
                <a:ea typeface="Cambria" pitchFamily="34" charset="-122"/>
                <a:cs typeface="Cambria" pitchFamily="34" charset="-120"/>
              </a:rPr>
              <a:t>~1 in 3</a:t>
            </a:r>
            <a:endParaRPr lang="en-US" sz="4000" dirty="0"/>
          </a:p>
        </p:txBody>
      </p:sp>
      <p:sp>
        <p:nvSpPr>
          <p:cNvPr id="13" name="Text 9"/>
          <p:cNvSpPr/>
          <p:nvPr/>
        </p:nvSpPr>
        <p:spPr>
          <a:xfrm>
            <a:off x="3520440" y="2926080"/>
            <a:ext cx="2194560" cy="777240"/>
          </a:xfrm>
          <a:prstGeom prst="rect">
            <a:avLst/>
          </a:prstGeom>
          <a:noFill/>
          <a:ln/>
        </p:spPr>
        <p:txBody>
          <a:bodyPr wrap="square" lIns="0" tIns="0" rIns="0" bIns="0" rtlCol="0" anchor="ctr"/>
          <a:lstStyle/>
          <a:p>
            <a:pPr marL="0" indent="0">
              <a:buNone/>
            </a:pPr>
            <a:r>
              <a:rPr lang="en-US" sz="1150" dirty="0">
                <a:solidFill>
                  <a:srgbClr val="2B2118"/>
                </a:solidFill>
                <a:latin typeface="Calibri" pitchFamily="34" charset="0"/>
                <a:ea typeface="Calibri" pitchFamily="34" charset="-122"/>
                <a:cs typeface="Calibri" pitchFamily="34" charset="-120"/>
              </a:rPr>
              <a:t>postdocs already use AI chatbots in daily research (Nature survey, 2023)</a:t>
            </a:r>
            <a:endParaRPr lang="en-US" sz="1150" dirty="0"/>
          </a:p>
        </p:txBody>
      </p:sp>
      <p:sp>
        <p:nvSpPr>
          <p:cNvPr id="14" name="Shape 10"/>
          <p:cNvSpPr/>
          <p:nvPr/>
        </p:nvSpPr>
        <p:spPr>
          <a:xfrm>
            <a:off x="6080760" y="1463040"/>
            <a:ext cx="2606040" cy="2286000"/>
          </a:xfrm>
          <a:prstGeom prst="roundRect">
            <a:avLst>
              <a:gd name="adj" fmla="val 3200"/>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15" name="Shape 11"/>
          <p:cNvSpPr/>
          <p:nvPr/>
        </p:nvSpPr>
        <p:spPr>
          <a:xfrm>
            <a:off x="6309360" y="1691640"/>
            <a:ext cx="457200" cy="457200"/>
          </a:xfrm>
          <a:prstGeom prst="ellipse">
            <a:avLst/>
          </a:prstGeom>
          <a:solidFill>
            <a:srgbClr val="BE5320"/>
          </a:solidFill>
          <a:ln/>
        </p:spPr>
        <p:txBody>
          <a:bodyPr/>
          <a:lstStyle/>
          <a:p>
            <a:endParaRPr lang="en-GB"/>
          </a:p>
        </p:txBody>
      </p:sp>
      <p:pic>
        <p:nvPicPr>
          <p:cNvPr id="16" name="Image 2" descr="preencoded.png"/>
          <p:cNvPicPr>
            <a:picLocks noChangeAspect="1"/>
          </p:cNvPicPr>
          <p:nvPr/>
        </p:nvPicPr>
        <p:blipFill>
          <a:blip r:embed="rId5"/>
          <a:stretch>
            <a:fillRect/>
          </a:stretch>
        </p:blipFill>
        <p:spPr>
          <a:xfrm>
            <a:off x="6371924" y="1754204"/>
            <a:ext cx="338328" cy="338328"/>
          </a:xfrm>
          <a:prstGeom prst="rect">
            <a:avLst/>
          </a:prstGeom>
        </p:spPr>
      </p:pic>
      <p:sp>
        <p:nvSpPr>
          <p:cNvPr id="17" name="Text 12"/>
          <p:cNvSpPr/>
          <p:nvPr/>
        </p:nvSpPr>
        <p:spPr>
          <a:xfrm>
            <a:off x="6263640" y="2240280"/>
            <a:ext cx="2240280" cy="685800"/>
          </a:xfrm>
          <a:prstGeom prst="rect">
            <a:avLst/>
          </a:prstGeom>
          <a:noFill/>
          <a:ln/>
        </p:spPr>
        <p:txBody>
          <a:bodyPr wrap="square" lIns="0" tIns="0" rIns="0" bIns="0" rtlCol="0" anchor="ctr"/>
          <a:lstStyle/>
          <a:p>
            <a:pPr marL="0" indent="0">
              <a:buNone/>
            </a:pPr>
            <a:r>
              <a:rPr lang="en-US" sz="4000" b="1" dirty="0">
                <a:solidFill>
                  <a:srgbClr val="BE5320"/>
                </a:solidFill>
                <a:latin typeface="Cambria" pitchFamily="34" charset="0"/>
                <a:ea typeface="Cambria" pitchFamily="34" charset="-122"/>
                <a:cs typeface="Cambria" pitchFamily="34" charset="-120"/>
              </a:rPr>
              <a:t>All</a:t>
            </a:r>
            <a:endParaRPr lang="en-US" sz="4000" dirty="0"/>
          </a:p>
        </p:txBody>
      </p:sp>
      <p:sp>
        <p:nvSpPr>
          <p:cNvPr id="18" name="Text 13"/>
          <p:cNvSpPr/>
          <p:nvPr/>
        </p:nvSpPr>
        <p:spPr>
          <a:xfrm>
            <a:off x="6309360" y="2926080"/>
            <a:ext cx="2194560" cy="777240"/>
          </a:xfrm>
          <a:prstGeom prst="rect">
            <a:avLst/>
          </a:prstGeom>
          <a:noFill/>
          <a:ln/>
        </p:spPr>
        <p:txBody>
          <a:bodyPr wrap="square" lIns="0" tIns="0" rIns="0" bIns="0" rtlCol="0" anchor="ctr"/>
          <a:lstStyle/>
          <a:p>
            <a:pPr marL="0" indent="0">
              <a:buNone/>
            </a:pPr>
            <a:r>
              <a:rPr lang="en-US" sz="1150" dirty="0">
                <a:solidFill>
                  <a:srgbClr val="2B2118"/>
                </a:solidFill>
                <a:latin typeface="Calibri" pitchFamily="34" charset="0"/>
                <a:ea typeface="Calibri" pitchFamily="34" charset="-122"/>
                <a:cs typeface="Calibri" pitchFamily="34" charset="-120"/>
              </a:rPr>
              <a:t>major publishers and funders now have formal AI-use policies (2023–2026)</a:t>
            </a:r>
            <a:endParaRPr lang="en-US" sz="1150" dirty="0"/>
          </a:p>
        </p:txBody>
      </p:sp>
      <p:sp>
        <p:nvSpPr>
          <p:cNvPr id="19" name="Text 14"/>
          <p:cNvSpPr/>
          <p:nvPr/>
        </p:nvSpPr>
        <p:spPr>
          <a:xfrm>
            <a:off x="685800" y="4069080"/>
            <a:ext cx="7772400" cy="640080"/>
          </a:xfrm>
          <a:prstGeom prst="rect">
            <a:avLst/>
          </a:prstGeom>
          <a:noFill/>
          <a:ln/>
        </p:spPr>
        <p:txBody>
          <a:bodyPr wrap="square" lIns="0" tIns="0" rIns="0" bIns="0" rtlCol="0" anchor="ctr"/>
          <a:lstStyle/>
          <a:p>
            <a:pPr marL="0" indent="0" algn="ctr">
              <a:buNone/>
            </a:pPr>
            <a:r>
              <a:rPr lang="en-US" sz="1650" i="1" dirty="0">
                <a:solidFill>
                  <a:srgbClr val="2B2118"/>
                </a:solidFill>
                <a:latin typeface="Cambria" pitchFamily="34" charset="0"/>
                <a:ea typeface="Cambria" pitchFamily="34" charset="-122"/>
                <a:cs typeface="Cambria" pitchFamily="34" charset="-120"/>
              </a:rPr>
              <a:t>AI will not replace researchers. </a:t>
            </a:r>
            <a:r>
              <a:rPr lang="en-US" sz="1650" b="1" i="1" dirty="0">
                <a:solidFill>
                  <a:srgbClr val="31402A"/>
                </a:solidFill>
                <a:latin typeface="Cambria" pitchFamily="34" charset="0"/>
                <a:ea typeface="Cambria" pitchFamily="34" charset="-122"/>
                <a:cs typeface="Cambria" pitchFamily="34" charset="-120"/>
              </a:rPr>
              <a:t>But researchers who use it well will out-publish, out-teach and out-fund those who do not.</a:t>
            </a:r>
            <a:endParaRPr lang="en-US" sz="1650" dirty="0"/>
          </a:p>
        </p:txBody>
      </p:sp>
      <p:sp>
        <p:nvSpPr>
          <p:cNvPr id="20" name="Text 15"/>
          <p:cNvSpPr/>
          <p:nvPr/>
        </p:nvSpPr>
        <p:spPr>
          <a:xfrm>
            <a:off x="502920" y="4846320"/>
            <a:ext cx="4114800" cy="228600"/>
          </a:xfrm>
          <a:prstGeom prst="rect">
            <a:avLst/>
          </a:prstGeom>
          <a:noFill/>
          <a:ln/>
        </p:spPr>
        <p:txBody>
          <a:bodyPr wrap="square" lIns="0" tIns="0" rIns="0" bIns="0" rtlCol="0" anchor="ctr"/>
          <a:lstStyle/>
          <a:p>
            <a:pPr marL="0" indent="0">
              <a:buNone/>
            </a:pPr>
            <a:r>
              <a:rPr lang="en-US" sz="900" dirty="0">
                <a:solidFill>
                  <a:srgbClr val="8A7A6B"/>
                </a:solidFill>
                <a:latin typeface="Calibri" pitchFamily="34" charset="0"/>
                <a:ea typeface="Calibri" pitchFamily="34" charset="-122"/>
                <a:cs typeface="Calibri" pitchFamily="34" charset="-120"/>
              </a:rPr>
              <a:t>AWAU Monthly Colloquium  ·  July 2026</a:t>
            </a:r>
            <a:endParaRPr lang="en-US" sz="900" dirty="0"/>
          </a:p>
        </p:txBody>
      </p:sp>
      <p:sp>
        <p:nvSpPr>
          <p:cNvPr id="21" name="Text 16"/>
          <p:cNvSpPr/>
          <p:nvPr/>
        </p:nvSpPr>
        <p:spPr>
          <a:xfrm>
            <a:off x="8503920" y="4846320"/>
            <a:ext cx="320040" cy="228600"/>
          </a:xfrm>
          <a:prstGeom prst="rect">
            <a:avLst/>
          </a:prstGeom>
          <a:noFill/>
          <a:ln/>
        </p:spPr>
        <p:txBody>
          <a:bodyPr wrap="square" lIns="0" tIns="0" rIns="0" bIns="0" rtlCol="0" anchor="ctr"/>
          <a:lstStyle/>
          <a:p>
            <a:pPr marL="0" indent="0" algn="r">
              <a:buNone/>
            </a:pPr>
            <a:r>
              <a:rPr lang="en-US" sz="900" dirty="0">
                <a:solidFill>
                  <a:srgbClr val="8A7A6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marL="0" indent="0">
              <a:buNone/>
            </a:pPr>
            <a:r>
              <a:rPr lang="en-US" sz="1200" b="1" kern="0" spc="300" dirty="0">
                <a:solidFill>
                  <a:srgbClr val="BE5320"/>
                </a:solidFill>
                <a:latin typeface="Calibri" pitchFamily="34" charset="0"/>
                <a:ea typeface="Calibri" pitchFamily="34" charset="-122"/>
                <a:cs typeface="Calibri" pitchFamily="34" charset="-120"/>
              </a:rPr>
              <a:t>A MENTAL MODEL</a:t>
            </a:r>
            <a:endParaRPr lang="en-US" sz="120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3000" b="1" dirty="0">
                <a:solidFill>
                  <a:srgbClr val="3B2314"/>
                </a:solidFill>
                <a:latin typeface="Cambria" pitchFamily="34" charset="0"/>
                <a:ea typeface="Cambria" pitchFamily="34" charset="-122"/>
                <a:cs typeface="Cambria" pitchFamily="34" charset="-120"/>
              </a:rPr>
              <a:t>Think of AI as a Brilliant, Tireless, Overconfident Assistant</a:t>
            </a:r>
            <a:endParaRPr lang="en-US" sz="3000" dirty="0"/>
          </a:p>
        </p:txBody>
      </p:sp>
      <p:sp>
        <p:nvSpPr>
          <p:cNvPr id="4" name="Shape 2"/>
          <p:cNvSpPr/>
          <p:nvPr/>
        </p:nvSpPr>
        <p:spPr>
          <a:xfrm>
            <a:off x="594360" y="1463040"/>
            <a:ext cx="566928" cy="566928"/>
          </a:xfrm>
          <a:prstGeom prst="ellipse">
            <a:avLst/>
          </a:prstGeom>
          <a:solidFill>
            <a:srgbClr val="BE5320"/>
          </a:solidFill>
          <a:ln/>
        </p:spPr>
        <p:txBody>
          <a:bodyPr/>
          <a:lstStyle/>
          <a:p>
            <a:endParaRPr lang="en-GB"/>
          </a:p>
        </p:txBody>
      </p:sp>
      <p:pic>
        <p:nvPicPr>
          <p:cNvPr id="5" name="Image 0" descr="preencoded.png"/>
          <p:cNvPicPr>
            <a:picLocks noChangeAspect="1"/>
          </p:cNvPicPr>
          <p:nvPr/>
        </p:nvPicPr>
        <p:blipFill>
          <a:blip r:embed="rId3"/>
          <a:stretch>
            <a:fillRect/>
          </a:stretch>
        </p:blipFill>
        <p:spPr>
          <a:xfrm>
            <a:off x="671940" y="1540620"/>
            <a:ext cx="419527" cy="419527"/>
          </a:xfrm>
          <a:prstGeom prst="rect">
            <a:avLst/>
          </a:prstGeom>
        </p:spPr>
      </p:pic>
      <p:sp>
        <p:nvSpPr>
          <p:cNvPr id="6" name="Text 3"/>
          <p:cNvSpPr/>
          <p:nvPr/>
        </p:nvSpPr>
        <p:spPr>
          <a:xfrm>
            <a:off x="1371600" y="1444752"/>
            <a:ext cx="2011680" cy="365760"/>
          </a:xfrm>
          <a:prstGeom prst="rect">
            <a:avLst/>
          </a:prstGeom>
          <a:noFill/>
          <a:ln/>
        </p:spPr>
        <p:txBody>
          <a:bodyPr wrap="square" lIns="0" tIns="0" rIns="0" bIns="0" rtlCol="0" anchor="ctr"/>
          <a:lstStyle/>
          <a:p>
            <a:pPr marL="0" indent="0">
              <a:buNone/>
            </a:pPr>
            <a:r>
              <a:rPr lang="en-US" sz="1900" b="1" dirty="0">
                <a:solidFill>
                  <a:srgbClr val="3B2314"/>
                </a:solidFill>
                <a:latin typeface="Cambria" pitchFamily="34" charset="0"/>
                <a:ea typeface="Cambria" pitchFamily="34" charset="-122"/>
                <a:cs typeface="Cambria" pitchFamily="34" charset="-120"/>
              </a:rPr>
              <a:t>Brilliant</a:t>
            </a:r>
            <a:endParaRPr lang="en-US" sz="1900" dirty="0"/>
          </a:p>
        </p:txBody>
      </p:sp>
      <p:sp>
        <p:nvSpPr>
          <p:cNvPr id="7" name="Text 4"/>
          <p:cNvSpPr/>
          <p:nvPr/>
        </p:nvSpPr>
        <p:spPr>
          <a:xfrm>
            <a:off x="1371600" y="1764792"/>
            <a:ext cx="7040880" cy="548640"/>
          </a:xfrm>
          <a:prstGeom prst="rect">
            <a:avLst/>
          </a:prstGeom>
          <a:noFill/>
          <a:ln/>
        </p:spPr>
        <p:txBody>
          <a:bodyPr wrap="square" lIns="0" tIns="0" rIns="0" bIns="0" rtlCol="0" anchor="ctr"/>
          <a:lstStyle/>
          <a:p>
            <a:pPr marL="0" indent="0">
              <a:buNone/>
            </a:pPr>
            <a:r>
              <a:rPr lang="en-US" sz="1350" dirty="0">
                <a:solidFill>
                  <a:srgbClr val="2B2118"/>
                </a:solidFill>
                <a:latin typeface="Calibri" pitchFamily="34" charset="0"/>
                <a:ea typeface="Calibri" pitchFamily="34" charset="-122"/>
                <a:cs typeface="Calibri" pitchFamily="34" charset="-120"/>
              </a:rPr>
              <a:t>Has read more than any of us — drafts, translates, codes, and summarises across every discipline in seconds.</a:t>
            </a:r>
            <a:endParaRPr lang="en-US" sz="1350" dirty="0"/>
          </a:p>
        </p:txBody>
      </p:sp>
      <p:sp>
        <p:nvSpPr>
          <p:cNvPr id="8" name="Shape 5"/>
          <p:cNvSpPr/>
          <p:nvPr/>
        </p:nvSpPr>
        <p:spPr>
          <a:xfrm>
            <a:off x="594360" y="2450592"/>
            <a:ext cx="566928" cy="566928"/>
          </a:xfrm>
          <a:prstGeom prst="ellipse">
            <a:avLst/>
          </a:prstGeom>
          <a:solidFill>
            <a:srgbClr val="BE5320"/>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671940" y="2528172"/>
            <a:ext cx="419527" cy="419527"/>
          </a:xfrm>
          <a:prstGeom prst="rect">
            <a:avLst/>
          </a:prstGeom>
        </p:spPr>
      </p:pic>
      <p:sp>
        <p:nvSpPr>
          <p:cNvPr id="10" name="Text 6"/>
          <p:cNvSpPr/>
          <p:nvPr/>
        </p:nvSpPr>
        <p:spPr>
          <a:xfrm>
            <a:off x="1371600" y="2432304"/>
            <a:ext cx="2011680" cy="365760"/>
          </a:xfrm>
          <a:prstGeom prst="rect">
            <a:avLst/>
          </a:prstGeom>
          <a:noFill/>
          <a:ln/>
        </p:spPr>
        <p:txBody>
          <a:bodyPr wrap="square" lIns="0" tIns="0" rIns="0" bIns="0" rtlCol="0" anchor="ctr"/>
          <a:lstStyle/>
          <a:p>
            <a:pPr marL="0" indent="0">
              <a:buNone/>
            </a:pPr>
            <a:r>
              <a:rPr lang="en-US" sz="1900" b="1" dirty="0">
                <a:solidFill>
                  <a:srgbClr val="3B2314"/>
                </a:solidFill>
                <a:latin typeface="Cambria" pitchFamily="34" charset="0"/>
                <a:ea typeface="Cambria" pitchFamily="34" charset="-122"/>
                <a:cs typeface="Cambria" pitchFamily="34" charset="-120"/>
              </a:rPr>
              <a:t>Tireless</a:t>
            </a:r>
            <a:endParaRPr lang="en-US" sz="1900" dirty="0"/>
          </a:p>
        </p:txBody>
      </p:sp>
      <p:sp>
        <p:nvSpPr>
          <p:cNvPr id="11" name="Text 7"/>
          <p:cNvSpPr/>
          <p:nvPr/>
        </p:nvSpPr>
        <p:spPr>
          <a:xfrm>
            <a:off x="1371600" y="2752344"/>
            <a:ext cx="7040880" cy="548640"/>
          </a:xfrm>
          <a:prstGeom prst="rect">
            <a:avLst/>
          </a:prstGeom>
          <a:noFill/>
          <a:ln/>
        </p:spPr>
        <p:txBody>
          <a:bodyPr wrap="square" lIns="0" tIns="0" rIns="0" bIns="0" rtlCol="0" anchor="ctr"/>
          <a:lstStyle/>
          <a:p>
            <a:pPr marL="0" indent="0">
              <a:buNone/>
            </a:pPr>
            <a:r>
              <a:rPr lang="en-US" sz="1350" dirty="0">
                <a:solidFill>
                  <a:srgbClr val="2B2118"/>
                </a:solidFill>
                <a:latin typeface="Calibri" pitchFamily="34" charset="0"/>
                <a:ea typeface="Calibri" pitchFamily="34" charset="-122"/>
                <a:cs typeface="Calibri" pitchFamily="34" charset="-120"/>
              </a:rPr>
              <a:t>Never bored by the 400th abstract, the 40th transcript, or the fifth rewrite of paragraph two.</a:t>
            </a:r>
            <a:endParaRPr lang="en-US" sz="1350" dirty="0"/>
          </a:p>
        </p:txBody>
      </p:sp>
      <p:sp>
        <p:nvSpPr>
          <p:cNvPr id="12" name="Shape 8"/>
          <p:cNvSpPr/>
          <p:nvPr/>
        </p:nvSpPr>
        <p:spPr>
          <a:xfrm>
            <a:off x="594360" y="3438144"/>
            <a:ext cx="566928" cy="566928"/>
          </a:xfrm>
          <a:prstGeom prst="ellipse">
            <a:avLst/>
          </a:prstGeom>
          <a:solidFill>
            <a:srgbClr val="31402A"/>
          </a:solidFill>
          <a:ln/>
        </p:spPr>
        <p:txBody>
          <a:bodyPr/>
          <a:lstStyle/>
          <a:p>
            <a:endParaRPr lang="en-GB"/>
          </a:p>
        </p:txBody>
      </p:sp>
      <p:pic>
        <p:nvPicPr>
          <p:cNvPr id="13" name="Image 2" descr="preencoded.png"/>
          <p:cNvPicPr>
            <a:picLocks noChangeAspect="1"/>
          </p:cNvPicPr>
          <p:nvPr/>
        </p:nvPicPr>
        <p:blipFill>
          <a:blip r:embed="rId5"/>
          <a:stretch>
            <a:fillRect/>
          </a:stretch>
        </p:blipFill>
        <p:spPr>
          <a:xfrm>
            <a:off x="671940" y="3515724"/>
            <a:ext cx="419527" cy="419527"/>
          </a:xfrm>
          <a:prstGeom prst="rect">
            <a:avLst/>
          </a:prstGeom>
        </p:spPr>
      </p:pic>
      <p:sp>
        <p:nvSpPr>
          <p:cNvPr id="14" name="Text 9"/>
          <p:cNvSpPr/>
          <p:nvPr/>
        </p:nvSpPr>
        <p:spPr>
          <a:xfrm>
            <a:off x="1371600" y="3419856"/>
            <a:ext cx="2011680" cy="365760"/>
          </a:xfrm>
          <a:prstGeom prst="rect">
            <a:avLst/>
          </a:prstGeom>
          <a:noFill/>
          <a:ln/>
        </p:spPr>
        <p:txBody>
          <a:bodyPr wrap="square" lIns="0" tIns="0" rIns="0" bIns="0" rtlCol="0" anchor="ctr"/>
          <a:lstStyle/>
          <a:p>
            <a:pPr marL="0" indent="0">
              <a:buNone/>
            </a:pPr>
            <a:r>
              <a:rPr lang="en-US" sz="1900" b="1" dirty="0">
                <a:solidFill>
                  <a:srgbClr val="3B2314"/>
                </a:solidFill>
                <a:latin typeface="Cambria" pitchFamily="34" charset="0"/>
                <a:ea typeface="Cambria" pitchFamily="34" charset="-122"/>
                <a:cs typeface="Cambria" pitchFamily="34" charset="-120"/>
              </a:rPr>
              <a:t>Overconfident</a:t>
            </a:r>
            <a:endParaRPr lang="en-US" sz="1900" dirty="0"/>
          </a:p>
        </p:txBody>
      </p:sp>
      <p:sp>
        <p:nvSpPr>
          <p:cNvPr id="15" name="Text 10"/>
          <p:cNvSpPr/>
          <p:nvPr/>
        </p:nvSpPr>
        <p:spPr>
          <a:xfrm>
            <a:off x="1371600" y="3739896"/>
            <a:ext cx="7040880" cy="548640"/>
          </a:xfrm>
          <a:prstGeom prst="rect">
            <a:avLst/>
          </a:prstGeom>
          <a:noFill/>
          <a:ln/>
        </p:spPr>
        <p:txBody>
          <a:bodyPr wrap="square" lIns="0" tIns="0" rIns="0" bIns="0" rtlCol="0" anchor="ctr"/>
          <a:lstStyle/>
          <a:p>
            <a:pPr marL="0" indent="0">
              <a:buNone/>
            </a:pPr>
            <a:r>
              <a:rPr lang="en-US" sz="1350" dirty="0">
                <a:solidFill>
                  <a:srgbClr val="2B2118"/>
                </a:solidFill>
                <a:latin typeface="Calibri" pitchFamily="34" charset="0"/>
                <a:ea typeface="Calibri" pitchFamily="34" charset="-122"/>
                <a:cs typeface="Calibri" pitchFamily="34" charset="-120"/>
              </a:rPr>
              <a:t>Will invent citations, misquote statutes, and fabricate statistics — always in a confident, fluent tone.</a:t>
            </a:r>
            <a:endParaRPr lang="en-US" sz="1350" dirty="0"/>
          </a:p>
        </p:txBody>
      </p:sp>
      <p:sp>
        <p:nvSpPr>
          <p:cNvPr id="16" name="Shape 11"/>
          <p:cNvSpPr/>
          <p:nvPr/>
        </p:nvSpPr>
        <p:spPr>
          <a:xfrm>
            <a:off x="502920" y="4434840"/>
            <a:ext cx="8138160" cy="566928"/>
          </a:xfrm>
          <a:prstGeom prst="roundRect">
            <a:avLst>
              <a:gd name="adj" fmla="val 12903"/>
            </a:avLst>
          </a:prstGeom>
          <a:solidFill>
            <a:srgbClr val="F3E7D7"/>
          </a:solidFill>
          <a:ln/>
        </p:spPr>
        <p:txBody>
          <a:bodyPr/>
          <a:lstStyle/>
          <a:p>
            <a:endParaRPr lang="en-GB"/>
          </a:p>
        </p:txBody>
      </p:sp>
      <p:sp>
        <p:nvSpPr>
          <p:cNvPr id="17" name="Text 12"/>
          <p:cNvSpPr/>
          <p:nvPr/>
        </p:nvSpPr>
        <p:spPr>
          <a:xfrm>
            <a:off x="685800" y="4480560"/>
            <a:ext cx="7772400" cy="457200"/>
          </a:xfrm>
          <a:prstGeom prst="rect">
            <a:avLst/>
          </a:prstGeom>
          <a:noFill/>
          <a:ln/>
        </p:spPr>
        <p:txBody>
          <a:bodyPr wrap="square" lIns="0" tIns="0" rIns="0" bIns="0" rtlCol="0" anchor="ctr"/>
          <a:lstStyle/>
          <a:p>
            <a:pPr marL="0" indent="0" algn="ctr">
              <a:buNone/>
            </a:pPr>
            <a:r>
              <a:rPr lang="en-US" sz="1550" b="1" dirty="0">
                <a:solidFill>
                  <a:srgbClr val="BE5320"/>
                </a:solidFill>
                <a:latin typeface="Cambria" pitchFamily="34" charset="0"/>
                <a:ea typeface="Cambria" pitchFamily="34" charset="-122"/>
                <a:cs typeface="Cambria" pitchFamily="34" charset="-120"/>
              </a:rPr>
              <a:t>Therefore:  delegate the labour, never the judgement — and verify everything.</a:t>
            </a:r>
            <a:endParaRPr lang="en-US" sz="1550" dirty="0"/>
          </a:p>
        </p:txBody>
      </p:sp>
      <p:sp>
        <p:nvSpPr>
          <p:cNvPr id="18" name="Text 13"/>
          <p:cNvSpPr/>
          <p:nvPr/>
        </p:nvSpPr>
        <p:spPr>
          <a:xfrm>
            <a:off x="502920" y="4846320"/>
            <a:ext cx="4114800" cy="228600"/>
          </a:xfrm>
          <a:prstGeom prst="rect">
            <a:avLst/>
          </a:prstGeom>
          <a:noFill/>
          <a:ln/>
        </p:spPr>
        <p:txBody>
          <a:bodyPr wrap="square" lIns="0" tIns="0" rIns="0" bIns="0" rtlCol="0" anchor="ctr"/>
          <a:lstStyle/>
          <a:p>
            <a:pPr marL="0" indent="0">
              <a:buNone/>
            </a:pPr>
            <a:r>
              <a:rPr lang="en-US" sz="900" dirty="0">
                <a:solidFill>
                  <a:srgbClr val="8A7A6B"/>
                </a:solidFill>
                <a:latin typeface="Calibri" pitchFamily="34" charset="0"/>
                <a:ea typeface="Calibri" pitchFamily="34" charset="-122"/>
                <a:cs typeface="Calibri" pitchFamily="34" charset="-120"/>
              </a:rPr>
              <a:t>AWAU Monthly Colloquium  ·  July 2026</a:t>
            </a:r>
            <a:endParaRPr lang="en-US" sz="900" dirty="0"/>
          </a:p>
        </p:txBody>
      </p:sp>
      <p:sp>
        <p:nvSpPr>
          <p:cNvPr id="19" name="Text 14"/>
          <p:cNvSpPr/>
          <p:nvPr/>
        </p:nvSpPr>
        <p:spPr>
          <a:xfrm>
            <a:off x="8503920" y="4846320"/>
            <a:ext cx="320040" cy="228600"/>
          </a:xfrm>
          <a:prstGeom prst="rect">
            <a:avLst/>
          </a:prstGeom>
          <a:noFill/>
          <a:ln/>
        </p:spPr>
        <p:txBody>
          <a:bodyPr wrap="square" lIns="0" tIns="0" rIns="0" bIns="0" rtlCol="0" anchor="ctr"/>
          <a:lstStyle/>
          <a:p>
            <a:pPr marL="0" indent="0" algn="r">
              <a:buNone/>
            </a:pPr>
            <a:r>
              <a:rPr lang="en-US" sz="900" dirty="0">
                <a:solidFill>
                  <a:srgbClr val="8A7A6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marL="0" indent="0">
              <a:buNone/>
            </a:pPr>
            <a:r>
              <a:rPr lang="en-US" sz="1200" b="1" kern="0" spc="300" dirty="0">
                <a:solidFill>
                  <a:srgbClr val="BE5320"/>
                </a:solidFill>
                <a:latin typeface="Calibri" pitchFamily="34" charset="0"/>
                <a:ea typeface="Calibri" pitchFamily="34" charset="-122"/>
                <a:cs typeface="Calibri" pitchFamily="34" charset="-120"/>
              </a:rPr>
              <a:t>THE TERRAIN</a:t>
            </a:r>
            <a:endParaRPr lang="en-US" sz="120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3000" b="1" dirty="0">
                <a:solidFill>
                  <a:srgbClr val="3B2314"/>
                </a:solidFill>
                <a:latin typeface="Cambria" pitchFamily="34" charset="0"/>
                <a:ea typeface="Cambria" pitchFamily="34" charset="-122"/>
                <a:cs typeface="Cambria" pitchFamily="34" charset="-120"/>
              </a:rPr>
              <a:t>AI Touches Every Stage of the Research Workflow</a:t>
            </a:r>
            <a:endParaRPr lang="en-US" sz="3000" dirty="0"/>
          </a:p>
        </p:txBody>
      </p:sp>
      <p:sp>
        <p:nvSpPr>
          <p:cNvPr id="4" name="Shape 2"/>
          <p:cNvSpPr/>
          <p:nvPr/>
        </p:nvSpPr>
        <p:spPr>
          <a:xfrm>
            <a:off x="502920" y="1508760"/>
            <a:ext cx="2606040" cy="1371600"/>
          </a:xfrm>
          <a:prstGeom prst="roundRect">
            <a:avLst>
              <a:gd name="adj" fmla="val 5333"/>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5" name="Shape 3"/>
          <p:cNvSpPr/>
          <p:nvPr/>
        </p:nvSpPr>
        <p:spPr>
          <a:xfrm>
            <a:off x="704088" y="1691640"/>
            <a:ext cx="438912" cy="438912"/>
          </a:xfrm>
          <a:prstGeom prst="ellipse">
            <a:avLst/>
          </a:prstGeom>
          <a:solidFill>
            <a:srgbClr val="BE5320"/>
          </a:solidFill>
          <a:ln/>
        </p:spPr>
        <p:txBody>
          <a:bodyPr/>
          <a:lstStyle/>
          <a:p>
            <a:endParaRPr lang="en-GB"/>
          </a:p>
        </p:txBody>
      </p:sp>
      <p:pic>
        <p:nvPicPr>
          <p:cNvPr id="6" name="Image 0" descr="preencoded.png"/>
          <p:cNvPicPr>
            <a:picLocks noChangeAspect="1"/>
          </p:cNvPicPr>
          <p:nvPr/>
        </p:nvPicPr>
        <p:blipFill>
          <a:blip r:embed="rId3"/>
          <a:stretch>
            <a:fillRect/>
          </a:stretch>
        </p:blipFill>
        <p:spPr>
          <a:xfrm>
            <a:off x="764150" y="1751702"/>
            <a:ext cx="324795" cy="324795"/>
          </a:xfrm>
          <a:prstGeom prst="rect">
            <a:avLst/>
          </a:prstGeom>
        </p:spPr>
      </p:pic>
      <p:sp>
        <p:nvSpPr>
          <p:cNvPr id="7" name="Text 4"/>
          <p:cNvSpPr/>
          <p:nvPr/>
        </p:nvSpPr>
        <p:spPr>
          <a:xfrm>
            <a:off x="1280160" y="1709928"/>
            <a:ext cx="1783080" cy="411480"/>
          </a:xfrm>
          <a:prstGeom prst="rect">
            <a:avLst/>
          </a:prstGeom>
          <a:noFill/>
          <a:ln/>
        </p:spPr>
        <p:txBody>
          <a:bodyPr wrap="square" lIns="0" tIns="0" rIns="0" bIns="0" rtlCol="0" anchor="ctr"/>
          <a:lstStyle/>
          <a:p>
            <a:pPr marL="0" indent="0">
              <a:buNone/>
            </a:pPr>
            <a:r>
              <a:rPr lang="en-US" sz="1550" b="1" dirty="0">
                <a:solidFill>
                  <a:srgbClr val="3B2314"/>
                </a:solidFill>
                <a:latin typeface="Cambria" pitchFamily="34" charset="0"/>
                <a:ea typeface="Cambria" pitchFamily="34" charset="-122"/>
                <a:cs typeface="Cambria" pitchFamily="34" charset="-120"/>
              </a:rPr>
              <a:t>1. Discover</a:t>
            </a:r>
            <a:endParaRPr lang="en-US" sz="1550" dirty="0"/>
          </a:p>
        </p:txBody>
      </p:sp>
      <p:sp>
        <p:nvSpPr>
          <p:cNvPr id="8" name="Text 5"/>
          <p:cNvSpPr/>
          <p:nvPr/>
        </p:nvSpPr>
        <p:spPr>
          <a:xfrm>
            <a:off x="722376" y="2258568"/>
            <a:ext cx="2240280" cy="548640"/>
          </a:xfrm>
          <a:prstGeom prst="rect">
            <a:avLst/>
          </a:prstGeom>
          <a:noFill/>
          <a:ln/>
        </p:spPr>
        <p:txBody>
          <a:bodyPr wrap="square" lIns="0" tIns="0" rIns="0" bIns="0" rtlCol="0" anchor="ctr"/>
          <a:lstStyle/>
          <a:p>
            <a:pPr marL="0" indent="0">
              <a:buNone/>
            </a:pPr>
            <a:r>
              <a:rPr lang="en-US" sz="1150" dirty="0">
                <a:solidFill>
                  <a:srgbClr val="2B2118"/>
                </a:solidFill>
                <a:latin typeface="Calibri" pitchFamily="34" charset="0"/>
                <a:ea typeface="Calibri" pitchFamily="34" charset="-122"/>
                <a:cs typeface="Calibri" pitchFamily="34" charset="-120"/>
              </a:rPr>
              <a:t>Literature search, screening, synthesis</a:t>
            </a:r>
            <a:endParaRPr lang="en-US" sz="1150" dirty="0"/>
          </a:p>
        </p:txBody>
      </p:sp>
      <p:sp>
        <p:nvSpPr>
          <p:cNvPr id="9" name="Shape 6"/>
          <p:cNvSpPr/>
          <p:nvPr/>
        </p:nvSpPr>
        <p:spPr>
          <a:xfrm>
            <a:off x="3291840" y="1508760"/>
            <a:ext cx="2606040" cy="1371600"/>
          </a:xfrm>
          <a:prstGeom prst="roundRect">
            <a:avLst>
              <a:gd name="adj" fmla="val 5333"/>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10" name="Shape 7"/>
          <p:cNvSpPr/>
          <p:nvPr/>
        </p:nvSpPr>
        <p:spPr>
          <a:xfrm>
            <a:off x="3493008" y="1691640"/>
            <a:ext cx="438912" cy="438912"/>
          </a:xfrm>
          <a:prstGeom prst="ellipse">
            <a:avLst/>
          </a:prstGeom>
          <a:solidFill>
            <a:srgbClr val="BE5320"/>
          </a:solidFill>
          <a:ln/>
        </p:spPr>
        <p:txBody>
          <a:bodyPr/>
          <a:lstStyle/>
          <a:p>
            <a:endParaRPr lang="en-GB"/>
          </a:p>
        </p:txBody>
      </p:sp>
      <p:pic>
        <p:nvPicPr>
          <p:cNvPr id="11" name="Image 1" descr="preencoded.png"/>
          <p:cNvPicPr>
            <a:picLocks noChangeAspect="1"/>
          </p:cNvPicPr>
          <p:nvPr/>
        </p:nvPicPr>
        <p:blipFill>
          <a:blip r:embed="rId4"/>
          <a:stretch>
            <a:fillRect/>
          </a:stretch>
        </p:blipFill>
        <p:spPr>
          <a:xfrm>
            <a:off x="3553070" y="1751702"/>
            <a:ext cx="324795" cy="324795"/>
          </a:xfrm>
          <a:prstGeom prst="rect">
            <a:avLst/>
          </a:prstGeom>
        </p:spPr>
      </p:pic>
      <p:sp>
        <p:nvSpPr>
          <p:cNvPr id="12" name="Text 8"/>
          <p:cNvSpPr/>
          <p:nvPr/>
        </p:nvSpPr>
        <p:spPr>
          <a:xfrm>
            <a:off x="4069080" y="1709928"/>
            <a:ext cx="1783080" cy="411480"/>
          </a:xfrm>
          <a:prstGeom prst="rect">
            <a:avLst/>
          </a:prstGeom>
          <a:noFill/>
          <a:ln/>
        </p:spPr>
        <p:txBody>
          <a:bodyPr wrap="square" lIns="0" tIns="0" rIns="0" bIns="0" rtlCol="0" anchor="ctr"/>
          <a:lstStyle/>
          <a:p>
            <a:pPr marL="0" indent="0">
              <a:buNone/>
            </a:pPr>
            <a:r>
              <a:rPr lang="en-US" sz="1550" b="1" dirty="0">
                <a:solidFill>
                  <a:srgbClr val="3B2314"/>
                </a:solidFill>
                <a:latin typeface="Cambria" pitchFamily="34" charset="0"/>
                <a:ea typeface="Cambria" pitchFamily="34" charset="-122"/>
                <a:cs typeface="Cambria" pitchFamily="34" charset="-120"/>
              </a:rPr>
              <a:t>2. Design</a:t>
            </a:r>
            <a:endParaRPr lang="en-US" sz="1550" dirty="0"/>
          </a:p>
        </p:txBody>
      </p:sp>
      <p:sp>
        <p:nvSpPr>
          <p:cNvPr id="13" name="Text 9"/>
          <p:cNvSpPr/>
          <p:nvPr/>
        </p:nvSpPr>
        <p:spPr>
          <a:xfrm>
            <a:off x="3511296" y="2258568"/>
            <a:ext cx="2240280" cy="548640"/>
          </a:xfrm>
          <a:prstGeom prst="rect">
            <a:avLst/>
          </a:prstGeom>
          <a:noFill/>
          <a:ln/>
        </p:spPr>
        <p:txBody>
          <a:bodyPr wrap="square" lIns="0" tIns="0" rIns="0" bIns="0" rtlCol="0" anchor="ctr"/>
          <a:lstStyle/>
          <a:p>
            <a:pPr marL="0" indent="0">
              <a:buNone/>
            </a:pPr>
            <a:r>
              <a:rPr lang="en-US" sz="1150" dirty="0">
                <a:solidFill>
                  <a:srgbClr val="2B2118"/>
                </a:solidFill>
                <a:latin typeface="Calibri" pitchFamily="34" charset="0"/>
                <a:ea typeface="Calibri" pitchFamily="34" charset="-122"/>
                <a:cs typeface="Calibri" pitchFamily="34" charset="-120"/>
              </a:rPr>
              <a:t>Hypotheses, instruments, proposals</a:t>
            </a:r>
            <a:endParaRPr lang="en-US" sz="1150" dirty="0"/>
          </a:p>
        </p:txBody>
      </p:sp>
      <p:sp>
        <p:nvSpPr>
          <p:cNvPr id="14" name="Shape 10"/>
          <p:cNvSpPr/>
          <p:nvPr/>
        </p:nvSpPr>
        <p:spPr>
          <a:xfrm>
            <a:off x="6080760" y="1508760"/>
            <a:ext cx="2606040" cy="1371600"/>
          </a:xfrm>
          <a:prstGeom prst="roundRect">
            <a:avLst>
              <a:gd name="adj" fmla="val 5333"/>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15" name="Shape 11"/>
          <p:cNvSpPr/>
          <p:nvPr/>
        </p:nvSpPr>
        <p:spPr>
          <a:xfrm>
            <a:off x="6281928" y="1691640"/>
            <a:ext cx="438912" cy="438912"/>
          </a:xfrm>
          <a:prstGeom prst="ellipse">
            <a:avLst/>
          </a:prstGeom>
          <a:solidFill>
            <a:srgbClr val="BE5320"/>
          </a:solidFill>
          <a:ln/>
        </p:spPr>
        <p:txBody>
          <a:bodyPr/>
          <a:lstStyle/>
          <a:p>
            <a:endParaRPr lang="en-GB"/>
          </a:p>
        </p:txBody>
      </p:sp>
      <p:pic>
        <p:nvPicPr>
          <p:cNvPr id="16" name="Image 2" descr="preencoded.png"/>
          <p:cNvPicPr>
            <a:picLocks noChangeAspect="1"/>
          </p:cNvPicPr>
          <p:nvPr/>
        </p:nvPicPr>
        <p:blipFill>
          <a:blip r:embed="rId5"/>
          <a:stretch>
            <a:fillRect/>
          </a:stretch>
        </p:blipFill>
        <p:spPr>
          <a:xfrm>
            <a:off x="6341990" y="1751702"/>
            <a:ext cx="324795" cy="324795"/>
          </a:xfrm>
          <a:prstGeom prst="rect">
            <a:avLst/>
          </a:prstGeom>
        </p:spPr>
      </p:pic>
      <p:sp>
        <p:nvSpPr>
          <p:cNvPr id="17" name="Text 12"/>
          <p:cNvSpPr/>
          <p:nvPr/>
        </p:nvSpPr>
        <p:spPr>
          <a:xfrm>
            <a:off x="6858000" y="1709928"/>
            <a:ext cx="1783080" cy="411480"/>
          </a:xfrm>
          <a:prstGeom prst="rect">
            <a:avLst/>
          </a:prstGeom>
          <a:noFill/>
          <a:ln/>
        </p:spPr>
        <p:txBody>
          <a:bodyPr wrap="square" lIns="0" tIns="0" rIns="0" bIns="0" rtlCol="0" anchor="ctr"/>
          <a:lstStyle/>
          <a:p>
            <a:pPr marL="0" indent="0">
              <a:buNone/>
            </a:pPr>
            <a:r>
              <a:rPr lang="en-US" sz="1550" b="1" dirty="0">
                <a:solidFill>
                  <a:srgbClr val="3B2314"/>
                </a:solidFill>
                <a:latin typeface="Cambria" pitchFamily="34" charset="0"/>
                <a:ea typeface="Cambria" pitchFamily="34" charset="-122"/>
                <a:cs typeface="Cambria" pitchFamily="34" charset="-120"/>
              </a:rPr>
              <a:t>3. Collect</a:t>
            </a:r>
            <a:endParaRPr lang="en-US" sz="1550" dirty="0"/>
          </a:p>
        </p:txBody>
      </p:sp>
      <p:sp>
        <p:nvSpPr>
          <p:cNvPr id="18" name="Text 13"/>
          <p:cNvSpPr/>
          <p:nvPr/>
        </p:nvSpPr>
        <p:spPr>
          <a:xfrm>
            <a:off x="6300216" y="2258568"/>
            <a:ext cx="2240280" cy="548640"/>
          </a:xfrm>
          <a:prstGeom prst="rect">
            <a:avLst/>
          </a:prstGeom>
          <a:noFill/>
          <a:ln/>
        </p:spPr>
        <p:txBody>
          <a:bodyPr wrap="square" lIns="0" tIns="0" rIns="0" bIns="0" rtlCol="0" anchor="ctr"/>
          <a:lstStyle/>
          <a:p>
            <a:pPr marL="0" indent="0">
              <a:buNone/>
            </a:pPr>
            <a:r>
              <a:rPr lang="en-US" sz="1150" dirty="0">
                <a:solidFill>
                  <a:srgbClr val="2B2118"/>
                </a:solidFill>
                <a:latin typeface="Calibri" pitchFamily="34" charset="0"/>
                <a:ea typeface="Calibri" pitchFamily="34" charset="-122"/>
                <a:cs typeface="Calibri" pitchFamily="34" charset="-120"/>
              </a:rPr>
              <a:t>Transcription, digitisation, cleaning</a:t>
            </a:r>
            <a:endParaRPr lang="en-US" sz="1150" dirty="0"/>
          </a:p>
        </p:txBody>
      </p:sp>
      <p:sp>
        <p:nvSpPr>
          <p:cNvPr id="19" name="Shape 14"/>
          <p:cNvSpPr/>
          <p:nvPr/>
        </p:nvSpPr>
        <p:spPr>
          <a:xfrm>
            <a:off x="502920" y="3108960"/>
            <a:ext cx="2606040" cy="1371600"/>
          </a:xfrm>
          <a:prstGeom prst="roundRect">
            <a:avLst>
              <a:gd name="adj" fmla="val 5333"/>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20" name="Shape 15"/>
          <p:cNvSpPr/>
          <p:nvPr/>
        </p:nvSpPr>
        <p:spPr>
          <a:xfrm>
            <a:off x="704088" y="3291840"/>
            <a:ext cx="438912" cy="438912"/>
          </a:xfrm>
          <a:prstGeom prst="ellipse">
            <a:avLst/>
          </a:prstGeom>
          <a:solidFill>
            <a:srgbClr val="BE5320"/>
          </a:solidFill>
          <a:ln/>
        </p:spPr>
        <p:txBody>
          <a:bodyPr/>
          <a:lstStyle/>
          <a:p>
            <a:endParaRPr lang="en-GB"/>
          </a:p>
        </p:txBody>
      </p:sp>
      <p:pic>
        <p:nvPicPr>
          <p:cNvPr id="21" name="Image 3" descr="preencoded.png"/>
          <p:cNvPicPr>
            <a:picLocks noChangeAspect="1"/>
          </p:cNvPicPr>
          <p:nvPr/>
        </p:nvPicPr>
        <p:blipFill>
          <a:blip r:embed="rId6"/>
          <a:stretch>
            <a:fillRect/>
          </a:stretch>
        </p:blipFill>
        <p:spPr>
          <a:xfrm>
            <a:off x="764150" y="3351902"/>
            <a:ext cx="324795" cy="324795"/>
          </a:xfrm>
          <a:prstGeom prst="rect">
            <a:avLst/>
          </a:prstGeom>
        </p:spPr>
      </p:pic>
      <p:sp>
        <p:nvSpPr>
          <p:cNvPr id="22" name="Text 16"/>
          <p:cNvSpPr/>
          <p:nvPr/>
        </p:nvSpPr>
        <p:spPr>
          <a:xfrm>
            <a:off x="1280160" y="3310128"/>
            <a:ext cx="1783080" cy="411480"/>
          </a:xfrm>
          <a:prstGeom prst="rect">
            <a:avLst/>
          </a:prstGeom>
          <a:noFill/>
          <a:ln/>
        </p:spPr>
        <p:txBody>
          <a:bodyPr wrap="square" lIns="0" tIns="0" rIns="0" bIns="0" rtlCol="0" anchor="ctr"/>
          <a:lstStyle/>
          <a:p>
            <a:pPr marL="0" indent="0">
              <a:buNone/>
            </a:pPr>
            <a:r>
              <a:rPr lang="en-US" sz="1550" b="1" dirty="0">
                <a:solidFill>
                  <a:srgbClr val="3B2314"/>
                </a:solidFill>
                <a:latin typeface="Cambria" pitchFamily="34" charset="0"/>
                <a:ea typeface="Cambria" pitchFamily="34" charset="-122"/>
                <a:cs typeface="Cambria" pitchFamily="34" charset="-120"/>
              </a:rPr>
              <a:t>4. Analyse</a:t>
            </a:r>
            <a:endParaRPr lang="en-US" sz="1550" dirty="0"/>
          </a:p>
        </p:txBody>
      </p:sp>
      <p:sp>
        <p:nvSpPr>
          <p:cNvPr id="23" name="Text 17"/>
          <p:cNvSpPr/>
          <p:nvPr/>
        </p:nvSpPr>
        <p:spPr>
          <a:xfrm>
            <a:off x="722376" y="3858768"/>
            <a:ext cx="2240280" cy="548640"/>
          </a:xfrm>
          <a:prstGeom prst="rect">
            <a:avLst/>
          </a:prstGeom>
          <a:noFill/>
          <a:ln/>
        </p:spPr>
        <p:txBody>
          <a:bodyPr wrap="square" lIns="0" tIns="0" rIns="0" bIns="0" rtlCol="0" anchor="ctr"/>
          <a:lstStyle/>
          <a:p>
            <a:pPr marL="0" indent="0">
              <a:buNone/>
            </a:pPr>
            <a:r>
              <a:rPr lang="en-US" sz="1150" dirty="0">
                <a:solidFill>
                  <a:srgbClr val="2B2118"/>
                </a:solidFill>
                <a:latin typeface="Calibri" pitchFamily="34" charset="0"/>
                <a:ea typeface="Calibri" pitchFamily="34" charset="-122"/>
                <a:cs typeface="Calibri" pitchFamily="34" charset="-120"/>
              </a:rPr>
              <a:t>Coding (qual &amp; quant), statistics</a:t>
            </a:r>
            <a:endParaRPr lang="en-US" sz="1150" dirty="0"/>
          </a:p>
        </p:txBody>
      </p:sp>
      <p:sp>
        <p:nvSpPr>
          <p:cNvPr id="24" name="Shape 18"/>
          <p:cNvSpPr/>
          <p:nvPr/>
        </p:nvSpPr>
        <p:spPr>
          <a:xfrm>
            <a:off x="3291840" y="3108960"/>
            <a:ext cx="2606040" cy="1371600"/>
          </a:xfrm>
          <a:prstGeom prst="roundRect">
            <a:avLst>
              <a:gd name="adj" fmla="val 5333"/>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25" name="Shape 19"/>
          <p:cNvSpPr/>
          <p:nvPr/>
        </p:nvSpPr>
        <p:spPr>
          <a:xfrm>
            <a:off x="3493008" y="3291840"/>
            <a:ext cx="438912" cy="438912"/>
          </a:xfrm>
          <a:prstGeom prst="ellipse">
            <a:avLst/>
          </a:prstGeom>
          <a:solidFill>
            <a:srgbClr val="BE5320"/>
          </a:solidFill>
          <a:ln/>
        </p:spPr>
        <p:txBody>
          <a:bodyPr/>
          <a:lstStyle/>
          <a:p>
            <a:endParaRPr lang="en-GB"/>
          </a:p>
        </p:txBody>
      </p:sp>
      <p:pic>
        <p:nvPicPr>
          <p:cNvPr id="26" name="Image 4" descr="preencoded.png"/>
          <p:cNvPicPr>
            <a:picLocks noChangeAspect="1"/>
          </p:cNvPicPr>
          <p:nvPr/>
        </p:nvPicPr>
        <p:blipFill>
          <a:blip r:embed="rId7"/>
          <a:stretch>
            <a:fillRect/>
          </a:stretch>
        </p:blipFill>
        <p:spPr>
          <a:xfrm>
            <a:off x="3553070" y="3351902"/>
            <a:ext cx="324795" cy="324795"/>
          </a:xfrm>
          <a:prstGeom prst="rect">
            <a:avLst/>
          </a:prstGeom>
        </p:spPr>
      </p:pic>
      <p:sp>
        <p:nvSpPr>
          <p:cNvPr id="27" name="Text 20"/>
          <p:cNvSpPr/>
          <p:nvPr/>
        </p:nvSpPr>
        <p:spPr>
          <a:xfrm>
            <a:off x="4069080" y="3310128"/>
            <a:ext cx="1783080" cy="411480"/>
          </a:xfrm>
          <a:prstGeom prst="rect">
            <a:avLst/>
          </a:prstGeom>
          <a:noFill/>
          <a:ln/>
        </p:spPr>
        <p:txBody>
          <a:bodyPr wrap="square" lIns="0" tIns="0" rIns="0" bIns="0" rtlCol="0" anchor="ctr"/>
          <a:lstStyle/>
          <a:p>
            <a:pPr marL="0" indent="0">
              <a:buNone/>
            </a:pPr>
            <a:r>
              <a:rPr lang="en-US" sz="1550" b="1" dirty="0">
                <a:solidFill>
                  <a:srgbClr val="3B2314"/>
                </a:solidFill>
                <a:latin typeface="Cambria" pitchFamily="34" charset="0"/>
                <a:ea typeface="Cambria" pitchFamily="34" charset="-122"/>
                <a:cs typeface="Cambria" pitchFamily="34" charset="-120"/>
              </a:rPr>
              <a:t>5. Write</a:t>
            </a:r>
            <a:endParaRPr lang="en-US" sz="1550" dirty="0"/>
          </a:p>
        </p:txBody>
      </p:sp>
      <p:sp>
        <p:nvSpPr>
          <p:cNvPr id="28" name="Text 21"/>
          <p:cNvSpPr/>
          <p:nvPr/>
        </p:nvSpPr>
        <p:spPr>
          <a:xfrm>
            <a:off x="3511296" y="3858768"/>
            <a:ext cx="2240280" cy="548640"/>
          </a:xfrm>
          <a:prstGeom prst="rect">
            <a:avLst/>
          </a:prstGeom>
          <a:noFill/>
          <a:ln/>
        </p:spPr>
        <p:txBody>
          <a:bodyPr wrap="square" lIns="0" tIns="0" rIns="0" bIns="0" rtlCol="0" anchor="ctr"/>
          <a:lstStyle/>
          <a:p>
            <a:pPr marL="0" indent="0">
              <a:buNone/>
            </a:pPr>
            <a:r>
              <a:rPr lang="en-US" sz="1150" dirty="0">
                <a:solidFill>
                  <a:srgbClr val="2B2118"/>
                </a:solidFill>
                <a:latin typeface="Calibri" pitchFamily="34" charset="0"/>
                <a:ea typeface="Calibri" pitchFamily="34" charset="-122"/>
                <a:cs typeface="Calibri" pitchFamily="34" charset="-120"/>
              </a:rPr>
              <a:t>Drafting, editing, translation</a:t>
            </a:r>
            <a:endParaRPr lang="en-US" sz="1150" dirty="0"/>
          </a:p>
        </p:txBody>
      </p:sp>
      <p:sp>
        <p:nvSpPr>
          <p:cNvPr id="29" name="Shape 22"/>
          <p:cNvSpPr/>
          <p:nvPr/>
        </p:nvSpPr>
        <p:spPr>
          <a:xfrm>
            <a:off x="6080760" y="3108960"/>
            <a:ext cx="2606040" cy="1371600"/>
          </a:xfrm>
          <a:prstGeom prst="roundRect">
            <a:avLst>
              <a:gd name="adj" fmla="val 5333"/>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30" name="Shape 23"/>
          <p:cNvSpPr/>
          <p:nvPr/>
        </p:nvSpPr>
        <p:spPr>
          <a:xfrm>
            <a:off x="6281928" y="3291840"/>
            <a:ext cx="438912" cy="438912"/>
          </a:xfrm>
          <a:prstGeom prst="ellipse">
            <a:avLst/>
          </a:prstGeom>
          <a:solidFill>
            <a:srgbClr val="BE5320"/>
          </a:solidFill>
          <a:ln/>
        </p:spPr>
        <p:txBody>
          <a:bodyPr/>
          <a:lstStyle/>
          <a:p>
            <a:endParaRPr lang="en-GB"/>
          </a:p>
        </p:txBody>
      </p:sp>
      <p:pic>
        <p:nvPicPr>
          <p:cNvPr id="31" name="Image 5" descr="preencoded.png"/>
          <p:cNvPicPr>
            <a:picLocks noChangeAspect="1"/>
          </p:cNvPicPr>
          <p:nvPr/>
        </p:nvPicPr>
        <p:blipFill>
          <a:blip r:embed="rId8"/>
          <a:stretch>
            <a:fillRect/>
          </a:stretch>
        </p:blipFill>
        <p:spPr>
          <a:xfrm>
            <a:off x="6341990" y="3351902"/>
            <a:ext cx="324795" cy="324795"/>
          </a:xfrm>
          <a:prstGeom prst="rect">
            <a:avLst/>
          </a:prstGeom>
        </p:spPr>
      </p:pic>
      <p:sp>
        <p:nvSpPr>
          <p:cNvPr id="32" name="Text 24"/>
          <p:cNvSpPr/>
          <p:nvPr/>
        </p:nvSpPr>
        <p:spPr>
          <a:xfrm>
            <a:off x="6858000" y="3310128"/>
            <a:ext cx="1783080" cy="411480"/>
          </a:xfrm>
          <a:prstGeom prst="rect">
            <a:avLst/>
          </a:prstGeom>
          <a:noFill/>
          <a:ln/>
        </p:spPr>
        <p:txBody>
          <a:bodyPr wrap="square" lIns="0" tIns="0" rIns="0" bIns="0" rtlCol="0" anchor="ctr"/>
          <a:lstStyle/>
          <a:p>
            <a:pPr marL="0" indent="0">
              <a:buNone/>
            </a:pPr>
            <a:r>
              <a:rPr lang="en-US" sz="1550" b="1" dirty="0">
                <a:solidFill>
                  <a:srgbClr val="3B2314"/>
                </a:solidFill>
                <a:latin typeface="Cambria" pitchFamily="34" charset="0"/>
                <a:ea typeface="Cambria" pitchFamily="34" charset="-122"/>
                <a:cs typeface="Cambria" pitchFamily="34" charset="-120"/>
              </a:rPr>
              <a:t>6. Share &amp; Teach</a:t>
            </a:r>
            <a:endParaRPr lang="en-US" sz="1550" dirty="0"/>
          </a:p>
        </p:txBody>
      </p:sp>
      <p:sp>
        <p:nvSpPr>
          <p:cNvPr id="33" name="Text 25"/>
          <p:cNvSpPr/>
          <p:nvPr/>
        </p:nvSpPr>
        <p:spPr>
          <a:xfrm>
            <a:off x="6300216" y="3858768"/>
            <a:ext cx="2240280" cy="548640"/>
          </a:xfrm>
          <a:prstGeom prst="rect">
            <a:avLst/>
          </a:prstGeom>
          <a:noFill/>
          <a:ln/>
        </p:spPr>
        <p:txBody>
          <a:bodyPr wrap="square" lIns="0" tIns="0" rIns="0" bIns="0" rtlCol="0" anchor="ctr"/>
          <a:lstStyle/>
          <a:p>
            <a:pPr marL="0" indent="0">
              <a:buNone/>
            </a:pPr>
            <a:r>
              <a:rPr lang="en-US" sz="1150" dirty="0">
                <a:solidFill>
                  <a:srgbClr val="2B2118"/>
                </a:solidFill>
                <a:latin typeface="Calibri" pitchFamily="34" charset="0"/>
                <a:ea typeface="Calibri" pitchFamily="34" charset="-122"/>
                <a:cs typeface="Calibri" pitchFamily="34" charset="-120"/>
              </a:rPr>
              <a:t>Reviews, briefs, teaching material</a:t>
            </a:r>
            <a:endParaRPr lang="en-US" sz="1150" dirty="0"/>
          </a:p>
        </p:txBody>
      </p:sp>
      <p:sp>
        <p:nvSpPr>
          <p:cNvPr id="34" name="Text 26"/>
          <p:cNvSpPr/>
          <p:nvPr/>
        </p:nvSpPr>
        <p:spPr>
          <a:xfrm>
            <a:off x="502920" y="4590288"/>
            <a:ext cx="8138160" cy="320040"/>
          </a:xfrm>
          <a:prstGeom prst="rect">
            <a:avLst/>
          </a:prstGeom>
          <a:noFill/>
          <a:ln/>
        </p:spPr>
        <p:txBody>
          <a:bodyPr wrap="square" lIns="0" tIns="0" rIns="0" bIns="0" rtlCol="0" anchor="ctr"/>
          <a:lstStyle/>
          <a:p>
            <a:pPr marL="0" indent="0" algn="ctr">
              <a:buNone/>
            </a:pPr>
            <a:r>
              <a:rPr lang="en-US" sz="1200" i="1" dirty="0">
                <a:solidFill>
                  <a:srgbClr val="8A7A6B"/>
                </a:solidFill>
                <a:latin typeface="Calibri" pitchFamily="34" charset="0"/>
                <a:ea typeface="Calibri" pitchFamily="34" charset="-122"/>
                <a:cs typeface="Calibri" pitchFamily="34" charset="-120"/>
              </a:rPr>
              <a:t>Today: concrete examples at each stage — drawn from law, history, health, education, agriculture, linguistics and the sciences.</a:t>
            </a:r>
            <a:endParaRPr lang="en-US" sz="1200" dirty="0"/>
          </a:p>
        </p:txBody>
      </p:sp>
      <p:sp>
        <p:nvSpPr>
          <p:cNvPr id="35" name="Text 27"/>
          <p:cNvSpPr/>
          <p:nvPr/>
        </p:nvSpPr>
        <p:spPr>
          <a:xfrm>
            <a:off x="502920" y="4846320"/>
            <a:ext cx="4114800" cy="228600"/>
          </a:xfrm>
          <a:prstGeom prst="rect">
            <a:avLst/>
          </a:prstGeom>
          <a:noFill/>
          <a:ln/>
        </p:spPr>
        <p:txBody>
          <a:bodyPr wrap="square" lIns="0" tIns="0" rIns="0" bIns="0" rtlCol="0" anchor="ctr"/>
          <a:lstStyle/>
          <a:p>
            <a:pPr marL="0" indent="0">
              <a:buNone/>
            </a:pPr>
            <a:r>
              <a:rPr lang="en-US" sz="900" dirty="0">
                <a:solidFill>
                  <a:srgbClr val="8A7A6B"/>
                </a:solidFill>
                <a:latin typeface="Calibri" pitchFamily="34" charset="0"/>
                <a:ea typeface="Calibri" pitchFamily="34" charset="-122"/>
                <a:cs typeface="Calibri" pitchFamily="34" charset="-120"/>
              </a:rPr>
              <a:t>AWAU Monthly Colloquium  ·  July 2026</a:t>
            </a:r>
            <a:endParaRPr lang="en-US" sz="900" dirty="0"/>
          </a:p>
        </p:txBody>
      </p:sp>
      <p:sp>
        <p:nvSpPr>
          <p:cNvPr id="36" name="Text 28"/>
          <p:cNvSpPr/>
          <p:nvPr/>
        </p:nvSpPr>
        <p:spPr>
          <a:xfrm>
            <a:off x="8503920" y="4846320"/>
            <a:ext cx="320040" cy="228600"/>
          </a:xfrm>
          <a:prstGeom prst="rect">
            <a:avLst/>
          </a:prstGeom>
          <a:noFill/>
          <a:ln/>
        </p:spPr>
        <p:txBody>
          <a:bodyPr wrap="square" lIns="0" tIns="0" rIns="0" bIns="0" rtlCol="0" anchor="ctr"/>
          <a:lstStyle/>
          <a:p>
            <a:pPr marL="0" indent="0" algn="r">
              <a:buNone/>
            </a:pPr>
            <a:r>
              <a:rPr lang="en-US" sz="900" dirty="0">
                <a:solidFill>
                  <a:srgbClr val="8A7A6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B2314"/>
        </a:solidFill>
        <a:effectLst/>
      </p:bgPr>
    </p:bg>
    <p:spTree>
      <p:nvGrpSpPr>
        <p:cNvPr id="1" name=""/>
        <p:cNvGrpSpPr/>
        <p:nvPr/>
      </p:nvGrpSpPr>
      <p:grpSpPr>
        <a:xfrm>
          <a:off x="0" y="0"/>
          <a:ext cx="0" cy="0"/>
          <a:chOff x="0" y="0"/>
          <a:chExt cx="0" cy="0"/>
        </a:xfrm>
      </p:grpSpPr>
      <p:sp>
        <p:nvSpPr>
          <p:cNvPr id="2" name="Text 0"/>
          <p:cNvSpPr/>
          <p:nvPr/>
        </p:nvSpPr>
        <p:spPr>
          <a:xfrm>
            <a:off x="502920" y="320040"/>
            <a:ext cx="8229600" cy="274320"/>
          </a:xfrm>
          <a:prstGeom prst="rect">
            <a:avLst/>
          </a:prstGeom>
          <a:noFill/>
          <a:ln/>
        </p:spPr>
        <p:txBody>
          <a:bodyPr wrap="square" lIns="0" tIns="0" rIns="0" bIns="0" rtlCol="0" anchor="ctr"/>
          <a:lstStyle/>
          <a:p>
            <a:pPr marL="0" indent="0">
              <a:buNone/>
            </a:pPr>
            <a:r>
              <a:rPr lang="en-US" sz="1200" b="1" kern="0" spc="300" dirty="0">
                <a:solidFill>
                  <a:srgbClr val="D99B32"/>
                </a:solidFill>
                <a:latin typeface="Calibri" pitchFamily="34" charset="0"/>
                <a:ea typeface="Calibri" pitchFamily="34" charset="-122"/>
                <a:cs typeface="Calibri" pitchFamily="34" charset="-120"/>
              </a:rPr>
              <a:t>THE FRAMEWORK</a:t>
            </a:r>
            <a:endParaRPr lang="en-US" sz="1200" dirty="0"/>
          </a:p>
        </p:txBody>
      </p:sp>
      <p:sp>
        <p:nvSpPr>
          <p:cNvPr id="3" name="Text 1"/>
          <p:cNvSpPr/>
          <p:nvPr/>
        </p:nvSpPr>
        <p:spPr>
          <a:xfrm>
            <a:off x="502920" y="566928"/>
            <a:ext cx="8138160" cy="54864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A.D.A.P.T. — Five Decisions Before AI Touches Your Research</a:t>
            </a:r>
            <a:endParaRPr lang="en-US" sz="2600" dirty="0"/>
          </a:p>
        </p:txBody>
      </p:sp>
      <p:sp>
        <p:nvSpPr>
          <p:cNvPr id="4" name="Shape 2"/>
          <p:cNvSpPr/>
          <p:nvPr/>
        </p:nvSpPr>
        <p:spPr>
          <a:xfrm>
            <a:off x="457200" y="1508760"/>
            <a:ext cx="1554480" cy="2834640"/>
          </a:xfrm>
          <a:prstGeom prst="roundRect">
            <a:avLst>
              <a:gd name="adj" fmla="val 4706"/>
            </a:avLst>
          </a:prstGeom>
          <a:solidFill>
            <a:srgbClr val="54341E"/>
          </a:solidFill>
          <a:ln/>
          <a:effectLst>
            <a:outerShdw blurRad="88900" dist="25400" dir="2700000" algn="bl" rotWithShape="0">
              <a:srgbClr val="000000">
                <a:alpha val="14000"/>
              </a:srgbClr>
            </a:outerShdw>
          </a:effectLst>
        </p:spPr>
        <p:txBody>
          <a:bodyPr/>
          <a:lstStyle/>
          <a:p>
            <a:endParaRPr lang="en-GB"/>
          </a:p>
        </p:txBody>
      </p:sp>
      <p:sp>
        <p:nvSpPr>
          <p:cNvPr id="5" name="Shape 3"/>
          <p:cNvSpPr/>
          <p:nvPr/>
        </p:nvSpPr>
        <p:spPr>
          <a:xfrm>
            <a:off x="914400" y="1737360"/>
            <a:ext cx="640080" cy="640080"/>
          </a:xfrm>
          <a:prstGeom prst="ellipse">
            <a:avLst/>
          </a:prstGeom>
          <a:solidFill>
            <a:srgbClr val="BE5320"/>
          </a:solidFill>
          <a:ln/>
        </p:spPr>
        <p:txBody>
          <a:bodyPr/>
          <a:lstStyle/>
          <a:p>
            <a:endParaRPr lang="en-GB"/>
          </a:p>
        </p:txBody>
      </p:sp>
      <p:sp>
        <p:nvSpPr>
          <p:cNvPr id="6" name="Text 4"/>
          <p:cNvSpPr/>
          <p:nvPr/>
        </p:nvSpPr>
        <p:spPr>
          <a:xfrm>
            <a:off x="914400" y="1737360"/>
            <a:ext cx="640080" cy="64008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A</a:t>
            </a:r>
            <a:endParaRPr lang="en-US" sz="2800" dirty="0"/>
          </a:p>
        </p:txBody>
      </p:sp>
      <p:sp>
        <p:nvSpPr>
          <p:cNvPr id="7" name="Text 5"/>
          <p:cNvSpPr/>
          <p:nvPr/>
        </p:nvSpPr>
        <p:spPr>
          <a:xfrm>
            <a:off x="566928" y="2514600"/>
            <a:ext cx="1335024" cy="594360"/>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Assess the task</a:t>
            </a:r>
            <a:endParaRPr lang="en-US" sz="1350" dirty="0"/>
          </a:p>
        </p:txBody>
      </p:sp>
      <p:sp>
        <p:nvSpPr>
          <p:cNvPr id="8" name="Text 6"/>
          <p:cNvSpPr/>
          <p:nvPr/>
        </p:nvSpPr>
        <p:spPr>
          <a:xfrm>
            <a:off x="576072" y="3108960"/>
            <a:ext cx="1316736" cy="1143000"/>
          </a:xfrm>
          <a:prstGeom prst="rect">
            <a:avLst/>
          </a:prstGeom>
          <a:noFill/>
          <a:ln/>
        </p:spPr>
        <p:txBody>
          <a:bodyPr wrap="square" lIns="0" tIns="0" rIns="0" bIns="0" rtlCol="0" anchor="ctr"/>
          <a:lstStyle/>
          <a:p>
            <a:pPr marL="0" indent="0" algn="ctr">
              <a:buNone/>
            </a:pPr>
            <a:r>
              <a:rPr lang="en-US" sz="980" dirty="0">
                <a:solidFill>
                  <a:srgbClr val="E5D6C2"/>
                </a:solidFill>
                <a:latin typeface="Calibri" pitchFamily="34" charset="0"/>
                <a:ea typeface="Calibri" pitchFamily="34" charset="-122"/>
                <a:cs typeface="Calibri" pitchFamily="34" charset="-120"/>
              </a:rPr>
              <a:t>Is this labour or judgement? Is the data sensitive or confidential?</a:t>
            </a:r>
            <a:endParaRPr lang="en-US" sz="980" dirty="0"/>
          </a:p>
        </p:txBody>
      </p:sp>
      <p:sp>
        <p:nvSpPr>
          <p:cNvPr id="9" name="Shape 7"/>
          <p:cNvSpPr/>
          <p:nvPr/>
        </p:nvSpPr>
        <p:spPr>
          <a:xfrm>
            <a:off x="2148840" y="1508760"/>
            <a:ext cx="1554480" cy="2834640"/>
          </a:xfrm>
          <a:prstGeom prst="roundRect">
            <a:avLst>
              <a:gd name="adj" fmla="val 4706"/>
            </a:avLst>
          </a:prstGeom>
          <a:solidFill>
            <a:srgbClr val="54341E"/>
          </a:solidFill>
          <a:ln/>
          <a:effectLst>
            <a:outerShdw blurRad="88900" dist="25400" dir="2700000" algn="bl" rotWithShape="0">
              <a:srgbClr val="000000">
                <a:alpha val="14000"/>
              </a:srgbClr>
            </a:outerShdw>
          </a:effectLst>
        </p:spPr>
        <p:txBody>
          <a:bodyPr/>
          <a:lstStyle/>
          <a:p>
            <a:endParaRPr lang="en-GB"/>
          </a:p>
        </p:txBody>
      </p:sp>
      <p:sp>
        <p:nvSpPr>
          <p:cNvPr id="10" name="Shape 8"/>
          <p:cNvSpPr/>
          <p:nvPr/>
        </p:nvSpPr>
        <p:spPr>
          <a:xfrm>
            <a:off x="2606040" y="1737360"/>
            <a:ext cx="640080" cy="640080"/>
          </a:xfrm>
          <a:prstGeom prst="ellipse">
            <a:avLst/>
          </a:prstGeom>
          <a:solidFill>
            <a:srgbClr val="D99B32"/>
          </a:solidFill>
          <a:ln/>
        </p:spPr>
        <p:txBody>
          <a:bodyPr/>
          <a:lstStyle/>
          <a:p>
            <a:endParaRPr lang="en-GB"/>
          </a:p>
        </p:txBody>
      </p:sp>
      <p:sp>
        <p:nvSpPr>
          <p:cNvPr id="11" name="Text 9"/>
          <p:cNvSpPr/>
          <p:nvPr/>
        </p:nvSpPr>
        <p:spPr>
          <a:xfrm>
            <a:off x="2606040" y="1737360"/>
            <a:ext cx="640080" cy="640080"/>
          </a:xfrm>
          <a:prstGeom prst="rect">
            <a:avLst/>
          </a:prstGeom>
          <a:noFill/>
          <a:ln/>
        </p:spPr>
        <p:txBody>
          <a:bodyPr wrap="square" lIns="0" tIns="0" rIns="0" bIns="0" rtlCol="0" anchor="ctr"/>
          <a:lstStyle/>
          <a:p>
            <a:pPr marL="0" indent="0" algn="ctr">
              <a:buNone/>
            </a:pPr>
            <a:r>
              <a:rPr lang="en-US" sz="2800" b="1" dirty="0">
                <a:solidFill>
                  <a:srgbClr val="3B2314"/>
                </a:solidFill>
                <a:latin typeface="Cambria" pitchFamily="34" charset="0"/>
                <a:ea typeface="Cambria" pitchFamily="34" charset="-122"/>
                <a:cs typeface="Cambria" pitchFamily="34" charset="-120"/>
              </a:rPr>
              <a:t>D</a:t>
            </a:r>
            <a:endParaRPr lang="en-US" sz="2800" dirty="0"/>
          </a:p>
        </p:txBody>
      </p:sp>
      <p:sp>
        <p:nvSpPr>
          <p:cNvPr id="12" name="Text 10"/>
          <p:cNvSpPr/>
          <p:nvPr/>
        </p:nvSpPr>
        <p:spPr>
          <a:xfrm>
            <a:off x="2258568" y="2514600"/>
            <a:ext cx="1335024" cy="594360"/>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Delegate deliberately</a:t>
            </a:r>
            <a:endParaRPr lang="en-US" sz="1350" dirty="0"/>
          </a:p>
        </p:txBody>
      </p:sp>
      <p:sp>
        <p:nvSpPr>
          <p:cNvPr id="13" name="Text 11"/>
          <p:cNvSpPr/>
          <p:nvPr/>
        </p:nvSpPr>
        <p:spPr>
          <a:xfrm>
            <a:off x="2267712" y="3108960"/>
            <a:ext cx="1316736" cy="1143000"/>
          </a:xfrm>
          <a:prstGeom prst="rect">
            <a:avLst/>
          </a:prstGeom>
          <a:noFill/>
          <a:ln/>
        </p:spPr>
        <p:txBody>
          <a:bodyPr wrap="square" lIns="0" tIns="0" rIns="0" bIns="0" rtlCol="0" anchor="ctr"/>
          <a:lstStyle/>
          <a:p>
            <a:pPr marL="0" indent="0" algn="ctr">
              <a:buNone/>
            </a:pPr>
            <a:r>
              <a:rPr lang="en-US" sz="980" dirty="0">
                <a:solidFill>
                  <a:srgbClr val="E5D6C2"/>
                </a:solidFill>
                <a:latin typeface="Calibri" pitchFamily="34" charset="0"/>
                <a:ea typeface="Calibri" pitchFamily="34" charset="-122"/>
                <a:cs typeface="Calibri" pitchFamily="34" charset="-120"/>
              </a:rPr>
              <a:t>Right tool, right task, small pieces — never the whole study at once.</a:t>
            </a:r>
            <a:endParaRPr lang="en-US" sz="980" dirty="0"/>
          </a:p>
        </p:txBody>
      </p:sp>
      <p:sp>
        <p:nvSpPr>
          <p:cNvPr id="14" name="Shape 12"/>
          <p:cNvSpPr/>
          <p:nvPr/>
        </p:nvSpPr>
        <p:spPr>
          <a:xfrm>
            <a:off x="3840480" y="1508760"/>
            <a:ext cx="1554480" cy="2834640"/>
          </a:xfrm>
          <a:prstGeom prst="roundRect">
            <a:avLst>
              <a:gd name="adj" fmla="val 4706"/>
            </a:avLst>
          </a:prstGeom>
          <a:solidFill>
            <a:srgbClr val="54341E"/>
          </a:solidFill>
          <a:ln/>
          <a:effectLst>
            <a:outerShdw blurRad="88900" dist="25400" dir="2700000" algn="bl" rotWithShape="0">
              <a:srgbClr val="000000">
                <a:alpha val="14000"/>
              </a:srgbClr>
            </a:outerShdw>
          </a:effectLst>
        </p:spPr>
        <p:txBody>
          <a:bodyPr/>
          <a:lstStyle/>
          <a:p>
            <a:endParaRPr lang="en-GB"/>
          </a:p>
        </p:txBody>
      </p:sp>
      <p:sp>
        <p:nvSpPr>
          <p:cNvPr id="15" name="Shape 13"/>
          <p:cNvSpPr/>
          <p:nvPr/>
        </p:nvSpPr>
        <p:spPr>
          <a:xfrm>
            <a:off x="4297680" y="1737360"/>
            <a:ext cx="640080" cy="640080"/>
          </a:xfrm>
          <a:prstGeom prst="ellipse">
            <a:avLst/>
          </a:prstGeom>
          <a:solidFill>
            <a:srgbClr val="BE5320"/>
          </a:solidFill>
          <a:ln/>
        </p:spPr>
        <p:txBody>
          <a:bodyPr/>
          <a:lstStyle/>
          <a:p>
            <a:endParaRPr lang="en-GB"/>
          </a:p>
        </p:txBody>
      </p:sp>
      <p:sp>
        <p:nvSpPr>
          <p:cNvPr id="16" name="Text 14"/>
          <p:cNvSpPr/>
          <p:nvPr/>
        </p:nvSpPr>
        <p:spPr>
          <a:xfrm>
            <a:off x="4297680" y="1737360"/>
            <a:ext cx="640080" cy="64008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A</a:t>
            </a:r>
            <a:endParaRPr lang="en-US" sz="2800" dirty="0"/>
          </a:p>
        </p:txBody>
      </p:sp>
      <p:sp>
        <p:nvSpPr>
          <p:cNvPr id="17" name="Text 15"/>
          <p:cNvSpPr/>
          <p:nvPr/>
        </p:nvSpPr>
        <p:spPr>
          <a:xfrm>
            <a:off x="3950208" y="2514600"/>
            <a:ext cx="1335024" cy="594360"/>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Anchor in expertise</a:t>
            </a:r>
            <a:endParaRPr lang="en-US" sz="1350" dirty="0"/>
          </a:p>
        </p:txBody>
      </p:sp>
      <p:sp>
        <p:nvSpPr>
          <p:cNvPr id="18" name="Text 16"/>
          <p:cNvSpPr/>
          <p:nvPr/>
        </p:nvSpPr>
        <p:spPr>
          <a:xfrm>
            <a:off x="3959352" y="3108960"/>
            <a:ext cx="1316736" cy="1143000"/>
          </a:xfrm>
          <a:prstGeom prst="rect">
            <a:avLst/>
          </a:prstGeom>
          <a:noFill/>
          <a:ln/>
        </p:spPr>
        <p:txBody>
          <a:bodyPr wrap="square" lIns="0" tIns="0" rIns="0" bIns="0" rtlCol="0" anchor="ctr"/>
          <a:lstStyle/>
          <a:p>
            <a:pPr marL="0" indent="0" algn="ctr">
              <a:buNone/>
            </a:pPr>
            <a:r>
              <a:rPr lang="en-US" sz="980" dirty="0">
                <a:solidFill>
                  <a:srgbClr val="E5D6C2"/>
                </a:solidFill>
                <a:latin typeface="Calibri" pitchFamily="34" charset="0"/>
                <a:ea typeface="Calibri" pitchFamily="34" charset="-122"/>
                <a:cs typeface="Calibri" pitchFamily="34" charset="-120"/>
              </a:rPr>
              <a:t>You supply the theory, context and standards in every prompt.</a:t>
            </a:r>
            <a:endParaRPr lang="en-US" sz="980" dirty="0"/>
          </a:p>
        </p:txBody>
      </p:sp>
      <p:sp>
        <p:nvSpPr>
          <p:cNvPr id="19" name="Shape 17"/>
          <p:cNvSpPr/>
          <p:nvPr/>
        </p:nvSpPr>
        <p:spPr>
          <a:xfrm>
            <a:off x="5532120" y="1508760"/>
            <a:ext cx="1554480" cy="2834640"/>
          </a:xfrm>
          <a:prstGeom prst="roundRect">
            <a:avLst>
              <a:gd name="adj" fmla="val 4706"/>
            </a:avLst>
          </a:prstGeom>
          <a:solidFill>
            <a:srgbClr val="54341E"/>
          </a:solidFill>
          <a:ln/>
          <a:effectLst>
            <a:outerShdw blurRad="88900" dist="25400" dir="2700000" algn="bl" rotWithShape="0">
              <a:srgbClr val="000000">
                <a:alpha val="14000"/>
              </a:srgbClr>
            </a:outerShdw>
          </a:effectLst>
        </p:spPr>
        <p:txBody>
          <a:bodyPr/>
          <a:lstStyle/>
          <a:p>
            <a:endParaRPr lang="en-GB"/>
          </a:p>
        </p:txBody>
      </p:sp>
      <p:sp>
        <p:nvSpPr>
          <p:cNvPr id="20" name="Shape 18"/>
          <p:cNvSpPr/>
          <p:nvPr/>
        </p:nvSpPr>
        <p:spPr>
          <a:xfrm>
            <a:off x="5989320" y="1737360"/>
            <a:ext cx="640080" cy="640080"/>
          </a:xfrm>
          <a:prstGeom prst="ellipse">
            <a:avLst/>
          </a:prstGeom>
          <a:solidFill>
            <a:srgbClr val="D99B32"/>
          </a:solidFill>
          <a:ln/>
        </p:spPr>
        <p:txBody>
          <a:bodyPr/>
          <a:lstStyle/>
          <a:p>
            <a:endParaRPr lang="en-GB"/>
          </a:p>
        </p:txBody>
      </p:sp>
      <p:sp>
        <p:nvSpPr>
          <p:cNvPr id="21" name="Text 19"/>
          <p:cNvSpPr/>
          <p:nvPr/>
        </p:nvSpPr>
        <p:spPr>
          <a:xfrm>
            <a:off x="5989320" y="1737360"/>
            <a:ext cx="640080" cy="640080"/>
          </a:xfrm>
          <a:prstGeom prst="rect">
            <a:avLst/>
          </a:prstGeom>
          <a:noFill/>
          <a:ln/>
        </p:spPr>
        <p:txBody>
          <a:bodyPr wrap="square" lIns="0" tIns="0" rIns="0" bIns="0" rtlCol="0" anchor="ctr"/>
          <a:lstStyle/>
          <a:p>
            <a:pPr marL="0" indent="0" algn="ctr">
              <a:buNone/>
            </a:pPr>
            <a:r>
              <a:rPr lang="en-US" sz="2800" b="1" dirty="0">
                <a:solidFill>
                  <a:srgbClr val="3B2314"/>
                </a:solidFill>
                <a:latin typeface="Cambria" pitchFamily="34" charset="0"/>
                <a:ea typeface="Cambria" pitchFamily="34" charset="-122"/>
                <a:cs typeface="Cambria" pitchFamily="34" charset="-120"/>
              </a:rPr>
              <a:t>P</a:t>
            </a:r>
            <a:endParaRPr lang="en-US" sz="2800" dirty="0"/>
          </a:p>
        </p:txBody>
      </p:sp>
      <p:sp>
        <p:nvSpPr>
          <p:cNvPr id="22" name="Text 20"/>
          <p:cNvSpPr/>
          <p:nvPr/>
        </p:nvSpPr>
        <p:spPr>
          <a:xfrm>
            <a:off x="5641848" y="2514600"/>
            <a:ext cx="1335024" cy="594360"/>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Probe the output</a:t>
            </a:r>
            <a:endParaRPr lang="en-US" sz="1350" dirty="0"/>
          </a:p>
        </p:txBody>
      </p:sp>
      <p:sp>
        <p:nvSpPr>
          <p:cNvPr id="23" name="Text 21"/>
          <p:cNvSpPr/>
          <p:nvPr/>
        </p:nvSpPr>
        <p:spPr>
          <a:xfrm>
            <a:off x="5650992" y="3108960"/>
            <a:ext cx="1316736" cy="1143000"/>
          </a:xfrm>
          <a:prstGeom prst="rect">
            <a:avLst/>
          </a:prstGeom>
          <a:noFill/>
          <a:ln/>
        </p:spPr>
        <p:txBody>
          <a:bodyPr wrap="square" lIns="0" tIns="0" rIns="0" bIns="0" rtlCol="0" anchor="ctr"/>
          <a:lstStyle/>
          <a:p>
            <a:pPr marL="0" indent="0" algn="ctr">
              <a:buNone/>
            </a:pPr>
            <a:r>
              <a:rPr lang="en-US" sz="980" dirty="0">
                <a:solidFill>
                  <a:srgbClr val="E5D6C2"/>
                </a:solidFill>
                <a:latin typeface="Calibri" pitchFamily="34" charset="0"/>
                <a:ea typeface="Calibri" pitchFamily="34" charset="-122"/>
                <a:cs typeface="Calibri" pitchFamily="34" charset="-120"/>
              </a:rPr>
              <a:t>Verify citations, test claims, check for bias — trust nothing by default.</a:t>
            </a:r>
            <a:endParaRPr lang="en-US" sz="980" dirty="0"/>
          </a:p>
        </p:txBody>
      </p:sp>
      <p:sp>
        <p:nvSpPr>
          <p:cNvPr id="24" name="Shape 22"/>
          <p:cNvSpPr/>
          <p:nvPr/>
        </p:nvSpPr>
        <p:spPr>
          <a:xfrm>
            <a:off x="7223760" y="1508760"/>
            <a:ext cx="1554480" cy="2834640"/>
          </a:xfrm>
          <a:prstGeom prst="roundRect">
            <a:avLst>
              <a:gd name="adj" fmla="val 4706"/>
            </a:avLst>
          </a:prstGeom>
          <a:solidFill>
            <a:srgbClr val="54341E"/>
          </a:solidFill>
          <a:ln/>
          <a:effectLst>
            <a:outerShdw blurRad="88900" dist="25400" dir="2700000" algn="bl" rotWithShape="0">
              <a:srgbClr val="000000">
                <a:alpha val="14000"/>
              </a:srgbClr>
            </a:outerShdw>
          </a:effectLst>
        </p:spPr>
        <p:txBody>
          <a:bodyPr/>
          <a:lstStyle/>
          <a:p>
            <a:endParaRPr lang="en-GB"/>
          </a:p>
        </p:txBody>
      </p:sp>
      <p:sp>
        <p:nvSpPr>
          <p:cNvPr id="25" name="Shape 23"/>
          <p:cNvSpPr/>
          <p:nvPr/>
        </p:nvSpPr>
        <p:spPr>
          <a:xfrm>
            <a:off x="7680960" y="1737360"/>
            <a:ext cx="640080" cy="640080"/>
          </a:xfrm>
          <a:prstGeom prst="ellipse">
            <a:avLst/>
          </a:prstGeom>
          <a:solidFill>
            <a:srgbClr val="BE5320"/>
          </a:solidFill>
          <a:ln/>
        </p:spPr>
        <p:txBody>
          <a:bodyPr/>
          <a:lstStyle/>
          <a:p>
            <a:endParaRPr lang="en-GB"/>
          </a:p>
        </p:txBody>
      </p:sp>
      <p:sp>
        <p:nvSpPr>
          <p:cNvPr id="26" name="Text 24"/>
          <p:cNvSpPr/>
          <p:nvPr/>
        </p:nvSpPr>
        <p:spPr>
          <a:xfrm>
            <a:off x="7680960" y="1737360"/>
            <a:ext cx="640080" cy="64008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T</a:t>
            </a:r>
            <a:endParaRPr lang="en-US" sz="2800" dirty="0"/>
          </a:p>
        </p:txBody>
      </p:sp>
      <p:sp>
        <p:nvSpPr>
          <p:cNvPr id="27" name="Text 25"/>
          <p:cNvSpPr/>
          <p:nvPr/>
        </p:nvSpPr>
        <p:spPr>
          <a:xfrm>
            <a:off x="7333488" y="2514600"/>
            <a:ext cx="1335024" cy="594360"/>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Take ownership</a:t>
            </a:r>
            <a:endParaRPr lang="en-US" sz="1350" dirty="0"/>
          </a:p>
        </p:txBody>
      </p:sp>
      <p:sp>
        <p:nvSpPr>
          <p:cNvPr id="28" name="Text 26"/>
          <p:cNvSpPr/>
          <p:nvPr/>
        </p:nvSpPr>
        <p:spPr>
          <a:xfrm>
            <a:off x="7342632" y="3108960"/>
            <a:ext cx="1316736" cy="1143000"/>
          </a:xfrm>
          <a:prstGeom prst="rect">
            <a:avLst/>
          </a:prstGeom>
          <a:noFill/>
          <a:ln/>
        </p:spPr>
        <p:txBody>
          <a:bodyPr wrap="square" lIns="0" tIns="0" rIns="0" bIns="0" rtlCol="0" anchor="ctr"/>
          <a:lstStyle/>
          <a:p>
            <a:pPr marL="0" indent="0" algn="ctr">
              <a:buNone/>
            </a:pPr>
            <a:r>
              <a:rPr lang="en-US" sz="980" dirty="0">
                <a:solidFill>
                  <a:srgbClr val="E5D6C2"/>
                </a:solidFill>
                <a:latin typeface="Calibri" pitchFamily="34" charset="0"/>
                <a:ea typeface="Calibri" pitchFamily="34" charset="-122"/>
                <a:cs typeface="Calibri" pitchFamily="34" charset="-120"/>
              </a:rPr>
              <a:t>You are the author. Disclose AI use; accountability never transfers.</a:t>
            </a:r>
            <a:endParaRPr lang="en-US" sz="980" dirty="0"/>
          </a:p>
        </p:txBody>
      </p:sp>
      <p:sp>
        <p:nvSpPr>
          <p:cNvPr id="29" name="Text 27"/>
          <p:cNvSpPr/>
          <p:nvPr/>
        </p:nvSpPr>
        <p:spPr>
          <a:xfrm>
            <a:off x="502920" y="4617720"/>
            <a:ext cx="8138160" cy="320040"/>
          </a:xfrm>
          <a:prstGeom prst="rect">
            <a:avLst/>
          </a:prstGeom>
          <a:noFill/>
          <a:ln/>
        </p:spPr>
        <p:txBody>
          <a:bodyPr wrap="square" lIns="0" tIns="0" rIns="0" bIns="0" rtlCol="0" anchor="ctr"/>
          <a:lstStyle/>
          <a:p>
            <a:pPr marL="0" indent="0" algn="ctr">
              <a:buNone/>
            </a:pPr>
            <a:r>
              <a:rPr lang="en-US" sz="1300" i="1" dirty="0">
                <a:solidFill>
                  <a:srgbClr val="D99B32"/>
                </a:solidFill>
                <a:latin typeface="Calibri" pitchFamily="34" charset="0"/>
                <a:ea typeface="Calibri" pitchFamily="34" charset="-122"/>
                <a:cs typeface="Calibri" pitchFamily="34" charset="-120"/>
              </a:rPr>
              <a:t>One loop per task — from a single email to a full systematic review.</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marL="0" indent="0">
              <a:buNone/>
            </a:pPr>
            <a:r>
              <a:rPr lang="en-US" sz="1200" b="1" kern="0" spc="300" dirty="0">
                <a:solidFill>
                  <a:srgbClr val="BE5320"/>
                </a:solidFill>
                <a:latin typeface="Calibri" pitchFamily="34" charset="0"/>
                <a:ea typeface="Calibri" pitchFamily="34" charset="-122"/>
                <a:cs typeface="Calibri" pitchFamily="34" charset="-120"/>
              </a:rPr>
              <a:t>STAGE 1 · DISCOVER</a:t>
            </a:r>
            <a:endParaRPr lang="en-US" sz="120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3000" b="1" dirty="0">
                <a:solidFill>
                  <a:srgbClr val="3B2314"/>
                </a:solidFill>
                <a:latin typeface="Cambria" pitchFamily="34" charset="0"/>
                <a:ea typeface="Cambria" pitchFamily="34" charset="-122"/>
                <a:cs typeface="Cambria" pitchFamily="34" charset="-120"/>
              </a:rPr>
              <a:t>Literature: From Searching to Screening at Scale</a:t>
            </a:r>
            <a:endParaRPr lang="en-US" sz="3000" dirty="0"/>
          </a:p>
        </p:txBody>
      </p:sp>
      <p:sp>
        <p:nvSpPr>
          <p:cNvPr id="4" name="Text 2"/>
          <p:cNvSpPr/>
          <p:nvPr/>
        </p:nvSpPr>
        <p:spPr>
          <a:xfrm>
            <a:off x="502920" y="1371600"/>
            <a:ext cx="4846320" cy="685800"/>
          </a:xfrm>
          <a:prstGeom prst="rect">
            <a:avLst/>
          </a:prstGeom>
          <a:noFill/>
          <a:ln/>
        </p:spPr>
        <p:txBody>
          <a:bodyPr wrap="square" lIns="0" tIns="0" rIns="0" bIns="0" rtlCol="0" anchor="ctr"/>
          <a:lstStyle/>
          <a:p>
            <a:pPr marL="0" indent="0">
              <a:buNone/>
            </a:pPr>
            <a:r>
              <a:rPr lang="en-US" sz="1400" dirty="0">
                <a:solidFill>
                  <a:srgbClr val="2B2118"/>
                </a:solidFill>
                <a:latin typeface="Calibri" pitchFamily="34" charset="0"/>
                <a:ea typeface="Calibri" pitchFamily="34" charset="-122"/>
                <a:cs typeface="Calibri" pitchFamily="34" charset="-120"/>
              </a:rPr>
              <a:t>Semantic search finds papers by meaning, not keywords — </a:t>
            </a:r>
            <a:r>
              <a:rPr lang="en-US" sz="1400" b="1" dirty="0">
                <a:solidFill>
                  <a:srgbClr val="2B2118"/>
                </a:solidFill>
                <a:latin typeface="Calibri" pitchFamily="34" charset="0"/>
                <a:ea typeface="Calibri" pitchFamily="34" charset="-122"/>
                <a:cs typeface="Calibri" pitchFamily="34" charset="-120"/>
              </a:rPr>
              <a:t>then AI triages hundreds of abstracts against YOUR inclusion criteria.</a:t>
            </a:r>
            <a:endParaRPr lang="en-US" sz="1400" dirty="0"/>
          </a:p>
        </p:txBody>
      </p:sp>
      <p:sp>
        <p:nvSpPr>
          <p:cNvPr id="5" name="Shape 3"/>
          <p:cNvSpPr/>
          <p:nvPr/>
        </p:nvSpPr>
        <p:spPr>
          <a:xfrm>
            <a:off x="548640" y="2148840"/>
            <a:ext cx="457200" cy="457200"/>
          </a:xfrm>
          <a:prstGeom prst="ellipse">
            <a:avLst/>
          </a:prstGeom>
          <a:solidFill>
            <a:srgbClr val="BE5320"/>
          </a:solidFill>
          <a:ln/>
        </p:spPr>
        <p:txBody>
          <a:bodyPr/>
          <a:lstStyle/>
          <a:p>
            <a:endParaRPr lang="en-GB"/>
          </a:p>
        </p:txBody>
      </p:sp>
      <p:pic>
        <p:nvPicPr>
          <p:cNvPr id="6" name="Image 0" descr="preencoded.png"/>
          <p:cNvPicPr>
            <a:picLocks noChangeAspect="1"/>
          </p:cNvPicPr>
          <p:nvPr/>
        </p:nvPicPr>
        <p:blipFill>
          <a:blip r:embed="rId3"/>
          <a:stretch>
            <a:fillRect/>
          </a:stretch>
        </p:blipFill>
        <p:spPr>
          <a:xfrm>
            <a:off x="611204" y="2211404"/>
            <a:ext cx="338328" cy="338328"/>
          </a:xfrm>
          <a:prstGeom prst="rect">
            <a:avLst/>
          </a:prstGeom>
        </p:spPr>
      </p:pic>
      <p:sp>
        <p:nvSpPr>
          <p:cNvPr id="7" name="Text 4"/>
          <p:cNvSpPr/>
          <p:nvPr/>
        </p:nvSpPr>
        <p:spPr>
          <a:xfrm>
            <a:off x="1188720" y="2121408"/>
            <a:ext cx="4160520" cy="822960"/>
          </a:xfrm>
          <a:prstGeom prst="rect">
            <a:avLst/>
          </a:prstGeom>
          <a:noFill/>
          <a:ln/>
        </p:spPr>
        <p:txBody>
          <a:bodyPr wrap="square" lIns="0" tIns="0" rIns="0" bIns="0" rtlCol="0" anchor="ctr"/>
          <a:lstStyle/>
          <a:p>
            <a:pPr marL="0" indent="0">
              <a:buNone/>
            </a:pPr>
            <a:r>
              <a:rPr lang="en-US" sz="1180" dirty="0">
                <a:solidFill>
                  <a:srgbClr val="2B2118"/>
                </a:solidFill>
                <a:latin typeface="Calibri" pitchFamily="34" charset="0"/>
                <a:ea typeface="Calibri" pitchFamily="34" charset="-122"/>
                <a:cs typeface="Calibri" pitchFamily="34" charset="-120"/>
              </a:rPr>
              <a:t>Law: “Group Nigerian appellate decisions on electronic evidence since 2011 by doctrinal theme.” Then verify each case in the law reports.</a:t>
            </a:r>
            <a:endParaRPr lang="en-US" sz="1180" dirty="0"/>
          </a:p>
        </p:txBody>
      </p:sp>
      <p:sp>
        <p:nvSpPr>
          <p:cNvPr id="8" name="Shape 5"/>
          <p:cNvSpPr/>
          <p:nvPr/>
        </p:nvSpPr>
        <p:spPr>
          <a:xfrm>
            <a:off x="548640" y="2990088"/>
            <a:ext cx="457200" cy="457200"/>
          </a:xfrm>
          <a:prstGeom prst="ellipse">
            <a:avLst/>
          </a:prstGeom>
          <a:solidFill>
            <a:srgbClr val="BE5320"/>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611204" y="3052652"/>
            <a:ext cx="338328" cy="338328"/>
          </a:xfrm>
          <a:prstGeom prst="rect">
            <a:avLst/>
          </a:prstGeom>
        </p:spPr>
      </p:pic>
      <p:sp>
        <p:nvSpPr>
          <p:cNvPr id="10" name="Text 6"/>
          <p:cNvSpPr/>
          <p:nvPr/>
        </p:nvSpPr>
        <p:spPr>
          <a:xfrm>
            <a:off x="1188720" y="2962656"/>
            <a:ext cx="4160520" cy="822960"/>
          </a:xfrm>
          <a:prstGeom prst="rect">
            <a:avLst/>
          </a:prstGeom>
          <a:noFill/>
          <a:ln/>
        </p:spPr>
        <p:txBody>
          <a:bodyPr wrap="square" lIns="0" tIns="0" rIns="0" bIns="0" rtlCol="0" anchor="ctr"/>
          <a:lstStyle/>
          <a:p>
            <a:pPr marL="0" indent="0">
              <a:buNone/>
            </a:pPr>
            <a:r>
              <a:rPr lang="en-US" sz="1180" dirty="0">
                <a:solidFill>
                  <a:srgbClr val="2B2118"/>
                </a:solidFill>
                <a:latin typeface="Calibri" pitchFamily="34" charset="0"/>
                <a:ea typeface="Calibri" pitchFamily="34" charset="-122"/>
                <a:cs typeface="Calibri" pitchFamily="34" charset="-120"/>
              </a:rPr>
              <a:t>History: screen 400 abstracts against three inclusion criteria in an afternoon — keep the borderline pile for human reading.</a:t>
            </a:r>
            <a:endParaRPr lang="en-US" sz="1180" dirty="0"/>
          </a:p>
        </p:txBody>
      </p:sp>
      <p:sp>
        <p:nvSpPr>
          <p:cNvPr id="11" name="Shape 7"/>
          <p:cNvSpPr/>
          <p:nvPr/>
        </p:nvSpPr>
        <p:spPr>
          <a:xfrm>
            <a:off x="548640" y="3831336"/>
            <a:ext cx="457200" cy="457200"/>
          </a:xfrm>
          <a:prstGeom prst="ellipse">
            <a:avLst/>
          </a:prstGeom>
          <a:solidFill>
            <a:srgbClr val="BE5320"/>
          </a:solidFill>
          <a:ln/>
        </p:spPr>
        <p:txBody>
          <a:bodyPr/>
          <a:lstStyle/>
          <a:p>
            <a:endParaRPr lang="en-GB"/>
          </a:p>
        </p:txBody>
      </p:sp>
      <p:pic>
        <p:nvPicPr>
          <p:cNvPr id="12" name="Image 2" descr="preencoded.png"/>
          <p:cNvPicPr>
            <a:picLocks noChangeAspect="1"/>
          </p:cNvPicPr>
          <p:nvPr/>
        </p:nvPicPr>
        <p:blipFill>
          <a:blip r:embed="rId5"/>
          <a:stretch>
            <a:fillRect/>
          </a:stretch>
        </p:blipFill>
        <p:spPr>
          <a:xfrm>
            <a:off x="611204" y="3893900"/>
            <a:ext cx="338328" cy="338328"/>
          </a:xfrm>
          <a:prstGeom prst="rect">
            <a:avLst/>
          </a:prstGeom>
        </p:spPr>
      </p:pic>
      <p:sp>
        <p:nvSpPr>
          <p:cNvPr id="13" name="Text 8"/>
          <p:cNvSpPr/>
          <p:nvPr/>
        </p:nvSpPr>
        <p:spPr>
          <a:xfrm>
            <a:off x="1188720" y="3803904"/>
            <a:ext cx="4160520" cy="822960"/>
          </a:xfrm>
          <a:prstGeom prst="rect">
            <a:avLst/>
          </a:prstGeom>
          <a:noFill/>
          <a:ln/>
        </p:spPr>
        <p:txBody>
          <a:bodyPr wrap="square" lIns="0" tIns="0" rIns="0" bIns="0" rtlCol="0" anchor="ctr"/>
          <a:lstStyle/>
          <a:p>
            <a:pPr marL="0" indent="0">
              <a:buNone/>
            </a:pPr>
            <a:r>
              <a:rPr lang="en-US" sz="1180" dirty="0">
                <a:solidFill>
                  <a:srgbClr val="2B2118"/>
                </a:solidFill>
                <a:latin typeface="Calibri" pitchFamily="34" charset="0"/>
                <a:ea typeface="Calibri" pitchFamily="34" charset="-122"/>
                <a:cs typeface="Calibri" pitchFamily="34" charset="-120"/>
              </a:rPr>
              <a:t>Health: draft PICO-structured search strings for PubMed, then refine with your librarian.</a:t>
            </a:r>
            <a:endParaRPr lang="en-US" sz="1180" dirty="0"/>
          </a:p>
        </p:txBody>
      </p:sp>
      <p:sp>
        <p:nvSpPr>
          <p:cNvPr id="14" name="Shape 9"/>
          <p:cNvSpPr/>
          <p:nvPr/>
        </p:nvSpPr>
        <p:spPr>
          <a:xfrm>
            <a:off x="5623560" y="1371600"/>
            <a:ext cx="3017520" cy="2331720"/>
          </a:xfrm>
          <a:prstGeom prst="roundRect">
            <a:avLst>
              <a:gd name="adj" fmla="val 3137"/>
            </a:avLst>
          </a:prstGeom>
          <a:solidFill>
            <a:srgbClr val="3B2314"/>
          </a:solidFill>
          <a:ln/>
          <a:effectLst>
            <a:outerShdw blurRad="88900" dist="25400" dir="2700000" algn="bl" rotWithShape="0">
              <a:srgbClr val="000000">
                <a:alpha val="14000"/>
              </a:srgbClr>
            </a:outerShdw>
          </a:effectLst>
        </p:spPr>
        <p:txBody>
          <a:bodyPr/>
          <a:lstStyle/>
          <a:p>
            <a:endParaRPr lang="en-GB"/>
          </a:p>
        </p:txBody>
      </p:sp>
      <p:sp>
        <p:nvSpPr>
          <p:cNvPr id="15" name="Text 10"/>
          <p:cNvSpPr/>
          <p:nvPr/>
        </p:nvSpPr>
        <p:spPr>
          <a:xfrm>
            <a:off x="5806440" y="1481328"/>
            <a:ext cx="2651760" cy="228600"/>
          </a:xfrm>
          <a:prstGeom prst="rect">
            <a:avLst/>
          </a:prstGeom>
          <a:noFill/>
          <a:ln/>
        </p:spPr>
        <p:txBody>
          <a:bodyPr wrap="square" lIns="0" tIns="0" rIns="0" bIns="0" rtlCol="0" anchor="ctr"/>
          <a:lstStyle/>
          <a:p>
            <a:pPr marL="0" indent="0">
              <a:buNone/>
            </a:pPr>
            <a:r>
              <a:rPr lang="en-US" sz="1000" b="1" kern="0" spc="200" dirty="0">
                <a:solidFill>
                  <a:srgbClr val="D99B32"/>
                </a:solidFill>
                <a:latin typeface="Calibri" pitchFamily="34" charset="0"/>
                <a:ea typeface="Calibri" pitchFamily="34" charset="-122"/>
                <a:cs typeface="Calibri" pitchFamily="34" charset="-120"/>
              </a:rPr>
              <a:t>TRY THIS PROMPT</a:t>
            </a:r>
            <a:endParaRPr lang="en-US" sz="1000" dirty="0"/>
          </a:p>
        </p:txBody>
      </p:sp>
      <p:sp>
        <p:nvSpPr>
          <p:cNvPr id="16" name="Text 11"/>
          <p:cNvSpPr/>
          <p:nvPr/>
        </p:nvSpPr>
        <p:spPr>
          <a:xfrm>
            <a:off x="5806440" y="1737360"/>
            <a:ext cx="2651760" cy="1828800"/>
          </a:xfrm>
          <a:prstGeom prst="rect">
            <a:avLst/>
          </a:prstGeom>
          <a:noFill/>
          <a:ln/>
        </p:spPr>
        <p:txBody>
          <a:bodyPr wrap="square" lIns="0" tIns="0" rIns="0" bIns="0" rtlCol="0" anchor="ctr"/>
          <a:lstStyle/>
          <a:p>
            <a:pPr marL="0" indent="0">
              <a:buNone/>
            </a:pPr>
            <a:r>
              <a:rPr lang="en-US" sz="1050" dirty="0">
                <a:solidFill>
                  <a:srgbClr val="F0E4D2"/>
                </a:solidFill>
                <a:latin typeface="Courier New" pitchFamily="34" charset="0"/>
                <a:ea typeface="Courier New" pitchFamily="34" charset="-122"/>
                <a:cs typeface="Courier New" pitchFamily="34" charset="-120"/>
              </a:rPr>
              <a:t>Here are my 3 inclusion criteria:</a:t>
            </a:r>
            <a:endParaRPr lang="en-US" sz="1050" dirty="0"/>
          </a:p>
          <a:p>
            <a:pPr marL="0" indent="0">
              <a:buNone/>
            </a:pPr>
            <a:r>
              <a:rPr lang="en-US" sz="1050" dirty="0">
                <a:solidFill>
                  <a:srgbClr val="F0E4D2"/>
                </a:solidFill>
                <a:latin typeface="Courier New" pitchFamily="34" charset="0"/>
                <a:ea typeface="Courier New" pitchFamily="34" charset="-122"/>
                <a:cs typeface="Courier New" pitchFamily="34" charset="-120"/>
              </a:rPr>
              <a:t>[criteria]. For each abstract</a:t>
            </a:r>
            <a:endParaRPr lang="en-US" sz="1050" dirty="0"/>
          </a:p>
          <a:p>
            <a:pPr marL="0" indent="0">
              <a:buNone/>
            </a:pPr>
            <a:r>
              <a:rPr lang="en-US" sz="1050" dirty="0">
                <a:solidFill>
                  <a:srgbClr val="F0E4D2"/>
                </a:solidFill>
                <a:latin typeface="Courier New" pitchFamily="34" charset="0"/>
                <a:ea typeface="Courier New" pitchFamily="34" charset="-122"/>
                <a:cs typeface="Courier New" pitchFamily="34" charset="-120"/>
              </a:rPr>
              <a:t>below, return: Include / Exclude /</a:t>
            </a:r>
            <a:endParaRPr lang="en-US" sz="1050" dirty="0"/>
          </a:p>
          <a:p>
            <a:pPr marL="0" indent="0">
              <a:buNone/>
            </a:pPr>
            <a:r>
              <a:rPr lang="en-US" sz="1050" dirty="0">
                <a:solidFill>
                  <a:srgbClr val="F0E4D2"/>
                </a:solidFill>
                <a:latin typeface="Courier New" pitchFamily="34" charset="0"/>
                <a:ea typeface="Courier New" pitchFamily="34" charset="-122"/>
                <a:cs typeface="Courier New" pitchFamily="34" charset="-120"/>
              </a:rPr>
              <a:t>Unsure + one-line reason.</a:t>
            </a:r>
            <a:endParaRPr lang="en-US" sz="1050" dirty="0"/>
          </a:p>
          <a:p>
            <a:pPr marL="0" indent="0">
              <a:buNone/>
            </a:pPr>
            <a:r>
              <a:rPr lang="en-US" sz="1050" dirty="0">
                <a:solidFill>
                  <a:srgbClr val="F0E4D2"/>
                </a:solidFill>
                <a:latin typeface="Courier New" pitchFamily="34" charset="0"/>
                <a:ea typeface="Courier New" pitchFamily="34" charset="-122"/>
                <a:cs typeface="Courier New" pitchFamily="34" charset="-120"/>
              </a:rPr>
              <a:t>Do not summarise. Flag any</a:t>
            </a:r>
            <a:endParaRPr lang="en-US" sz="1050" dirty="0"/>
          </a:p>
          <a:p>
            <a:pPr marL="0" indent="0">
              <a:buNone/>
            </a:pPr>
            <a:r>
              <a:rPr lang="en-US" sz="1050" dirty="0">
                <a:solidFill>
                  <a:srgbClr val="F0E4D2"/>
                </a:solidFill>
                <a:latin typeface="Courier New" pitchFamily="34" charset="0"/>
                <a:ea typeface="Courier New" pitchFamily="34" charset="-122"/>
                <a:cs typeface="Courier New" pitchFamily="34" charset="-120"/>
              </a:rPr>
              <a:t>abstract mentioning West African</a:t>
            </a:r>
            <a:endParaRPr lang="en-US" sz="1050" dirty="0"/>
          </a:p>
          <a:p>
            <a:pPr marL="0" indent="0">
              <a:buNone/>
            </a:pPr>
            <a:r>
              <a:rPr lang="en-US" sz="1050" dirty="0">
                <a:solidFill>
                  <a:srgbClr val="F0E4D2"/>
                </a:solidFill>
                <a:latin typeface="Courier New" pitchFamily="34" charset="0"/>
                <a:ea typeface="Courier New" pitchFamily="34" charset="-122"/>
                <a:cs typeface="Courier New" pitchFamily="34" charset="-120"/>
              </a:rPr>
              <a:t>samples.</a:t>
            </a:r>
            <a:endParaRPr lang="en-US" sz="1050" dirty="0"/>
          </a:p>
        </p:txBody>
      </p:sp>
      <p:sp>
        <p:nvSpPr>
          <p:cNvPr id="17" name="Shape 12"/>
          <p:cNvSpPr/>
          <p:nvPr/>
        </p:nvSpPr>
        <p:spPr>
          <a:xfrm>
            <a:off x="5623560" y="3840480"/>
            <a:ext cx="3017520" cy="868680"/>
          </a:xfrm>
          <a:prstGeom prst="roundRect">
            <a:avLst>
              <a:gd name="adj" fmla="val 8421"/>
            </a:avLst>
          </a:prstGeom>
          <a:solidFill>
            <a:srgbClr val="F3E7D7"/>
          </a:solidFill>
          <a:ln/>
        </p:spPr>
        <p:txBody>
          <a:bodyPr/>
          <a:lstStyle/>
          <a:p>
            <a:endParaRPr lang="en-GB"/>
          </a:p>
        </p:txBody>
      </p:sp>
      <p:sp>
        <p:nvSpPr>
          <p:cNvPr id="18" name="Text 13"/>
          <p:cNvSpPr/>
          <p:nvPr/>
        </p:nvSpPr>
        <p:spPr>
          <a:xfrm>
            <a:off x="5806440" y="3950208"/>
            <a:ext cx="2697480" cy="685800"/>
          </a:xfrm>
          <a:prstGeom prst="rect">
            <a:avLst/>
          </a:prstGeom>
          <a:noFill/>
          <a:ln/>
        </p:spPr>
        <p:txBody>
          <a:bodyPr wrap="square" lIns="0" tIns="0" rIns="0" bIns="0" rtlCol="0" anchor="ctr"/>
          <a:lstStyle/>
          <a:p>
            <a:pPr marL="0" indent="0">
              <a:buNone/>
            </a:pPr>
            <a:r>
              <a:rPr lang="en-US" sz="1250" b="1" dirty="0">
                <a:solidFill>
                  <a:srgbClr val="BE5320"/>
                </a:solidFill>
                <a:latin typeface="Calibri" pitchFamily="34" charset="0"/>
                <a:ea typeface="Calibri" pitchFamily="34" charset="-122"/>
                <a:cs typeface="Calibri" pitchFamily="34" charset="-120"/>
              </a:rPr>
              <a:t>Golden rule: </a:t>
            </a:r>
            <a:r>
              <a:rPr lang="en-US" sz="1250" dirty="0">
                <a:solidFill>
                  <a:srgbClr val="2B2118"/>
                </a:solidFill>
                <a:latin typeface="Calibri" pitchFamily="34" charset="0"/>
                <a:ea typeface="Calibri" pitchFamily="34" charset="-122"/>
                <a:cs typeface="Calibri" pitchFamily="34" charset="-120"/>
              </a:rPr>
              <a:t>never cite a paper you have not opened yourself.</a:t>
            </a:r>
            <a:endParaRPr lang="en-US" sz="1250" dirty="0"/>
          </a:p>
        </p:txBody>
      </p:sp>
      <p:sp>
        <p:nvSpPr>
          <p:cNvPr id="19" name="Text 14"/>
          <p:cNvSpPr/>
          <p:nvPr/>
        </p:nvSpPr>
        <p:spPr>
          <a:xfrm>
            <a:off x="502920" y="4846320"/>
            <a:ext cx="4114800" cy="228600"/>
          </a:xfrm>
          <a:prstGeom prst="rect">
            <a:avLst/>
          </a:prstGeom>
          <a:noFill/>
          <a:ln/>
        </p:spPr>
        <p:txBody>
          <a:bodyPr wrap="square" lIns="0" tIns="0" rIns="0" bIns="0" rtlCol="0" anchor="ctr"/>
          <a:lstStyle/>
          <a:p>
            <a:pPr marL="0" indent="0">
              <a:buNone/>
            </a:pPr>
            <a:r>
              <a:rPr lang="en-US" sz="900" dirty="0">
                <a:solidFill>
                  <a:srgbClr val="8A7A6B"/>
                </a:solidFill>
                <a:latin typeface="Calibri" pitchFamily="34" charset="0"/>
                <a:ea typeface="Calibri" pitchFamily="34" charset="-122"/>
                <a:cs typeface="Calibri" pitchFamily="34" charset="-120"/>
              </a:rPr>
              <a:t>AWAU Monthly Colloquium  ·  July 2026</a:t>
            </a:r>
            <a:endParaRPr lang="en-US" sz="900" dirty="0"/>
          </a:p>
        </p:txBody>
      </p:sp>
      <p:sp>
        <p:nvSpPr>
          <p:cNvPr id="20" name="Text 15"/>
          <p:cNvSpPr/>
          <p:nvPr/>
        </p:nvSpPr>
        <p:spPr>
          <a:xfrm>
            <a:off x="8503920" y="4846320"/>
            <a:ext cx="320040" cy="228600"/>
          </a:xfrm>
          <a:prstGeom prst="rect">
            <a:avLst/>
          </a:prstGeom>
          <a:noFill/>
          <a:ln/>
        </p:spPr>
        <p:txBody>
          <a:bodyPr wrap="square" lIns="0" tIns="0" rIns="0" bIns="0" rtlCol="0" anchor="ctr"/>
          <a:lstStyle/>
          <a:p>
            <a:pPr marL="0" indent="0" algn="r">
              <a:buNone/>
            </a:pPr>
            <a:r>
              <a:rPr lang="en-US" sz="900" dirty="0">
                <a:solidFill>
                  <a:srgbClr val="8A7A6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marL="0" indent="0">
              <a:buNone/>
            </a:pPr>
            <a:r>
              <a:rPr lang="en-US" sz="1200" b="1" kern="0" spc="300" dirty="0">
                <a:solidFill>
                  <a:srgbClr val="BE5320"/>
                </a:solidFill>
                <a:latin typeface="Calibri" pitchFamily="34" charset="0"/>
                <a:ea typeface="Calibri" pitchFamily="34" charset="-122"/>
                <a:cs typeface="Calibri" pitchFamily="34" charset="-120"/>
              </a:rPr>
              <a:t>STAGE 2 · DESIGN</a:t>
            </a:r>
            <a:endParaRPr lang="en-US" sz="120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3000" b="1" dirty="0">
                <a:solidFill>
                  <a:srgbClr val="3B2314"/>
                </a:solidFill>
                <a:latin typeface="Cambria" pitchFamily="34" charset="0"/>
                <a:ea typeface="Cambria" pitchFamily="34" charset="-122"/>
                <a:cs typeface="Cambria" pitchFamily="34" charset="-120"/>
              </a:rPr>
              <a:t>AI as Sparring Partner, Not Oracle</a:t>
            </a:r>
            <a:endParaRPr lang="en-US" sz="3000" dirty="0"/>
          </a:p>
        </p:txBody>
      </p:sp>
      <p:sp>
        <p:nvSpPr>
          <p:cNvPr id="4" name="Shape 2"/>
          <p:cNvSpPr/>
          <p:nvPr/>
        </p:nvSpPr>
        <p:spPr>
          <a:xfrm>
            <a:off x="502920" y="1463040"/>
            <a:ext cx="3977640" cy="1417320"/>
          </a:xfrm>
          <a:prstGeom prst="roundRect">
            <a:avLst>
              <a:gd name="adj" fmla="val 5161"/>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5" name="Shape 3"/>
          <p:cNvSpPr/>
          <p:nvPr/>
        </p:nvSpPr>
        <p:spPr>
          <a:xfrm>
            <a:off x="685800" y="1627632"/>
            <a:ext cx="420624" cy="420624"/>
          </a:xfrm>
          <a:prstGeom prst="ellipse">
            <a:avLst/>
          </a:prstGeom>
          <a:solidFill>
            <a:srgbClr val="BE5320"/>
          </a:solidFill>
          <a:ln/>
        </p:spPr>
        <p:txBody>
          <a:bodyPr/>
          <a:lstStyle/>
          <a:p>
            <a:endParaRPr lang="en-GB"/>
          </a:p>
        </p:txBody>
      </p:sp>
      <p:pic>
        <p:nvPicPr>
          <p:cNvPr id="6" name="Image 0" descr="preencoded.png"/>
          <p:cNvPicPr>
            <a:picLocks noChangeAspect="1"/>
          </p:cNvPicPr>
          <p:nvPr/>
        </p:nvPicPr>
        <p:blipFill>
          <a:blip r:embed="rId3"/>
          <a:stretch>
            <a:fillRect/>
          </a:stretch>
        </p:blipFill>
        <p:spPr>
          <a:xfrm>
            <a:off x="743359" y="1685191"/>
            <a:ext cx="311262" cy="311262"/>
          </a:xfrm>
          <a:prstGeom prst="rect">
            <a:avLst/>
          </a:prstGeom>
        </p:spPr>
      </p:pic>
      <p:sp>
        <p:nvSpPr>
          <p:cNvPr id="7" name="Text 4"/>
          <p:cNvSpPr/>
          <p:nvPr/>
        </p:nvSpPr>
        <p:spPr>
          <a:xfrm>
            <a:off x="1234440" y="1627632"/>
            <a:ext cx="3108960" cy="384048"/>
          </a:xfrm>
          <a:prstGeom prst="rect">
            <a:avLst/>
          </a:prstGeom>
          <a:noFill/>
          <a:ln/>
        </p:spPr>
        <p:txBody>
          <a:bodyPr wrap="square" lIns="0" tIns="0" rIns="0" bIns="0" rtlCol="0" anchor="ctr"/>
          <a:lstStyle/>
          <a:p>
            <a:pPr marL="0" indent="0">
              <a:buNone/>
            </a:pPr>
            <a:r>
              <a:rPr lang="en-US" sz="1400" b="1" dirty="0">
                <a:solidFill>
                  <a:srgbClr val="3B2314"/>
                </a:solidFill>
                <a:latin typeface="Cambria" pitchFamily="34" charset="0"/>
                <a:ea typeface="Cambria" pitchFamily="34" charset="-122"/>
                <a:cs typeface="Cambria" pitchFamily="34" charset="-120"/>
              </a:rPr>
              <a:t>Generate rival hypotheses</a:t>
            </a:r>
            <a:endParaRPr lang="en-US" sz="1400" dirty="0"/>
          </a:p>
        </p:txBody>
      </p:sp>
      <p:sp>
        <p:nvSpPr>
          <p:cNvPr id="8" name="Text 5"/>
          <p:cNvSpPr/>
          <p:nvPr/>
        </p:nvSpPr>
        <p:spPr>
          <a:xfrm>
            <a:off x="704088" y="2084832"/>
            <a:ext cx="3611880" cy="731520"/>
          </a:xfrm>
          <a:prstGeom prst="rect">
            <a:avLst/>
          </a:prstGeom>
          <a:noFill/>
          <a:ln/>
        </p:spPr>
        <p:txBody>
          <a:bodyPr wrap="square" lIns="0" tIns="0" rIns="0" bIns="0" rtlCol="0" anchor="ctr"/>
          <a:lstStyle/>
          <a:p>
            <a:pPr marL="0" indent="0">
              <a:buNone/>
            </a:pPr>
            <a:r>
              <a:rPr lang="en-US" sz="1080" dirty="0">
                <a:solidFill>
                  <a:srgbClr val="2B2118"/>
                </a:solidFill>
                <a:latin typeface="Calibri" pitchFamily="34" charset="0"/>
                <a:ea typeface="Calibri" pitchFamily="34" charset="-122"/>
                <a:cs typeface="Calibri" pitchFamily="34" charset="-120"/>
              </a:rPr>
              <a:t>Economics: “Give five alternative explanations for the correlation I observe between mobile-money adoption and household savings.”</a:t>
            </a:r>
            <a:endParaRPr lang="en-US" sz="1080" dirty="0"/>
          </a:p>
        </p:txBody>
      </p:sp>
      <p:sp>
        <p:nvSpPr>
          <p:cNvPr id="9" name="Shape 6"/>
          <p:cNvSpPr/>
          <p:nvPr/>
        </p:nvSpPr>
        <p:spPr>
          <a:xfrm>
            <a:off x="4709160" y="1463040"/>
            <a:ext cx="3977640" cy="1417320"/>
          </a:xfrm>
          <a:prstGeom prst="roundRect">
            <a:avLst>
              <a:gd name="adj" fmla="val 5161"/>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10" name="Shape 7"/>
          <p:cNvSpPr/>
          <p:nvPr/>
        </p:nvSpPr>
        <p:spPr>
          <a:xfrm>
            <a:off x="4892040" y="1627632"/>
            <a:ext cx="420624" cy="420624"/>
          </a:xfrm>
          <a:prstGeom prst="ellipse">
            <a:avLst/>
          </a:prstGeom>
          <a:solidFill>
            <a:srgbClr val="BE5320"/>
          </a:solidFill>
          <a:ln/>
        </p:spPr>
        <p:txBody>
          <a:bodyPr/>
          <a:lstStyle/>
          <a:p>
            <a:endParaRPr lang="en-GB"/>
          </a:p>
        </p:txBody>
      </p:sp>
      <p:pic>
        <p:nvPicPr>
          <p:cNvPr id="11" name="Image 1" descr="preencoded.png"/>
          <p:cNvPicPr>
            <a:picLocks noChangeAspect="1"/>
          </p:cNvPicPr>
          <p:nvPr/>
        </p:nvPicPr>
        <p:blipFill>
          <a:blip r:embed="rId4"/>
          <a:stretch>
            <a:fillRect/>
          </a:stretch>
        </p:blipFill>
        <p:spPr>
          <a:xfrm>
            <a:off x="4949599" y="1685191"/>
            <a:ext cx="311262" cy="311262"/>
          </a:xfrm>
          <a:prstGeom prst="rect">
            <a:avLst/>
          </a:prstGeom>
        </p:spPr>
      </p:pic>
      <p:sp>
        <p:nvSpPr>
          <p:cNvPr id="12" name="Text 8"/>
          <p:cNvSpPr/>
          <p:nvPr/>
        </p:nvSpPr>
        <p:spPr>
          <a:xfrm>
            <a:off x="5440680" y="1627632"/>
            <a:ext cx="3108960" cy="384048"/>
          </a:xfrm>
          <a:prstGeom prst="rect">
            <a:avLst/>
          </a:prstGeom>
          <a:noFill/>
          <a:ln/>
        </p:spPr>
        <p:txBody>
          <a:bodyPr wrap="square" lIns="0" tIns="0" rIns="0" bIns="0" rtlCol="0" anchor="ctr"/>
          <a:lstStyle/>
          <a:p>
            <a:pPr marL="0" indent="0">
              <a:buNone/>
            </a:pPr>
            <a:r>
              <a:rPr lang="en-US" sz="1400" b="1" dirty="0">
                <a:solidFill>
                  <a:srgbClr val="3B2314"/>
                </a:solidFill>
                <a:latin typeface="Cambria" pitchFamily="34" charset="0"/>
                <a:ea typeface="Cambria" pitchFamily="34" charset="-122"/>
                <a:cs typeface="Cambria" pitchFamily="34" charset="-120"/>
              </a:rPr>
              <a:t>Pre-review your own proposal</a:t>
            </a:r>
            <a:endParaRPr lang="en-US" sz="1400" dirty="0"/>
          </a:p>
        </p:txBody>
      </p:sp>
      <p:sp>
        <p:nvSpPr>
          <p:cNvPr id="13" name="Text 9"/>
          <p:cNvSpPr/>
          <p:nvPr/>
        </p:nvSpPr>
        <p:spPr>
          <a:xfrm>
            <a:off x="4910328" y="2084832"/>
            <a:ext cx="3611880" cy="731520"/>
          </a:xfrm>
          <a:prstGeom prst="rect">
            <a:avLst/>
          </a:prstGeom>
          <a:noFill/>
          <a:ln/>
        </p:spPr>
        <p:txBody>
          <a:bodyPr wrap="square" lIns="0" tIns="0" rIns="0" bIns="0" rtlCol="0" anchor="ctr"/>
          <a:lstStyle/>
          <a:p>
            <a:pPr marL="0" indent="0">
              <a:buNone/>
            </a:pPr>
            <a:r>
              <a:rPr lang="en-US" sz="1080" dirty="0">
                <a:solidFill>
                  <a:srgbClr val="2B2118"/>
                </a:solidFill>
                <a:latin typeface="Calibri" pitchFamily="34" charset="0"/>
                <a:ea typeface="Calibri" pitchFamily="34" charset="-122"/>
                <a:cs typeface="Calibri" pitchFamily="34" charset="-120"/>
              </a:rPr>
              <a:t>“Act as a hostile Reviewer 2 for this grant. List every methodological weakness, ranked by severity, with a fix for each.”</a:t>
            </a:r>
            <a:endParaRPr lang="en-US" sz="1080" dirty="0"/>
          </a:p>
        </p:txBody>
      </p:sp>
      <p:sp>
        <p:nvSpPr>
          <p:cNvPr id="14" name="Shape 10"/>
          <p:cNvSpPr/>
          <p:nvPr/>
        </p:nvSpPr>
        <p:spPr>
          <a:xfrm>
            <a:off x="502920" y="3063240"/>
            <a:ext cx="3977640" cy="1417320"/>
          </a:xfrm>
          <a:prstGeom prst="roundRect">
            <a:avLst>
              <a:gd name="adj" fmla="val 5161"/>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15" name="Shape 11"/>
          <p:cNvSpPr/>
          <p:nvPr/>
        </p:nvSpPr>
        <p:spPr>
          <a:xfrm>
            <a:off x="685800" y="3227832"/>
            <a:ext cx="420624" cy="420624"/>
          </a:xfrm>
          <a:prstGeom prst="ellipse">
            <a:avLst/>
          </a:prstGeom>
          <a:solidFill>
            <a:srgbClr val="BE5320"/>
          </a:solidFill>
          <a:ln/>
        </p:spPr>
        <p:txBody>
          <a:bodyPr/>
          <a:lstStyle/>
          <a:p>
            <a:endParaRPr lang="en-GB"/>
          </a:p>
        </p:txBody>
      </p:sp>
      <p:pic>
        <p:nvPicPr>
          <p:cNvPr id="16" name="Image 2" descr="preencoded.png"/>
          <p:cNvPicPr>
            <a:picLocks noChangeAspect="1"/>
          </p:cNvPicPr>
          <p:nvPr/>
        </p:nvPicPr>
        <p:blipFill>
          <a:blip r:embed="rId5"/>
          <a:stretch>
            <a:fillRect/>
          </a:stretch>
        </p:blipFill>
        <p:spPr>
          <a:xfrm>
            <a:off x="743359" y="3285391"/>
            <a:ext cx="311262" cy="311262"/>
          </a:xfrm>
          <a:prstGeom prst="rect">
            <a:avLst/>
          </a:prstGeom>
        </p:spPr>
      </p:pic>
      <p:sp>
        <p:nvSpPr>
          <p:cNvPr id="17" name="Text 12"/>
          <p:cNvSpPr/>
          <p:nvPr/>
        </p:nvSpPr>
        <p:spPr>
          <a:xfrm>
            <a:off x="1234440" y="3227832"/>
            <a:ext cx="3108960" cy="384048"/>
          </a:xfrm>
          <a:prstGeom prst="rect">
            <a:avLst/>
          </a:prstGeom>
          <a:noFill/>
          <a:ln/>
        </p:spPr>
        <p:txBody>
          <a:bodyPr wrap="square" lIns="0" tIns="0" rIns="0" bIns="0" rtlCol="0" anchor="ctr"/>
          <a:lstStyle/>
          <a:p>
            <a:pPr marL="0" indent="0">
              <a:buNone/>
            </a:pPr>
            <a:r>
              <a:rPr lang="en-US" sz="1400" b="1" dirty="0">
                <a:solidFill>
                  <a:srgbClr val="3B2314"/>
                </a:solidFill>
                <a:latin typeface="Cambria" pitchFamily="34" charset="0"/>
                <a:ea typeface="Cambria" pitchFamily="34" charset="-122"/>
                <a:cs typeface="Cambria" pitchFamily="34" charset="-120"/>
              </a:rPr>
              <a:t>Stress-test instruments</a:t>
            </a:r>
            <a:endParaRPr lang="en-US" sz="1400" dirty="0"/>
          </a:p>
        </p:txBody>
      </p:sp>
      <p:sp>
        <p:nvSpPr>
          <p:cNvPr id="18" name="Text 13"/>
          <p:cNvSpPr/>
          <p:nvPr/>
        </p:nvSpPr>
        <p:spPr>
          <a:xfrm>
            <a:off x="704088" y="3685032"/>
            <a:ext cx="3611880" cy="731520"/>
          </a:xfrm>
          <a:prstGeom prst="rect">
            <a:avLst/>
          </a:prstGeom>
          <a:noFill/>
          <a:ln/>
        </p:spPr>
        <p:txBody>
          <a:bodyPr wrap="square" lIns="0" tIns="0" rIns="0" bIns="0" rtlCol="0" anchor="ctr"/>
          <a:lstStyle/>
          <a:p>
            <a:pPr marL="0" indent="0">
              <a:buNone/>
            </a:pPr>
            <a:r>
              <a:rPr lang="en-US" sz="1080" dirty="0">
                <a:solidFill>
                  <a:srgbClr val="2B2118"/>
                </a:solidFill>
                <a:latin typeface="Calibri" pitchFamily="34" charset="0"/>
                <a:ea typeface="Calibri" pitchFamily="34" charset="-122"/>
                <a:cs typeface="Calibri" pitchFamily="34" charset="-120"/>
              </a:rPr>
              <a:t>Education: critique a questionnaire for double-barrelled items, leading wording and cultural mismatch before piloting.</a:t>
            </a:r>
            <a:endParaRPr lang="en-US" sz="1080" dirty="0"/>
          </a:p>
        </p:txBody>
      </p:sp>
      <p:sp>
        <p:nvSpPr>
          <p:cNvPr id="19" name="Shape 14"/>
          <p:cNvSpPr/>
          <p:nvPr/>
        </p:nvSpPr>
        <p:spPr>
          <a:xfrm>
            <a:off x="4709160" y="3063240"/>
            <a:ext cx="3977640" cy="1417320"/>
          </a:xfrm>
          <a:prstGeom prst="roundRect">
            <a:avLst>
              <a:gd name="adj" fmla="val 5161"/>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20" name="Shape 15"/>
          <p:cNvSpPr/>
          <p:nvPr/>
        </p:nvSpPr>
        <p:spPr>
          <a:xfrm>
            <a:off x="4892040" y="3227832"/>
            <a:ext cx="420624" cy="420624"/>
          </a:xfrm>
          <a:prstGeom prst="ellipse">
            <a:avLst/>
          </a:prstGeom>
          <a:solidFill>
            <a:srgbClr val="BE5320"/>
          </a:solidFill>
          <a:ln/>
        </p:spPr>
        <p:txBody>
          <a:bodyPr/>
          <a:lstStyle/>
          <a:p>
            <a:endParaRPr lang="en-GB"/>
          </a:p>
        </p:txBody>
      </p:sp>
      <p:pic>
        <p:nvPicPr>
          <p:cNvPr id="21" name="Image 3" descr="preencoded.png"/>
          <p:cNvPicPr>
            <a:picLocks noChangeAspect="1"/>
          </p:cNvPicPr>
          <p:nvPr/>
        </p:nvPicPr>
        <p:blipFill>
          <a:blip r:embed="rId6"/>
          <a:stretch>
            <a:fillRect/>
          </a:stretch>
        </p:blipFill>
        <p:spPr>
          <a:xfrm>
            <a:off x="4949599" y="3285391"/>
            <a:ext cx="311262" cy="311262"/>
          </a:xfrm>
          <a:prstGeom prst="rect">
            <a:avLst/>
          </a:prstGeom>
        </p:spPr>
      </p:pic>
      <p:sp>
        <p:nvSpPr>
          <p:cNvPr id="22" name="Text 16"/>
          <p:cNvSpPr/>
          <p:nvPr/>
        </p:nvSpPr>
        <p:spPr>
          <a:xfrm>
            <a:off x="5440680" y="3227832"/>
            <a:ext cx="3108960" cy="384048"/>
          </a:xfrm>
          <a:prstGeom prst="rect">
            <a:avLst/>
          </a:prstGeom>
          <a:noFill/>
          <a:ln/>
        </p:spPr>
        <p:txBody>
          <a:bodyPr wrap="square" lIns="0" tIns="0" rIns="0" bIns="0" rtlCol="0" anchor="ctr"/>
          <a:lstStyle/>
          <a:p>
            <a:pPr marL="0" indent="0">
              <a:buNone/>
            </a:pPr>
            <a:r>
              <a:rPr lang="en-US" sz="1400" b="1" dirty="0">
                <a:solidFill>
                  <a:srgbClr val="3B2314"/>
                </a:solidFill>
                <a:latin typeface="Cambria" pitchFamily="34" charset="0"/>
                <a:ea typeface="Cambria" pitchFamily="34" charset="-122"/>
                <a:cs typeface="Cambria" pitchFamily="34" charset="-120"/>
              </a:rPr>
              <a:t>Sanity-check the design</a:t>
            </a:r>
            <a:endParaRPr lang="en-US" sz="1400" dirty="0"/>
          </a:p>
        </p:txBody>
      </p:sp>
      <p:sp>
        <p:nvSpPr>
          <p:cNvPr id="23" name="Text 17"/>
          <p:cNvSpPr/>
          <p:nvPr/>
        </p:nvSpPr>
        <p:spPr>
          <a:xfrm>
            <a:off x="4910328" y="3685032"/>
            <a:ext cx="3611880" cy="731520"/>
          </a:xfrm>
          <a:prstGeom prst="rect">
            <a:avLst/>
          </a:prstGeom>
          <a:noFill/>
          <a:ln/>
        </p:spPr>
        <p:txBody>
          <a:bodyPr wrap="square" lIns="0" tIns="0" rIns="0" bIns="0" rtlCol="0" anchor="ctr"/>
          <a:lstStyle/>
          <a:p>
            <a:pPr marL="0" indent="0">
              <a:buNone/>
            </a:pPr>
            <a:r>
              <a:rPr lang="en-US" sz="1080" dirty="0">
                <a:solidFill>
                  <a:srgbClr val="2B2118"/>
                </a:solidFill>
                <a:latin typeface="Calibri" pitchFamily="34" charset="0"/>
                <a:ea typeface="Calibri" pitchFamily="34" charset="-122"/>
                <a:cs typeface="Calibri" pitchFamily="34" charset="-120"/>
              </a:rPr>
              <a:t>Agriculture: talk through plots, blocks and replicates for a field trial — then confirm the power analysis yourself.</a:t>
            </a:r>
            <a:endParaRPr lang="en-US" sz="1080" dirty="0"/>
          </a:p>
        </p:txBody>
      </p:sp>
      <p:sp>
        <p:nvSpPr>
          <p:cNvPr id="24" name="Text 18"/>
          <p:cNvSpPr/>
          <p:nvPr/>
        </p:nvSpPr>
        <p:spPr>
          <a:xfrm>
            <a:off x="502920" y="4617720"/>
            <a:ext cx="8138160" cy="320040"/>
          </a:xfrm>
          <a:prstGeom prst="rect">
            <a:avLst/>
          </a:prstGeom>
          <a:noFill/>
          <a:ln/>
        </p:spPr>
        <p:txBody>
          <a:bodyPr wrap="square" lIns="0" tIns="0" rIns="0" bIns="0" rtlCol="0" anchor="ctr"/>
          <a:lstStyle/>
          <a:p>
            <a:pPr marL="0" indent="0" algn="ctr">
              <a:buNone/>
            </a:pPr>
            <a:r>
              <a:rPr lang="en-US" sz="1350" i="1" dirty="0">
                <a:solidFill>
                  <a:srgbClr val="31402A"/>
                </a:solidFill>
                <a:latin typeface="Cambria" pitchFamily="34" charset="0"/>
                <a:ea typeface="Cambria" pitchFamily="34" charset="-122"/>
                <a:cs typeface="Cambria" pitchFamily="34" charset="-120"/>
              </a:rPr>
              <a:t>The idea survives because it withstood attack — not because the machine approved it.</a:t>
            </a:r>
            <a:endParaRPr lang="en-US" sz="1350" dirty="0"/>
          </a:p>
        </p:txBody>
      </p:sp>
      <p:sp>
        <p:nvSpPr>
          <p:cNvPr id="25" name="Text 19"/>
          <p:cNvSpPr/>
          <p:nvPr/>
        </p:nvSpPr>
        <p:spPr>
          <a:xfrm>
            <a:off x="502920" y="4846320"/>
            <a:ext cx="4114800" cy="228600"/>
          </a:xfrm>
          <a:prstGeom prst="rect">
            <a:avLst/>
          </a:prstGeom>
          <a:noFill/>
          <a:ln/>
        </p:spPr>
        <p:txBody>
          <a:bodyPr wrap="square" lIns="0" tIns="0" rIns="0" bIns="0" rtlCol="0" anchor="ctr"/>
          <a:lstStyle/>
          <a:p>
            <a:pPr marL="0" indent="0">
              <a:buNone/>
            </a:pPr>
            <a:r>
              <a:rPr lang="en-US" sz="900" dirty="0">
                <a:solidFill>
                  <a:srgbClr val="8A7A6B"/>
                </a:solidFill>
                <a:latin typeface="Calibri" pitchFamily="34" charset="0"/>
                <a:ea typeface="Calibri" pitchFamily="34" charset="-122"/>
                <a:cs typeface="Calibri" pitchFamily="34" charset="-120"/>
              </a:rPr>
              <a:t>AWAU Monthly Colloquium  ·  July 2026</a:t>
            </a:r>
            <a:endParaRPr lang="en-US" sz="900" dirty="0"/>
          </a:p>
        </p:txBody>
      </p:sp>
      <p:sp>
        <p:nvSpPr>
          <p:cNvPr id="26" name="Text 20"/>
          <p:cNvSpPr/>
          <p:nvPr/>
        </p:nvSpPr>
        <p:spPr>
          <a:xfrm>
            <a:off x="8503920" y="4846320"/>
            <a:ext cx="320040" cy="228600"/>
          </a:xfrm>
          <a:prstGeom prst="rect">
            <a:avLst/>
          </a:prstGeom>
          <a:noFill/>
          <a:ln/>
        </p:spPr>
        <p:txBody>
          <a:bodyPr wrap="square" lIns="0" tIns="0" rIns="0" bIns="0" rtlCol="0" anchor="ctr"/>
          <a:lstStyle/>
          <a:p>
            <a:pPr marL="0" indent="0" algn="r">
              <a:buNone/>
            </a:pPr>
            <a:r>
              <a:rPr lang="en-US" sz="900" dirty="0">
                <a:solidFill>
                  <a:srgbClr val="8A7A6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marL="0" indent="0">
              <a:buNone/>
            </a:pPr>
            <a:r>
              <a:rPr lang="en-US" sz="1200" b="1" kern="0" spc="300" dirty="0">
                <a:solidFill>
                  <a:srgbClr val="BE5320"/>
                </a:solidFill>
                <a:latin typeface="Calibri" pitchFamily="34" charset="0"/>
                <a:ea typeface="Calibri" pitchFamily="34" charset="-122"/>
                <a:cs typeface="Calibri" pitchFamily="34" charset="-120"/>
              </a:rPr>
              <a:t>STAGE 3 · COLLECT &amp; ANALYSE (QUALITATIVE)</a:t>
            </a:r>
            <a:endParaRPr lang="en-US" sz="120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3000" b="1" dirty="0">
                <a:solidFill>
                  <a:srgbClr val="3B2314"/>
                </a:solidFill>
                <a:latin typeface="Cambria" pitchFamily="34" charset="0"/>
                <a:ea typeface="Cambria" pitchFamily="34" charset="-122"/>
                <a:cs typeface="Cambria" pitchFamily="34" charset="-120"/>
              </a:rPr>
              <a:t>Forty Interviews Used to Mean Four Months</a:t>
            </a:r>
            <a:endParaRPr lang="en-US" sz="3000" dirty="0"/>
          </a:p>
        </p:txBody>
      </p:sp>
      <p:sp>
        <p:nvSpPr>
          <p:cNvPr id="4" name="Shape 2"/>
          <p:cNvSpPr/>
          <p:nvPr/>
        </p:nvSpPr>
        <p:spPr>
          <a:xfrm>
            <a:off x="457200" y="1508760"/>
            <a:ext cx="1517904" cy="960120"/>
          </a:xfrm>
          <a:prstGeom prst="roundRect">
            <a:avLst>
              <a:gd name="adj" fmla="val 7619"/>
            </a:avLst>
          </a:prstGeom>
          <a:solidFill>
            <a:srgbClr val="F3E7D7"/>
          </a:solidFill>
          <a:ln/>
          <a:effectLst>
            <a:outerShdw blurRad="88900" dist="25400" dir="2700000" algn="bl" rotWithShape="0">
              <a:srgbClr val="000000">
                <a:alpha val="14000"/>
              </a:srgbClr>
            </a:outerShdw>
          </a:effectLst>
        </p:spPr>
        <p:txBody>
          <a:bodyPr/>
          <a:lstStyle/>
          <a:p>
            <a:endParaRPr lang="en-GB"/>
          </a:p>
        </p:txBody>
      </p:sp>
      <p:sp>
        <p:nvSpPr>
          <p:cNvPr id="5" name="Text 3"/>
          <p:cNvSpPr/>
          <p:nvPr/>
        </p:nvSpPr>
        <p:spPr>
          <a:xfrm>
            <a:off x="512064" y="1508760"/>
            <a:ext cx="1408176" cy="960120"/>
          </a:xfrm>
          <a:prstGeom prst="rect">
            <a:avLst/>
          </a:prstGeom>
          <a:noFill/>
          <a:ln/>
        </p:spPr>
        <p:txBody>
          <a:bodyPr wrap="square" lIns="0" tIns="0" rIns="0" bIns="0" rtlCol="0" anchor="ctr"/>
          <a:lstStyle/>
          <a:p>
            <a:pPr marL="0" indent="0" algn="ctr">
              <a:buNone/>
            </a:pPr>
            <a:r>
              <a:rPr lang="en-US" sz="1050" dirty="0">
                <a:solidFill>
                  <a:srgbClr val="2B2118"/>
                </a:solidFill>
                <a:latin typeface="Calibri" pitchFamily="34" charset="0"/>
                <a:ea typeface="Calibri" pitchFamily="34" charset="-122"/>
                <a:cs typeface="Calibri" pitchFamily="34" charset="-120"/>
              </a:rPr>
              <a:t>Record</a:t>
            </a:r>
            <a:endParaRPr lang="en-US" sz="1050" dirty="0"/>
          </a:p>
          <a:p>
            <a:pPr marL="0" indent="0" algn="ctr">
              <a:buNone/>
            </a:pPr>
            <a:r>
              <a:rPr lang="en-US" sz="1050" dirty="0">
                <a:solidFill>
                  <a:srgbClr val="2B2118"/>
                </a:solidFill>
                <a:latin typeface="Calibri" pitchFamily="34" charset="0"/>
                <a:ea typeface="Calibri" pitchFamily="34" charset="-122"/>
                <a:cs typeface="Calibri" pitchFamily="34" charset="-120"/>
              </a:rPr>
              <a:t>40 interviews</a:t>
            </a:r>
            <a:endParaRPr lang="en-US" sz="1050" dirty="0"/>
          </a:p>
        </p:txBody>
      </p:sp>
      <p:sp>
        <p:nvSpPr>
          <p:cNvPr id="6" name="Text 4"/>
          <p:cNvSpPr/>
          <p:nvPr/>
        </p:nvSpPr>
        <p:spPr>
          <a:xfrm>
            <a:off x="1920240" y="1691640"/>
            <a:ext cx="292608" cy="548640"/>
          </a:xfrm>
          <a:prstGeom prst="rect">
            <a:avLst/>
          </a:prstGeom>
          <a:noFill/>
          <a:ln/>
        </p:spPr>
        <p:txBody>
          <a:bodyPr wrap="square" lIns="0" tIns="0" rIns="0" bIns="0" rtlCol="0" anchor="ctr"/>
          <a:lstStyle/>
          <a:p>
            <a:pPr marL="0" indent="0" algn="ctr">
              <a:buNone/>
            </a:pPr>
            <a:r>
              <a:rPr lang="en-US" sz="1800" b="1" dirty="0">
                <a:solidFill>
                  <a:srgbClr val="BE5320"/>
                </a:solidFill>
                <a:latin typeface="Calibri" pitchFamily="34" charset="0"/>
                <a:ea typeface="Calibri" pitchFamily="34" charset="-122"/>
                <a:cs typeface="Calibri" pitchFamily="34" charset="-120"/>
              </a:rPr>
              <a:t>→</a:t>
            </a:r>
            <a:endParaRPr lang="en-US" sz="1800" dirty="0"/>
          </a:p>
        </p:txBody>
      </p:sp>
      <p:sp>
        <p:nvSpPr>
          <p:cNvPr id="7" name="Shape 5"/>
          <p:cNvSpPr/>
          <p:nvPr/>
        </p:nvSpPr>
        <p:spPr>
          <a:xfrm>
            <a:off x="2157984" y="1508760"/>
            <a:ext cx="1517904" cy="960120"/>
          </a:xfrm>
          <a:prstGeom prst="roundRect">
            <a:avLst>
              <a:gd name="adj" fmla="val 7619"/>
            </a:avLst>
          </a:prstGeom>
          <a:solidFill>
            <a:srgbClr val="F3E7D7"/>
          </a:solidFill>
          <a:ln/>
          <a:effectLst>
            <a:outerShdw blurRad="88900" dist="25400" dir="2700000" algn="bl" rotWithShape="0">
              <a:srgbClr val="000000">
                <a:alpha val="14000"/>
              </a:srgbClr>
            </a:outerShdw>
          </a:effectLst>
        </p:spPr>
        <p:txBody>
          <a:bodyPr/>
          <a:lstStyle/>
          <a:p>
            <a:endParaRPr lang="en-GB"/>
          </a:p>
        </p:txBody>
      </p:sp>
      <p:sp>
        <p:nvSpPr>
          <p:cNvPr id="8" name="Text 6"/>
          <p:cNvSpPr/>
          <p:nvPr/>
        </p:nvSpPr>
        <p:spPr>
          <a:xfrm>
            <a:off x="2212848" y="1508760"/>
            <a:ext cx="1408176" cy="960120"/>
          </a:xfrm>
          <a:prstGeom prst="rect">
            <a:avLst/>
          </a:prstGeom>
          <a:noFill/>
          <a:ln/>
        </p:spPr>
        <p:txBody>
          <a:bodyPr wrap="square" lIns="0" tIns="0" rIns="0" bIns="0" rtlCol="0" anchor="ctr"/>
          <a:lstStyle/>
          <a:p>
            <a:pPr marL="0" indent="0" algn="ctr">
              <a:buNone/>
            </a:pPr>
            <a:r>
              <a:rPr lang="en-US" sz="1050" dirty="0">
                <a:solidFill>
                  <a:srgbClr val="2B2118"/>
                </a:solidFill>
                <a:latin typeface="Calibri" pitchFamily="34" charset="0"/>
                <a:ea typeface="Calibri" pitchFamily="34" charset="-122"/>
                <a:cs typeface="Calibri" pitchFamily="34" charset="-120"/>
              </a:rPr>
              <a:t>AI first-pass</a:t>
            </a:r>
            <a:endParaRPr lang="en-US" sz="1050" dirty="0"/>
          </a:p>
          <a:p>
            <a:pPr marL="0" indent="0" algn="ctr">
              <a:buNone/>
            </a:pPr>
            <a:r>
              <a:rPr lang="en-US" sz="1050" dirty="0">
                <a:solidFill>
                  <a:srgbClr val="2B2118"/>
                </a:solidFill>
                <a:latin typeface="Calibri" pitchFamily="34" charset="0"/>
                <a:ea typeface="Calibri" pitchFamily="34" charset="-122"/>
                <a:cs typeface="Calibri" pitchFamily="34" charset="-120"/>
              </a:rPr>
              <a:t>transcription</a:t>
            </a:r>
            <a:endParaRPr lang="en-US" sz="1050" dirty="0"/>
          </a:p>
        </p:txBody>
      </p:sp>
      <p:sp>
        <p:nvSpPr>
          <p:cNvPr id="9" name="Text 7"/>
          <p:cNvSpPr/>
          <p:nvPr/>
        </p:nvSpPr>
        <p:spPr>
          <a:xfrm>
            <a:off x="3621024" y="1691640"/>
            <a:ext cx="292608" cy="548640"/>
          </a:xfrm>
          <a:prstGeom prst="rect">
            <a:avLst/>
          </a:prstGeom>
          <a:noFill/>
          <a:ln/>
        </p:spPr>
        <p:txBody>
          <a:bodyPr wrap="square" lIns="0" tIns="0" rIns="0" bIns="0" rtlCol="0" anchor="ctr"/>
          <a:lstStyle/>
          <a:p>
            <a:pPr marL="0" indent="0" algn="ctr">
              <a:buNone/>
            </a:pPr>
            <a:r>
              <a:rPr lang="en-US" sz="1800" b="1" dirty="0">
                <a:solidFill>
                  <a:srgbClr val="BE5320"/>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3858768" y="1508760"/>
            <a:ext cx="1517904" cy="960120"/>
          </a:xfrm>
          <a:prstGeom prst="roundRect">
            <a:avLst>
              <a:gd name="adj" fmla="val 7619"/>
            </a:avLst>
          </a:prstGeom>
          <a:solidFill>
            <a:srgbClr val="F3E7D7"/>
          </a:solidFill>
          <a:ln/>
          <a:effectLst>
            <a:outerShdw blurRad="88900" dist="25400" dir="2700000" algn="bl" rotWithShape="0">
              <a:srgbClr val="000000">
                <a:alpha val="14000"/>
              </a:srgbClr>
            </a:outerShdw>
          </a:effectLst>
        </p:spPr>
        <p:txBody>
          <a:bodyPr/>
          <a:lstStyle/>
          <a:p>
            <a:endParaRPr lang="en-GB"/>
          </a:p>
        </p:txBody>
      </p:sp>
      <p:sp>
        <p:nvSpPr>
          <p:cNvPr id="11" name="Text 9"/>
          <p:cNvSpPr/>
          <p:nvPr/>
        </p:nvSpPr>
        <p:spPr>
          <a:xfrm>
            <a:off x="3913632" y="1508760"/>
            <a:ext cx="1408176" cy="960120"/>
          </a:xfrm>
          <a:prstGeom prst="rect">
            <a:avLst/>
          </a:prstGeom>
          <a:noFill/>
          <a:ln/>
        </p:spPr>
        <p:txBody>
          <a:bodyPr wrap="square" lIns="0" tIns="0" rIns="0" bIns="0" rtlCol="0" anchor="ctr"/>
          <a:lstStyle/>
          <a:p>
            <a:pPr marL="0" indent="0" algn="ctr">
              <a:buNone/>
            </a:pPr>
            <a:r>
              <a:rPr lang="en-US" sz="1050" dirty="0">
                <a:solidFill>
                  <a:srgbClr val="2B2118"/>
                </a:solidFill>
                <a:latin typeface="Calibri" pitchFamily="34" charset="0"/>
                <a:ea typeface="Calibri" pitchFamily="34" charset="-122"/>
                <a:cs typeface="Calibri" pitchFamily="34" charset="-120"/>
              </a:rPr>
              <a:t>Human corrects</a:t>
            </a:r>
            <a:endParaRPr lang="en-US" sz="1050" dirty="0"/>
          </a:p>
          <a:p>
            <a:pPr marL="0" indent="0" algn="ctr">
              <a:buNone/>
            </a:pPr>
            <a:r>
              <a:rPr lang="en-US" sz="1050" dirty="0">
                <a:solidFill>
                  <a:srgbClr val="2B2118"/>
                </a:solidFill>
                <a:latin typeface="Calibri" pitchFamily="34" charset="0"/>
                <a:ea typeface="Calibri" pitchFamily="34" charset="-122"/>
                <a:cs typeface="Calibri" pitchFamily="34" charset="-120"/>
              </a:rPr>
              <a:t>&amp; anonymises</a:t>
            </a:r>
            <a:endParaRPr lang="en-US" sz="1050" dirty="0"/>
          </a:p>
        </p:txBody>
      </p:sp>
      <p:sp>
        <p:nvSpPr>
          <p:cNvPr id="12" name="Text 10"/>
          <p:cNvSpPr/>
          <p:nvPr/>
        </p:nvSpPr>
        <p:spPr>
          <a:xfrm>
            <a:off x="5321808" y="1691640"/>
            <a:ext cx="292608" cy="548640"/>
          </a:xfrm>
          <a:prstGeom prst="rect">
            <a:avLst/>
          </a:prstGeom>
          <a:noFill/>
          <a:ln/>
        </p:spPr>
        <p:txBody>
          <a:bodyPr wrap="square" lIns="0" tIns="0" rIns="0" bIns="0" rtlCol="0" anchor="ctr"/>
          <a:lstStyle/>
          <a:p>
            <a:pPr marL="0" indent="0" algn="ctr">
              <a:buNone/>
            </a:pPr>
            <a:r>
              <a:rPr lang="en-US" sz="1800" b="1" dirty="0">
                <a:solidFill>
                  <a:srgbClr val="BE5320"/>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5559552" y="1508760"/>
            <a:ext cx="1517904" cy="960120"/>
          </a:xfrm>
          <a:prstGeom prst="roundRect">
            <a:avLst>
              <a:gd name="adj" fmla="val 7619"/>
            </a:avLst>
          </a:prstGeom>
          <a:solidFill>
            <a:srgbClr val="F3E7D7"/>
          </a:solidFill>
          <a:ln/>
          <a:effectLst>
            <a:outerShdw blurRad="88900" dist="25400" dir="2700000" algn="bl" rotWithShape="0">
              <a:srgbClr val="000000">
                <a:alpha val="14000"/>
              </a:srgbClr>
            </a:outerShdw>
          </a:effectLst>
        </p:spPr>
        <p:txBody>
          <a:bodyPr/>
          <a:lstStyle/>
          <a:p>
            <a:endParaRPr lang="en-GB"/>
          </a:p>
        </p:txBody>
      </p:sp>
      <p:sp>
        <p:nvSpPr>
          <p:cNvPr id="14" name="Text 12"/>
          <p:cNvSpPr/>
          <p:nvPr/>
        </p:nvSpPr>
        <p:spPr>
          <a:xfrm>
            <a:off x="5614416" y="1508760"/>
            <a:ext cx="1408176" cy="960120"/>
          </a:xfrm>
          <a:prstGeom prst="rect">
            <a:avLst/>
          </a:prstGeom>
          <a:noFill/>
          <a:ln/>
        </p:spPr>
        <p:txBody>
          <a:bodyPr wrap="square" lIns="0" tIns="0" rIns="0" bIns="0" rtlCol="0" anchor="ctr"/>
          <a:lstStyle/>
          <a:p>
            <a:pPr marL="0" indent="0" algn="ctr">
              <a:buNone/>
            </a:pPr>
            <a:r>
              <a:rPr lang="en-US" sz="1050" dirty="0">
                <a:solidFill>
                  <a:srgbClr val="2B2118"/>
                </a:solidFill>
                <a:latin typeface="Calibri" pitchFamily="34" charset="0"/>
                <a:ea typeface="Calibri" pitchFamily="34" charset="-122"/>
                <a:cs typeface="Calibri" pitchFamily="34" charset="-120"/>
              </a:rPr>
              <a:t>AI proposes</a:t>
            </a:r>
            <a:endParaRPr lang="en-US" sz="1050" dirty="0"/>
          </a:p>
          <a:p>
            <a:pPr marL="0" indent="0" algn="ctr">
              <a:buNone/>
            </a:pPr>
            <a:r>
              <a:rPr lang="en-US" sz="1050" dirty="0">
                <a:solidFill>
                  <a:srgbClr val="2B2118"/>
                </a:solidFill>
                <a:latin typeface="Calibri" pitchFamily="34" charset="0"/>
                <a:ea typeface="Calibri" pitchFamily="34" charset="-122"/>
                <a:cs typeface="Calibri" pitchFamily="34" charset="-120"/>
              </a:rPr>
              <a:t>candidate codes</a:t>
            </a:r>
            <a:endParaRPr lang="en-US" sz="1050" dirty="0"/>
          </a:p>
        </p:txBody>
      </p:sp>
      <p:sp>
        <p:nvSpPr>
          <p:cNvPr id="15" name="Text 13"/>
          <p:cNvSpPr/>
          <p:nvPr/>
        </p:nvSpPr>
        <p:spPr>
          <a:xfrm>
            <a:off x="7022592" y="1691640"/>
            <a:ext cx="292608" cy="548640"/>
          </a:xfrm>
          <a:prstGeom prst="rect">
            <a:avLst/>
          </a:prstGeom>
          <a:noFill/>
          <a:ln/>
        </p:spPr>
        <p:txBody>
          <a:bodyPr wrap="square" lIns="0" tIns="0" rIns="0" bIns="0" rtlCol="0" anchor="ctr"/>
          <a:lstStyle/>
          <a:p>
            <a:pPr marL="0" indent="0" algn="ctr">
              <a:buNone/>
            </a:pPr>
            <a:r>
              <a:rPr lang="en-US" sz="1800" b="1" dirty="0">
                <a:solidFill>
                  <a:srgbClr val="BE5320"/>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7260336" y="1508760"/>
            <a:ext cx="1517904" cy="960120"/>
          </a:xfrm>
          <a:prstGeom prst="roundRect">
            <a:avLst>
              <a:gd name="adj" fmla="val 7619"/>
            </a:avLst>
          </a:prstGeom>
          <a:solidFill>
            <a:srgbClr val="3B2314"/>
          </a:solidFill>
          <a:ln/>
          <a:effectLst>
            <a:outerShdw blurRad="88900" dist="25400" dir="2700000" algn="bl" rotWithShape="0">
              <a:srgbClr val="000000">
                <a:alpha val="14000"/>
              </a:srgbClr>
            </a:outerShdw>
          </a:effectLst>
        </p:spPr>
        <p:txBody>
          <a:bodyPr/>
          <a:lstStyle/>
          <a:p>
            <a:endParaRPr lang="en-GB"/>
          </a:p>
        </p:txBody>
      </p:sp>
      <p:sp>
        <p:nvSpPr>
          <p:cNvPr id="17" name="Text 15"/>
          <p:cNvSpPr/>
          <p:nvPr/>
        </p:nvSpPr>
        <p:spPr>
          <a:xfrm>
            <a:off x="7315200" y="1508760"/>
            <a:ext cx="1408176" cy="96012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Two humans validate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(report Cohen’s κ)</a:t>
            </a:r>
            <a:endParaRPr lang="en-US" sz="1050" dirty="0"/>
          </a:p>
        </p:txBody>
      </p:sp>
      <p:sp>
        <p:nvSpPr>
          <p:cNvPr id="18" name="Shape 16"/>
          <p:cNvSpPr/>
          <p:nvPr/>
        </p:nvSpPr>
        <p:spPr>
          <a:xfrm>
            <a:off x="548640" y="2788920"/>
            <a:ext cx="438912" cy="438912"/>
          </a:xfrm>
          <a:prstGeom prst="ellipse">
            <a:avLst/>
          </a:prstGeom>
          <a:solidFill>
            <a:srgbClr val="BE5320"/>
          </a:solidFill>
          <a:ln/>
        </p:spPr>
        <p:txBody>
          <a:bodyPr/>
          <a:lstStyle/>
          <a:p>
            <a:endParaRPr lang="en-GB"/>
          </a:p>
        </p:txBody>
      </p:sp>
      <p:pic>
        <p:nvPicPr>
          <p:cNvPr id="19" name="Image 0" descr="preencoded.png"/>
          <p:cNvPicPr>
            <a:picLocks noChangeAspect="1"/>
          </p:cNvPicPr>
          <p:nvPr/>
        </p:nvPicPr>
        <p:blipFill>
          <a:blip r:embed="rId3"/>
          <a:stretch>
            <a:fillRect/>
          </a:stretch>
        </p:blipFill>
        <p:spPr>
          <a:xfrm>
            <a:off x="608702" y="2848982"/>
            <a:ext cx="324795" cy="324795"/>
          </a:xfrm>
          <a:prstGeom prst="rect">
            <a:avLst/>
          </a:prstGeom>
        </p:spPr>
      </p:pic>
      <p:sp>
        <p:nvSpPr>
          <p:cNvPr id="20" name="Text 17"/>
          <p:cNvSpPr/>
          <p:nvPr/>
        </p:nvSpPr>
        <p:spPr>
          <a:xfrm>
            <a:off x="1170432" y="2770632"/>
            <a:ext cx="7406640" cy="621792"/>
          </a:xfrm>
          <a:prstGeom prst="rect">
            <a:avLst/>
          </a:prstGeom>
          <a:noFill/>
          <a:ln/>
        </p:spPr>
        <p:txBody>
          <a:bodyPr wrap="square" lIns="0" tIns="0" rIns="0" bIns="0" rtlCol="0" anchor="ctr"/>
          <a:lstStyle/>
          <a:p>
            <a:pPr marL="0" indent="0">
              <a:buNone/>
            </a:pPr>
            <a:r>
              <a:rPr lang="en-US" sz="1200" dirty="0">
                <a:solidFill>
                  <a:srgbClr val="2B2118"/>
                </a:solidFill>
                <a:latin typeface="Calibri" pitchFamily="34" charset="0"/>
                <a:ea typeface="Calibri" pitchFamily="34" charset="-122"/>
                <a:cs typeface="Calibri" pitchFamily="34" charset="-120"/>
              </a:rPr>
              <a:t>Sociology: speech-to-text models handle Nigerian-accented English well; Yorùbá and Pidgin passages still need careful human correction — budget for it.</a:t>
            </a:r>
            <a:endParaRPr lang="en-US" sz="1200" dirty="0"/>
          </a:p>
        </p:txBody>
      </p:sp>
      <p:sp>
        <p:nvSpPr>
          <p:cNvPr id="21" name="Shape 18"/>
          <p:cNvSpPr/>
          <p:nvPr/>
        </p:nvSpPr>
        <p:spPr>
          <a:xfrm>
            <a:off x="548640" y="3447288"/>
            <a:ext cx="438912" cy="438912"/>
          </a:xfrm>
          <a:prstGeom prst="ellipse">
            <a:avLst/>
          </a:prstGeom>
          <a:solidFill>
            <a:srgbClr val="BE5320"/>
          </a:solidFill>
          <a:ln/>
        </p:spPr>
        <p:txBody>
          <a:bodyPr/>
          <a:lstStyle/>
          <a:p>
            <a:endParaRPr lang="en-GB"/>
          </a:p>
        </p:txBody>
      </p:sp>
      <p:pic>
        <p:nvPicPr>
          <p:cNvPr id="22" name="Image 1" descr="preencoded.png"/>
          <p:cNvPicPr>
            <a:picLocks noChangeAspect="1"/>
          </p:cNvPicPr>
          <p:nvPr/>
        </p:nvPicPr>
        <p:blipFill>
          <a:blip r:embed="rId4"/>
          <a:stretch>
            <a:fillRect/>
          </a:stretch>
        </p:blipFill>
        <p:spPr>
          <a:xfrm>
            <a:off x="608702" y="3507350"/>
            <a:ext cx="324795" cy="324795"/>
          </a:xfrm>
          <a:prstGeom prst="rect">
            <a:avLst/>
          </a:prstGeom>
        </p:spPr>
      </p:pic>
      <p:sp>
        <p:nvSpPr>
          <p:cNvPr id="23" name="Text 19"/>
          <p:cNvSpPr/>
          <p:nvPr/>
        </p:nvSpPr>
        <p:spPr>
          <a:xfrm>
            <a:off x="1170432" y="3429000"/>
            <a:ext cx="7406640" cy="621792"/>
          </a:xfrm>
          <a:prstGeom prst="rect">
            <a:avLst/>
          </a:prstGeom>
          <a:noFill/>
          <a:ln/>
        </p:spPr>
        <p:txBody>
          <a:bodyPr wrap="square" lIns="0" tIns="0" rIns="0" bIns="0" rtlCol="0" anchor="ctr"/>
          <a:lstStyle/>
          <a:p>
            <a:pPr marL="0" indent="0">
              <a:buNone/>
            </a:pPr>
            <a:r>
              <a:rPr lang="en-US" sz="1200" dirty="0">
                <a:solidFill>
                  <a:srgbClr val="2B2118"/>
                </a:solidFill>
                <a:latin typeface="Calibri" pitchFamily="34" charset="0"/>
                <a:ea typeface="Calibri" pitchFamily="34" charset="-122"/>
                <a:cs typeface="Calibri" pitchFamily="34" charset="-120"/>
              </a:rPr>
              <a:t>AI-suggested themes are hypotheses about your data, not findings. Keep an audit trail of accepted, merged and rejected codes.</a:t>
            </a:r>
            <a:endParaRPr lang="en-US" sz="1200" dirty="0"/>
          </a:p>
        </p:txBody>
      </p:sp>
      <p:sp>
        <p:nvSpPr>
          <p:cNvPr id="24" name="Shape 20"/>
          <p:cNvSpPr/>
          <p:nvPr/>
        </p:nvSpPr>
        <p:spPr>
          <a:xfrm>
            <a:off x="548640" y="4105656"/>
            <a:ext cx="438912" cy="438912"/>
          </a:xfrm>
          <a:prstGeom prst="ellipse">
            <a:avLst/>
          </a:prstGeom>
          <a:solidFill>
            <a:srgbClr val="31402A"/>
          </a:solidFill>
          <a:ln/>
        </p:spPr>
        <p:txBody>
          <a:bodyPr/>
          <a:lstStyle/>
          <a:p>
            <a:endParaRPr lang="en-GB"/>
          </a:p>
        </p:txBody>
      </p:sp>
      <p:pic>
        <p:nvPicPr>
          <p:cNvPr id="25" name="Image 2" descr="preencoded.png"/>
          <p:cNvPicPr>
            <a:picLocks noChangeAspect="1"/>
          </p:cNvPicPr>
          <p:nvPr/>
        </p:nvPicPr>
        <p:blipFill>
          <a:blip r:embed="rId5"/>
          <a:stretch>
            <a:fillRect/>
          </a:stretch>
        </p:blipFill>
        <p:spPr>
          <a:xfrm>
            <a:off x="608702" y="4165718"/>
            <a:ext cx="324795" cy="324795"/>
          </a:xfrm>
          <a:prstGeom prst="rect">
            <a:avLst/>
          </a:prstGeom>
        </p:spPr>
      </p:pic>
      <p:sp>
        <p:nvSpPr>
          <p:cNvPr id="26" name="Text 21"/>
          <p:cNvSpPr/>
          <p:nvPr/>
        </p:nvSpPr>
        <p:spPr>
          <a:xfrm>
            <a:off x="1170432" y="4087368"/>
            <a:ext cx="7406640" cy="621792"/>
          </a:xfrm>
          <a:prstGeom prst="rect">
            <a:avLst/>
          </a:prstGeom>
          <a:noFill/>
          <a:ln/>
        </p:spPr>
        <p:txBody>
          <a:bodyPr wrap="square" lIns="0" tIns="0" rIns="0" bIns="0" rtlCol="0" anchor="ctr"/>
          <a:lstStyle/>
          <a:p>
            <a:pPr marL="0" indent="0">
              <a:buNone/>
            </a:pPr>
            <a:r>
              <a:rPr lang="en-US" sz="1200" dirty="0">
                <a:solidFill>
                  <a:srgbClr val="2B2118"/>
                </a:solidFill>
                <a:latin typeface="Calibri" pitchFamily="34" charset="0"/>
                <a:ea typeface="Calibri" pitchFamily="34" charset="-122"/>
                <a:cs typeface="Calibri" pitchFamily="34" charset="-120"/>
              </a:rPr>
              <a:t>Never upload identifiable participant data to a public tool without consent and ethics approval — anonymise first, or run models locally.</a:t>
            </a:r>
            <a:endParaRPr lang="en-US" sz="1200" dirty="0"/>
          </a:p>
        </p:txBody>
      </p:sp>
      <p:sp>
        <p:nvSpPr>
          <p:cNvPr id="27" name="Text 22"/>
          <p:cNvSpPr/>
          <p:nvPr/>
        </p:nvSpPr>
        <p:spPr>
          <a:xfrm>
            <a:off x="502920" y="4846320"/>
            <a:ext cx="4114800" cy="228600"/>
          </a:xfrm>
          <a:prstGeom prst="rect">
            <a:avLst/>
          </a:prstGeom>
          <a:noFill/>
          <a:ln/>
        </p:spPr>
        <p:txBody>
          <a:bodyPr wrap="square" lIns="0" tIns="0" rIns="0" bIns="0" rtlCol="0" anchor="ctr"/>
          <a:lstStyle/>
          <a:p>
            <a:pPr marL="0" indent="0">
              <a:buNone/>
            </a:pPr>
            <a:r>
              <a:rPr lang="en-US" sz="900" dirty="0">
                <a:solidFill>
                  <a:srgbClr val="8A7A6B"/>
                </a:solidFill>
                <a:latin typeface="Calibri" pitchFamily="34" charset="0"/>
                <a:ea typeface="Calibri" pitchFamily="34" charset="-122"/>
                <a:cs typeface="Calibri" pitchFamily="34" charset="-120"/>
              </a:rPr>
              <a:t>AWAU Monthly Colloquium  ·  July 2026</a:t>
            </a:r>
            <a:endParaRPr lang="en-US" sz="900" dirty="0"/>
          </a:p>
        </p:txBody>
      </p:sp>
      <p:sp>
        <p:nvSpPr>
          <p:cNvPr id="28" name="Text 23"/>
          <p:cNvSpPr/>
          <p:nvPr/>
        </p:nvSpPr>
        <p:spPr>
          <a:xfrm>
            <a:off x="8503920" y="4846320"/>
            <a:ext cx="320040" cy="228600"/>
          </a:xfrm>
          <a:prstGeom prst="rect">
            <a:avLst/>
          </a:prstGeom>
          <a:noFill/>
          <a:ln/>
        </p:spPr>
        <p:txBody>
          <a:bodyPr wrap="square" lIns="0" tIns="0" rIns="0" bIns="0" rtlCol="0" anchor="ctr"/>
          <a:lstStyle/>
          <a:p>
            <a:pPr marL="0" indent="0" algn="r">
              <a:buNone/>
            </a:pPr>
            <a:r>
              <a:rPr lang="en-US" sz="900" dirty="0">
                <a:solidFill>
                  <a:srgbClr val="8A7A6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marL="0" indent="0">
              <a:buNone/>
            </a:pPr>
            <a:r>
              <a:rPr lang="en-US" sz="1200" b="1" kern="0" spc="300" dirty="0">
                <a:solidFill>
                  <a:srgbClr val="BE5320"/>
                </a:solidFill>
                <a:latin typeface="Calibri" pitchFamily="34" charset="0"/>
                <a:ea typeface="Calibri" pitchFamily="34" charset="-122"/>
                <a:cs typeface="Calibri" pitchFamily="34" charset="-120"/>
              </a:rPr>
              <a:t>STAGE 3 · ANALYSE (QUANTITATIVE)</a:t>
            </a:r>
            <a:endParaRPr lang="en-US" sz="120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3000" b="1" dirty="0">
                <a:solidFill>
                  <a:srgbClr val="3B2314"/>
                </a:solidFill>
                <a:latin typeface="Cambria" pitchFamily="34" charset="0"/>
                <a:ea typeface="Cambria" pitchFamily="34" charset="-122"/>
                <a:cs typeface="Cambria" pitchFamily="34" charset="-120"/>
              </a:rPr>
              <a:t>AI Writes the Code — You Own the Numbers</a:t>
            </a:r>
            <a:endParaRPr lang="en-US" sz="3000" dirty="0"/>
          </a:p>
        </p:txBody>
      </p:sp>
      <p:sp>
        <p:nvSpPr>
          <p:cNvPr id="4" name="Shape 2"/>
          <p:cNvSpPr/>
          <p:nvPr/>
        </p:nvSpPr>
        <p:spPr>
          <a:xfrm>
            <a:off x="502920" y="1417320"/>
            <a:ext cx="4892040" cy="868680"/>
          </a:xfrm>
          <a:prstGeom prst="roundRect">
            <a:avLst>
              <a:gd name="adj" fmla="val 8421"/>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5" name="Shape 3"/>
          <p:cNvSpPr/>
          <p:nvPr/>
        </p:nvSpPr>
        <p:spPr>
          <a:xfrm>
            <a:off x="685800" y="1618488"/>
            <a:ext cx="438912" cy="438912"/>
          </a:xfrm>
          <a:prstGeom prst="ellipse">
            <a:avLst/>
          </a:prstGeom>
          <a:solidFill>
            <a:srgbClr val="BE5320"/>
          </a:solidFill>
          <a:ln/>
        </p:spPr>
        <p:txBody>
          <a:bodyPr/>
          <a:lstStyle/>
          <a:p>
            <a:endParaRPr lang="en-GB"/>
          </a:p>
        </p:txBody>
      </p:sp>
      <p:pic>
        <p:nvPicPr>
          <p:cNvPr id="6" name="Image 0" descr="preencoded.png"/>
          <p:cNvPicPr>
            <a:picLocks noChangeAspect="1"/>
          </p:cNvPicPr>
          <p:nvPr/>
        </p:nvPicPr>
        <p:blipFill>
          <a:blip r:embed="rId3"/>
          <a:stretch>
            <a:fillRect/>
          </a:stretch>
        </p:blipFill>
        <p:spPr>
          <a:xfrm>
            <a:off x="745862" y="1678550"/>
            <a:ext cx="324795" cy="324795"/>
          </a:xfrm>
          <a:prstGeom prst="rect">
            <a:avLst/>
          </a:prstGeom>
        </p:spPr>
      </p:pic>
      <p:sp>
        <p:nvSpPr>
          <p:cNvPr id="7" name="Text 4"/>
          <p:cNvSpPr/>
          <p:nvPr/>
        </p:nvSpPr>
        <p:spPr>
          <a:xfrm>
            <a:off x="1325880" y="1490472"/>
            <a:ext cx="3931920" cy="749808"/>
          </a:xfrm>
          <a:prstGeom prst="rect">
            <a:avLst/>
          </a:prstGeom>
          <a:noFill/>
          <a:ln/>
        </p:spPr>
        <p:txBody>
          <a:bodyPr wrap="square" lIns="0" tIns="0" rIns="0" bIns="0" rtlCol="0" anchor="ctr"/>
          <a:lstStyle/>
          <a:p>
            <a:pPr marL="0" indent="0">
              <a:buNone/>
            </a:pPr>
            <a:r>
              <a:rPr lang="en-US" sz="1080" b="1" dirty="0">
                <a:solidFill>
                  <a:srgbClr val="BE5320"/>
                </a:solidFill>
                <a:latin typeface="Calibri" pitchFamily="34" charset="0"/>
                <a:ea typeface="Calibri" pitchFamily="34" charset="-122"/>
                <a:cs typeface="Calibri" pitchFamily="34" charset="-120"/>
              </a:rPr>
              <a:t>Agriculture:  </a:t>
            </a:r>
            <a:r>
              <a:rPr lang="en-US" sz="1080" dirty="0">
                <a:solidFill>
                  <a:srgbClr val="2B2118"/>
                </a:solidFill>
                <a:latin typeface="Calibri" pitchFamily="34" charset="0"/>
                <a:ea typeface="Calibri" pitchFamily="34" charset="-122"/>
                <a:cs typeface="Calibri" pitchFamily="34" charset="-120"/>
              </a:rPr>
              <a:t>“Write R code for a two-way ANOVA with Tukey HSD on this trial layout; check normality and homogeneity first.”</a:t>
            </a:r>
            <a:endParaRPr lang="en-US" sz="1080" dirty="0"/>
          </a:p>
        </p:txBody>
      </p:sp>
      <p:sp>
        <p:nvSpPr>
          <p:cNvPr id="8" name="Shape 5"/>
          <p:cNvSpPr/>
          <p:nvPr/>
        </p:nvSpPr>
        <p:spPr>
          <a:xfrm>
            <a:off x="502920" y="2423160"/>
            <a:ext cx="4892040" cy="868680"/>
          </a:xfrm>
          <a:prstGeom prst="roundRect">
            <a:avLst>
              <a:gd name="adj" fmla="val 8421"/>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9" name="Shape 6"/>
          <p:cNvSpPr/>
          <p:nvPr/>
        </p:nvSpPr>
        <p:spPr>
          <a:xfrm>
            <a:off x="685800" y="2624328"/>
            <a:ext cx="438912" cy="438912"/>
          </a:xfrm>
          <a:prstGeom prst="ellipse">
            <a:avLst/>
          </a:prstGeom>
          <a:solidFill>
            <a:srgbClr val="BE5320"/>
          </a:solidFill>
          <a:ln/>
        </p:spPr>
        <p:txBody>
          <a:bodyPr/>
          <a:lstStyle/>
          <a:p>
            <a:endParaRPr lang="en-GB"/>
          </a:p>
        </p:txBody>
      </p:sp>
      <p:pic>
        <p:nvPicPr>
          <p:cNvPr id="10" name="Image 1" descr="preencoded.png"/>
          <p:cNvPicPr>
            <a:picLocks noChangeAspect="1"/>
          </p:cNvPicPr>
          <p:nvPr/>
        </p:nvPicPr>
        <p:blipFill>
          <a:blip r:embed="rId4"/>
          <a:stretch>
            <a:fillRect/>
          </a:stretch>
        </p:blipFill>
        <p:spPr>
          <a:xfrm>
            <a:off x="745862" y="2684390"/>
            <a:ext cx="324795" cy="324795"/>
          </a:xfrm>
          <a:prstGeom prst="rect">
            <a:avLst/>
          </a:prstGeom>
        </p:spPr>
      </p:pic>
      <p:sp>
        <p:nvSpPr>
          <p:cNvPr id="11" name="Text 7"/>
          <p:cNvSpPr/>
          <p:nvPr/>
        </p:nvSpPr>
        <p:spPr>
          <a:xfrm>
            <a:off x="1325880" y="2496312"/>
            <a:ext cx="3931920" cy="749808"/>
          </a:xfrm>
          <a:prstGeom prst="rect">
            <a:avLst/>
          </a:prstGeom>
          <a:noFill/>
          <a:ln/>
        </p:spPr>
        <p:txBody>
          <a:bodyPr wrap="square" lIns="0" tIns="0" rIns="0" bIns="0" rtlCol="0" anchor="ctr"/>
          <a:lstStyle/>
          <a:p>
            <a:pPr marL="0" indent="0">
              <a:buNone/>
            </a:pPr>
            <a:r>
              <a:rPr lang="en-US" sz="1080" b="1" dirty="0">
                <a:solidFill>
                  <a:srgbClr val="BE5320"/>
                </a:solidFill>
                <a:latin typeface="Calibri" pitchFamily="34" charset="0"/>
                <a:ea typeface="Calibri" pitchFamily="34" charset="-122"/>
                <a:cs typeface="Calibri" pitchFamily="34" charset="-120"/>
              </a:rPr>
              <a:t>Economics:  </a:t>
            </a:r>
            <a:r>
              <a:rPr lang="en-US" sz="1080" dirty="0">
                <a:solidFill>
                  <a:srgbClr val="2B2118"/>
                </a:solidFill>
                <a:latin typeface="Calibri" pitchFamily="34" charset="0"/>
                <a:ea typeface="Calibri" pitchFamily="34" charset="-122"/>
                <a:cs typeface="Calibri" pitchFamily="34" charset="-120"/>
              </a:rPr>
              <a:t>“Draft Stata/Python for a fixed-effects panel regression; explain each diagnostic you include and why.”</a:t>
            </a:r>
            <a:endParaRPr lang="en-US" sz="1080" dirty="0"/>
          </a:p>
        </p:txBody>
      </p:sp>
      <p:sp>
        <p:nvSpPr>
          <p:cNvPr id="12" name="Shape 8"/>
          <p:cNvSpPr/>
          <p:nvPr/>
        </p:nvSpPr>
        <p:spPr>
          <a:xfrm>
            <a:off x="502920" y="3429000"/>
            <a:ext cx="4892040" cy="868680"/>
          </a:xfrm>
          <a:prstGeom prst="roundRect">
            <a:avLst>
              <a:gd name="adj" fmla="val 8421"/>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13" name="Shape 9"/>
          <p:cNvSpPr/>
          <p:nvPr/>
        </p:nvSpPr>
        <p:spPr>
          <a:xfrm>
            <a:off x="685800" y="3630168"/>
            <a:ext cx="438912" cy="438912"/>
          </a:xfrm>
          <a:prstGeom prst="ellipse">
            <a:avLst/>
          </a:prstGeom>
          <a:solidFill>
            <a:srgbClr val="BE5320"/>
          </a:solidFill>
          <a:ln/>
        </p:spPr>
        <p:txBody>
          <a:bodyPr/>
          <a:lstStyle/>
          <a:p>
            <a:endParaRPr lang="en-GB"/>
          </a:p>
        </p:txBody>
      </p:sp>
      <p:pic>
        <p:nvPicPr>
          <p:cNvPr id="14" name="Image 2" descr="preencoded.png"/>
          <p:cNvPicPr>
            <a:picLocks noChangeAspect="1"/>
          </p:cNvPicPr>
          <p:nvPr/>
        </p:nvPicPr>
        <p:blipFill>
          <a:blip r:embed="rId5"/>
          <a:stretch>
            <a:fillRect/>
          </a:stretch>
        </p:blipFill>
        <p:spPr>
          <a:xfrm>
            <a:off x="745862" y="3690230"/>
            <a:ext cx="324795" cy="324795"/>
          </a:xfrm>
          <a:prstGeom prst="rect">
            <a:avLst/>
          </a:prstGeom>
        </p:spPr>
      </p:pic>
      <p:sp>
        <p:nvSpPr>
          <p:cNvPr id="15" name="Text 10"/>
          <p:cNvSpPr/>
          <p:nvPr/>
        </p:nvSpPr>
        <p:spPr>
          <a:xfrm>
            <a:off x="1325880" y="3502152"/>
            <a:ext cx="3931920" cy="749808"/>
          </a:xfrm>
          <a:prstGeom prst="rect">
            <a:avLst/>
          </a:prstGeom>
          <a:noFill/>
          <a:ln/>
        </p:spPr>
        <p:txBody>
          <a:bodyPr wrap="square" lIns="0" tIns="0" rIns="0" bIns="0" rtlCol="0" anchor="ctr"/>
          <a:lstStyle/>
          <a:p>
            <a:pPr marL="0" indent="0">
              <a:buNone/>
            </a:pPr>
            <a:r>
              <a:rPr lang="en-US" sz="1080" b="1" dirty="0">
                <a:solidFill>
                  <a:srgbClr val="BE5320"/>
                </a:solidFill>
                <a:latin typeface="Calibri" pitchFamily="34" charset="0"/>
                <a:ea typeface="Calibri" pitchFamily="34" charset="-122"/>
                <a:cs typeface="Calibri" pitchFamily="34" charset="-120"/>
              </a:rPr>
              <a:t>Any field:  </a:t>
            </a:r>
            <a:r>
              <a:rPr lang="en-US" sz="1080" dirty="0">
                <a:solidFill>
                  <a:srgbClr val="2B2118"/>
                </a:solidFill>
                <a:latin typeface="Calibri" pitchFamily="34" charset="0"/>
                <a:ea typeface="Calibri" pitchFamily="34" charset="-122"/>
                <a:cs typeface="Calibri" pitchFamily="34" charset="-120"/>
              </a:rPr>
              <a:t>Paste an error message and get it fixed; ask for a line-by-line explanation of an unfamiliar method before you trust it.</a:t>
            </a:r>
            <a:endParaRPr lang="en-US" sz="1080" dirty="0"/>
          </a:p>
        </p:txBody>
      </p:sp>
      <p:sp>
        <p:nvSpPr>
          <p:cNvPr id="16" name="Shape 11"/>
          <p:cNvSpPr/>
          <p:nvPr/>
        </p:nvSpPr>
        <p:spPr>
          <a:xfrm>
            <a:off x="5623560" y="1417320"/>
            <a:ext cx="3017520" cy="3108960"/>
          </a:xfrm>
          <a:prstGeom prst="roundRect">
            <a:avLst>
              <a:gd name="adj" fmla="val 2424"/>
            </a:avLst>
          </a:prstGeom>
          <a:solidFill>
            <a:srgbClr val="3B2314"/>
          </a:solidFill>
          <a:ln/>
          <a:effectLst>
            <a:outerShdw blurRad="88900" dist="25400" dir="2700000" algn="bl" rotWithShape="0">
              <a:srgbClr val="000000">
                <a:alpha val="14000"/>
              </a:srgbClr>
            </a:outerShdw>
          </a:effectLst>
        </p:spPr>
        <p:txBody>
          <a:bodyPr/>
          <a:lstStyle/>
          <a:p>
            <a:endParaRPr lang="en-GB"/>
          </a:p>
        </p:txBody>
      </p:sp>
      <p:sp>
        <p:nvSpPr>
          <p:cNvPr id="17" name="Text 12"/>
          <p:cNvSpPr/>
          <p:nvPr/>
        </p:nvSpPr>
        <p:spPr>
          <a:xfrm>
            <a:off x="5852160" y="1627632"/>
            <a:ext cx="2560320" cy="274320"/>
          </a:xfrm>
          <a:prstGeom prst="rect">
            <a:avLst/>
          </a:prstGeom>
          <a:noFill/>
          <a:ln/>
        </p:spPr>
        <p:txBody>
          <a:bodyPr wrap="square" lIns="0" tIns="0" rIns="0" bIns="0" rtlCol="0" anchor="ctr"/>
          <a:lstStyle/>
          <a:p>
            <a:pPr marL="0" indent="0">
              <a:buNone/>
            </a:pPr>
            <a:r>
              <a:rPr lang="en-US" sz="1100" b="1" kern="0" spc="200" dirty="0">
                <a:solidFill>
                  <a:srgbClr val="D99B32"/>
                </a:solidFill>
                <a:latin typeface="Calibri" pitchFamily="34" charset="0"/>
                <a:ea typeface="Calibri" pitchFamily="34" charset="-122"/>
                <a:cs typeface="Calibri" pitchFamily="34" charset="-120"/>
              </a:rPr>
              <a:t>NON-NEGOTIABLES</a:t>
            </a:r>
            <a:endParaRPr lang="en-US" sz="1100" dirty="0"/>
          </a:p>
        </p:txBody>
      </p:sp>
      <p:sp>
        <p:nvSpPr>
          <p:cNvPr id="18" name="Text 13"/>
          <p:cNvSpPr/>
          <p:nvPr/>
        </p:nvSpPr>
        <p:spPr>
          <a:xfrm>
            <a:off x="5852160" y="1965960"/>
            <a:ext cx="2606040" cy="2468880"/>
          </a:xfrm>
          <a:prstGeom prst="rect">
            <a:avLst/>
          </a:prstGeom>
          <a:noFill/>
          <a:ln/>
        </p:spPr>
        <p:txBody>
          <a:bodyPr wrap="square" lIns="0" tIns="0" rIns="0" bIns="0" rtlCol="0" anchor="ctr"/>
          <a:lstStyle/>
          <a:p>
            <a:pPr marL="342900" indent="-342900">
              <a:spcAft>
                <a:spcPts val="900"/>
              </a:spcAft>
              <a:buSzPct val="100000"/>
              <a:buChar char="•"/>
            </a:pPr>
            <a:r>
              <a:rPr lang="en-US" sz="1150" dirty="0">
                <a:solidFill>
                  <a:srgbClr val="F0E4D2"/>
                </a:solidFill>
                <a:latin typeface="Calibri" pitchFamily="34" charset="0"/>
                <a:ea typeface="Calibri" pitchFamily="34" charset="-122"/>
                <a:cs typeface="Calibri" pitchFamily="34" charset="-120"/>
              </a:rPr>
              <a:t>Run every script yourself — never trust reported output you did not execute</a:t>
            </a:r>
            <a:endParaRPr lang="en-US" sz="1150" dirty="0"/>
          </a:p>
          <a:p>
            <a:pPr marL="342900" indent="-342900">
              <a:spcAft>
                <a:spcPts val="900"/>
              </a:spcAft>
              <a:buSzPct val="100000"/>
              <a:buChar char="•"/>
            </a:pPr>
            <a:r>
              <a:rPr lang="en-US" sz="1150" dirty="0">
                <a:solidFill>
                  <a:srgbClr val="F0E4D2"/>
                </a:solidFill>
                <a:latin typeface="Calibri" pitchFamily="34" charset="0"/>
                <a:ea typeface="Calibri" pitchFamily="34" charset="-122"/>
                <a:cs typeface="Calibri" pitchFamily="34" charset="-120"/>
              </a:rPr>
              <a:t>Fix random seeds; version your code for reproducibility</a:t>
            </a:r>
            <a:endParaRPr lang="en-US" sz="1150" dirty="0"/>
          </a:p>
          <a:p>
            <a:pPr marL="342900" indent="-342900">
              <a:spcAft>
                <a:spcPts val="900"/>
              </a:spcAft>
              <a:buSzPct val="100000"/>
              <a:buChar char="•"/>
            </a:pPr>
            <a:r>
              <a:rPr lang="en-US" sz="1150" dirty="0">
                <a:solidFill>
                  <a:srgbClr val="F0E4D2"/>
                </a:solidFill>
                <a:latin typeface="Calibri" pitchFamily="34" charset="0"/>
                <a:ea typeface="Calibri" pitchFamily="34" charset="-122"/>
                <a:cs typeface="Calibri" pitchFamily="34" charset="-120"/>
              </a:rPr>
              <a:t>Hand-check one result against a manual calculation</a:t>
            </a:r>
            <a:endParaRPr lang="en-US" sz="1150" dirty="0"/>
          </a:p>
          <a:p>
            <a:pPr marL="342900" indent="-342900">
              <a:spcAft>
                <a:spcPts val="900"/>
              </a:spcAft>
              <a:buSzPct val="100000"/>
              <a:buChar char="•"/>
            </a:pPr>
            <a:r>
              <a:rPr lang="en-US" sz="1150" b="1" dirty="0">
                <a:solidFill>
                  <a:srgbClr val="F0E4D2"/>
                </a:solidFill>
                <a:latin typeface="Calibri" pitchFamily="34" charset="0"/>
                <a:ea typeface="Calibri" pitchFamily="34" charset="-122"/>
                <a:cs typeface="Calibri" pitchFamily="34" charset="-120"/>
              </a:rPr>
              <a:t>You must be able to defend every number at a viva</a:t>
            </a:r>
            <a:endParaRPr lang="en-US" sz="1150" dirty="0"/>
          </a:p>
        </p:txBody>
      </p:sp>
      <p:sp>
        <p:nvSpPr>
          <p:cNvPr id="19" name="Text 14"/>
          <p:cNvSpPr/>
          <p:nvPr/>
        </p:nvSpPr>
        <p:spPr>
          <a:xfrm>
            <a:off x="502920" y="4846320"/>
            <a:ext cx="4114800" cy="228600"/>
          </a:xfrm>
          <a:prstGeom prst="rect">
            <a:avLst/>
          </a:prstGeom>
          <a:noFill/>
          <a:ln/>
        </p:spPr>
        <p:txBody>
          <a:bodyPr wrap="square" lIns="0" tIns="0" rIns="0" bIns="0" rtlCol="0" anchor="ctr"/>
          <a:lstStyle/>
          <a:p>
            <a:pPr marL="0" indent="0">
              <a:buNone/>
            </a:pPr>
            <a:r>
              <a:rPr lang="en-US" sz="900" dirty="0">
                <a:solidFill>
                  <a:srgbClr val="8A7A6B"/>
                </a:solidFill>
                <a:latin typeface="Calibri" pitchFamily="34" charset="0"/>
                <a:ea typeface="Calibri" pitchFamily="34" charset="-122"/>
                <a:cs typeface="Calibri" pitchFamily="34" charset="-120"/>
              </a:rPr>
              <a:t>AWAU Monthly Colloquium  ·  July 2026</a:t>
            </a:r>
            <a:endParaRPr lang="en-US" sz="900" dirty="0"/>
          </a:p>
        </p:txBody>
      </p:sp>
      <p:sp>
        <p:nvSpPr>
          <p:cNvPr id="20" name="Text 15"/>
          <p:cNvSpPr/>
          <p:nvPr/>
        </p:nvSpPr>
        <p:spPr>
          <a:xfrm>
            <a:off x="8503920" y="4846320"/>
            <a:ext cx="320040" cy="228600"/>
          </a:xfrm>
          <a:prstGeom prst="rect">
            <a:avLst/>
          </a:prstGeom>
          <a:noFill/>
          <a:ln/>
        </p:spPr>
        <p:txBody>
          <a:bodyPr wrap="square" lIns="0" tIns="0" rIns="0" bIns="0" rtlCol="0" anchor="ctr"/>
          <a:lstStyle/>
          <a:p>
            <a:pPr marL="0" indent="0" algn="r">
              <a:buNone/>
            </a:pPr>
            <a:r>
              <a:rPr lang="en-US" sz="900" dirty="0">
                <a:solidFill>
                  <a:srgbClr val="8A7A6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marL="0" indent="0">
              <a:buNone/>
            </a:pPr>
            <a:r>
              <a:rPr lang="en-US" sz="1200" b="1" kern="0" spc="300" dirty="0">
                <a:solidFill>
                  <a:srgbClr val="BE5320"/>
                </a:solidFill>
                <a:latin typeface="Calibri" pitchFamily="34" charset="0"/>
                <a:ea typeface="Calibri" pitchFamily="34" charset="-122"/>
                <a:cs typeface="Calibri" pitchFamily="34" charset="-120"/>
              </a:rPr>
              <a:t>STAGE 4 · WRITE &amp; PUBLISH</a:t>
            </a:r>
            <a:endParaRPr lang="en-US" sz="120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3000" b="1" dirty="0">
                <a:solidFill>
                  <a:srgbClr val="3B2314"/>
                </a:solidFill>
                <a:latin typeface="Cambria" pitchFamily="34" charset="0"/>
                <a:ea typeface="Cambria" pitchFamily="34" charset="-122"/>
                <a:cs typeface="Cambria" pitchFamily="34" charset="-120"/>
              </a:rPr>
              <a:t>A Tireless Editor — Never a Ghost-writer</a:t>
            </a:r>
            <a:endParaRPr lang="en-US" sz="3000" dirty="0"/>
          </a:p>
        </p:txBody>
      </p:sp>
      <p:sp>
        <p:nvSpPr>
          <p:cNvPr id="4" name="Shape 2"/>
          <p:cNvSpPr/>
          <p:nvPr/>
        </p:nvSpPr>
        <p:spPr>
          <a:xfrm>
            <a:off x="502920" y="1417320"/>
            <a:ext cx="4160520" cy="3063240"/>
          </a:xfrm>
          <a:prstGeom prst="roundRect">
            <a:avLst>
              <a:gd name="adj" fmla="val 2388"/>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5" name="Shape 3"/>
          <p:cNvSpPr/>
          <p:nvPr/>
        </p:nvSpPr>
        <p:spPr>
          <a:xfrm>
            <a:off x="731520" y="1627632"/>
            <a:ext cx="420624" cy="420624"/>
          </a:xfrm>
          <a:prstGeom prst="ellipse">
            <a:avLst/>
          </a:prstGeom>
          <a:solidFill>
            <a:srgbClr val="31402A"/>
          </a:solidFill>
          <a:ln/>
        </p:spPr>
        <p:txBody>
          <a:bodyPr/>
          <a:lstStyle/>
          <a:p>
            <a:endParaRPr lang="en-GB"/>
          </a:p>
        </p:txBody>
      </p:sp>
      <p:pic>
        <p:nvPicPr>
          <p:cNvPr id="6" name="Image 0" descr="preencoded.png"/>
          <p:cNvPicPr>
            <a:picLocks noChangeAspect="1"/>
          </p:cNvPicPr>
          <p:nvPr/>
        </p:nvPicPr>
        <p:blipFill>
          <a:blip r:embed="rId3"/>
          <a:stretch>
            <a:fillRect/>
          </a:stretch>
        </p:blipFill>
        <p:spPr>
          <a:xfrm>
            <a:off x="789079" y="1685191"/>
            <a:ext cx="311262" cy="311262"/>
          </a:xfrm>
          <a:prstGeom prst="rect">
            <a:avLst/>
          </a:prstGeom>
        </p:spPr>
      </p:pic>
      <p:sp>
        <p:nvSpPr>
          <p:cNvPr id="7" name="Text 4"/>
          <p:cNvSpPr/>
          <p:nvPr/>
        </p:nvSpPr>
        <p:spPr>
          <a:xfrm>
            <a:off x="1298448" y="1664208"/>
            <a:ext cx="3108960" cy="365760"/>
          </a:xfrm>
          <a:prstGeom prst="rect">
            <a:avLst/>
          </a:prstGeom>
          <a:noFill/>
          <a:ln/>
        </p:spPr>
        <p:txBody>
          <a:bodyPr wrap="square" lIns="0" tIns="0" rIns="0" bIns="0" rtlCol="0" anchor="ctr"/>
          <a:lstStyle/>
          <a:p>
            <a:pPr marL="0" indent="0">
              <a:buNone/>
            </a:pPr>
            <a:r>
              <a:rPr lang="en-US" sz="1500" b="1" dirty="0">
                <a:solidFill>
                  <a:srgbClr val="31402A"/>
                </a:solidFill>
                <a:latin typeface="Cambria" pitchFamily="34" charset="0"/>
                <a:ea typeface="Cambria" pitchFamily="34" charset="-122"/>
                <a:cs typeface="Cambria" pitchFamily="34" charset="-120"/>
              </a:rPr>
              <a:t>Legitimate &amp; powerful</a:t>
            </a:r>
            <a:endParaRPr lang="en-US" sz="1500" dirty="0"/>
          </a:p>
        </p:txBody>
      </p:sp>
      <p:sp>
        <p:nvSpPr>
          <p:cNvPr id="8" name="Text 5"/>
          <p:cNvSpPr/>
          <p:nvPr/>
        </p:nvSpPr>
        <p:spPr>
          <a:xfrm>
            <a:off x="777240" y="2148840"/>
            <a:ext cx="3703320" cy="2240280"/>
          </a:xfrm>
          <a:prstGeom prst="rect">
            <a:avLst/>
          </a:prstGeom>
          <a:noFill/>
          <a:ln/>
        </p:spPr>
        <p:txBody>
          <a:bodyPr wrap="square" lIns="0" tIns="0" rIns="0" bIns="0" rtlCol="0" anchor="ctr"/>
          <a:lstStyle/>
          <a:p>
            <a:pPr marL="342900" indent="-342900">
              <a:spcAft>
                <a:spcPts val="800"/>
              </a:spcAft>
              <a:buSzPct val="100000"/>
              <a:buChar char="•"/>
            </a:pPr>
            <a:r>
              <a:rPr lang="en-US" sz="1180" dirty="0">
                <a:solidFill>
                  <a:srgbClr val="2B2118"/>
                </a:solidFill>
                <a:latin typeface="Calibri" pitchFamily="34" charset="0"/>
                <a:ea typeface="Calibri" pitchFamily="34" charset="-122"/>
                <a:cs typeface="Calibri" pitchFamily="34" charset="-120"/>
              </a:rPr>
              <a:t>Reverse-outline your own draft to expose gaps in logic</a:t>
            </a:r>
            <a:endParaRPr lang="en-US" sz="1180" dirty="0"/>
          </a:p>
          <a:p>
            <a:pPr marL="342900" indent="-342900">
              <a:spcAft>
                <a:spcPts val="800"/>
              </a:spcAft>
              <a:buSzPct val="100000"/>
              <a:buChar char="•"/>
            </a:pPr>
            <a:r>
              <a:rPr lang="en-US" sz="1180" dirty="0">
                <a:solidFill>
                  <a:srgbClr val="2B2118"/>
                </a:solidFill>
                <a:latin typeface="Calibri" pitchFamily="34" charset="0"/>
                <a:ea typeface="Calibri" pitchFamily="34" charset="-122"/>
                <a:cs typeface="Calibri" pitchFamily="34" charset="-120"/>
              </a:rPr>
              <a:t>Tighten an abstract to a 250-word limit without losing claims</a:t>
            </a:r>
            <a:endParaRPr lang="en-US" sz="1180" dirty="0"/>
          </a:p>
          <a:p>
            <a:pPr marL="342900" indent="-342900">
              <a:spcAft>
                <a:spcPts val="800"/>
              </a:spcAft>
              <a:buSzPct val="100000"/>
              <a:buChar char="•"/>
            </a:pPr>
            <a:r>
              <a:rPr lang="en-US" sz="1180" dirty="0">
                <a:solidFill>
                  <a:srgbClr val="2B2118"/>
                </a:solidFill>
                <a:latin typeface="Calibri" pitchFamily="34" charset="0"/>
                <a:ea typeface="Calibri" pitchFamily="34" charset="-122"/>
                <a:cs typeface="Calibri" pitchFamily="34" charset="-120"/>
              </a:rPr>
              <a:t>Polish prose for clarity — a genuine equaliser for EAL scholars</a:t>
            </a:r>
            <a:endParaRPr lang="en-US" sz="1180" dirty="0"/>
          </a:p>
          <a:p>
            <a:pPr marL="342900" indent="-342900">
              <a:spcAft>
                <a:spcPts val="800"/>
              </a:spcAft>
              <a:buSzPct val="100000"/>
              <a:buChar char="•"/>
            </a:pPr>
            <a:r>
              <a:rPr lang="en-US" sz="1180" dirty="0">
                <a:solidFill>
                  <a:srgbClr val="2B2118"/>
                </a:solidFill>
                <a:latin typeface="Calibri" pitchFamily="34" charset="0"/>
                <a:ea typeface="Calibri" pitchFamily="34" charset="-122"/>
                <a:cs typeface="Calibri" pitchFamily="34" charset="-120"/>
              </a:rPr>
              <a:t>Draft plain-language and policy summaries from your findings</a:t>
            </a:r>
            <a:endParaRPr lang="en-US" sz="1180" dirty="0"/>
          </a:p>
          <a:p>
            <a:pPr marL="342900" indent="-342900">
              <a:spcAft>
                <a:spcPts val="800"/>
              </a:spcAft>
              <a:buSzPct val="100000"/>
              <a:buChar char="•"/>
            </a:pPr>
            <a:r>
              <a:rPr lang="en-US" sz="1180" dirty="0">
                <a:solidFill>
                  <a:srgbClr val="2B2118"/>
                </a:solidFill>
                <a:latin typeface="Calibri" pitchFamily="34" charset="0"/>
                <a:ea typeface="Calibri" pitchFamily="34" charset="-122"/>
                <a:cs typeface="Calibri" pitchFamily="34" charset="-120"/>
              </a:rPr>
              <a:t>Translate calls, abstracts and summaries across languages</a:t>
            </a:r>
            <a:endParaRPr lang="en-US" sz="1180" dirty="0"/>
          </a:p>
        </p:txBody>
      </p:sp>
      <p:sp>
        <p:nvSpPr>
          <p:cNvPr id="9" name="Shape 6"/>
          <p:cNvSpPr/>
          <p:nvPr/>
        </p:nvSpPr>
        <p:spPr>
          <a:xfrm>
            <a:off x="4892040" y="1417320"/>
            <a:ext cx="3749040" cy="3063240"/>
          </a:xfrm>
          <a:prstGeom prst="roundRect">
            <a:avLst>
              <a:gd name="adj" fmla="val 2388"/>
            </a:avLst>
          </a:prstGeom>
          <a:solidFill>
            <a:srgbClr val="F3E7D7"/>
          </a:solidFill>
          <a:ln/>
          <a:effectLst>
            <a:outerShdw blurRad="88900" dist="25400" dir="2700000" algn="bl" rotWithShape="0">
              <a:srgbClr val="000000">
                <a:alpha val="14000"/>
              </a:srgbClr>
            </a:outerShdw>
          </a:effectLst>
        </p:spPr>
        <p:txBody>
          <a:bodyPr/>
          <a:lstStyle/>
          <a:p>
            <a:endParaRPr lang="en-GB"/>
          </a:p>
        </p:txBody>
      </p:sp>
      <p:sp>
        <p:nvSpPr>
          <p:cNvPr id="10" name="Shape 7"/>
          <p:cNvSpPr/>
          <p:nvPr/>
        </p:nvSpPr>
        <p:spPr>
          <a:xfrm>
            <a:off x="5120640" y="1627632"/>
            <a:ext cx="420624" cy="420624"/>
          </a:xfrm>
          <a:prstGeom prst="ellipse">
            <a:avLst/>
          </a:prstGeom>
          <a:solidFill>
            <a:srgbClr val="BE5320"/>
          </a:solidFill>
          <a:ln/>
        </p:spPr>
        <p:txBody>
          <a:bodyPr/>
          <a:lstStyle/>
          <a:p>
            <a:endParaRPr lang="en-GB"/>
          </a:p>
        </p:txBody>
      </p:sp>
      <p:pic>
        <p:nvPicPr>
          <p:cNvPr id="11" name="Image 1" descr="preencoded.png"/>
          <p:cNvPicPr>
            <a:picLocks noChangeAspect="1"/>
          </p:cNvPicPr>
          <p:nvPr/>
        </p:nvPicPr>
        <p:blipFill>
          <a:blip r:embed="rId4"/>
          <a:stretch>
            <a:fillRect/>
          </a:stretch>
        </p:blipFill>
        <p:spPr>
          <a:xfrm>
            <a:off x="5178199" y="1685191"/>
            <a:ext cx="311262" cy="311262"/>
          </a:xfrm>
          <a:prstGeom prst="rect">
            <a:avLst/>
          </a:prstGeom>
        </p:spPr>
      </p:pic>
      <p:sp>
        <p:nvSpPr>
          <p:cNvPr id="12" name="Text 8"/>
          <p:cNvSpPr/>
          <p:nvPr/>
        </p:nvSpPr>
        <p:spPr>
          <a:xfrm>
            <a:off x="5687568" y="1664208"/>
            <a:ext cx="2743200" cy="365760"/>
          </a:xfrm>
          <a:prstGeom prst="rect">
            <a:avLst/>
          </a:prstGeom>
          <a:noFill/>
          <a:ln/>
        </p:spPr>
        <p:txBody>
          <a:bodyPr wrap="square" lIns="0" tIns="0" rIns="0" bIns="0" rtlCol="0" anchor="ctr"/>
          <a:lstStyle/>
          <a:p>
            <a:pPr marL="0" indent="0">
              <a:buNone/>
            </a:pPr>
            <a:r>
              <a:rPr lang="en-US" sz="1500" b="1" dirty="0">
                <a:solidFill>
                  <a:srgbClr val="BE5320"/>
                </a:solidFill>
                <a:latin typeface="Cambria" pitchFamily="34" charset="0"/>
                <a:ea typeface="Cambria" pitchFamily="34" charset="-122"/>
                <a:cs typeface="Cambria" pitchFamily="34" charset="-120"/>
              </a:rPr>
              <a:t>The bright lines</a:t>
            </a:r>
            <a:endParaRPr lang="en-US" sz="1500" dirty="0"/>
          </a:p>
        </p:txBody>
      </p:sp>
      <p:sp>
        <p:nvSpPr>
          <p:cNvPr id="13" name="Text 9"/>
          <p:cNvSpPr/>
          <p:nvPr/>
        </p:nvSpPr>
        <p:spPr>
          <a:xfrm>
            <a:off x="5166360" y="2148840"/>
            <a:ext cx="3291840" cy="2240280"/>
          </a:xfrm>
          <a:prstGeom prst="rect">
            <a:avLst/>
          </a:prstGeom>
          <a:noFill/>
          <a:ln/>
        </p:spPr>
        <p:txBody>
          <a:bodyPr wrap="square" lIns="0" tIns="0" rIns="0" bIns="0" rtlCol="0" anchor="ctr"/>
          <a:lstStyle/>
          <a:p>
            <a:pPr marL="342900" indent="-342900">
              <a:spcAft>
                <a:spcPts val="800"/>
              </a:spcAft>
              <a:buSzPct val="100000"/>
              <a:buChar char="•"/>
            </a:pPr>
            <a:r>
              <a:rPr lang="en-US" sz="1180" dirty="0">
                <a:solidFill>
                  <a:srgbClr val="2B2118"/>
                </a:solidFill>
                <a:latin typeface="Calibri" pitchFamily="34" charset="0"/>
                <a:ea typeface="Calibri" pitchFamily="34" charset="-122"/>
                <a:cs typeface="Calibri" pitchFamily="34" charset="-120"/>
              </a:rPr>
              <a:t>AI cannot be an author (COPE &amp; ICMJE positions) — it cannot take responsibility</a:t>
            </a:r>
            <a:endParaRPr lang="en-US" sz="1180" dirty="0"/>
          </a:p>
          <a:p>
            <a:pPr marL="342900" indent="-342900">
              <a:spcAft>
                <a:spcPts val="800"/>
              </a:spcAft>
              <a:buSzPct val="100000"/>
              <a:buChar char="•"/>
            </a:pPr>
            <a:r>
              <a:rPr lang="en-US" sz="1180" dirty="0">
                <a:solidFill>
                  <a:srgbClr val="2B2118"/>
                </a:solidFill>
                <a:latin typeface="Calibri" pitchFamily="34" charset="0"/>
                <a:ea typeface="Calibri" pitchFamily="34" charset="-122"/>
                <a:cs typeface="Calibri" pitchFamily="34" charset="-120"/>
              </a:rPr>
              <a:t>Disclose substantive AI use as your target journal requires</a:t>
            </a:r>
            <a:endParaRPr lang="en-US" sz="1180" dirty="0"/>
          </a:p>
          <a:p>
            <a:pPr marL="342900" indent="-342900">
              <a:spcAft>
                <a:spcPts val="800"/>
              </a:spcAft>
              <a:buSzPct val="100000"/>
              <a:buChar char="•"/>
            </a:pPr>
            <a:r>
              <a:rPr lang="en-US" sz="1180" dirty="0">
                <a:solidFill>
                  <a:srgbClr val="2B2118"/>
                </a:solidFill>
                <a:latin typeface="Calibri" pitchFamily="34" charset="0"/>
                <a:ea typeface="Calibri" pitchFamily="34" charset="-122"/>
                <a:cs typeface="Calibri" pitchFamily="34" charset="-120"/>
              </a:rPr>
              <a:t>Generated text is unverified until you have checked every claim and reference</a:t>
            </a:r>
            <a:endParaRPr lang="en-US" sz="1180" dirty="0"/>
          </a:p>
          <a:p>
            <a:pPr marL="342900" indent="-342900">
              <a:spcAft>
                <a:spcPts val="800"/>
              </a:spcAft>
              <a:buSzPct val="100000"/>
              <a:buChar char="•"/>
            </a:pPr>
            <a:r>
              <a:rPr lang="en-US" sz="1180" b="1" dirty="0">
                <a:solidFill>
                  <a:srgbClr val="2B2118"/>
                </a:solidFill>
                <a:latin typeface="Calibri" pitchFamily="34" charset="0"/>
                <a:ea typeface="Calibri" pitchFamily="34" charset="-122"/>
                <a:cs typeface="Calibri" pitchFamily="34" charset="-120"/>
              </a:rPr>
              <a:t>Your argument, your voice, your accountability</a:t>
            </a:r>
            <a:endParaRPr lang="en-US" sz="1180" dirty="0"/>
          </a:p>
        </p:txBody>
      </p:sp>
      <p:sp>
        <p:nvSpPr>
          <p:cNvPr id="14" name="Text 10"/>
          <p:cNvSpPr/>
          <p:nvPr/>
        </p:nvSpPr>
        <p:spPr>
          <a:xfrm>
            <a:off x="502920" y="4846320"/>
            <a:ext cx="4114800" cy="228600"/>
          </a:xfrm>
          <a:prstGeom prst="rect">
            <a:avLst/>
          </a:prstGeom>
          <a:noFill/>
          <a:ln/>
        </p:spPr>
        <p:txBody>
          <a:bodyPr wrap="square" lIns="0" tIns="0" rIns="0" bIns="0" rtlCol="0" anchor="ctr"/>
          <a:lstStyle/>
          <a:p>
            <a:pPr marL="0" indent="0">
              <a:buNone/>
            </a:pPr>
            <a:r>
              <a:rPr lang="en-US" sz="900" dirty="0">
                <a:solidFill>
                  <a:srgbClr val="8A7A6B"/>
                </a:solidFill>
                <a:latin typeface="Calibri" pitchFamily="34" charset="0"/>
                <a:ea typeface="Calibri" pitchFamily="34" charset="-122"/>
                <a:cs typeface="Calibri" pitchFamily="34" charset="-120"/>
              </a:rPr>
              <a:t>AWAU Monthly Colloquium  ·  July 2026</a:t>
            </a:r>
            <a:endParaRPr lang="en-US" sz="900" dirty="0"/>
          </a:p>
        </p:txBody>
      </p:sp>
      <p:sp>
        <p:nvSpPr>
          <p:cNvPr id="15" name="Text 11"/>
          <p:cNvSpPr/>
          <p:nvPr/>
        </p:nvSpPr>
        <p:spPr>
          <a:xfrm>
            <a:off x="8503920" y="4846320"/>
            <a:ext cx="320040" cy="228600"/>
          </a:xfrm>
          <a:prstGeom prst="rect">
            <a:avLst/>
          </a:prstGeom>
          <a:noFill/>
          <a:ln/>
        </p:spPr>
        <p:txBody>
          <a:bodyPr wrap="square" lIns="0" tIns="0" rIns="0" bIns="0" rtlCol="0" anchor="ctr"/>
          <a:lstStyle/>
          <a:p>
            <a:pPr marL="0" indent="0" algn="r">
              <a:buNone/>
            </a:pPr>
            <a:r>
              <a:rPr lang="en-US" sz="900" dirty="0">
                <a:solidFill>
                  <a:srgbClr val="8A7A6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marL="0" indent="0">
              <a:buNone/>
            </a:pPr>
            <a:r>
              <a:rPr lang="en-US" sz="1200" b="1" kern="0" spc="300" dirty="0">
                <a:solidFill>
                  <a:srgbClr val="BE5320"/>
                </a:solidFill>
                <a:latin typeface="Calibri" pitchFamily="34" charset="0"/>
                <a:ea typeface="Calibri" pitchFamily="34" charset="-122"/>
                <a:cs typeface="Calibri" pitchFamily="34" charset="-120"/>
              </a:rPr>
              <a:t>THE CRAFT</a:t>
            </a:r>
            <a:endParaRPr lang="en-US" sz="120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3000" b="1" dirty="0">
                <a:solidFill>
                  <a:srgbClr val="3B2314"/>
                </a:solidFill>
                <a:latin typeface="Cambria" pitchFamily="34" charset="0"/>
                <a:ea typeface="Cambria" pitchFamily="34" charset="-122"/>
                <a:cs typeface="Cambria" pitchFamily="34" charset="-120"/>
              </a:rPr>
              <a:t>Anatomy of a Prompt That Actually Works</a:t>
            </a:r>
            <a:endParaRPr lang="en-US" sz="3000" dirty="0"/>
          </a:p>
        </p:txBody>
      </p:sp>
      <p:sp>
        <p:nvSpPr>
          <p:cNvPr id="4" name="Shape 2"/>
          <p:cNvSpPr/>
          <p:nvPr/>
        </p:nvSpPr>
        <p:spPr>
          <a:xfrm>
            <a:off x="502920" y="1371600"/>
            <a:ext cx="2788920" cy="1051560"/>
          </a:xfrm>
          <a:prstGeom prst="roundRect">
            <a:avLst>
              <a:gd name="adj" fmla="val 6957"/>
            </a:avLst>
          </a:prstGeom>
          <a:solidFill>
            <a:srgbClr val="F3E7D7"/>
          </a:solidFill>
          <a:ln/>
          <a:effectLst>
            <a:outerShdw blurRad="88900" dist="25400" dir="2700000" algn="bl" rotWithShape="0">
              <a:srgbClr val="000000">
                <a:alpha val="14000"/>
              </a:srgbClr>
            </a:outerShdw>
          </a:effectLst>
        </p:spPr>
        <p:txBody>
          <a:bodyPr/>
          <a:lstStyle/>
          <a:p>
            <a:endParaRPr lang="en-GB"/>
          </a:p>
        </p:txBody>
      </p:sp>
      <p:sp>
        <p:nvSpPr>
          <p:cNvPr id="5" name="Text 3"/>
          <p:cNvSpPr/>
          <p:nvPr/>
        </p:nvSpPr>
        <p:spPr>
          <a:xfrm>
            <a:off x="685800" y="1481328"/>
            <a:ext cx="2377440" cy="228600"/>
          </a:xfrm>
          <a:prstGeom prst="rect">
            <a:avLst/>
          </a:prstGeom>
          <a:noFill/>
          <a:ln/>
        </p:spPr>
        <p:txBody>
          <a:bodyPr wrap="square" lIns="0" tIns="0" rIns="0" bIns="0" rtlCol="0" anchor="ctr"/>
          <a:lstStyle/>
          <a:p>
            <a:pPr marL="0" indent="0">
              <a:buNone/>
            </a:pPr>
            <a:r>
              <a:rPr lang="en-US" sz="1000" b="1" kern="0" spc="200" dirty="0">
                <a:solidFill>
                  <a:srgbClr val="BE5320"/>
                </a:solidFill>
                <a:latin typeface="Calibri" pitchFamily="34" charset="0"/>
                <a:ea typeface="Calibri" pitchFamily="34" charset="-122"/>
                <a:cs typeface="Calibri" pitchFamily="34" charset="-120"/>
              </a:rPr>
              <a:t>WEAK</a:t>
            </a:r>
            <a:endParaRPr lang="en-US" sz="1000" dirty="0"/>
          </a:p>
        </p:txBody>
      </p:sp>
      <p:sp>
        <p:nvSpPr>
          <p:cNvPr id="6" name="Text 4"/>
          <p:cNvSpPr/>
          <p:nvPr/>
        </p:nvSpPr>
        <p:spPr>
          <a:xfrm>
            <a:off x="685800" y="1737360"/>
            <a:ext cx="2423160" cy="548640"/>
          </a:xfrm>
          <a:prstGeom prst="rect">
            <a:avLst/>
          </a:prstGeom>
          <a:noFill/>
          <a:ln/>
        </p:spPr>
        <p:txBody>
          <a:bodyPr wrap="square" lIns="0" tIns="0" rIns="0" bIns="0" rtlCol="0" anchor="ctr"/>
          <a:lstStyle/>
          <a:p>
            <a:pPr marL="0" indent="0">
              <a:buNone/>
            </a:pPr>
            <a:r>
              <a:rPr lang="en-US" sz="1150" dirty="0">
                <a:solidFill>
                  <a:srgbClr val="2B2118"/>
                </a:solidFill>
                <a:latin typeface="Courier New" pitchFamily="34" charset="0"/>
                <a:ea typeface="Courier New" pitchFamily="34" charset="-122"/>
                <a:cs typeface="Courier New" pitchFamily="34" charset="-120"/>
              </a:rPr>
              <a:t>“Critique my methodology.”</a:t>
            </a:r>
            <a:endParaRPr lang="en-US" sz="1150" dirty="0"/>
          </a:p>
        </p:txBody>
      </p:sp>
      <p:sp>
        <p:nvSpPr>
          <p:cNvPr id="7" name="Text 5"/>
          <p:cNvSpPr/>
          <p:nvPr/>
        </p:nvSpPr>
        <p:spPr>
          <a:xfrm>
            <a:off x="3310128" y="1691640"/>
            <a:ext cx="365760" cy="457200"/>
          </a:xfrm>
          <a:prstGeom prst="rect">
            <a:avLst/>
          </a:prstGeom>
          <a:noFill/>
          <a:ln/>
        </p:spPr>
        <p:txBody>
          <a:bodyPr wrap="square" lIns="0" tIns="0" rIns="0" bIns="0" rtlCol="0" anchor="ctr"/>
          <a:lstStyle/>
          <a:p>
            <a:pPr marL="0" indent="0" algn="ctr">
              <a:buNone/>
            </a:pPr>
            <a:r>
              <a:rPr lang="en-US" sz="2400" b="1" dirty="0">
                <a:solidFill>
                  <a:srgbClr val="D99B32"/>
                </a:solidFill>
                <a:latin typeface="Calibri" pitchFamily="34" charset="0"/>
                <a:ea typeface="Calibri" pitchFamily="34" charset="-122"/>
                <a:cs typeface="Calibri" pitchFamily="34" charset="-120"/>
              </a:rPr>
              <a:t>→</a:t>
            </a:r>
            <a:endParaRPr lang="en-US" sz="2400" dirty="0"/>
          </a:p>
        </p:txBody>
      </p:sp>
      <p:sp>
        <p:nvSpPr>
          <p:cNvPr id="8" name="Shape 6"/>
          <p:cNvSpPr/>
          <p:nvPr/>
        </p:nvSpPr>
        <p:spPr>
          <a:xfrm>
            <a:off x="3703320" y="1371600"/>
            <a:ext cx="4937760" cy="3154680"/>
          </a:xfrm>
          <a:prstGeom prst="roundRect">
            <a:avLst>
              <a:gd name="adj" fmla="val 2319"/>
            </a:avLst>
          </a:prstGeom>
          <a:solidFill>
            <a:srgbClr val="3B2314"/>
          </a:solidFill>
          <a:ln/>
          <a:effectLst>
            <a:outerShdw blurRad="88900" dist="25400" dir="2700000" algn="bl" rotWithShape="0">
              <a:srgbClr val="000000">
                <a:alpha val="14000"/>
              </a:srgbClr>
            </a:outerShdw>
          </a:effectLst>
        </p:spPr>
        <p:txBody>
          <a:bodyPr/>
          <a:lstStyle/>
          <a:p>
            <a:endParaRPr lang="en-GB"/>
          </a:p>
        </p:txBody>
      </p:sp>
      <p:sp>
        <p:nvSpPr>
          <p:cNvPr id="9" name="Text 7"/>
          <p:cNvSpPr/>
          <p:nvPr/>
        </p:nvSpPr>
        <p:spPr>
          <a:xfrm>
            <a:off x="3931920" y="1499616"/>
            <a:ext cx="2743200" cy="228600"/>
          </a:xfrm>
          <a:prstGeom prst="rect">
            <a:avLst/>
          </a:prstGeom>
          <a:noFill/>
          <a:ln/>
        </p:spPr>
        <p:txBody>
          <a:bodyPr wrap="square" lIns="0" tIns="0" rIns="0" bIns="0" rtlCol="0" anchor="ctr"/>
          <a:lstStyle/>
          <a:p>
            <a:pPr marL="0" indent="0">
              <a:buNone/>
            </a:pPr>
            <a:r>
              <a:rPr lang="en-US" sz="1000" b="1" kern="0" spc="200" dirty="0">
                <a:solidFill>
                  <a:srgbClr val="D99B32"/>
                </a:solidFill>
                <a:latin typeface="Calibri" pitchFamily="34" charset="0"/>
                <a:ea typeface="Calibri" pitchFamily="34" charset="-122"/>
                <a:cs typeface="Calibri" pitchFamily="34" charset="-120"/>
              </a:rPr>
              <a:t>STRONG</a:t>
            </a:r>
            <a:endParaRPr lang="en-US" sz="1000" dirty="0"/>
          </a:p>
        </p:txBody>
      </p:sp>
      <p:sp>
        <p:nvSpPr>
          <p:cNvPr id="10" name="Text 8"/>
          <p:cNvSpPr/>
          <p:nvPr/>
        </p:nvSpPr>
        <p:spPr>
          <a:xfrm>
            <a:off x="3931920" y="1783080"/>
            <a:ext cx="4480560" cy="2651760"/>
          </a:xfrm>
          <a:prstGeom prst="rect">
            <a:avLst/>
          </a:prstGeom>
          <a:noFill/>
          <a:ln/>
        </p:spPr>
        <p:txBody>
          <a:bodyPr wrap="square" lIns="0" tIns="0" rIns="0" bIns="0" rtlCol="0" anchor="ctr"/>
          <a:lstStyle/>
          <a:p>
            <a:pPr marL="0" indent="0">
              <a:spcAft>
                <a:spcPts val="700"/>
              </a:spcAft>
              <a:buNone/>
            </a:pPr>
            <a:r>
              <a:rPr lang="en-US" sz="1150" dirty="0">
                <a:solidFill>
                  <a:srgbClr val="F0E4D2"/>
                </a:solidFill>
                <a:latin typeface="Courier New" pitchFamily="34" charset="0"/>
                <a:ea typeface="Courier New" pitchFamily="34" charset="-122"/>
                <a:cs typeface="Courier New" pitchFamily="34" charset="-120"/>
              </a:rPr>
              <a:t>You are a methods reviewer in public health. </a:t>
            </a:r>
            <a:endParaRPr lang="en-US" sz="1150" dirty="0"/>
          </a:p>
          <a:p>
            <a:pPr marL="0" indent="0">
              <a:spcAft>
                <a:spcPts val="700"/>
              </a:spcAft>
              <a:buNone/>
            </a:pPr>
            <a:r>
              <a:rPr lang="en-US" sz="1150" dirty="0">
                <a:solidFill>
                  <a:srgbClr val="F0E4D2"/>
                </a:solidFill>
                <a:latin typeface="Courier New" pitchFamily="34" charset="0"/>
                <a:ea typeface="Courier New" pitchFamily="34" charset="-122"/>
                <a:cs typeface="Courier New" pitchFamily="34" charset="-120"/>
              </a:rPr>
              <a:t>I study maternal-health service uptake in rural Ogun State; my draft sampling section is below. </a:t>
            </a:r>
            <a:endParaRPr lang="en-US" sz="1150" dirty="0"/>
          </a:p>
          <a:p>
            <a:pPr marL="0" indent="0">
              <a:spcAft>
                <a:spcPts val="700"/>
              </a:spcAft>
              <a:buNone/>
            </a:pPr>
            <a:r>
              <a:rPr lang="en-US" sz="1150" dirty="0">
                <a:solidFill>
                  <a:srgbClr val="F0E4D2"/>
                </a:solidFill>
                <a:latin typeface="Courier New" pitchFamily="34" charset="0"/>
                <a:ea typeface="Courier New" pitchFamily="34" charset="-122"/>
                <a:cs typeface="Courier New" pitchFamily="34" charset="-120"/>
              </a:rPr>
              <a:t>Critique the sampling strategy only. </a:t>
            </a:r>
            <a:endParaRPr lang="en-US" sz="1150" dirty="0"/>
          </a:p>
          <a:p>
            <a:pPr marL="0" indent="0">
              <a:spcAft>
                <a:spcPts val="700"/>
              </a:spcAft>
              <a:buNone/>
            </a:pPr>
            <a:r>
              <a:rPr lang="en-US" sz="1150" dirty="0">
                <a:solidFill>
                  <a:srgbClr val="F0E4D2"/>
                </a:solidFill>
                <a:latin typeface="Courier New" pitchFamily="34" charset="0"/>
                <a:ea typeface="Courier New" pitchFamily="34" charset="-122"/>
                <a:cs typeface="Courier New" pitchFamily="34" charset="-120"/>
              </a:rPr>
              <a:t>Return numbered weaknesses, each with a concrete fix. </a:t>
            </a:r>
            <a:endParaRPr lang="en-US" sz="1150" dirty="0"/>
          </a:p>
          <a:p>
            <a:pPr marL="0" indent="0">
              <a:spcAft>
                <a:spcPts val="700"/>
              </a:spcAft>
              <a:buNone/>
            </a:pPr>
            <a:r>
              <a:rPr lang="en-US" sz="1150" dirty="0">
                <a:solidFill>
                  <a:srgbClr val="F0E4D2"/>
                </a:solidFill>
                <a:latin typeface="Courier New" pitchFamily="34" charset="0"/>
                <a:ea typeface="Courier New" pitchFamily="34" charset="-122"/>
                <a:cs typeface="Courier New" pitchFamily="34" charset="-120"/>
              </a:rPr>
              <a:t>Do not rewrite my text; maximum 300 words.</a:t>
            </a:r>
            <a:endParaRPr lang="en-US" sz="1150" dirty="0"/>
          </a:p>
        </p:txBody>
      </p:sp>
      <p:sp>
        <p:nvSpPr>
          <p:cNvPr id="11" name="Shape 9"/>
          <p:cNvSpPr/>
          <p:nvPr/>
        </p:nvSpPr>
        <p:spPr>
          <a:xfrm>
            <a:off x="548640" y="2642616"/>
            <a:ext cx="146304" cy="146304"/>
          </a:xfrm>
          <a:prstGeom prst="ellipse">
            <a:avLst/>
          </a:prstGeom>
          <a:solidFill>
            <a:srgbClr val="BE5320"/>
          </a:solidFill>
          <a:ln/>
        </p:spPr>
        <p:txBody>
          <a:bodyPr/>
          <a:lstStyle/>
          <a:p>
            <a:endParaRPr lang="en-GB"/>
          </a:p>
        </p:txBody>
      </p:sp>
      <p:sp>
        <p:nvSpPr>
          <p:cNvPr id="12" name="Text 10"/>
          <p:cNvSpPr/>
          <p:nvPr/>
        </p:nvSpPr>
        <p:spPr>
          <a:xfrm>
            <a:off x="804672" y="2606040"/>
            <a:ext cx="2743200" cy="320040"/>
          </a:xfrm>
          <a:prstGeom prst="rect">
            <a:avLst/>
          </a:prstGeom>
          <a:noFill/>
          <a:ln/>
        </p:spPr>
        <p:txBody>
          <a:bodyPr wrap="square" lIns="0" tIns="0" rIns="0" bIns="0" rtlCol="0" anchor="ctr"/>
          <a:lstStyle/>
          <a:p>
            <a:pPr marL="0" indent="0">
              <a:buNone/>
            </a:pPr>
            <a:r>
              <a:rPr lang="en-US" sz="1150" b="1" dirty="0">
                <a:solidFill>
                  <a:srgbClr val="3B2314"/>
                </a:solidFill>
                <a:latin typeface="Calibri" pitchFamily="34" charset="0"/>
                <a:ea typeface="Calibri" pitchFamily="34" charset="-122"/>
                <a:cs typeface="Calibri" pitchFamily="34" charset="-120"/>
              </a:rPr>
              <a:t>ROLE  </a:t>
            </a:r>
            <a:r>
              <a:rPr lang="en-US" sz="1150" dirty="0">
                <a:solidFill>
                  <a:srgbClr val="8A7A6B"/>
                </a:solidFill>
                <a:latin typeface="Calibri" pitchFamily="34" charset="0"/>
                <a:ea typeface="Calibri" pitchFamily="34" charset="-122"/>
                <a:cs typeface="Calibri" pitchFamily="34" charset="-120"/>
              </a:rPr>
              <a:t>— who it should be</a:t>
            </a:r>
            <a:endParaRPr lang="en-US" sz="1150" dirty="0"/>
          </a:p>
        </p:txBody>
      </p:sp>
      <p:sp>
        <p:nvSpPr>
          <p:cNvPr id="13" name="Shape 11"/>
          <p:cNvSpPr/>
          <p:nvPr/>
        </p:nvSpPr>
        <p:spPr>
          <a:xfrm>
            <a:off x="548640" y="3044952"/>
            <a:ext cx="146304" cy="146304"/>
          </a:xfrm>
          <a:prstGeom prst="ellipse">
            <a:avLst/>
          </a:prstGeom>
          <a:solidFill>
            <a:srgbClr val="D99B32"/>
          </a:solidFill>
          <a:ln/>
        </p:spPr>
        <p:txBody>
          <a:bodyPr/>
          <a:lstStyle/>
          <a:p>
            <a:endParaRPr lang="en-GB"/>
          </a:p>
        </p:txBody>
      </p:sp>
      <p:sp>
        <p:nvSpPr>
          <p:cNvPr id="14" name="Text 12"/>
          <p:cNvSpPr/>
          <p:nvPr/>
        </p:nvSpPr>
        <p:spPr>
          <a:xfrm>
            <a:off x="804672" y="3008376"/>
            <a:ext cx="2743200" cy="320040"/>
          </a:xfrm>
          <a:prstGeom prst="rect">
            <a:avLst/>
          </a:prstGeom>
          <a:noFill/>
          <a:ln/>
        </p:spPr>
        <p:txBody>
          <a:bodyPr wrap="square" lIns="0" tIns="0" rIns="0" bIns="0" rtlCol="0" anchor="ctr"/>
          <a:lstStyle/>
          <a:p>
            <a:pPr marL="0" indent="0">
              <a:buNone/>
            </a:pPr>
            <a:r>
              <a:rPr lang="en-US" sz="1150" b="1" dirty="0">
                <a:solidFill>
                  <a:srgbClr val="3B2314"/>
                </a:solidFill>
                <a:latin typeface="Calibri" pitchFamily="34" charset="0"/>
                <a:ea typeface="Calibri" pitchFamily="34" charset="-122"/>
                <a:cs typeface="Calibri" pitchFamily="34" charset="-120"/>
              </a:rPr>
              <a:t>CONTEXT  </a:t>
            </a:r>
            <a:r>
              <a:rPr lang="en-US" sz="1150" dirty="0">
                <a:solidFill>
                  <a:srgbClr val="8A7A6B"/>
                </a:solidFill>
                <a:latin typeface="Calibri" pitchFamily="34" charset="0"/>
                <a:ea typeface="Calibri" pitchFamily="34" charset="-122"/>
                <a:cs typeface="Calibri" pitchFamily="34" charset="-120"/>
              </a:rPr>
              <a:t>— your study, your data</a:t>
            </a:r>
            <a:endParaRPr lang="en-US" sz="1150" dirty="0"/>
          </a:p>
        </p:txBody>
      </p:sp>
      <p:sp>
        <p:nvSpPr>
          <p:cNvPr id="15" name="Shape 13"/>
          <p:cNvSpPr/>
          <p:nvPr/>
        </p:nvSpPr>
        <p:spPr>
          <a:xfrm>
            <a:off x="548640" y="3447288"/>
            <a:ext cx="146304" cy="146304"/>
          </a:xfrm>
          <a:prstGeom prst="ellipse">
            <a:avLst/>
          </a:prstGeom>
          <a:solidFill>
            <a:srgbClr val="BE5320"/>
          </a:solidFill>
          <a:ln/>
        </p:spPr>
        <p:txBody>
          <a:bodyPr/>
          <a:lstStyle/>
          <a:p>
            <a:endParaRPr lang="en-GB"/>
          </a:p>
        </p:txBody>
      </p:sp>
      <p:sp>
        <p:nvSpPr>
          <p:cNvPr id="16" name="Text 14"/>
          <p:cNvSpPr/>
          <p:nvPr/>
        </p:nvSpPr>
        <p:spPr>
          <a:xfrm>
            <a:off x="804672" y="3410712"/>
            <a:ext cx="2743200" cy="320040"/>
          </a:xfrm>
          <a:prstGeom prst="rect">
            <a:avLst/>
          </a:prstGeom>
          <a:noFill/>
          <a:ln/>
        </p:spPr>
        <p:txBody>
          <a:bodyPr wrap="square" lIns="0" tIns="0" rIns="0" bIns="0" rtlCol="0" anchor="ctr"/>
          <a:lstStyle/>
          <a:p>
            <a:pPr marL="0" indent="0">
              <a:buNone/>
            </a:pPr>
            <a:r>
              <a:rPr lang="en-US" sz="1150" b="1" dirty="0">
                <a:solidFill>
                  <a:srgbClr val="3B2314"/>
                </a:solidFill>
                <a:latin typeface="Calibri" pitchFamily="34" charset="0"/>
                <a:ea typeface="Calibri" pitchFamily="34" charset="-122"/>
                <a:cs typeface="Calibri" pitchFamily="34" charset="-120"/>
              </a:rPr>
              <a:t>TASK  </a:t>
            </a:r>
            <a:r>
              <a:rPr lang="en-US" sz="1150" dirty="0">
                <a:solidFill>
                  <a:srgbClr val="8A7A6B"/>
                </a:solidFill>
                <a:latin typeface="Calibri" pitchFamily="34" charset="0"/>
                <a:ea typeface="Calibri" pitchFamily="34" charset="-122"/>
                <a:cs typeface="Calibri" pitchFamily="34" charset="-120"/>
              </a:rPr>
              <a:t>— one precise job</a:t>
            </a:r>
            <a:endParaRPr lang="en-US" sz="1150" dirty="0"/>
          </a:p>
        </p:txBody>
      </p:sp>
      <p:sp>
        <p:nvSpPr>
          <p:cNvPr id="17" name="Shape 15"/>
          <p:cNvSpPr/>
          <p:nvPr/>
        </p:nvSpPr>
        <p:spPr>
          <a:xfrm>
            <a:off x="548640" y="3849624"/>
            <a:ext cx="146304" cy="146304"/>
          </a:xfrm>
          <a:prstGeom prst="ellipse">
            <a:avLst/>
          </a:prstGeom>
          <a:solidFill>
            <a:srgbClr val="D99B32"/>
          </a:solidFill>
          <a:ln/>
        </p:spPr>
        <p:txBody>
          <a:bodyPr/>
          <a:lstStyle/>
          <a:p>
            <a:endParaRPr lang="en-GB"/>
          </a:p>
        </p:txBody>
      </p:sp>
      <p:sp>
        <p:nvSpPr>
          <p:cNvPr id="18" name="Text 16"/>
          <p:cNvSpPr/>
          <p:nvPr/>
        </p:nvSpPr>
        <p:spPr>
          <a:xfrm>
            <a:off x="804672" y="3813048"/>
            <a:ext cx="2743200" cy="320040"/>
          </a:xfrm>
          <a:prstGeom prst="rect">
            <a:avLst/>
          </a:prstGeom>
          <a:noFill/>
          <a:ln/>
        </p:spPr>
        <p:txBody>
          <a:bodyPr wrap="square" lIns="0" tIns="0" rIns="0" bIns="0" rtlCol="0" anchor="ctr"/>
          <a:lstStyle/>
          <a:p>
            <a:pPr marL="0" indent="0">
              <a:buNone/>
            </a:pPr>
            <a:r>
              <a:rPr lang="en-US" sz="1150" b="1" dirty="0">
                <a:solidFill>
                  <a:srgbClr val="3B2314"/>
                </a:solidFill>
                <a:latin typeface="Calibri" pitchFamily="34" charset="0"/>
                <a:ea typeface="Calibri" pitchFamily="34" charset="-122"/>
                <a:cs typeface="Calibri" pitchFamily="34" charset="-120"/>
              </a:rPr>
              <a:t>FORMAT  </a:t>
            </a:r>
            <a:r>
              <a:rPr lang="en-US" sz="1150" dirty="0">
                <a:solidFill>
                  <a:srgbClr val="8A7A6B"/>
                </a:solidFill>
                <a:latin typeface="Calibri" pitchFamily="34" charset="0"/>
                <a:ea typeface="Calibri" pitchFamily="34" charset="-122"/>
                <a:cs typeface="Calibri" pitchFamily="34" charset="-120"/>
              </a:rPr>
              <a:t>— how to answer</a:t>
            </a:r>
            <a:endParaRPr lang="en-US" sz="1150" dirty="0"/>
          </a:p>
        </p:txBody>
      </p:sp>
      <p:sp>
        <p:nvSpPr>
          <p:cNvPr id="19" name="Shape 17"/>
          <p:cNvSpPr/>
          <p:nvPr/>
        </p:nvSpPr>
        <p:spPr>
          <a:xfrm>
            <a:off x="548640" y="4251960"/>
            <a:ext cx="146304" cy="146304"/>
          </a:xfrm>
          <a:prstGeom prst="ellipse">
            <a:avLst/>
          </a:prstGeom>
          <a:solidFill>
            <a:srgbClr val="BE5320"/>
          </a:solidFill>
          <a:ln/>
        </p:spPr>
        <p:txBody>
          <a:bodyPr/>
          <a:lstStyle/>
          <a:p>
            <a:endParaRPr lang="en-GB"/>
          </a:p>
        </p:txBody>
      </p:sp>
      <p:sp>
        <p:nvSpPr>
          <p:cNvPr id="20" name="Text 18"/>
          <p:cNvSpPr/>
          <p:nvPr/>
        </p:nvSpPr>
        <p:spPr>
          <a:xfrm>
            <a:off x="804672" y="4215384"/>
            <a:ext cx="2743200" cy="320040"/>
          </a:xfrm>
          <a:prstGeom prst="rect">
            <a:avLst/>
          </a:prstGeom>
          <a:noFill/>
          <a:ln/>
        </p:spPr>
        <p:txBody>
          <a:bodyPr wrap="square" lIns="0" tIns="0" rIns="0" bIns="0" rtlCol="0" anchor="ctr"/>
          <a:lstStyle/>
          <a:p>
            <a:pPr marL="0" indent="0">
              <a:buNone/>
            </a:pPr>
            <a:r>
              <a:rPr lang="en-US" sz="1150" b="1" dirty="0">
                <a:solidFill>
                  <a:srgbClr val="3B2314"/>
                </a:solidFill>
                <a:latin typeface="Calibri" pitchFamily="34" charset="0"/>
                <a:ea typeface="Calibri" pitchFamily="34" charset="-122"/>
                <a:cs typeface="Calibri" pitchFamily="34" charset="-120"/>
              </a:rPr>
              <a:t>CONSTRAINTS  </a:t>
            </a:r>
            <a:r>
              <a:rPr lang="en-US" sz="1150" dirty="0">
                <a:solidFill>
                  <a:srgbClr val="8A7A6B"/>
                </a:solidFill>
                <a:latin typeface="Calibri" pitchFamily="34" charset="0"/>
                <a:ea typeface="Calibri" pitchFamily="34" charset="-122"/>
                <a:cs typeface="Calibri" pitchFamily="34" charset="-120"/>
              </a:rPr>
              <a:t>— what NOT to do</a:t>
            </a:r>
            <a:endParaRPr lang="en-US" sz="1150" dirty="0"/>
          </a:p>
        </p:txBody>
      </p:sp>
      <p:sp>
        <p:nvSpPr>
          <p:cNvPr id="21" name="Text 19"/>
          <p:cNvSpPr/>
          <p:nvPr/>
        </p:nvSpPr>
        <p:spPr>
          <a:xfrm>
            <a:off x="502920" y="4846320"/>
            <a:ext cx="4114800" cy="228600"/>
          </a:xfrm>
          <a:prstGeom prst="rect">
            <a:avLst/>
          </a:prstGeom>
          <a:noFill/>
          <a:ln/>
        </p:spPr>
        <p:txBody>
          <a:bodyPr wrap="square" lIns="0" tIns="0" rIns="0" bIns="0" rtlCol="0" anchor="ctr"/>
          <a:lstStyle/>
          <a:p>
            <a:pPr marL="0" indent="0">
              <a:buNone/>
            </a:pPr>
            <a:r>
              <a:rPr lang="en-US" sz="900" dirty="0">
                <a:solidFill>
                  <a:srgbClr val="8A7A6B"/>
                </a:solidFill>
                <a:latin typeface="Calibri" pitchFamily="34" charset="0"/>
                <a:ea typeface="Calibri" pitchFamily="34" charset="-122"/>
                <a:cs typeface="Calibri" pitchFamily="34" charset="-120"/>
              </a:rPr>
              <a:t>AWAU Monthly Colloquium  ·  July 2026</a:t>
            </a:r>
            <a:endParaRPr lang="en-US" sz="900" dirty="0"/>
          </a:p>
        </p:txBody>
      </p:sp>
      <p:sp>
        <p:nvSpPr>
          <p:cNvPr id="22" name="Text 20"/>
          <p:cNvSpPr/>
          <p:nvPr/>
        </p:nvSpPr>
        <p:spPr>
          <a:xfrm>
            <a:off x="8503920" y="4846320"/>
            <a:ext cx="320040" cy="228600"/>
          </a:xfrm>
          <a:prstGeom prst="rect">
            <a:avLst/>
          </a:prstGeom>
          <a:noFill/>
          <a:ln/>
        </p:spPr>
        <p:txBody>
          <a:bodyPr wrap="square" lIns="0" tIns="0" rIns="0" bIns="0" rtlCol="0" anchor="ctr"/>
          <a:lstStyle/>
          <a:p>
            <a:pPr marL="0" indent="0" algn="r">
              <a:buNone/>
            </a:pPr>
            <a:r>
              <a:rPr lang="en-US" sz="900" dirty="0">
                <a:solidFill>
                  <a:srgbClr val="8A7A6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marL="0" indent="0">
              <a:buNone/>
            </a:pPr>
            <a:r>
              <a:rPr lang="en-US" sz="1200" b="1" kern="0" spc="300" dirty="0">
                <a:solidFill>
                  <a:srgbClr val="BE5320"/>
                </a:solidFill>
                <a:latin typeface="Calibri" pitchFamily="34" charset="0"/>
                <a:ea typeface="Calibri" pitchFamily="34" charset="-122"/>
                <a:cs typeface="Calibri" pitchFamily="34" charset="-120"/>
              </a:rPr>
              <a:t>THE CRAFT, CONTINUED</a:t>
            </a:r>
            <a:endParaRPr lang="en-US" sz="120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3000" b="1" dirty="0">
                <a:solidFill>
                  <a:srgbClr val="3B2314"/>
                </a:solidFill>
                <a:latin typeface="Cambria" pitchFamily="34" charset="0"/>
                <a:ea typeface="Cambria" pitchFamily="34" charset="-122"/>
                <a:cs typeface="Cambria" pitchFamily="34" charset="-120"/>
              </a:rPr>
              <a:t>One Task, Three Prompts, Three Very Different Papers</a:t>
            </a:r>
            <a:endParaRPr lang="en-US" sz="3000" dirty="0"/>
          </a:p>
        </p:txBody>
      </p:sp>
      <p:sp>
        <p:nvSpPr>
          <p:cNvPr id="4" name="Shape 2"/>
          <p:cNvSpPr/>
          <p:nvPr/>
        </p:nvSpPr>
        <p:spPr>
          <a:xfrm>
            <a:off x="502920" y="1371600"/>
            <a:ext cx="8138160" cy="932688"/>
          </a:xfrm>
          <a:prstGeom prst="roundRect">
            <a:avLst>
              <a:gd name="adj" fmla="val 7843"/>
            </a:avLst>
          </a:prstGeom>
          <a:solidFill>
            <a:srgbClr val="F3E7D7"/>
          </a:solidFill>
          <a:ln/>
          <a:effectLst>
            <a:outerShdw blurRad="88900" dist="25400" dir="2700000" algn="bl" rotWithShape="0">
              <a:srgbClr val="000000">
                <a:alpha val="14000"/>
              </a:srgbClr>
            </a:outerShdw>
          </a:effectLst>
        </p:spPr>
        <p:txBody>
          <a:bodyPr/>
          <a:lstStyle/>
          <a:p>
            <a:endParaRPr lang="en-GB"/>
          </a:p>
        </p:txBody>
      </p:sp>
      <p:sp>
        <p:nvSpPr>
          <p:cNvPr id="5" name="Shape 3"/>
          <p:cNvSpPr/>
          <p:nvPr/>
        </p:nvSpPr>
        <p:spPr>
          <a:xfrm>
            <a:off x="713232" y="1536192"/>
            <a:ext cx="603504" cy="603504"/>
          </a:xfrm>
          <a:prstGeom prst="ellipse">
            <a:avLst/>
          </a:prstGeom>
          <a:solidFill>
            <a:srgbClr val="8A7A6B"/>
          </a:solidFill>
          <a:ln/>
        </p:spPr>
        <p:txBody>
          <a:bodyPr/>
          <a:lstStyle/>
          <a:p>
            <a:endParaRPr lang="en-GB"/>
          </a:p>
        </p:txBody>
      </p:sp>
      <p:sp>
        <p:nvSpPr>
          <p:cNvPr id="6" name="Text 4"/>
          <p:cNvSpPr/>
          <p:nvPr/>
        </p:nvSpPr>
        <p:spPr>
          <a:xfrm>
            <a:off x="713232" y="1536192"/>
            <a:ext cx="603504" cy="603504"/>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B</a:t>
            </a:r>
            <a:endParaRPr lang="en-US" sz="2200" dirty="0"/>
          </a:p>
        </p:txBody>
      </p:sp>
      <p:sp>
        <p:nvSpPr>
          <p:cNvPr id="7" name="Text 5"/>
          <p:cNvSpPr/>
          <p:nvPr/>
        </p:nvSpPr>
        <p:spPr>
          <a:xfrm>
            <a:off x="1508760" y="1463040"/>
            <a:ext cx="1828800" cy="256032"/>
          </a:xfrm>
          <a:prstGeom prst="rect">
            <a:avLst/>
          </a:prstGeom>
          <a:noFill/>
          <a:ln/>
        </p:spPr>
        <p:txBody>
          <a:bodyPr wrap="square" lIns="0" tIns="0" rIns="0" bIns="0" rtlCol="0" anchor="ctr"/>
          <a:lstStyle/>
          <a:p>
            <a:pPr marL="0" indent="0">
              <a:buNone/>
            </a:pPr>
            <a:r>
              <a:rPr lang="en-US" sz="1050" b="1" kern="0" spc="200" dirty="0">
                <a:solidFill>
                  <a:srgbClr val="8A7A6B"/>
                </a:solidFill>
                <a:latin typeface="Calibri" pitchFamily="34" charset="0"/>
                <a:ea typeface="Calibri" pitchFamily="34" charset="-122"/>
                <a:cs typeface="Calibri" pitchFamily="34" charset="-120"/>
              </a:rPr>
              <a:t>BAD</a:t>
            </a:r>
            <a:endParaRPr lang="en-US" sz="1050" dirty="0"/>
          </a:p>
        </p:txBody>
      </p:sp>
      <p:sp>
        <p:nvSpPr>
          <p:cNvPr id="8" name="Text 6"/>
          <p:cNvSpPr/>
          <p:nvPr/>
        </p:nvSpPr>
        <p:spPr>
          <a:xfrm>
            <a:off x="1508760" y="1700784"/>
            <a:ext cx="5989320" cy="566928"/>
          </a:xfrm>
          <a:prstGeom prst="rect">
            <a:avLst/>
          </a:prstGeom>
          <a:noFill/>
          <a:ln/>
        </p:spPr>
        <p:txBody>
          <a:bodyPr wrap="square" lIns="0" tIns="0" rIns="0" bIns="0" rtlCol="0" anchor="ctr"/>
          <a:lstStyle/>
          <a:p>
            <a:pPr marL="0" indent="0">
              <a:buNone/>
            </a:pPr>
            <a:r>
              <a:rPr lang="en-US" sz="1080" dirty="0">
                <a:solidFill>
                  <a:srgbClr val="2B2118"/>
                </a:solidFill>
                <a:latin typeface="Courier New" pitchFamily="34" charset="0"/>
                <a:ea typeface="Courier New" pitchFamily="34" charset="-122"/>
                <a:cs typeface="Courier New" pitchFamily="34" charset="-120"/>
              </a:rPr>
              <a:t>“Summarise this paper.”</a:t>
            </a:r>
            <a:endParaRPr lang="en-US" sz="1080" dirty="0"/>
          </a:p>
        </p:txBody>
      </p:sp>
      <p:sp>
        <p:nvSpPr>
          <p:cNvPr id="9" name="Shape 7"/>
          <p:cNvSpPr/>
          <p:nvPr/>
        </p:nvSpPr>
        <p:spPr>
          <a:xfrm>
            <a:off x="502920" y="2468880"/>
            <a:ext cx="8138160" cy="932688"/>
          </a:xfrm>
          <a:prstGeom prst="roundRect">
            <a:avLst>
              <a:gd name="adj" fmla="val 7843"/>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10" name="Shape 8"/>
          <p:cNvSpPr/>
          <p:nvPr/>
        </p:nvSpPr>
        <p:spPr>
          <a:xfrm>
            <a:off x="713232" y="2633472"/>
            <a:ext cx="603504" cy="603504"/>
          </a:xfrm>
          <a:prstGeom prst="ellipse">
            <a:avLst/>
          </a:prstGeom>
          <a:solidFill>
            <a:srgbClr val="BE5320"/>
          </a:solidFill>
          <a:ln/>
        </p:spPr>
        <p:txBody>
          <a:bodyPr/>
          <a:lstStyle/>
          <a:p>
            <a:endParaRPr lang="en-GB"/>
          </a:p>
        </p:txBody>
      </p:sp>
      <p:sp>
        <p:nvSpPr>
          <p:cNvPr id="11" name="Text 9"/>
          <p:cNvSpPr/>
          <p:nvPr/>
        </p:nvSpPr>
        <p:spPr>
          <a:xfrm>
            <a:off x="713232" y="2633472"/>
            <a:ext cx="603504" cy="603504"/>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G</a:t>
            </a:r>
            <a:endParaRPr lang="en-US" sz="2200" dirty="0"/>
          </a:p>
        </p:txBody>
      </p:sp>
      <p:sp>
        <p:nvSpPr>
          <p:cNvPr id="12" name="Text 10"/>
          <p:cNvSpPr/>
          <p:nvPr/>
        </p:nvSpPr>
        <p:spPr>
          <a:xfrm>
            <a:off x="1508760" y="2560320"/>
            <a:ext cx="1828800" cy="256032"/>
          </a:xfrm>
          <a:prstGeom prst="rect">
            <a:avLst/>
          </a:prstGeom>
          <a:noFill/>
          <a:ln/>
        </p:spPr>
        <p:txBody>
          <a:bodyPr wrap="square" lIns="0" tIns="0" rIns="0" bIns="0" rtlCol="0" anchor="ctr"/>
          <a:lstStyle/>
          <a:p>
            <a:pPr marL="0" indent="0">
              <a:buNone/>
            </a:pPr>
            <a:r>
              <a:rPr lang="en-US" sz="1050" b="1" kern="0" spc="200" dirty="0">
                <a:solidFill>
                  <a:srgbClr val="BE5320"/>
                </a:solidFill>
                <a:latin typeface="Calibri" pitchFamily="34" charset="0"/>
                <a:ea typeface="Calibri" pitchFamily="34" charset="-122"/>
                <a:cs typeface="Calibri" pitchFamily="34" charset="-120"/>
              </a:rPr>
              <a:t>GOOD</a:t>
            </a:r>
            <a:endParaRPr lang="en-US" sz="1050" dirty="0"/>
          </a:p>
        </p:txBody>
      </p:sp>
      <p:sp>
        <p:nvSpPr>
          <p:cNvPr id="13" name="Text 11"/>
          <p:cNvSpPr/>
          <p:nvPr/>
        </p:nvSpPr>
        <p:spPr>
          <a:xfrm>
            <a:off x="1508760" y="2798064"/>
            <a:ext cx="5989320" cy="566928"/>
          </a:xfrm>
          <a:prstGeom prst="rect">
            <a:avLst/>
          </a:prstGeom>
          <a:noFill/>
          <a:ln/>
        </p:spPr>
        <p:txBody>
          <a:bodyPr wrap="square" lIns="0" tIns="0" rIns="0" bIns="0" rtlCol="0" anchor="ctr"/>
          <a:lstStyle/>
          <a:p>
            <a:pPr marL="0" indent="0">
              <a:buNone/>
            </a:pPr>
            <a:r>
              <a:rPr lang="en-US" sz="1080" dirty="0">
                <a:solidFill>
                  <a:srgbClr val="2B2118"/>
                </a:solidFill>
                <a:latin typeface="Courier New" pitchFamily="34" charset="0"/>
                <a:ea typeface="Courier New" pitchFamily="34" charset="-122"/>
                <a:cs typeface="Courier New" pitchFamily="34" charset="-120"/>
              </a:rPr>
              <a:t>“Summarise this paper, focusing on the methodology.”</a:t>
            </a:r>
            <a:endParaRPr lang="en-US" sz="1080" dirty="0"/>
          </a:p>
        </p:txBody>
      </p:sp>
      <p:sp>
        <p:nvSpPr>
          <p:cNvPr id="14" name="Shape 12"/>
          <p:cNvSpPr/>
          <p:nvPr/>
        </p:nvSpPr>
        <p:spPr>
          <a:xfrm>
            <a:off x="502920" y="3566160"/>
            <a:ext cx="8138160" cy="932688"/>
          </a:xfrm>
          <a:prstGeom prst="roundRect">
            <a:avLst>
              <a:gd name="adj" fmla="val 7843"/>
            </a:avLst>
          </a:prstGeom>
          <a:solidFill>
            <a:srgbClr val="3B2314"/>
          </a:solidFill>
          <a:ln/>
          <a:effectLst>
            <a:outerShdw blurRad="88900" dist="25400" dir="2700000" algn="bl" rotWithShape="0">
              <a:srgbClr val="000000">
                <a:alpha val="14000"/>
              </a:srgbClr>
            </a:outerShdw>
          </a:effectLst>
        </p:spPr>
        <p:txBody>
          <a:bodyPr/>
          <a:lstStyle/>
          <a:p>
            <a:endParaRPr lang="en-GB"/>
          </a:p>
        </p:txBody>
      </p:sp>
      <p:sp>
        <p:nvSpPr>
          <p:cNvPr id="15" name="Shape 13"/>
          <p:cNvSpPr/>
          <p:nvPr/>
        </p:nvSpPr>
        <p:spPr>
          <a:xfrm>
            <a:off x="713232" y="3730752"/>
            <a:ext cx="603504" cy="603504"/>
          </a:xfrm>
          <a:prstGeom prst="ellipse">
            <a:avLst/>
          </a:prstGeom>
          <a:solidFill>
            <a:srgbClr val="D99B32"/>
          </a:solidFill>
          <a:ln/>
        </p:spPr>
        <p:txBody>
          <a:bodyPr/>
          <a:lstStyle/>
          <a:p>
            <a:endParaRPr lang="en-GB"/>
          </a:p>
        </p:txBody>
      </p:sp>
      <p:sp>
        <p:nvSpPr>
          <p:cNvPr id="16" name="Text 14"/>
          <p:cNvSpPr/>
          <p:nvPr/>
        </p:nvSpPr>
        <p:spPr>
          <a:xfrm>
            <a:off x="713232" y="3730752"/>
            <a:ext cx="603504" cy="603504"/>
          </a:xfrm>
          <a:prstGeom prst="rect">
            <a:avLst/>
          </a:prstGeom>
          <a:noFill/>
          <a:ln/>
        </p:spPr>
        <p:txBody>
          <a:bodyPr wrap="square" lIns="0" tIns="0" rIns="0" bIns="0" rtlCol="0" anchor="ctr"/>
          <a:lstStyle/>
          <a:p>
            <a:pPr marL="0" indent="0" algn="ctr">
              <a:buNone/>
            </a:pPr>
            <a:r>
              <a:rPr lang="en-US" sz="2200" b="1" dirty="0">
                <a:solidFill>
                  <a:srgbClr val="3B2314"/>
                </a:solidFill>
                <a:latin typeface="Cambria" pitchFamily="34" charset="0"/>
                <a:ea typeface="Cambria" pitchFamily="34" charset="-122"/>
                <a:cs typeface="Cambria" pitchFamily="34" charset="-120"/>
              </a:rPr>
              <a:t>E</a:t>
            </a:r>
            <a:endParaRPr lang="en-US" sz="2200" dirty="0"/>
          </a:p>
        </p:txBody>
      </p:sp>
      <p:sp>
        <p:nvSpPr>
          <p:cNvPr id="17" name="Text 15"/>
          <p:cNvSpPr/>
          <p:nvPr/>
        </p:nvSpPr>
        <p:spPr>
          <a:xfrm>
            <a:off x="1508760" y="3657600"/>
            <a:ext cx="1828800" cy="256032"/>
          </a:xfrm>
          <a:prstGeom prst="rect">
            <a:avLst/>
          </a:prstGeom>
          <a:noFill/>
          <a:ln/>
        </p:spPr>
        <p:txBody>
          <a:bodyPr wrap="square" lIns="0" tIns="0" rIns="0" bIns="0" rtlCol="0" anchor="ctr"/>
          <a:lstStyle/>
          <a:p>
            <a:pPr marL="0" indent="0">
              <a:buNone/>
            </a:pPr>
            <a:r>
              <a:rPr lang="en-US" sz="1050" b="1" kern="0" spc="200" dirty="0">
                <a:solidFill>
                  <a:srgbClr val="D99B32"/>
                </a:solidFill>
                <a:latin typeface="Calibri" pitchFamily="34" charset="0"/>
                <a:ea typeface="Calibri" pitchFamily="34" charset="-122"/>
                <a:cs typeface="Calibri" pitchFamily="34" charset="-120"/>
              </a:rPr>
              <a:t>EXCELLENT</a:t>
            </a:r>
            <a:endParaRPr lang="en-US" sz="1050" dirty="0"/>
          </a:p>
        </p:txBody>
      </p:sp>
      <p:sp>
        <p:nvSpPr>
          <p:cNvPr id="18" name="Text 16"/>
          <p:cNvSpPr/>
          <p:nvPr/>
        </p:nvSpPr>
        <p:spPr>
          <a:xfrm>
            <a:off x="1508760" y="3895344"/>
            <a:ext cx="5989320" cy="566928"/>
          </a:xfrm>
          <a:prstGeom prst="rect">
            <a:avLst/>
          </a:prstGeom>
          <a:noFill/>
          <a:ln/>
        </p:spPr>
        <p:txBody>
          <a:bodyPr wrap="square" lIns="0" tIns="0" rIns="0" bIns="0" rtlCol="0" anchor="ctr"/>
          <a:lstStyle/>
          <a:p>
            <a:pPr marL="0" indent="0">
              <a:buNone/>
            </a:pPr>
            <a:r>
              <a:rPr lang="en-US" sz="1080" dirty="0">
                <a:solidFill>
                  <a:srgbClr val="F0E4D2"/>
                </a:solidFill>
                <a:latin typeface="Courier New" pitchFamily="34" charset="0"/>
                <a:ea typeface="Courier New" pitchFamily="34" charset="-122"/>
                <a:cs typeface="Courier New" pitchFamily="34" charset="-120"/>
              </a:rPr>
              <a:t>“You are a reviewer for a Q1 journal in this field. Evaluate the statistical methodology in the attached paper against [named reporting standard, e.g. CONSORT/PRISMA]. List each deviation with its severity.”</a:t>
            </a:r>
            <a:endParaRPr lang="en-US" sz="1080" dirty="0"/>
          </a:p>
        </p:txBody>
      </p:sp>
      <p:sp>
        <p:nvSpPr>
          <p:cNvPr id="19" name="Text 17"/>
          <p:cNvSpPr/>
          <p:nvPr/>
        </p:nvSpPr>
        <p:spPr>
          <a:xfrm>
            <a:off x="502920" y="4590288"/>
            <a:ext cx="8138160" cy="320040"/>
          </a:xfrm>
          <a:prstGeom prst="rect">
            <a:avLst/>
          </a:prstGeom>
          <a:noFill/>
          <a:ln/>
        </p:spPr>
        <p:txBody>
          <a:bodyPr wrap="square" lIns="0" tIns="0" rIns="0" bIns="0" rtlCol="0" anchor="ctr"/>
          <a:lstStyle/>
          <a:p>
            <a:pPr marL="0" indent="0" algn="ctr">
              <a:buNone/>
            </a:pPr>
            <a:r>
              <a:rPr lang="en-US" sz="1400" i="1" dirty="0">
                <a:solidFill>
                  <a:srgbClr val="31402A"/>
                </a:solidFill>
                <a:latin typeface="Cambria" pitchFamily="34" charset="0"/>
                <a:ea typeface="Cambria" pitchFamily="34" charset="-122"/>
                <a:cs typeface="Cambria" pitchFamily="34" charset="-120"/>
              </a:rPr>
              <a:t>Same request. Escalating precision. Escalating value.</a:t>
            </a:r>
            <a:endParaRPr lang="en-US" sz="1400" dirty="0"/>
          </a:p>
        </p:txBody>
      </p:sp>
      <p:sp>
        <p:nvSpPr>
          <p:cNvPr id="20" name="Text 18"/>
          <p:cNvSpPr/>
          <p:nvPr/>
        </p:nvSpPr>
        <p:spPr>
          <a:xfrm>
            <a:off x="502920" y="4846320"/>
            <a:ext cx="4114800" cy="228600"/>
          </a:xfrm>
          <a:prstGeom prst="rect">
            <a:avLst/>
          </a:prstGeom>
          <a:noFill/>
          <a:ln/>
        </p:spPr>
        <p:txBody>
          <a:bodyPr wrap="square" lIns="0" tIns="0" rIns="0" bIns="0" rtlCol="0" anchor="ctr"/>
          <a:lstStyle/>
          <a:p>
            <a:pPr marL="0" indent="0">
              <a:buNone/>
            </a:pPr>
            <a:r>
              <a:rPr lang="en-US" sz="900" dirty="0">
                <a:solidFill>
                  <a:srgbClr val="8A7A6B"/>
                </a:solidFill>
                <a:latin typeface="Calibri" pitchFamily="34" charset="0"/>
                <a:ea typeface="Calibri" pitchFamily="34" charset="-122"/>
                <a:cs typeface="Calibri" pitchFamily="34" charset="-120"/>
              </a:rPr>
              <a:t>AWAU Monthly Colloquium  ·  July 2026</a:t>
            </a:r>
            <a:endParaRPr lang="en-US" sz="900" dirty="0"/>
          </a:p>
        </p:txBody>
      </p:sp>
      <p:sp>
        <p:nvSpPr>
          <p:cNvPr id="21" name="Text 19"/>
          <p:cNvSpPr/>
          <p:nvPr/>
        </p:nvSpPr>
        <p:spPr>
          <a:xfrm>
            <a:off x="8503920" y="4846320"/>
            <a:ext cx="320040" cy="228600"/>
          </a:xfrm>
          <a:prstGeom prst="rect">
            <a:avLst/>
          </a:prstGeom>
          <a:noFill/>
          <a:ln/>
        </p:spPr>
        <p:txBody>
          <a:bodyPr wrap="square" lIns="0" tIns="0" rIns="0" bIns="0" rtlCol="0" anchor="ctr"/>
          <a:lstStyle/>
          <a:p>
            <a:pPr marL="0" indent="0" algn="r">
              <a:buNone/>
            </a:pPr>
            <a:r>
              <a:rPr lang="en-US" sz="900" dirty="0">
                <a:solidFill>
                  <a:srgbClr val="8A7A6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3B2314"/>
        </a:solidFill>
        <a:effectLst/>
      </p:bgPr>
    </p:bg>
    <p:spTree>
      <p:nvGrpSpPr>
        <p:cNvPr id="1" name=""/>
        <p:cNvGrpSpPr/>
        <p:nvPr/>
      </p:nvGrpSpPr>
      <p:grpSpPr>
        <a:xfrm>
          <a:off x="0" y="0"/>
          <a:ext cx="0" cy="0"/>
          <a:chOff x="0" y="0"/>
          <a:chExt cx="0" cy="0"/>
        </a:xfrm>
      </p:grpSpPr>
      <p:sp>
        <p:nvSpPr>
          <p:cNvPr id="2" name="Text 0"/>
          <p:cNvSpPr/>
          <p:nvPr/>
        </p:nvSpPr>
        <p:spPr>
          <a:xfrm>
            <a:off x="502920" y="320040"/>
            <a:ext cx="8229600" cy="274320"/>
          </a:xfrm>
          <a:prstGeom prst="rect">
            <a:avLst/>
          </a:prstGeom>
          <a:noFill/>
          <a:ln/>
        </p:spPr>
        <p:txBody>
          <a:bodyPr wrap="square" lIns="0" tIns="0" rIns="0" bIns="0" rtlCol="0" anchor="ctr"/>
          <a:lstStyle/>
          <a:p>
            <a:pPr marL="0" indent="0">
              <a:buNone/>
            </a:pPr>
            <a:r>
              <a:rPr lang="en-US" sz="1200" b="1" kern="0" spc="300" dirty="0">
                <a:solidFill>
                  <a:srgbClr val="D99B32"/>
                </a:solidFill>
                <a:latin typeface="Calibri" pitchFamily="34" charset="0"/>
                <a:ea typeface="Calibri" pitchFamily="34" charset="-122"/>
                <a:cs typeface="Calibri" pitchFamily="34" charset="-120"/>
              </a:rPr>
              <a:t>LIVE EXERCISE</a:t>
            </a:r>
            <a:endParaRPr lang="en-US" sz="1200" dirty="0"/>
          </a:p>
        </p:txBody>
      </p:sp>
      <p:sp>
        <p:nvSpPr>
          <p:cNvPr id="3" name="Text 1"/>
          <p:cNvSpPr/>
          <p:nvPr/>
        </p:nvSpPr>
        <p:spPr>
          <a:xfrm>
            <a:off x="502920" y="566928"/>
            <a:ext cx="813816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Let's Try It, Right Now</a:t>
            </a:r>
            <a:endParaRPr lang="en-US" sz="3000" dirty="0"/>
          </a:p>
        </p:txBody>
      </p:sp>
      <p:sp>
        <p:nvSpPr>
          <p:cNvPr id="4" name="Text 2"/>
          <p:cNvSpPr/>
          <p:nvPr/>
        </p:nvSpPr>
        <p:spPr>
          <a:xfrm>
            <a:off x="502920" y="1143000"/>
            <a:ext cx="8138160" cy="320040"/>
          </a:xfrm>
          <a:prstGeom prst="rect">
            <a:avLst/>
          </a:prstGeom>
          <a:noFill/>
          <a:ln/>
        </p:spPr>
        <p:txBody>
          <a:bodyPr wrap="square" lIns="0" tIns="0" rIns="0" bIns="0" rtlCol="0" anchor="ctr"/>
          <a:lstStyle/>
          <a:p>
            <a:pPr marL="0" indent="0">
              <a:buNone/>
            </a:pPr>
            <a:r>
              <a:rPr lang="en-US" sz="1300" i="1" dirty="0">
                <a:solidFill>
                  <a:srgbClr val="E5D6C2"/>
                </a:solidFill>
                <a:latin typeface="Calibri" pitchFamily="34" charset="0"/>
                <a:ea typeface="Calibri" pitchFamily="34" charset="-122"/>
                <a:cs typeface="Calibri" pitchFamily="34" charset="-120"/>
              </a:rPr>
              <a:t>Open any AI chat assistant on your device — free accounts are enough for all three.</a:t>
            </a:r>
            <a:endParaRPr lang="en-US" sz="1300" dirty="0"/>
          </a:p>
        </p:txBody>
      </p:sp>
      <p:sp>
        <p:nvSpPr>
          <p:cNvPr id="5" name="Shape 3"/>
          <p:cNvSpPr/>
          <p:nvPr/>
        </p:nvSpPr>
        <p:spPr>
          <a:xfrm>
            <a:off x="502920" y="1691640"/>
            <a:ext cx="8138160" cy="841248"/>
          </a:xfrm>
          <a:prstGeom prst="roundRect">
            <a:avLst>
              <a:gd name="adj" fmla="val 8696"/>
            </a:avLst>
          </a:prstGeom>
          <a:solidFill>
            <a:srgbClr val="54341E"/>
          </a:solidFill>
          <a:ln/>
          <a:effectLst>
            <a:outerShdw blurRad="88900" dist="25400" dir="2700000" algn="bl" rotWithShape="0">
              <a:srgbClr val="000000">
                <a:alpha val="14000"/>
              </a:srgbClr>
            </a:outerShdw>
          </a:effectLst>
        </p:spPr>
        <p:txBody>
          <a:bodyPr/>
          <a:lstStyle/>
          <a:p>
            <a:endParaRPr lang="en-GB"/>
          </a:p>
        </p:txBody>
      </p:sp>
      <p:sp>
        <p:nvSpPr>
          <p:cNvPr id="6" name="Shape 4"/>
          <p:cNvSpPr/>
          <p:nvPr/>
        </p:nvSpPr>
        <p:spPr>
          <a:xfrm>
            <a:off x="713232" y="1828800"/>
            <a:ext cx="548640" cy="548640"/>
          </a:xfrm>
          <a:prstGeom prst="ellipse">
            <a:avLst/>
          </a:prstGeom>
          <a:solidFill>
            <a:srgbClr val="BE5320"/>
          </a:solidFill>
          <a:ln/>
        </p:spPr>
        <p:txBody>
          <a:bodyPr/>
          <a:lstStyle/>
          <a:p>
            <a:endParaRPr lang="en-GB"/>
          </a:p>
        </p:txBody>
      </p:sp>
      <p:sp>
        <p:nvSpPr>
          <p:cNvPr id="7" name="Text 5"/>
          <p:cNvSpPr/>
          <p:nvPr/>
        </p:nvSpPr>
        <p:spPr>
          <a:xfrm>
            <a:off x="713232" y="182880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01</a:t>
            </a:r>
            <a:endParaRPr lang="en-US" sz="1800" dirty="0"/>
          </a:p>
        </p:txBody>
      </p:sp>
      <p:sp>
        <p:nvSpPr>
          <p:cNvPr id="8" name="Text 6"/>
          <p:cNvSpPr/>
          <p:nvPr/>
        </p:nvSpPr>
        <p:spPr>
          <a:xfrm>
            <a:off x="1417320" y="1764792"/>
            <a:ext cx="2194560" cy="27432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The Research Challenge</a:t>
            </a:r>
            <a:endParaRPr lang="en-US" sz="1350" dirty="0"/>
          </a:p>
        </p:txBody>
      </p:sp>
      <p:sp>
        <p:nvSpPr>
          <p:cNvPr id="9" name="Shape 7"/>
          <p:cNvSpPr/>
          <p:nvPr/>
        </p:nvSpPr>
        <p:spPr>
          <a:xfrm>
            <a:off x="3611880" y="1773936"/>
            <a:ext cx="777240" cy="274320"/>
          </a:xfrm>
          <a:prstGeom prst="roundRect">
            <a:avLst>
              <a:gd name="adj" fmla="val 50000"/>
            </a:avLst>
          </a:prstGeom>
          <a:solidFill>
            <a:srgbClr val="BE5320"/>
          </a:solidFill>
          <a:ln/>
        </p:spPr>
        <p:txBody>
          <a:bodyPr/>
          <a:lstStyle/>
          <a:p>
            <a:endParaRPr lang="en-GB"/>
          </a:p>
        </p:txBody>
      </p:sp>
      <p:sp>
        <p:nvSpPr>
          <p:cNvPr id="10" name="Text 8"/>
          <p:cNvSpPr/>
          <p:nvPr/>
        </p:nvSpPr>
        <p:spPr>
          <a:xfrm>
            <a:off x="3611880" y="1773936"/>
            <a:ext cx="77724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3 min</a:t>
            </a:r>
            <a:endParaRPr lang="en-US" sz="950" dirty="0"/>
          </a:p>
        </p:txBody>
      </p:sp>
      <p:sp>
        <p:nvSpPr>
          <p:cNvPr id="11" name="Text 9"/>
          <p:cNvSpPr/>
          <p:nvPr/>
        </p:nvSpPr>
        <p:spPr>
          <a:xfrm>
            <a:off x="1417320" y="2057400"/>
            <a:ext cx="7040880" cy="438912"/>
          </a:xfrm>
          <a:prstGeom prst="rect">
            <a:avLst/>
          </a:prstGeom>
          <a:noFill/>
          <a:ln/>
        </p:spPr>
        <p:txBody>
          <a:bodyPr wrap="square" lIns="0" tIns="0" rIns="0" bIns="0" rtlCol="0" anchor="ctr"/>
          <a:lstStyle/>
          <a:p>
            <a:pPr marL="0" indent="0">
              <a:buNone/>
            </a:pPr>
            <a:r>
              <a:rPr lang="en-US" sz="980" dirty="0">
                <a:solidFill>
                  <a:srgbClr val="F0E4D2"/>
                </a:solidFill>
                <a:latin typeface="Courier New" pitchFamily="34" charset="0"/>
                <a:ea typeface="Courier New" pitchFamily="34" charset="-122"/>
                <a:cs typeface="Courier New" pitchFamily="34" charset="-120"/>
              </a:rPr>
              <a:t>“I am a lecturer in [your department]. Suggest 5 underexplored research topics with high impact potential in West Africa.”</a:t>
            </a:r>
            <a:endParaRPr lang="en-US" sz="980" dirty="0"/>
          </a:p>
        </p:txBody>
      </p:sp>
      <p:sp>
        <p:nvSpPr>
          <p:cNvPr id="12" name="Shape 10"/>
          <p:cNvSpPr/>
          <p:nvPr/>
        </p:nvSpPr>
        <p:spPr>
          <a:xfrm>
            <a:off x="502920" y="2651760"/>
            <a:ext cx="8138160" cy="841248"/>
          </a:xfrm>
          <a:prstGeom prst="roundRect">
            <a:avLst>
              <a:gd name="adj" fmla="val 8696"/>
            </a:avLst>
          </a:prstGeom>
          <a:solidFill>
            <a:srgbClr val="54341E"/>
          </a:solidFill>
          <a:ln/>
          <a:effectLst>
            <a:outerShdw blurRad="88900" dist="25400" dir="2700000" algn="bl" rotWithShape="0">
              <a:srgbClr val="000000">
                <a:alpha val="14000"/>
              </a:srgbClr>
            </a:outerShdw>
          </a:effectLst>
        </p:spPr>
        <p:txBody>
          <a:bodyPr/>
          <a:lstStyle/>
          <a:p>
            <a:endParaRPr lang="en-GB"/>
          </a:p>
        </p:txBody>
      </p:sp>
      <p:sp>
        <p:nvSpPr>
          <p:cNvPr id="13" name="Shape 11"/>
          <p:cNvSpPr/>
          <p:nvPr/>
        </p:nvSpPr>
        <p:spPr>
          <a:xfrm>
            <a:off x="713232" y="2788920"/>
            <a:ext cx="548640" cy="548640"/>
          </a:xfrm>
          <a:prstGeom prst="ellipse">
            <a:avLst/>
          </a:prstGeom>
          <a:solidFill>
            <a:srgbClr val="D99B32"/>
          </a:solidFill>
          <a:ln/>
        </p:spPr>
        <p:txBody>
          <a:bodyPr/>
          <a:lstStyle/>
          <a:p>
            <a:endParaRPr lang="en-GB"/>
          </a:p>
        </p:txBody>
      </p:sp>
      <p:sp>
        <p:nvSpPr>
          <p:cNvPr id="14" name="Text 12"/>
          <p:cNvSpPr/>
          <p:nvPr/>
        </p:nvSpPr>
        <p:spPr>
          <a:xfrm>
            <a:off x="713232" y="2788920"/>
            <a:ext cx="548640" cy="548640"/>
          </a:xfrm>
          <a:prstGeom prst="rect">
            <a:avLst/>
          </a:prstGeom>
          <a:noFill/>
          <a:ln/>
        </p:spPr>
        <p:txBody>
          <a:bodyPr wrap="square" lIns="0" tIns="0" rIns="0" bIns="0" rtlCol="0" anchor="ctr"/>
          <a:lstStyle/>
          <a:p>
            <a:pPr marL="0" indent="0" algn="ctr">
              <a:buNone/>
            </a:pPr>
            <a:r>
              <a:rPr lang="en-US" sz="1800" b="1" dirty="0">
                <a:solidFill>
                  <a:srgbClr val="3B2314"/>
                </a:solidFill>
                <a:latin typeface="Cambria" pitchFamily="34" charset="0"/>
                <a:ea typeface="Cambria" pitchFamily="34" charset="-122"/>
                <a:cs typeface="Cambria" pitchFamily="34" charset="-120"/>
              </a:rPr>
              <a:t>02</a:t>
            </a:r>
            <a:endParaRPr lang="en-US" sz="1800" dirty="0"/>
          </a:p>
        </p:txBody>
      </p:sp>
      <p:sp>
        <p:nvSpPr>
          <p:cNvPr id="15" name="Text 13"/>
          <p:cNvSpPr/>
          <p:nvPr/>
        </p:nvSpPr>
        <p:spPr>
          <a:xfrm>
            <a:off x="1417320" y="2724912"/>
            <a:ext cx="2194560" cy="27432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The Lecture Builder</a:t>
            </a:r>
            <a:endParaRPr lang="en-US" sz="1350" dirty="0"/>
          </a:p>
        </p:txBody>
      </p:sp>
      <p:sp>
        <p:nvSpPr>
          <p:cNvPr id="16" name="Shape 14"/>
          <p:cNvSpPr/>
          <p:nvPr/>
        </p:nvSpPr>
        <p:spPr>
          <a:xfrm>
            <a:off x="3611880" y="2734056"/>
            <a:ext cx="777240" cy="274320"/>
          </a:xfrm>
          <a:prstGeom prst="roundRect">
            <a:avLst>
              <a:gd name="adj" fmla="val 50000"/>
            </a:avLst>
          </a:prstGeom>
          <a:solidFill>
            <a:srgbClr val="BE5320"/>
          </a:solidFill>
          <a:ln/>
        </p:spPr>
        <p:txBody>
          <a:bodyPr/>
          <a:lstStyle/>
          <a:p>
            <a:endParaRPr lang="en-GB"/>
          </a:p>
        </p:txBody>
      </p:sp>
      <p:sp>
        <p:nvSpPr>
          <p:cNvPr id="17" name="Text 15"/>
          <p:cNvSpPr/>
          <p:nvPr/>
        </p:nvSpPr>
        <p:spPr>
          <a:xfrm>
            <a:off x="3611880" y="2734056"/>
            <a:ext cx="77724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3 min</a:t>
            </a:r>
            <a:endParaRPr lang="en-US" sz="950" dirty="0"/>
          </a:p>
        </p:txBody>
      </p:sp>
      <p:sp>
        <p:nvSpPr>
          <p:cNvPr id="18" name="Text 16"/>
          <p:cNvSpPr/>
          <p:nvPr/>
        </p:nvSpPr>
        <p:spPr>
          <a:xfrm>
            <a:off x="1417320" y="3017520"/>
            <a:ext cx="7040880" cy="438912"/>
          </a:xfrm>
          <a:prstGeom prst="rect">
            <a:avLst/>
          </a:prstGeom>
          <a:noFill/>
          <a:ln/>
        </p:spPr>
        <p:txBody>
          <a:bodyPr wrap="square" lIns="0" tIns="0" rIns="0" bIns="0" rtlCol="0" anchor="ctr"/>
          <a:lstStyle/>
          <a:p>
            <a:pPr marL="0" indent="0">
              <a:buNone/>
            </a:pPr>
            <a:r>
              <a:rPr lang="en-US" sz="980" dirty="0">
                <a:solidFill>
                  <a:srgbClr val="F0E4D2"/>
                </a:solidFill>
                <a:latin typeface="Courier New" pitchFamily="34" charset="0"/>
                <a:ea typeface="Courier New" pitchFamily="34" charset="-122"/>
                <a:cs typeface="Courier New" pitchFamily="34" charset="-120"/>
              </a:rPr>
              <a:t>“Create a 45-minute lesson plan on [your topic] for 200-level students. Include learning objectives and one group activity.”</a:t>
            </a:r>
            <a:endParaRPr lang="en-US" sz="980" dirty="0"/>
          </a:p>
        </p:txBody>
      </p:sp>
      <p:sp>
        <p:nvSpPr>
          <p:cNvPr id="19" name="Shape 17"/>
          <p:cNvSpPr/>
          <p:nvPr/>
        </p:nvSpPr>
        <p:spPr>
          <a:xfrm>
            <a:off x="502920" y="3611880"/>
            <a:ext cx="8138160" cy="841248"/>
          </a:xfrm>
          <a:prstGeom prst="roundRect">
            <a:avLst>
              <a:gd name="adj" fmla="val 8696"/>
            </a:avLst>
          </a:prstGeom>
          <a:solidFill>
            <a:srgbClr val="54341E"/>
          </a:solidFill>
          <a:ln/>
          <a:effectLst>
            <a:outerShdw blurRad="88900" dist="25400" dir="2700000" algn="bl" rotWithShape="0">
              <a:srgbClr val="000000">
                <a:alpha val="14000"/>
              </a:srgbClr>
            </a:outerShdw>
          </a:effectLst>
        </p:spPr>
        <p:txBody>
          <a:bodyPr/>
          <a:lstStyle/>
          <a:p>
            <a:endParaRPr lang="en-GB"/>
          </a:p>
        </p:txBody>
      </p:sp>
      <p:sp>
        <p:nvSpPr>
          <p:cNvPr id="20" name="Shape 18"/>
          <p:cNvSpPr/>
          <p:nvPr/>
        </p:nvSpPr>
        <p:spPr>
          <a:xfrm>
            <a:off x="713232" y="3749040"/>
            <a:ext cx="548640" cy="548640"/>
          </a:xfrm>
          <a:prstGeom prst="ellipse">
            <a:avLst/>
          </a:prstGeom>
          <a:solidFill>
            <a:srgbClr val="BE5320"/>
          </a:solidFill>
          <a:ln/>
        </p:spPr>
        <p:txBody>
          <a:bodyPr/>
          <a:lstStyle/>
          <a:p>
            <a:endParaRPr lang="en-GB"/>
          </a:p>
        </p:txBody>
      </p:sp>
      <p:sp>
        <p:nvSpPr>
          <p:cNvPr id="21" name="Text 19"/>
          <p:cNvSpPr/>
          <p:nvPr/>
        </p:nvSpPr>
        <p:spPr>
          <a:xfrm>
            <a:off x="713232" y="374904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03</a:t>
            </a:r>
            <a:endParaRPr lang="en-US" sz="1800" dirty="0"/>
          </a:p>
        </p:txBody>
      </p:sp>
      <p:sp>
        <p:nvSpPr>
          <p:cNvPr id="22" name="Text 20"/>
          <p:cNvSpPr/>
          <p:nvPr/>
        </p:nvSpPr>
        <p:spPr>
          <a:xfrm>
            <a:off x="1417320" y="3685032"/>
            <a:ext cx="2194560" cy="274320"/>
          </a:xfrm>
          <a:prstGeom prst="rect">
            <a:avLst/>
          </a:prstGeom>
          <a:noFill/>
          <a:ln/>
        </p:spPr>
        <p:txBody>
          <a:bodyPr wrap="square" lIns="0" tIns="0" rIns="0" bIns="0" rtlCol="0" anchor="ctr"/>
          <a:lstStyle/>
          <a:p>
            <a:pPr marL="0" indent="0">
              <a:buNone/>
            </a:pPr>
            <a:r>
              <a:rPr lang="en-US" sz="1350" b="1" dirty="0">
                <a:solidFill>
                  <a:srgbClr val="FFFFFF"/>
                </a:solidFill>
                <a:latin typeface="Cambria" pitchFamily="34" charset="0"/>
                <a:ea typeface="Cambria" pitchFamily="34" charset="-122"/>
                <a:cs typeface="Cambria" pitchFamily="34" charset="-120"/>
              </a:rPr>
              <a:t>The Paper Analyser</a:t>
            </a:r>
            <a:endParaRPr lang="en-US" sz="1350" dirty="0"/>
          </a:p>
        </p:txBody>
      </p:sp>
      <p:sp>
        <p:nvSpPr>
          <p:cNvPr id="23" name="Shape 21"/>
          <p:cNvSpPr/>
          <p:nvPr/>
        </p:nvSpPr>
        <p:spPr>
          <a:xfrm>
            <a:off x="3611880" y="3694176"/>
            <a:ext cx="777240" cy="274320"/>
          </a:xfrm>
          <a:prstGeom prst="roundRect">
            <a:avLst>
              <a:gd name="adj" fmla="val 50000"/>
            </a:avLst>
          </a:prstGeom>
          <a:solidFill>
            <a:srgbClr val="BE5320"/>
          </a:solidFill>
          <a:ln/>
        </p:spPr>
        <p:txBody>
          <a:bodyPr/>
          <a:lstStyle/>
          <a:p>
            <a:endParaRPr lang="en-GB"/>
          </a:p>
        </p:txBody>
      </p:sp>
      <p:sp>
        <p:nvSpPr>
          <p:cNvPr id="24" name="Text 22"/>
          <p:cNvSpPr/>
          <p:nvPr/>
        </p:nvSpPr>
        <p:spPr>
          <a:xfrm>
            <a:off x="3611880" y="3694176"/>
            <a:ext cx="777240" cy="2743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4 min</a:t>
            </a:r>
            <a:endParaRPr lang="en-US" sz="950" dirty="0"/>
          </a:p>
        </p:txBody>
      </p:sp>
      <p:sp>
        <p:nvSpPr>
          <p:cNvPr id="25" name="Text 23"/>
          <p:cNvSpPr/>
          <p:nvPr/>
        </p:nvSpPr>
        <p:spPr>
          <a:xfrm>
            <a:off x="1417320" y="3977640"/>
            <a:ext cx="7040880" cy="438912"/>
          </a:xfrm>
          <a:prstGeom prst="rect">
            <a:avLst/>
          </a:prstGeom>
          <a:noFill/>
          <a:ln/>
        </p:spPr>
        <p:txBody>
          <a:bodyPr wrap="square" lIns="0" tIns="0" rIns="0" bIns="0" rtlCol="0" anchor="ctr"/>
          <a:lstStyle/>
          <a:p>
            <a:pPr marL="0" indent="0">
              <a:buNone/>
            </a:pPr>
            <a:r>
              <a:rPr lang="en-US" sz="980" dirty="0">
                <a:solidFill>
                  <a:srgbClr val="F0E4D2"/>
                </a:solidFill>
                <a:latin typeface="Courier New" pitchFamily="34" charset="0"/>
                <a:ea typeface="Courier New" pitchFamily="34" charset="-122"/>
                <a:cs typeface="Courier New" pitchFamily="34" charset="-120"/>
              </a:rPr>
              <a:t>Paste your own abstract: “Critique this abstract — strengths, weaknesses, and one concrete improvement.”</a:t>
            </a:r>
            <a:endParaRPr lang="en-US" sz="980" dirty="0"/>
          </a:p>
        </p:txBody>
      </p:sp>
      <p:sp>
        <p:nvSpPr>
          <p:cNvPr id="26" name="Text 24"/>
          <p:cNvSpPr/>
          <p:nvPr/>
        </p:nvSpPr>
        <p:spPr>
          <a:xfrm>
            <a:off x="502920" y="4645152"/>
            <a:ext cx="8138160" cy="320040"/>
          </a:xfrm>
          <a:prstGeom prst="rect">
            <a:avLst/>
          </a:prstGeom>
          <a:noFill/>
          <a:ln/>
        </p:spPr>
        <p:txBody>
          <a:bodyPr wrap="square" lIns="0" tIns="0" rIns="0" bIns="0" rtlCol="0" anchor="ctr"/>
          <a:lstStyle/>
          <a:p>
            <a:pPr marL="0" indent="0" algn="ctr">
              <a:buNone/>
            </a:pPr>
            <a:r>
              <a:rPr lang="en-US" sz="1300" i="1" dirty="0">
                <a:solidFill>
                  <a:srgbClr val="D99B32"/>
                </a:solidFill>
                <a:latin typeface="Cambria" pitchFamily="34" charset="0"/>
                <a:ea typeface="Cambria" pitchFamily="34" charset="-122"/>
                <a:cs typeface="Cambria" pitchFamily="34" charset="-120"/>
              </a:rPr>
              <a:t>Chat with a neighbour afterward — what surprised you?</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marL="0" indent="0">
              <a:buNone/>
            </a:pPr>
            <a:r>
              <a:rPr lang="en-US" sz="1200" b="1" kern="0" spc="300" dirty="0">
                <a:solidFill>
                  <a:srgbClr val="BE5320"/>
                </a:solidFill>
                <a:latin typeface="Calibri" pitchFamily="34" charset="0"/>
                <a:ea typeface="Calibri" pitchFamily="34" charset="-122"/>
                <a:cs typeface="Calibri" pitchFamily="34" charset="-120"/>
              </a:rPr>
              <a:t>CASE STUDY · ARISG, OOU</a:t>
            </a:r>
            <a:endParaRPr lang="en-US" sz="120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3000" b="1" dirty="0">
                <a:solidFill>
                  <a:srgbClr val="3B2314"/>
                </a:solidFill>
                <a:latin typeface="Cambria" pitchFamily="34" charset="0"/>
                <a:ea typeface="Cambria" pitchFamily="34" charset="-122"/>
                <a:cs typeface="Cambria" pitchFamily="34" charset="-120"/>
              </a:rPr>
              <a:t>731 Nigerian Songs: AI + Experts in One Loop</a:t>
            </a:r>
            <a:endParaRPr lang="en-US" sz="3000" dirty="0"/>
          </a:p>
        </p:txBody>
      </p:sp>
      <p:sp>
        <p:nvSpPr>
          <p:cNvPr id="4" name="Text 2"/>
          <p:cNvSpPr/>
          <p:nvPr/>
        </p:nvSpPr>
        <p:spPr>
          <a:xfrm>
            <a:off x="502920" y="1371600"/>
            <a:ext cx="4937760" cy="777240"/>
          </a:xfrm>
          <a:prstGeom prst="rect">
            <a:avLst/>
          </a:prstGeom>
          <a:noFill/>
          <a:ln/>
        </p:spPr>
        <p:txBody>
          <a:bodyPr wrap="square" lIns="0" tIns="0" rIns="0" bIns="0" rtlCol="0" anchor="ctr"/>
          <a:lstStyle/>
          <a:p>
            <a:pPr marL="0" indent="0">
              <a:buNone/>
            </a:pPr>
            <a:r>
              <a:rPr lang="en-US" sz="1300" dirty="0">
                <a:solidFill>
                  <a:srgbClr val="2B2118"/>
                </a:solidFill>
                <a:latin typeface="Calibri" pitchFamily="34" charset="0"/>
                <a:ea typeface="Calibri" pitchFamily="34" charset="-122"/>
                <a:cs typeface="Calibri" pitchFamily="34" charset="-120"/>
              </a:rPr>
              <a:t>Our group needed rich metadata — genre, mood, language, cultural tags — for a corpus of 731 Nigerian songs. Manual annotation of the full corpus was infeasible.</a:t>
            </a:r>
            <a:endParaRPr lang="en-US" sz="1300" dirty="0"/>
          </a:p>
        </p:txBody>
      </p:sp>
      <p:sp>
        <p:nvSpPr>
          <p:cNvPr id="5" name="Shape 3"/>
          <p:cNvSpPr/>
          <p:nvPr/>
        </p:nvSpPr>
        <p:spPr>
          <a:xfrm>
            <a:off x="548640" y="2240280"/>
            <a:ext cx="438912" cy="438912"/>
          </a:xfrm>
          <a:prstGeom prst="ellipse">
            <a:avLst/>
          </a:prstGeom>
          <a:solidFill>
            <a:srgbClr val="BE5320"/>
          </a:solidFill>
          <a:ln/>
        </p:spPr>
        <p:txBody>
          <a:bodyPr/>
          <a:lstStyle/>
          <a:p>
            <a:endParaRPr lang="en-GB"/>
          </a:p>
        </p:txBody>
      </p:sp>
      <p:pic>
        <p:nvPicPr>
          <p:cNvPr id="6" name="Image 0" descr="preencoded.png"/>
          <p:cNvPicPr>
            <a:picLocks noChangeAspect="1"/>
          </p:cNvPicPr>
          <p:nvPr/>
        </p:nvPicPr>
        <p:blipFill>
          <a:blip r:embed="rId3"/>
          <a:stretch>
            <a:fillRect/>
          </a:stretch>
        </p:blipFill>
        <p:spPr>
          <a:xfrm>
            <a:off x="608702" y="2300342"/>
            <a:ext cx="324795" cy="324795"/>
          </a:xfrm>
          <a:prstGeom prst="rect">
            <a:avLst/>
          </a:prstGeom>
        </p:spPr>
      </p:pic>
      <p:sp>
        <p:nvSpPr>
          <p:cNvPr id="7" name="Text 4"/>
          <p:cNvSpPr/>
          <p:nvPr/>
        </p:nvSpPr>
        <p:spPr>
          <a:xfrm>
            <a:off x="1170432" y="2221992"/>
            <a:ext cx="4297680" cy="621792"/>
          </a:xfrm>
          <a:prstGeom prst="rect">
            <a:avLst/>
          </a:prstGeom>
          <a:noFill/>
          <a:ln/>
        </p:spPr>
        <p:txBody>
          <a:bodyPr wrap="square" lIns="0" tIns="0" rIns="0" bIns="0" rtlCol="0" anchor="ctr"/>
          <a:lstStyle/>
          <a:p>
            <a:pPr marL="0" indent="0">
              <a:buNone/>
            </a:pPr>
            <a:r>
              <a:rPr lang="en-US" sz="1150" dirty="0">
                <a:solidFill>
                  <a:srgbClr val="2B2118"/>
                </a:solidFill>
                <a:latin typeface="Calibri" pitchFamily="34" charset="0"/>
                <a:ea typeface="Calibri" pitchFamily="34" charset="-122"/>
                <a:cs typeface="Calibri" pitchFamily="34" charset="-120"/>
              </a:rPr>
              <a:t>LLMs generate candidate metadata via few-shot prompting (frontier + open local models)</a:t>
            </a:r>
            <a:endParaRPr lang="en-US" sz="1150" dirty="0"/>
          </a:p>
        </p:txBody>
      </p:sp>
      <p:sp>
        <p:nvSpPr>
          <p:cNvPr id="8" name="Shape 5"/>
          <p:cNvSpPr/>
          <p:nvPr/>
        </p:nvSpPr>
        <p:spPr>
          <a:xfrm>
            <a:off x="548640" y="2898648"/>
            <a:ext cx="438912" cy="438912"/>
          </a:xfrm>
          <a:prstGeom prst="ellipse">
            <a:avLst/>
          </a:prstGeom>
          <a:solidFill>
            <a:srgbClr val="BE5320"/>
          </a:solidFill>
          <a:ln/>
        </p:spPr>
        <p:txBody>
          <a:bodyPr/>
          <a:lstStyle/>
          <a:p>
            <a:endParaRPr lang="en-GB"/>
          </a:p>
        </p:txBody>
      </p:sp>
      <p:pic>
        <p:nvPicPr>
          <p:cNvPr id="9" name="Image 1" descr="preencoded.png"/>
          <p:cNvPicPr>
            <a:picLocks noChangeAspect="1"/>
          </p:cNvPicPr>
          <p:nvPr/>
        </p:nvPicPr>
        <p:blipFill>
          <a:blip r:embed="rId4"/>
          <a:stretch>
            <a:fillRect/>
          </a:stretch>
        </p:blipFill>
        <p:spPr>
          <a:xfrm>
            <a:off x="608702" y="2958710"/>
            <a:ext cx="324795" cy="324795"/>
          </a:xfrm>
          <a:prstGeom prst="rect">
            <a:avLst/>
          </a:prstGeom>
        </p:spPr>
      </p:pic>
      <p:sp>
        <p:nvSpPr>
          <p:cNvPr id="10" name="Text 6"/>
          <p:cNvSpPr/>
          <p:nvPr/>
        </p:nvSpPr>
        <p:spPr>
          <a:xfrm>
            <a:off x="1170432" y="2880360"/>
            <a:ext cx="4297680" cy="621792"/>
          </a:xfrm>
          <a:prstGeom prst="rect">
            <a:avLst/>
          </a:prstGeom>
          <a:noFill/>
          <a:ln/>
        </p:spPr>
        <p:txBody>
          <a:bodyPr wrap="square" lIns="0" tIns="0" rIns="0" bIns="0" rtlCol="0" anchor="ctr"/>
          <a:lstStyle/>
          <a:p>
            <a:pPr marL="0" indent="0">
              <a:buNone/>
            </a:pPr>
            <a:r>
              <a:rPr lang="en-US" sz="1150" dirty="0">
                <a:solidFill>
                  <a:srgbClr val="2B2118"/>
                </a:solidFill>
                <a:latin typeface="Calibri" pitchFamily="34" charset="0"/>
                <a:ea typeface="Calibri" pitchFamily="34" charset="-122"/>
                <a:cs typeface="Calibri" pitchFamily="34" charset="-120"/>
              </a:rPr>
              <a:t>Domain experts hand-annotate a gold-standard subset (50–100 records)</a:t>
            </a:r>
            <a:endParaRPr lang="en-US" sz="1150" dirty="0"/>
          </a:p>
        </p:txBody>
      </p:sp>
      <p:sp>
        <p:nvSpPr>
          <p:cNvPr id="11" name="Shape 7"/>
          <p:cNvSpPr/>
          <p:nvPr/>
        </p:nvSpPr>
        <p:spPr>
          <a:xfrm>
            <a:off x="548640" y="3557016"/>
            <a:ext cx="438912" cy="438912"/>
          </a:xfrm>
          <a:prstGeom prst="ellipse">
            <a:avLst/>
          </a:prstGeom>
          <a:solidFill>
            <a:srgbClr val="BE5320"/>
          </a:solidFill>
          <a:ln/>
        </p:spPr>
        <p:txBody>
          <a:bodyPr/>
          <a:lstStyle/>
          <a:p>
            <a:endParaRPr lang="en-GB"/>
          </a:p>
        </p:txBody>
      </p:sp>
      <p:pic>
        <p:nvPicPr>
          <p:cNvPr id="12" name="Image 2" descr="preencoded.png"/>
          <p:cNvPicPr>
            <a:picLocks noChangeAspect="1"/>
          </p:cNvPicPr>
          <p:nvPr/>
        </p:nvPicPr>
        <p:blipFill>
          <a:blip r:embed="rId5"/>
          <a:stretch>
            <a:fillRect/>
          </a:stretch>
        </p:blipFill>
        <p:spPr>
          <a:xfrm>
            <a:off x="608702" y="3617078"/>
            <a:ext cx="324795" cy="324795"/>
          </a:xfrm>
          <a:prstGeom prst="rect">
            <a:avLst/>
          </a:prstGeom>
        </p:spPr>
      </p:pic>
      <p:sp>
        <p:nvSpPr>
          <p:cNvPr id="13" name="Text 8"/>
          <p:cNvSpPr/>
          <p:nvPr/>
        </p:nvSpPr>
        <p:spPr>
          <a:xfrm>
            <a:off x="1170432" y="3538728"/>
            <a:ext cx="4297680" cy="621792"/>
          </a:xfrm>
          <a:prstGeom prst="rect">
            <a:avLst/>
          </a:prstGeom>
          <a:noFill/>
          <a:ln/>
        </p:spPr>
        <p:txBody>
          <a:bodyPr wrap="square" lIns="0" tIns="0" rIns="0" bIns="0" rtlCol="0" anchor="ctr"/>
          <a:lstStyle/>
          <a:p>
            <a:pPr marL="0" indent="0">
              <a:buNone/>
            </a:pPr>
            <a:r>
              <a:rPr lang="en-US" sz="1150" dirty="0">
                <a:solidFill>
                  <a:srgbClr val="2B2118"/>
                </a:solidFill>
                <a:latin typeface="Calibri" pitchFamily="34" charset="0"/>
                <a:ea typeface="Calibri" pitchFamily="34" charset="-122"/>
                <a:cs typeface="Calibri" pitchFamily="34" charset="-120"/>
              </a:rPr>
              <a:t>Every model scored against the gold standard: F1 and Cohen’s κ — not vibes</a:t>
            </a:r>
            <a:endParaRPr lang="en-US" sz="1150" dirty="0"/>
          </a:p>
        </p:txBody>
      </p:sp>
      <p:sp>
        <p:nvSpPr>
          <p:cNvPr id="14" name="Shape 9"/>
          <p:cNvSpPr/>
          <p:nvPr/>
        </p:nvSpPr>
        <p:spPr>
          <a:xfrm>
            <a:off x="548640" y="4215384"/>
            <a:ext cx="438912" cy="438912"/>
          </a:xfrm>
          <a:prstGeom prst="ellipse">
            <a:avLst/>
          </a:prstGeom>
          <a:solidFill>
            <a:srgbClr val="31402A"/>
          </a:solidFill>
          <a:ln/>
        </p:spPr>
        <p:txBody>
          <a:bodyPr/>
          <a:lstStyle/>
          <a:p>
            <a:endParaRPr lang="en-GB"/>
          </a:p>
        </p:txBody>
      </p:sp>
      <p:pic>
        <p:nvPicPr>
          <p:cNvPr id="15" name="Image 3" descr="preencoded.png"/>
          <p:cNvPicPr>
            <a:picLocks noChangeAspect="1"/>
          </p:cNvPicPr>
          <p:nvPr/>
        </p:nvPicPr>
        <p:blipFill>
          <a:blip r:embed="rId6"/>
          <a:stretch>
            <a:fillRect/>
          </a:stretch>
        </p:blipFill>
        <p:spPr>
          <a:xfrm>
            <a:off x="608702" y="4275446"/>
            <a:ext cx="324795" cy="324795"/>
          </a:xfrm>
          <a:prstGeom prst="rect">
            <a:avLst/>
          </a:prstGeom>
        </p:spPr>
      </p:pic>
      <p:sp>
        <p:nvSpPr>
          <p:cNvPr id="16" name="Text 10"/>
          <p:cNvSpPr/>
          <p:nvPr/>
        </p:nvSpPr>
        <p:spPr>
          <a:xfrm>
            <a:off x="1170432" y="4197096"/>
            <a:ext cx="4297680" cy="621792"/>
          </a:xfrm>
          <a:prstGeom prst="rect">
            <a:avLst/>
          </a:prstGeom>
          <a:noFill/>
          <a:ln/>
        </p:spPr>
        <p:txBody>
          <a:bodyPr wrap="square" lIns="0" tIns="0" rIns="0" bIns="0" rtlCol="0" anchor="ctr"/>
          <a:lstStyle/>
          <a:p>
            <a:pPr marL="0" indent="0">
              <a:buNone/>
            </a:pPr>
            <a:r>
              <a:rPr lang="en-US" sz="1150" dirty="0">
                <a:solidFill>
                  <a:srgbClr val="2B2118"/>
                </a:solidFill>
                <a:latin typeface="Calibri" pitchFamily="34" charset="0"/>
                <a:ea typeface="Calibri" pitchFamily="34" charset="-122"/>
                <a:cs typeface="Calibri" pitchFamily="34" charset="-120"/>
              </a:rPr>
              <a:t>Result: cultural documentation at a scale no manual team could reach alone</a:t>
            </a:r>
            <a:endParaRPr lang="en-US" sz="1150" dirty="0"/>
          </a:p>
        </p:txBody>
      </p:sp>
      <p:sp>
        <p:nvSpPr>
          <p:cNvPr id="17" name="Shape 11"/>
          <p:cNvSpPr/>
          <p:nvPr/>
        </p:nvSpPr>
        <p:spPr>
          <a:xfrm>
            <a:off x="5715000" y="1371600"/>
            <a:ext cx="2926080" cy="3337560"/>
          </a:xfrm>
          <a:prstGeom prst="roundRect">
            <a:avLst>
              <a:gd name="adj" fmla="val 2500"/>
            </a:avLst>
          </a:prstGeom>
          <a:solidFill>
            <a:srgbClr val="3B2314"/>
          </a:solidFill>
          <a:ln/>
          <a:effectLst>
            <a:outerShdw blurRad="88900" dist="25400" dir="2700000" algn="bl" rotWithShape="0">
              <a:srgbClr val="000000">
                <a:alpha val="14000"/>
              </a:srgbClr>
            </a:outerShdw>
          </a:effectLst>
        </p:spPr>
        <p:txBody>
          <a:bodyPr/>
          <a:lstStyle/>
          <a:p>
            <a:endParaRPr lang="en-GB"/>
          </a:p>
        </p:txBody>
      </p:sp>
      <p:sp>
        <p:nvSpPr>
          <p:cNvPr id="18" name="Text 12"/>
          <p:cNvSpPr/>
          <p:nvPr/>
        </p:nvSpPr>
        <p:spPr>
          <a:xfrm>
            <a:off x="5943600" y="1572768"/>
            <a:ext cx="2468880" cy="274320"/>
          </a:xfrm>
          <a:prstGeom prst="rect">
            <a:avLst/>
          </a:prstGeom>
          <a:noFill/>
          <a:ln/>
        </p:spPr>
        <p:txBody>
          <a:bodyPr wrap="square" lIns="0" tIns="0" rIns="0" bIns="0" rtlCol="0" anchor="ctr"/>
          <a:lstStyle/>
          <a:p>
            <a:pPr marL="0" indent="0">
              <a:buNone/>
            </a:pPr>
            <a:r>
              <a:rPr lang="en-US" sz="1050" b="1" kern="0" spc="200" dirty="0">
                <a:solidFill>
                  <a:srgbClr val="D99B32"/>
                </a:solidFill>
                <a:latin typeface="Calibri" pitchFamily="34" charset="0"/>
                <a:ea typeface="Calibri" pitchFamily="34" charset="-122"/>
                <a:cs typeface="Calibri" pitchFamily="34" charset="-120"/>
              </a:rPr>
              <a:t>WHY IT MATTERS</a:t>
            </a:r>
            <a:endParaRPr lang="en-US" sz="1050" dirty="0"/>
          </a:p>
        </p:txBody>
      </p:sp>
      <p:sp>
        <p:nvSpPr>
          <p:cNvPr id="19" name="Text 13"/>
          <p:cNvSpPr/>
          <p:nvPr/>
        </p:nvSpPr>
        <p:spPr>
          <a:xfrm>
            <a:off x="5943600" y="1920240"/>
            <a:ext cx="2468880" cy="1005840"/>
          </a:xfrm>
          <a:prstGeom prst="rect">
            <a:avLst/>
          </a:prstGeom>
          <a:noFill/>
          <a:ln/>
        </p:spPr>
        <p:txBody>
          <a:bodyPr wrap="square" lIns="0" tIns="0" rIns="0" bIns="0" rtlCol="0" anchor="ctr"/>
          <a:lstStyle/>
          <a:p>
            <a:pPr marL="0" indent="0">
              <a:buNone/>
            </a:pPr>
            <a:r>
              <a:rPr lang="en-US" sz="1600" b="1" i="1" dirty="0">
                <a:solidFill>
                  <a:srgbClr val="FFFFFF"/>
                </a:solidFill>
                <a:latin typeface="Cambria" pitchFamily="34" charset="0"/>
                <a:ea typeface="Cambria" pitchFamily="34" charset="-122"/>
                <a:cs typeface="Cambria" pitchFamily="34" charset="-120"/>
              </a:rPr>
              <a:t>“AI scaled the labour.</a:t>
            </a:r>
            <a:endParaRPr lang="en-US" sz="1600" dirty="0"/>
          </a:p>
          <a:p>
            <a:pPr marL="0" indent="0">
              <a:buNone/>
            </a:pPr>
            <a:r>
              <a:rPr lang="en-US" sz="1600" b="1" i="1" dirty="0">
                <a:solidFill>
                  <a:srgbClr val="FFFFFF"/>
                </a:solidFill>
                <a:latin typeface="Cambria" pitchFamily="34" charset="0"/>
                <a:ea typeface="Cambria" pitchFamily="34" charset="-122"/>
                <a:cs typeface="Cambria" pitchFamily="34" charset="-120"/>
              </a:rPr>
              <a:t>Experts anchored the validity.”</a:t>
            </a:r>
            <a:endParaRPr lang="en-US" sz="1600" dirty="0"/>
          </a:p>
        </p:txBody>
      </p:sp>
      <p:sp>
        <p:nvSpPr>
          <p:cNvPr id="20" name="Text 14"/>
          <p:cNvSpPr/>
          <p:nvPr/>
        </p:nvSpPr>
        <p:spPr>
          <a:xfrm>
            <a:off x="5943600" y="3017520"/>
            <a:ext cx="2468880" cy="1463040"/>
          </a:xfrm>
          <a:prstGeom prst="rect">
            <a:avLst/>
          </a:prstGeom>
          <a:noFill/>
          <a:ln/>
        </p:spPr>
        <p:txBody>
          <a:bodyPr wrap="square" lIns="0" tIns="0" rIns="0" bIns="0" rtlCol="0" anchor="ctr"/>
          <a:lstStyle/>
          <a:p>
            <a:pPr marL="0" indent="0">
              <a:buNone/>
            </a:pPr>
            <a:r>
              <a:rPr lang="en-US" sz="1150" dirty="0">
                <a:solidFill>
                  <a:srgbClr val="E5D6C2"/>
                </a:solidFill>
                <a:latin typeface="Calibri" pitchFamily="34" charset="0"/>
                <a:ea typeface="Calibri" pitchFamily="34" charset="-122"/>
                <a:cs typeface="Calibri" pitchFamily="34" charset="-120"/>
              </a:rPr>
              <a:t>The same ADAPT loop you can run on court judgments, oral histories, herbarium records, sermon archives or student essays.</a:t>
            </a:r>
            <a:endParaRPr lang="en-US" sz="1150" dirty="0"/>
          </a:p>
        </p:txBody>
      </p:sp>
      <p:sp>
        <p:nvSpPr>
          <p:cNvPr id="21" name="Text 15"/>
          <p:cNvSpPr/>
          <p:nvPr/>
        </p:nvSpPr>
        <p:spPr>
          <a:xfrm>
            <a:off x="502920" y="4846320"/>
            <a:ext cx="4114800" cy="228600"/>
          </a:xfrm>
          <a:prstGeom prst="rect">
            <a:avLst/>
          </a:prstGeom>
          <a:noFill/>
          <a:ln/>
        </p:spPr>
        <p:txBody>
          <a:bodyPr wrap="square" lIns="0" tIns="0" rIns="0" bIns="0" rtlCol="0" anchor="ctr"/>
          <a:lstStyle/>
          <a:p>
            <a:pPr marL="0" indent="0">
              <a:buNone/>
            </a:pPr>
            <a:r>
              <a:rPr lang="en-US" sz="900" dirty="0">
                <a:solidFill>
                  <a:srgbClr val="8A7A6B"/>
                </a:solidFill>
                <a:latin typeface="Calibri" pitchFamily="34" charset="0"/>
                <a:ea typeface="Calibri" pitchFamily="34" charset="-122"/>
                <a:cs typeface="Calibri" pitchFamily="34" charset="-120"/>
              </a:rPr>
              <a:t>AWAU Monthly Colloquium  ·  July 2026</a:t>
            </a:r>
            <a:endParaRPr lang="en-US" sz="900" dirty="0"/>
          </a:p>
        </p:txBody>
      </p:sp>
      <p:sp>
        <p:nvSpPr>
          <p:cNvPr id="22" name="Text 16"/>
          <p:cNvSpPr/>
          <p:nvPr/>
        </p:nvSpPr>
        <p:spPr>
          <a:xfrm>
            <a:off x="8503920" y="4846320"/>
            <a:ext cx="320040" cy="228600"/>
          </a:xfrm>
          <a:prstGeom prst="rect">
            <a:avLst/>
          </a:prstGeom>
          <a:noFill/>
          <a:ln/>
        </p:spPr>
        <p:txBody>
          <a:bodyPr wrap="square" lIns="0" tIns="0" rIns="0" bIns="0" rtlCol="0" anchor="ctr"/>
          <a:lstStyle/>
          <a:p>
            <a:pPr marL="0" indent="0" algn="r">
              <a:buNone/>
            </a:pPr>
            <a:r>
              <a:rPr lang="en-US" sz="900" dirty="0">
                <a:solidFill>
                  <a:srgbClr val="8A7A6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marL="0" indent="0">
              <a:buNone/>
            </a:pPr>
            <a:r>
              <a:rPr lang="en-US" sz="1200" b="1" kern="0" spc="300" dirty="0">
                <a:solidFill>
                  <a:srgbClr val="BE5320"/>
                </a:solidFill>
                <a:latin typeface="Calibri" pitchFamily="34" charset="0"/>
                <a:ea typeface="Calibri" pitchFamily="34" charset="-122"/>
                <a:cs typeface="Calibri" pitchFamily="34" charset="-120"/>
              </a:rPr>
              <a:t>THE OTHER HALF OF OUR JOB</a:t>
            </a:r>
            <a:endParaRPr lang="en-US" sz="120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3000" b="1" dirty="0">
                <a:solidFill>
                  <a:srgbClr val="3B2314"/>
                </a:solidFill>
                <a:latin typeface="Cambria" pitchFamily="34" charset="0"/>
                <a:ea typeface="Cambria" pitchFamily="34" charset="-122"/>
                <a:cs typeface="Cambria" pitchFamily="34" charset="-120"/>
              </a:rPr>
              <a:t>AI in the Teaching Workflow</a:t>
            </a:r>
            <a:endParaRPr lang="en-US" sz="3000" dirty="0"/>
          </a:p>
        </p:txBody>
      </p:sp>
      <p:sp>
        <p:nvSpPr>
          <p:cNvPr id="4" name="Shape 2"/>
          <p:cNvSpPr/>
          <p:nvPr/>
        </p:nvSpPr>
        <p:spPr>
          <a:xfrm>
            <a:off x="502920" y="1463040"/>
            <a:ext cx="3977640" cy="1417320"/>
          </a:xfrm>
          <a:prstGeom prst="roundRect">
            <a:avLst>
              <a:gd name="adj" fmla="val 5161"/>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5" name="Shape 3"/>
          <p:cNvSpPr/>
          <p:nvPr/>
        </p:nvSpPr>
        <p:spPr>
          <a:xfrm>
            <a:off x="685800" y="1627632"/>
            <a:ext cx="420624" cy="420624"/>
          </a:xfrm>
          <a:prstGeom prst="ellipse">
            <a:avLst/>
          </a:prstGeom>
          <a:solidFill>
            <a:srgbClr val="BE5320"/>
          </a:solidFill>
          <a:ln/>
        </p:spPr>
        <p:txBody>
          <a:bodyPr/>
          <a:lstStyle/>
          <a:p>
            <a:endParaRPr lang="en-GB"/>
          </a:p>
        </p:txBody>
      </p:sp>
      <p:pic>
        <p:nvPicPr>
          <p:cNvPr id="6" name="Image 0" descr="preencoded.png"/>
          <p:cNvPicPr>
            <a:picLocks noChangeAspect="1"/>
          </p:cNvPicPr>
          <p:nvPr/>
        </p:nvPicPr>
        <p:blipFill>
          <a:blip r:embed="rId3"/>
          <a:stretch>
            <a:fillRect/>
          </a:stretch>
        </p:blipFill>
        <p:spPr>
          <a:xfrm>
            <a:off x="743359" y="1685191"/>
            <a:ext cx="311262" cy="311262"/>
          </a:xfrm>
          <a:prstGeom prst="rect">
            <a:avLst/>
          </a:prstGeom>
        </p:spPr>
      </p:pic>
      <p:sp>
        <p:nvSpPr>
          <p:cNvPr id="7" name="Text 4"/>
          <p:cNvSpPr/>
          <p:nvPr/>
        </p:nvSpPr>
        <p:spPr>
          <a:xfrm>
            <a:off x="1234440" y="1627632"/>
            <a:ext cx="3108960" cy="384048"/>
          </a:xfrm>
          <a:prstGeom prst="rect">
            <a:avLst/>
          </a:prstGeom>
          <a:noFill/>
          <a:ln/>
        </p:spPr>
        <p:txBody>
          <a:bodyPr wrap="square" lIns="0" tIns="0" rIns="0" bIns="0" rtlCol="0" anchor="ctr"/>
          <a:lstStyle/>
          <a:p>
            <a:pPr marL="0" indent="0">
              <a:buNone/>
            </a:pPr>
            <a:r>
              <a:rPr lang="en-US" sz="1450" b="1" dirty="0">
                <a:solidFill>
                  <a:srgbClr val="3B2314"/>
                </a:solidFill>
                <a:latin typeface="Cambria" pitchFamily="34" charset="0"/>
                <a:ea typeface="Cambria" pitchFamily="34" charset="-122"/>
                <a:cs typeface="Cambria" pitchFamily="34" charset="-120"/>
              </a:rPr>
              <a:t>Question banks</a:t>
            </a:r>
            <a:endParaRPr lang="en-US" sz="1450" dirty="0"/>
          </a:p>
        </p:txBody>
      </p:sp>
      <p:sp>
        <p:nvSpPr>
          <p:cNvPr id="8" name="Text 5"/>
          <p:cNvSpPr/>
          <p:nvPr/>
        </p:nvSpPr>
        <p:spPr>
          <a:xfrm>
            <a:off x="704088" y="2084832"/>
            <a:ext cx="3611880" cy="731520"/>
          </a:xfrm>
          <a:prstGeom prst="rect">
            <a:avLst/>
          </a:prstGeom>
          <a:noFill/>
          <a:ln/>
        </p:spPr>
        <p:txBody>
          <a:bodyPr wrap="square" lIns="0" tIns="0" rIns="0" bIns="0" rtlCol="0" anchor="ctr"/>
          <a:lstStyle/>
          <a:p>
            <a:pPr marL="0" indent="0">
              <a:buNone/>
            </a:pPr>
            <a:r>
              <a:rPr lang="en-US" sz="1080" dirty="0">
                <a:solidFill>
                  <a:srgbClr val="2B2118"/>
                </a:solidFill>
                <a:latin typeface="Calibri" pitchFamily="34" charset="0"/>
                <a:ea typeface="Calibri" pitchFamily="34" charset="-122"/>
                <a:cs typeface="Calibri" pitchFamily="34" charset="-120"/>
              </a:rPr>
              <a:t>Generate items tagged by Bloom’s level — from ‘define’ to ‘design’ — then curate and localise.</a:t>
            </a:r>
            <a:endParaRPr lang="en-US" sz="1080" dirty="0"/>
          </a:p>
        </p:txBody>
      </p:sp>
      <p:sp>
        <p:nvSpPr>
          <p:cNvPr id="9" name="Shape 6"/>
          <p:cNvSpPr/>
          <p:nvPr/>
        </p:nvSpPr>
        <p:spPr>
          <a:xfrm>
            <a:off x="4709160" y="1463040"/>
            <a:ext cx="3977640" cy="1417320"/>
          </a:xfrm>
          <a:prstGeom prst="roundRect">
            <a:avLst>
              <a:gd name="adj" fmla="val 5161"/>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10" name="Shape 7"/>
          <p:cNvSpPr/>
          <p:nvPr/>
        </p:nvSpPr>
        <p:spPr>
          <a:xfrm>
            <a:off x="4892040" y="1627632"/>
            <a:ext cx="420624" cy="420624"/>
          </a:xfrm>
          <a:prstGeom prst="ellipse">
            <a:avLst/>
          </a:prstGeom>
          <a:solidFill>
            <a:srgbClr val="BE5320"/>
          </a:solidFill>
          <a:ln/>
        </p:spPr>
        <p:txBody>
          <a:bodyPr/>
          <a:lstStyle/>
          <a:p>
            <a:endParaRPr lang="en-GB"/>
          </a:p>
        </p:txBody>
      </p:sp>
      <p:pic>
        <p:nvPicPr>
          <p:cNvPr id="11" name="Image 1" descr="preencoded.png"/>
          <p:cNvPicPr>
            <a:picLocks noChangeAspect="1"/>
          </p:cNvPicPr>
          <p:nvPr/>
        </p:nvPicPr>
        <p:blipFill>
          <a:blip r:embed="rId4"/>
          <a:stretch>
            <a:fillRect/>
          </a:stretch>
        </p:blipFill>
        <p:spPr>
          <a:xfrm>
            <a:off x="4949599" y="1685191"/>
            <a:ext cx="311262" cy="311262"/>
          </a:xfrm>
          <a:prstGeom prst="rect">
            <a:avLst/>
          </a:prstGeom>
        </p:spPr>
      </p:pic>
      <p:sp>
        <p:nvSpPr>
          <p:cNvPr id="12" name="Text 8"/>
          <p:cNvSpPr/>
          <p:nvPr/>
        </p:nvSpPr>
        <p:spPr>
          <a:xfrm>
            <a:off x="5440680" y="1627632"/>
            <a:ext cx="3108960" cy="384048"/>
          </a:xfrm>
          <a:prstGeom prst="rect">
            <a:avLst/>
          </a:prstGeom>
          <a:noFill/>
          <a:ln/>
        </p:spPr>
        <p:txBody>
          <a:bodyPr wrap="square" lIns="0" tIns="0" rIns="0" bIns="0" rtlCol="0" anchor="ctr"/>
          <a:lstStyle/>
          <a:p>
            <a:pPr marL="0" indent="0">
              <a:buNone/>
            </a:pPr>
            <a:r>
              <a:rPr lang="en-US" sz="1450" b="1" dirty="0">
                <a:solidFill>
                  <a:srgbClr val="3B2314"/>
                </a:solidFill>
                <a:latin typeface="Cambria" pitchFamily="34" charset="0"/>
                <a:ea typeface="Cambria" pitchFamily="34" charset="-122"/>
                <a:cs typeface="Cambria" pitchFamily="34" charset="-120"/>
              </a:rPr>
              <a:t>Rubrics &amp; feedback</a:t>
            </a:r>
            <a:endParaRPr lang="en-US" sz="1450" dirty="0"/>
          </a:p>
        </p:txBody>
      </p:sp>
      <p:sp>
        <p:nvSpPr>
          <p:cNvPr id="13" name="Text 9"/>
          <p:cNvSpPr/>
          <p:nvPr/>
        </p:nvSpPr>
        <p:spPr>
          <a:xfrm>
            <a:off x="4910328" y="2084832"/>
            <a:ext cx="3611880" cy="731520"/>
          </a:xfrm>
          <a:prstGeom prst="rect">
            <a:avLst/>
          </a:prstGeom>
          <a:noFill/>
          <a:ln/>
        </p:spPr>
        <p:txBody>
          <a:bodyPr wrap="square" lIns="0" tIns="0" rIns="0" bIns="0" rtlCol="0" anchor="ctr"/>
          <a:lstStyle/>
          <a:p>
            <a:pPr marL="0" indent="0">
              <a:buNone/>
            </a:pPr>
            <a:r>
              <a:rPr lang="en-US" sz="1080" dirty="0">
                <a:solidFill>
                  <a:srgbClr val="2B2118"/>
                </a:solidFill>
                <a:latin typeface="Calibri" pitchFamily="34" charset="0"/>
                <a:ea typeface="Calibri" pitchFamily="34" charset="-122"/>
                <a:cs typeface="Calibri" pitchFamily="34" charset="-120"/>
              </a:rPr>
              <a:t>Draft marking rubrics; turn your rough margin notes into constructive, consistent student feedback.</a:t>
            </a:r>
            <a:endParaRPr lang="en-US" sz="1080" dirty="0"/>
          </a:p>
        </p:txBody>
      </p:sp>
      <p:sp>
        <p:nvSpPr>
          <p:cNvPr id="14" name="Shape 10"/>
          <p:cNvSpPr/>
          <p:nvPr/>
        </p:nvSpPr>
        <p:spPr>
          <a:xfrm>
            <a:off x="502920" y="3063240"/>
            <a:ext cx="3977640" cy="1417320"/>
          </a:xfrm>
          <a:prstGeom prst="roundRect">
            <a:avLst>
              <a:gd name="adj" fmla="val 5161"/>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15" name="Shape 11"/>
          <p:cNvSpPr/>
          <p:nvPr/>
        </p:nvSpPr>
        <p:spPr>
          <a:xfrm>
            <a:off x="685800" y="3227832"/>
            <a:ext cx="420624" cy="420624"/>
          </a:xfrm>
          <a:prstGeom prst="ellipse">
            <a:avLst/>
          </a:prstGeom>
          <a:solidFill>
            <a:srgbClr val="BE5320"/>
          </a:solidFill>
          <a:ln/>
        </p:spPr>
        <p:txBody>
          <a:bodyPr/>
          <a:lstStyle/>
          <a:p>
            <a:endParaRPr lang="en-GB"/>
          </a:p>
        </p:txBody>
      </p:sp>
      <p:pic>
        <p:nvPicPr>
          <p:cNvPr id="16" name="Image 2" descr="preencoded.png"/>
          <p:cNvPicPr>
            <a:picLocks noChangeAspect="1"/>
          </p:cNvPicPr>
          <p:nvPr/>
        </p:nvPicPr>
        <p:blipFill>
          <a:blip r:embed="rId5"/>
          <a:stretch>
            <a:fillRect/>
          </a:stretch>
        </p:blipFill>
        <p:spPr>
          <a:xfrm>
            <a:off x="743359" y="3285391"/>
            <a:ext cx="311262" cy="311262"/>
          </a:xfrm>
          <a:prstGeom prst="rect">
            <a:avLst/>
          </a:prstGeom>
        </p:spPr>
      </p:pic>
      <p:sp>
        <p:nvSpPr>
          <p:cNvPr id="17" name="Text 12"/>
          <p:cNvSpPr/>
          <p:nvPr/>
        </p:nvSpPr>
        <p:spPr>
          <a:xfrm>
            <a:off x="1234440" y="3227832"/>
            <a:ext cx="3108960" cy="384048"/>
          </a:xfrm>
          <a:prstGeom prst="rect">
            <a:avLst/>
          </a:prstGeom>
          <a:noFill/>
          <a:ln/>
        </p:spPr>
        <p:txBody>
          <a:bodyPr wrap="square" lIns="0" tIns="0" rIns="0" bIns="0" rtlCol="0" anchor="ctr"/>
          <a:lstStyle/>
          <a:p>
            <a:pPr marL="0" indent="0">
              <a:buNone/>
            </a:pPr>
            <a:r>
              <a:rPr lang="en-US" sz="1450" b="1" dirty="0">
                <a:solidFill>
                  <a:srgbClr val="3B2314"/>
                </a:solidFill>
                <a:latin typeface="Cambria" pitchFamily="34" charset="0"/>
                <a:ea typeface="Cambria" pitchFamily="34" charset="-122"/>
                <a:cs typeface="Cambria" pitchFamily="34" charset="-120"/>
              </a:rPr>
              <a:t>Localised examples</a:t>
            </a:r>
            <a:endParaRPr lang="en-US" sz="1450" dirty="0"/>
          </a:p>
        </p:txBody>
      </p:sp>
      <p:sp>
        <p:nvSpPr>
          <p:cNvPr id="18" name="Text 13"/>
          <p:cNvSpPr/>
          <p:nvPr/>
        </p:nvSpPr>
        <p:spPr>
          <a:xfrm>
            <a:off x="704088" y="3685032"/>
            <a:ext cx="3611880" cy="731520"/>
          </a:xfrm>
          <a:prstGeom prst="rect">
            <a:avLst/>
          </a:prstGeom>
          <a:noFill/>
          <a:ln/>
        </p:spPr>
        <p:txBody>
          <a:bodyPr wrap="square" lIns="0" tIns="0" rIns="0" bIns="0" rtlCol="0" anchor="ctr"/>
          <a:lstStyle/>
          <a:p>
            <a:pPr marL="0" indent="0">
              <a:buNone/>
            </a:pPr>
            <a:r>
              <a:rPr lang="en-US" sz="1080" dirty="0">
                <a:solidFill>
                  <a:srgbClr val="2B2118"/>
                </a:solidFill>
                <a:latin typeface="Calibri" pitchFamily="34" charset="0"/>
                <a:ea typeface="Calibri" pitchFamily="34" charset="-122"/>
                <a:cs typeface="Calibri" pitchFamily="34" charset="-120"/>
              </a:rPr>
              <a:t>“Rewrite this microeconomics case with a Lagos market-trader scenario” — context students recognise.</a:t>
            </a:r>
            <a:endParaRPr lang="en-US" sz="1080" dirty="0"/>
          </a:p>
        </p:txBody>
      </p:sp>
      <p:sp>
        <p:nvSpPr>
          <p:cNvPr id="19" name="Shape 14"/>
          <p:cNvSpPr/>
          <p:nvPr/>
        </p:nvSpPr>
        <p:spPr>
          <a:xfrm>
            <a:off x="4709160" y="3063240"/>
            <a:ext cx="3977640" cy="1417320"/>
          </a:xfrm>
          <a:prstGeom prst="roundRect">
            <a:avLst>
              <a:gd name="adj" fmla="val 5161"/>
            </a:avLst>
          </a:prstGeom>
          <a:solidFill>
            <a:srgbClr val="F3E7D7"/>
          </a:solidFill>
          <a:ln/>
          <a:effectLst>
            <a:outerShdw blurRad="88900" dist="25400" dir="2700000" algn="bl" rotWithShape="0">
              <a:srgbClr val="000000">
                <a:alpha val="14000"/>
              </a:srgbClr>
            </a:outerShdw>
          </a:effectLst>
        </p:spPr>
        <p:txBody>
          <a:bodyPr/>
          <a:lstStyle/>
          <a:p>
            <a:endParaRPr lang="en-GB"/>
          </a:p>
        </p:txBody>
      </p:sp>
      <p:sp>
        <p:nvSpPr>
          <p:cNvPr id="20" name="Shape 15"/>
          <p:cNvSpPr/>
          <p:nvPr/>
        </p:nvSpPr>
        <p:spPr>
          <a:xfrm>
            <a:off x="4892040" y="3227832"/>
            <a:ext cx="420624" cy="420624"/>
          </a:xfrm>
          <a:prstGeom prst="ellipse">
            <a:avLst/>
          </a:prstGeom>
          <a:solidFill>
            <a:srgbClr val="31402A"/>
          </a:solidFill>
          <a:ln/>
        </p:spPr>
        <p:txBody>
          <a:bodyPr/>
          <a:lstStyle/>
          <a:p>
            <a:endParaRPr lang="en-GB"/>
          </a:p>
        </p:txBody>
      </p:sp>
      <p:pic>
        <p:nvPicPr>
          <p:cNvPr id="21" name="Image 3" descr="preencoded.png"/>
          <p:cNvPicPr>
            <a:picLocks noChangeAspect="1"/>
          </p:cNvPicPr>
          <p:nvPr/>
        </p:nvPicPr>
        <p:blipFill>
          <a:blip r:embed="rId6"/>
          <a:stretch>
            <a:fillRect/>
          </a:stretch>
        </p:blipFill>
        <p:spPr>
          <a:xfrm>
            <a:off x="4949599" y="3285391"/>
            <a:ext cx="311262" cy="311262"/>
          </a:xfrm>
          <a:prstGeom prst="rect">
            <a:avLst/>
          </a:prstGeom>
        </p:spPr>
      </p:pic>
      <p:sp>
        <p:nvSpPr>
          <p:cNvPr id="22" name="Text 16"/>
          <p:cNvSpPr/>
          <p:nvPr/>
        </p:nvSpPr>
        <p:spPr>
          <a:xfrm>
            <a:off x="5440680" y="3227832"/>
            <a:ext cx="3108960" cy="384048"/>
          </a:xfrm>
          <a:prstGeom prst="rect">
            <a:avLst/>
          </a:prstGeom>
          <a:noFill/>
          <a:ln/>
        </p:spPr>
        <p:txBody>
          <a:bodyPr wrap="square" lIns="0" tIns="0" rIns="0" bIns="0" rtlCol="0" anchor="ctr"/>
          <a:lstStyle/>
          <a:p>
            <a:pPr marL="0" indent="0">
              <a:buNone/>
            </a:pPr>
            <a:r>
              <a:rPr lang="en-US" sz="1450" b="1" dirty="0">
                <a:solidFill>
                  <a:srgbClr val="3B2314"/>
                </a:solidFill>
                <a:latin typeface="Cambria" pitchFamily="34" charset="0"/>
                <a:ea typeface="Cambria" pitchFamily="34" charset="-122"/>
                <a:cs typeface="Cambria" pitchFamily="34" charset="-120"/>
              </a:rPr>
              <a:t>Assessment redesign</a:t>
            </a:r>
            <a:endParaRPr lang="en-US" sz="1450" dirty="0"/>
          </a:p>
        </p:txBody>
      </p:sp>
      <p:sp>
        <p:nvSpPr>
          <p:cNvPr id="23" name="Text 17"/>
          <p:cNvSpPr/>
          <p:nvPr/>
        </p:nvSpPr>
        <p:spPr>
          <a:xfrm>
            <a:off x="4910328" y="3685032"/>
            <a:ext cx="3611880" cy="731520"/>
          </a:xfrm>
          <a:prstGeom prst="rect">
            <a:avLst/>
          </a:prstGeom>
          <a:noFill/>
          <a:ln/>
        </p:spPr>
        <p:txBody>
          <a:bodyPr wrap="square" lIns="0" tIns="0" rIns="0" bIns="0" rtlCol="0" anchor="ctr"/>
          <a:lstStyle/>
          <a:p>
            <a:pPr marL="0" indent="0">
              <a:buNone/>
            </a:pPr>
            <a:r>
              <a:rPr lang="en-US" sz="1080" dirty="0">
                <a:solidFill>
                  <a:srgbClr val="2B2118"/>
                </a:solidFill>
                <a:latin typeface="Calibri" pitchFamily="34" charset="0"/>
                <a:ea typeface="Calibri" pitchFamily="34" charset="-122"/>
                <a:cs typeface="Calibri" pitchFamily="34" charset="-120"/>
              </a:rPr>
              <a:t>Students have AI too. Shift weight to process portfolios, oral defences and in-class production.</a:t>
            </a:r>
            <a:endParaRPr lang="en-US" sz="1080" dirty="0"/>
          </a:p>
        </p:txBody>
      </p:sp>
      <p:sp>
        <p:nvSpPr>
          <p:cNvPr id="24" name="Text 18"/>
          <p:cNvSpPr/>
          <p:nvPr/>
        </p:nvSpPr>
        <p:spPr>
          <a:xfrm>
            <a:off x="502920" y="4617720"/>
            <a:ext cx="8138160" cy="320040"/>
          </a:xfrm>
          <a:prstGeom prst="rect">
            <a:avLst/>
          </a:prstGeom>
          <a:noFill/>
          <a:ln/>
        </p:spPr>
        <p:txBody>
          <a:bodyPr wrap="square" lIns="0" tIns="0" rIns="0" bIns="0" rtlCol="0" anchor="ctr"/>
          <a:lstStyle/>
          <a:p>
            <a:pPr marL="0" indent="0" algn="ctr">
              <a:buNone/>
            </a:pPr>
            <a:r>
              <a:rPr lang="en-US" sz="1350" i="1" dirty="0">
                <a:solidFill>
                  <a:srgbClr val="31402A"/>
                </a:solidFill>
                <a:latin typeface="Cambria" pitchFamily="34" charset="0"/>
                <a:ea typeface="Cambria" pitchFamily="34" charset="-122"/>
                <a:cs typeface="Cambria" pitchFamily="34" charset="-120"/>
              </a:rPr>
              <a:t>Do not just police students’ AI use — model responsible use in front of them.</a:t>
            </a:r>
            <a:endParaRPr lang="en-US" sz="1350" dirty="0"/>
          </a:p>
        </p:txBody>
      </p:sp>
      <p:sp>
        <p:nvSpPr>
          <p:cNvPr id="25" name="Text 19"/>
          <p:cNvSpPr/>
          <p:nvPr/>
        </p:nvSpPr>
        <p:spPr>
          <a:xfrm>
            <a:off x="502920" y="4846320"/>
            <a:ext cx="4114800" cy="228600"/>
          </a:xfrm>
          <a:prstGeom prst="rect">
            <a:avLst/>
          </a:prstGeom>
          <a:noFill/>
          <a:ln/>
        </p:spPr>
        <p:txBody>
          <a:bodyPr wrap="square" lIns="0" tIns="0" rIns="0" bIns="0" rtlCol="0" anchor="ctr"/>
          <a:lstStyle/>
          <a:p>
            <a:pPr marL="0" indent="0">
              <a:buNone/>
            </a:pPr>
            <a:r>
              <a:rPr lang="en-US" sz="900" dirty="0">
                <a:solidFill>
                  <a:srgbClr val="8A7A6B"/>
                </a:solidFill>
                <a:latin typeface="Calibri" pitchFamily="34" charset="0"/>
                <a:ea typeface="Calibri" pitchFamily="34" charset="-122"/>
                <a:cs typeface="Calibri" pitchFamily="34" charset="-120"/>
              </a:rPr>
              <a:t>AWAU Monthly Colloquium  ·  July 2026</a:t>
            </a:r>
            <a:endParaRPr lang="en-US" sz="900" dirty="0"/>
          </a:p>
        </p:txBody>
      </p:sp>
      <p:sp>
        <p:nvSpPr>
          <p:cNvPr id="26" name="Text 20"/>
          <p:cNvSpPr/>
          <p:nvPr/>
        </p:nvSpPr>
        <p:spPr>
          <a:xfrm>
            <a:off x="8503920" y="4846320"/>
            <a:ext cx="320040" cy="228600"/>
          </a:xfrm>
          <a:prstGeom prst="rect">
            <a:avLst/>
          </a:prstGeom>
          <a:noFill/>
          <a:ln/>
        </p:spPr>
        <p:txBody>
          <a:bodyPr wrap="square" lIns="0" tIns="0" rIns="0" bIns="0" rtlCol="0" anchor="ctr"/>
          <a:lstStyle/>
          <a:p>
            <a:pPr marL="0" indent="0" algn="r">
              <a:buNone/>
            </a:pPr>
            <a:r>
              <a:rPr lang="en-US" sz="900" dirty="0">
                <a:solidFill>
                  <a:srgbClr val="8A7A6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marL="0" indent="0">
              <a:buNone/>
            </a:pPr>
            <a:r>
              <a:rPr lang="en-US" sz="1200" b="1" kern="0" spc="300" dirty="0">
                <a:solidFill>
                  <a:srgbClr val="BE5320"/>
                </a:solidFill>
                <a:latin typeface="Calibri" pitchFamily="34" charset="0"/>
                <a:ea typeface="Calibri" pitchFamily="34" charset="-122"/>
                <a:cs typeface="Calibri" pitchFamily="34" charset="-120"/>
              </a:rPr>
              <a:t>SEEING IS BELIEVING</a:t>
            </a:r>
            <a:endParaRPr lang="en-US" sz="120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3000" b="1" dirty="0">
                <a:solidFill>
                  <a:srgbClr val="3B2314"/>
                </a:solidFill>
                <a:latin typeface="Cambria" pitchFamily="34" charset="0"/>
                <a:ea typeface="Cambria" pitchFamily="34" charset="-122"/>
                <a:cs typeface="Cambria" pitchFamily="34" charset="-120"/>
              </a:rPr>
              <a:t>Watch a Hallucination Happen</a:t>
            </a:r>
            <a:endParaRPr lang="en-US" sz="3000" dirty="0"/>
          </a:p>
        </p:txBody>
      </p:sp>
      <p:sp>
        <p:nvSpPr>
          <p:cNvPr id="4" name="Shape 2"/>
          <p:cNvSpPr/>
          <p:nvPr/>
        </p:nvSpPr>
        <p:spPr>
          <a:xfrm>
            <a:off x="502920" y="1371600"/>
            <a:ext cx="3931920" cy="2880360"/>
          </a:xfrm>
          <a:prstGeom prst="roundRect">
            <a:avLst>
              <a:gd name="adj" fmla="val 2540"/>
            </a:avLst>
          </a:prstGeom>
          <a:solidFill>
            <a:srgbClr val="F3E7D7"/>
          </a:solidFill>
          <a:ln/>
          <a:effectLst>
            <a:outerShdw blurRad="88900" dist="25400" dir="2700000" algn="bl" rotWithShape="0">
              <a:srgbClr val="000000">
                <a:alpha val="14000"/>
              </a:srgbClr>
            </a:outerShdw>
          </a:effectLst>
        </p:spPr>
        <p:txBody>
          <a:bodyPr/>
          <a:lstStyle/>
          <a:p>
            <a:endParaRPr lang="en-GB"/>
          </a:p>
        </p:txBody>
      </p:sp>
      <p:sp>
        <p:nvSpPr>
          <p:cNvPr id="5" name="Text 3"/>
          <p:cNvSpPr/>
          <p:nvPr/>
        </p:nvSpPr>
        <p:spPr>
          <a:xfrm>
            <a:off x="713232" y="1536192"/>
            <a:ext cx="3474720" cy="274320"/>
          </a:xfrm>
          <a:prstGeom prst="rect">
            <a:avLst/>
          </a:prstGeom>
          <a:noFill/>
          <a:ln/>
        </p:spPr>
        <p:txBody>
          <a:bodyPr wrap="square" lIns="0" tIns="0" rIns="0" bIns="0" rtlCol="0" anchor="ctr"/>
          <a:lstStyle/>
          <a:p>
            <a:pPr marL="0" indent="0">
              <a:buNone/>
            </a:pPr>
            <a:r>
              <a:rPr lang="en-US" sz="1050" b="1" kern="0" spc="200" dirty="0">
                <a:solidFill>
                  <a:srgbClr val="BE5320"/>
                </a:solidFill>
                <a:latin typeface="Calibri" pitchFamily="34" charset="0"/>
                <a:ea typeface="Calibri" pitchFamily="34" charset="-122"/>
                <a:cs typeface="Calibri" pitchFamily="34" charset="-120"/>
              </a:rPr>
              <a:t>THE PROMPT</a:t>
            </a:r>
            <a:endParaRPr lang="en-US" sz="1050" dirty="0"/>
          </a:p>
        </p:txBody>
      </p:sp>
      <p:sp>
        <p:nvSpPr>
          <p:cNvPr id="6" name="Text 4"/>
          <p:cNvSpPr/>
          <p:nvPr/>
        </p:nvSpPr>
        <p:spPr>
          <a:xfrm>
            <a:off x="713232" y="1874520"/>
            <a:ext cx="3520440" cy="1005840"/>
          </a:xfrm>
          <a:prstGeom prst="rect">
            <a:avLst/>
          </a:prstGeom>
          <a:noFill/>
          <a:ln/>
        </p:spPr>
        <p:txBody>
          <a:bodyPr wrap="square" lIns="0" tIns="0" rIns="0" bIns="0" rtlCol="0" anchor="ctr"/>
          <a:lstStyle/>
          <a:p>
            <a:pPr marL="0" indent="0">
              <a:buNone/>
            </a:pPr>
            <a:r>
              <a:rPr lang="en-US" sz="1250" dirty="0">
                <a:solidFill>
                  <a:srgbClr val="2B2118"/>
                </a:solidFill>
                <a:latin typeface="Courier New" pitchFamily="34" charset="0"/>
                <a:ea typeface="Courier New" pitchFamily="34" charset="-122"/>
                <a:cs typeface="Courier New" pitchFamily="34" charset="-120"/>
              </a:rPr>
              <a:t>“List three papers on federated</a:t>
            </a:r>
            <a:endParaRPr lang="en-US" sz="1250" dirty="0"/>
          </a:p>
          <a:p>
            <a:pPr marL="0" indent="0">
              <a:buNone/>
            </a:pPr>
            <a:r>
              <a:rPr lang="en-US" sz="1250" dirty="0">
                <a:solidFill>
                  <a:srgbClr val="2B2118"/>
                </a:solidFill>
                <a:latin typeface="Courier New" pitchFamily="34" charset="0"/>
                <a:ea typeface="Courier New" pitchFamily="34" charset="-122"/>
                <a:cs typeface="Courier New" pitchFamily="34" charset="-120"/>
              </a:rPr>
              <a:t>learning for clinical risk prediction</a:t>
            </a:r>
            <a:endParaRPr lang="en-US" sz="1250" dirty="0"/>
          </a:p>
          <a:p>
            <a:pPr marL="0" indent="0">
              <a:buNone/>
            </a:pPr>
            <a:r>
              <a:rPr lang="en-US" sz="1250" dirty="0">
                <a:solidFill>
                  <a:srgbClr val="2B2118"/>
                </a:solidFill>
                <a:latin typeface="Courier New" pitchFamily="34" charset="0"/>
                <a:ea typeface="Courier New" pitchFamily="34" charset="-122"/>
                <a:cs typeface="Courier New" pitchFamily="34" charset="-120"/>
              </a:rPr>
              <a:t>by Prof. [X], with full citations.”</a:t>
            </a:r>
            <a:endParaRPr lang="en-US" sz="1250" dirty="0"/>
          </a:p>
        </p:txBody>
      </p:sp>
      <p:sp>
        <p:nvSpPr>
          <p:cNvPr id="7" name="Text 5"/>
          <p:cNvSpPr/>
          <p:nvPr/>
        </p:nvSpPr>
        <p:spPr>
          <a:xfrm>
            <a:off x="713232" y="3017520"/>
            <a:ext cx="3520440" cy="1097280"/>
          </a:xfrm>
          <a:prstGeom prst="rect">
            <a:avLst/>
          </a:prstGeom>
          <a:noFill/>
          <a:ln/>
        </p:spPr>
        <p:txBody>
          <a:bodyPr wrap="square" lIns="0" tIns="0" rIns="0" bIns="0" rtlCol="0" anchor="ctr"/>
          <a:lstStyle/>
          <a:p>
            <a:pPr marL="0" indent="0">
              <a:buNone/>
            </a:pPr>
            <a:r>
              <a:rPr lang="en-US" sz="1180" b="1" dirty="0">
                <a:solidFill>
                  <a:srgbClr val="3B2314"/>
                </a:solidFill>
                <a:latin typeface="Calibri" pitchFamily="34" charset="0"/>
                <a:ea typeface="Calibri" pitchFamily="34" charset="-122"/>
                <a:cs typeface="Calibri" pitchFamily="34" charset="-120"/>
              </a:rPr>
              <a:t>What actually happens:  </a:t>
            </a:r>
            <a:endParaRPr lang="en-US" sz="1180" dirty="0"/>
          </a:p>
          <a:p>
            <a:pPr marL="0" indent="0">
              <a:buNone/>
            </a:pPr>
            <a:r>
              <a:rPr lang="en-US" sz="1180" dirty="0">
                <a:solidFill>
                  <a:srgbClr val="2B2118"/>
                </a:solidFill>
                <a:latin typeface="Calibri" pitchFamily="34" charset="0"/>
                <a:ea typeface="Calibri" pitchFamily="34" charset="-122"/>
                <a:cs typeface="Calibri" pitchFamily="34" charset="-120"/>
              </a:rPr>
              <a:t>one real paper, correctly cited — and two that do not exist: plausible titles, real-sounding journals, wrong or invented DOIs.</a:t>
            </a:r>
            <a:endParaRPr lang="en-US" sz="1180" dirty="0"/>
          </a:p>
        </p:txBody>
      </p:sp>
      <p:sp>
        <p:nvSpPr>
          <p:cNvPr id="8" name="Shape 6"/>
          <p:cNvSpPr/>
          <p:nvPr/>
        </p:nvSpPr>
        <p:spPr>
          <a:xfrm>
            <a:off x="4709160" y="1371600"/>
            <a:ext cx="3931920" cy="2880360"/>
          </a:xfrm>
          <a:prstGeom prst="roundRect">
            <a:avLst>
              <a:gd name="adj" fmla="val 2540"/>
            </a:avLst>
          </a:prstGeom>
          <a:solidFill>
            <a:srgbClr val="3B2314"/>
          </a:solidFill>
          <a:ln/>
          <a:effectLst>
            <a:outerShdw blurRad="88900" dist="25400" dir="2700000" algn="bl" rotWithShape="0">
              <a:srgbClr val="000000">
                <a:alpha val="14000"/>
              </a:srgbClr>
            </a:outerShdw>
          </a:effectLst>
        </p:spPr>
        <p:txBody>
          <a:bodyPr/>
          <a:lstStyle/>
          <a:p>
            <a:endParaRPr lang="en-GB"/>
          </a:p>
        </p:txBody>
      </p:sp>
      <p:sp>
        <p:nvSpPr>
          <p:cNvPr id="9" name="Text 7"/>
          <p:cNvSpPr/>
          <p:nvPr/>
        </p:nvSpPr>
        <p:spPr>
          <a:xfrm>
            <a:off x="4919472" y="1536192"/>
            <a:ext cx="3474720" cy="274320"/>
          </a:xfrm>
          <a:prstGeom prst="rect">
            <a:avLst/>
          </a:prstGeom>
          <a:noFill/>
          <a:ln/>
        </p:spPr>
        <p:txBody>
          <a:bodyPr wrap="square" lIns="0" tIns="0" rIns="0" bIns="0" rtlCol="0" anchor="ctr"/>
          <a:lstStyle/>
          <a:p>
            <a:pPr marL="0" indent="0">
              <a:buNone/>
            </a:pPr>
            <a:r>
              <a:rPr lang="en-US" sz="1050" b="1" kern="0" spc="200" dirty="0">
                <a:solidFill>
                  <a:srgbClr val="D99B32"/>
                </a:solidFill>
                <a:latin typeface="Calibri" pitchFamily="34" charset="0"/>
                <a:ea typeface="Calibri" pitchFamily="34" charset="-122"/>
                <a:cs typeface="Calibri" pitchFamily="34" charset="-120"/>
              </a:rPr>
              <a:t>WHY IT LOOKS SO CONVINCING</a:t>
            </a:r>
            <a:endParaRPr lang="en-US" sz="1050" dirty="0"/>
          </a:p>
        </p:txBody>
      </p:sp>
      <p:sp>
        <p:nvSpPr>
          <p:cNvPr id="10" name="Text 8"/>
          <p:cNvSpPr/>
          <p:nvPr/>
        </p:nvSpPr>
        <p:spPr>
          <a:xfrm>
            <a:off x="4919472" y="1920240"/>
            <a:ext cx="3520440" cy="2194560"/>
          </a:xfrm>
          <a:prstGeom prst="rect">
            <a:avLst/>
          </a:prstGeom>
          <a:noFill/>
          <a:ln/>
        </p:spPr>
        <p:txBody>
          <a:bodyPr wrap="square" lIns="0" tIns="0" rIns="0" bIns="0" rtlCol="0" anchor="ctr"/>
          <a:lstStyle/>
          <a:p>
            <a:pPr marL="342900" indent="-342900">
              <a:spcAft>
                <a:spcPts val="900"/>
              </a:spcAft>
              <a:buSzPct val="100000"/>
              <a:buChar char="•"/>
            </a:pPr>
            <a:r>
              <a:rPr lang="en-US" sz="1150" dirty="0">
                <a:solidFill>
                  <a:srgbClr val="F0E4D2"/>
                </a:solidFill>
                <a:latin typeface="Calibri" pitchFamily="34" charset="0"/>
                <a:ea typeface="Calibri" pitchFamily="34" charset="-122"/>
                <a:cs typeface="Calibri" pitchFamily="34" charset="-120"/>
              </a:rPr>
              <a:t>The model predicts plausible next words — it has no internal database of ‘true’ vs ‘false’ citations</a:t>
            </a:r>
            <a:endParaRPr lang="en-US" sz="1150" dirty="0"/>
          </a:p>
          <a:p>
            <a:pPr marL="342900" indent="-342900">
              <a:spcAft>
                <a:spcPts val="900"/>
              </a:spcAft>
              <a:buSzPct val="100000"/>
              <a:buChar char="•"/>
            </a:pPr>
            <a:r>
              <a:rPr lang="en-US" sz="1150" dirty="0">
                <a:solidFill>
                  <a:srgbClr val="F0E4D2"/>
                </a:solidFill>
                <a:latin typeface="Calibri" pitchFamily="34" charset="0"/>
                <a:ea typeface="Calibri" pitchFamily="34" charset="-122"/>
                <a:cs typeface="Calibri" pitchFamily="34" charset="-120"/>
              </a:rPr>
              <a:t>Confidence in tone is not evidence of accuracy — fluent and fabricated look identical</a:t>
            </a:r>
            <a:endParaRPr lang="en-US" sz="1150" dirty="0"/>
          </a:p>
          <a:p>
            <a:pPr marL="342900" indent="-342900">
              <a:spcAft>
                <a:spcPts val="900"/>
              </a:spcAft>
              <a:buSzPct val="100000"/>
              <a:buChar char="•"/>
            </a:pPr>
            <a:r>
              <a:rPr lang="en-US" sz="1150" b="1" dirty="0">
                <a:solidFill>
                  <a:srgbClr val="F0E4D2"/>
                </a:solidFill>
                <a:latin typeface="Calibri" pitchFamily="34" charset="0"/>
                <a:ea typeface="Calibri" pitchFamily="34" charset="-122"/>
                <a:cs typeface="Calibri" pitchFamily="34" charset="-120"/>
              </a:rPr>
              <a:t>A 2023 U.S. court sanctioned lawyers for filing a brief with fabricated AI-generated case citations</a:t>
            </a:r>
            <a:endParaRPr lang="en-US" sz="1150" dirty="0"/>
          </a:p>
        </p:txBody>
      </p:sp>
      <p:sp>
        <p:nvSpPr>
          <p:cNvPr id="11" name="Text 9"/>
          <p:cNvSpPr/>
          <p:nvPr/>
        </p:nvSpPr>
        <p:spPr>
          <a:xfrm>
            <a:off x="502920" y="4434840"/>
            <a:ext cx="8138160" cy="411480"/>
          </a:xfrm>
          <a:prstGeom prst="rect">
            <a:avLst/>
          </a:prstGeom>
          <a:noFill/>
          <a:ln/>
        </p:spPr>
        <p:txBody>
          <a:bodyPr wrap="square" lIns="0" tIns="0" rIns="0" bIns="0" rtlCol="0" anchor="ctr"/>
          <a:lstStyle/>
          <a:p>
            <a:pPr marL="0" indent="0" algn="ctr">
              <a:buNone/>
            </a:pPr>
            <a:r>
              <a:rPr lang="en-US" sz="1500" b="1" i="1" dirty="0">
                <a:solidFill>
                  <a:srgbClr val="31402A"/>
                </a:solidFill>
                <a:latin typeface="Cambria" pitchFamily="34" charset="0"/>
                <a:ea typeface="Cambria" pitchFamily="34" charset="-122"/>
                <a:cs typeface="Cambria" pitchFamily="34" charset="-120"/>
              </a:rPr>
              <a:t>The fix is not a smarter model. The fix is a habit: open the PDF, every time.</a:t>
            </a:r>
            <a:endParaRPr lang="en-US" sz="1500" dirty="0"/>
          </a:p>
        </p:txBody>
      </p:sp>
      <p:sp>
        <p:nvSpPr>
          <p:cNvPr id="12" name="Text 10"/>
          <p:cNvSpPr/>
          <p:nvPr/>
        </p:nvSpPr>
        <p:spPr>
          <a:xfrm>
            <a:off x="502920" y="4846320"/>
            <a:ext cx="4114800" cy="228600"/>
          </a:xfrm>
          <a:prstGeom prst="rect">
            <a:avLst/>
          </a:prstGeom>
          <a:noFill/>
          <a:ln/>
        </p:spPr>
        <p:txBody>
          <a:bodyPr wrap="square" lIns="0" tIns="0" rIns="0" bIns="0" rtlCol="0" anchor="ctr"/>
          <a:lstStyle/>
          <a:p>
            <a:pPr marL="0" indent="0">
              <a:buNone/>
            </a:pPr>
            <a:r>
              <a:rPr lang="en-US" sz="900" dirty="0">
                <a:solidFill>
                  <a:srgbClr val="8A7A6B"/>
                </a:solidFill>
                <a:latin typeface="Calibri" pitchFamily="34" charset="0"/>
                <a:ea typeface="Calibri" pitchFamily="34" charset="-122"/>
                <a:cs typeface="Calibri" pitchFamily="34" charset="-120"/>
              </a:rPr>
              <a:t>AWAU Monthly Colloquium  ·  July 2026</a:t>
            </a:r>
            <a:endParaRPr lang="en-US" sz="900" dirty="0"/>
          </a:p>
        </p:txBody>
      </p:sp>
      <p:sp>
        <p:nvSpPr>
          <p:cNvPr id="13" name="Text 11"/>
          <p:cNvSpPr/>
          <p:nvPr/>
        </p:nvSpPr>
        <p:spPr>
          <a:xfrm>
            <a:off x="8503920" y="4846320"/>
            <a:ext cx="320040" cy="228600"/>
          </a:xfrm>
          <a:prstGeom prst="rect">
            <a:avLst/>
          </a:prstGeom>
          <a:noFill/>
          <a:ln/>
        </p:spPr>
        <p:txBody>
          <a:bodyPr wrap="square" lIns="0" tIns="0" rIns="0" bIns="0" rtlCol="0" anchor="ctr"/>
          <a:lstStyle/>
          <a:p>
            <a:pPr marL="0" indent="0" algn="r">
              <a:buNone/>
            </a:pPr>
            <a:r>
              <a:rPr lang="en-US" sz="900" dirty="0">
                <a:solidFill>
                  <a:srgbClr val="8A7A6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marL="0" indent="0">
              <a:buNone/>
            </a:pPr>
            <a:r>
              <a:rPr lang="en-US" sz="1200" b="1" kern="0" spc="300" dirty="0">
                <a:solidFill>
                  <a:srgbClr val="BE5320"/>
                </a:solidFill>
                <a:latin typeface="Calibri" pitchFamily="34" charset="0"/>
                <a:ea typeface="Calibri" pitchFamily="34" charset="-122"/>
                <a:cs typeface="Calibri" pitchFamily="34" charset="-120"/>
              </a:rPr>
              <a:t>EYES OPEN</a:t>
            </a:r>
            <a:endParaRPr lang="en-US" sz="120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3000" b="1" dirty="0">
                <a:solidFill>
                  <a:srgbClr val="3B2314"/>
                </a:solidFill>
                <a:latin typeface="Cambria" pitchFamily="34" charset="0"/>
                <a:ea typeface="Cambria" pitchFamily="34" charset="-122"/>
                <a:cs typeface="Cambria" pitchFamily="34" charset="-120"/>
              </a:rPr>
              <a:t>Five Pitfalls — and the Habit That Neutralises Each</a:t>
            </a:r>
            <a:endParaRPr lang="en-US" sz="3000" dirty="0"/>
          </a:p>
        </p:txBody>
      </p:sp>
      <p:sp>
        <p:nvSpPr>
          <p:cNvPr id="4" name="Shape 2"/>
          <p:cNvSpPr/>
          <p:nvPr/>
        </p:nvSpPr>
        <p:spPr>
          <a:xfrm>
            <a:off x="548640" y="1472184"/>
            <a:ext cx="438912" cy="438912"/>
          </a:xfrm>
          <a:prstGeom prst="ellipse">
            <a:avLst/>
          </a:prstGeom>
          <a:solidFill>
            <a:srgbClr val="31402A"/>
          </a:solidFill>
          <a:ln/>
        </p:spPr>
        <p:txBody>
          <a:bodyPr/>
          <a:lstStyle/>
          <a:p>
            <a:endParaRPr lang="en-GB"/>
          </a:p>
        </p:txBody>
      </p:sp>
      <p:pic>
        <p:nvPicPr>
          <p:cNvPr id="5" name="Image 0" descr="preencoded.png"/>
          <p:cNvPicPr>
            <a:picLocks noChangeAspect="1"/>
          </p:cNvPicPr>
          <p:nvPr/>
        </p:nvPicPr>
        <p:blipFill>
          <a:blip r:embed="rId3"/>
          <a:stretch>
            <a:fillRect/>
          </a:stretch>
        </p:blipFill>
        <p:spPr>
          <a:xfrm>
            <a:off x="608702" y="1532246"/>
            <a:ext cx="324795" cy="324795"/>
          </a:xfrm>
          <a:prstGeom prst="rect">
            <a:avLst/>
          </a:prstGeom>
        </p:spPr>
      </p:pic>
      <p:sp>
        <p:nvSpPr>
          <p:cNvPr id="6" name="Text 3"/>
          <p:cNvSpPr/>
          <p:nvPr/>
        </p:nvSpPr>
        <p:spPr>
          <a:xfrm>
            <a:off x="1207008" y="1463040"/>
            <a:ext cx="1828800" cy="502920"/>
          </a:xfrm>
          <a:prstGeom prst="rect">
            <a:avLst/>
          </a:prstGeom>
          <a:noFill/>
          <a:ln/>
        </p:spPr>
        <p:txBody>
          <a:bodyPr wrap="square" lIns="0" tIns="0" rIns="0" bIns="0" rtlCol="0" anchor="ctr"/>
          <a:lstStyle/>
          <a:p>
            <a:pPr marL="0" indent="0">
              <a:buNone/>
            </a:pPr>
            <a:r>
              <a:rPr lang="en-US" sz="1300" b="1" dirty="0">
                <a:solidFill>
                  <a:srgbClr val="3B2314"/>
                </a:solidFill>
                <a:latin typeface="Cambria" pitchFamily="34" charset="0"/>
                <a:ea typeface="Cambria" pitchFamily="34" charset="-122"/>
                <a:cs typeface="Cambria" pitchFamily="34" charset="-120"/>
              </a:rPr>
              <a:t>Hallucination</a:t>
            </a:r>
            <a:endParaRPr lang="en-US" sz="1300" dirty="0"/>
          </a:p>
        </p:txBody>
      </p:sp>
      <p:sp>
        <p:nvSpPr>
          <p:cNvPr id="7" name="Text 4"/>
          <p:cNvSpPr/>
          <p:nvPr/>
        </p:nvSpPr>
        <p:spPr>
          <a:xfrm>
            <a:off x="3108960" y="1463040"/>
            <a:ext cx="2606040" cy="502920"/>
          </a:xfrm>
          <a:prstGeom prst="rect">
            <a:avLst/>
          </a:prstGeom>
          <a:noFill/>
          <a:ln/>
        </p:spPr>
        <p:txBody>
          <a:bodyPr wrap="square" lIns="0" tIns="0" rIns="0" bIns="0" rtlCol="0" anchor="ctr"/>
          <a:lstStyle/>
          <a:p>
            <a:pPr marL="0" indent="0">
              <a:buNone/>
            </a:pPr>
            <a:r>
              <a:rPr lang="en-US" sz="1080" dirty="0">
                <a:solidFill>
                  <a:srgbClr val="8A7A6B"/>
                </a:solidFill>
                <a:latin typeface="Calibri" pitchFamily="34" charset="0"/>
                <a:ea typeface="Calibri" pitchFamily="34" charset="-122"/>
                <a:cs typeface="Calibri" pitchFamily="34" charset="-120"/>
              </a:rPr>
              <a:t>Fabricated citations, statutes, statistics</a:t>
            </a:r>
            <a:endParaRPr lang="en-US" sz="1080" dirty="0"/>
          </a:p>
        </p:txBody>
      </p:sp>
      <p:sp>
        <p:nvSpPr>
          <p:cNvPr id="8" name="Shape 5"/>
          <p:cNvSpPr/>
          <p:nvPr/>
        </p:nvSpPr>
        <p:spPr>
          <a:xfrm>
            <a:off x="5806440" y="1435608"/>
            <a:ext cx="2834640" cy="530352"/>
          </a:xfrm>
          <a:prstGeom prst="roundRect">
            <a:avLst>
              <a:gd name="adj" fmla="val 13793"/>
            </a:avLst>
          </a:prstGeom>
          <a:solidFill>
            <a:srgbClr val="F3E7D7"/>
          </a:solidFill>
          <a:ln/>
        </p:spPr>
        <p:txBody>
          <a:bodyPr/>
          <a:lstStyle/>
          <a:p>
            <a:endParaRPr lang="en-GB"/>
          </a:p>
        </p:txBody>
      </p:sp>
      <p:sp>
        <p:nvSpPr>
          <p:cNvPr id="9" name="Text 6"/>
          <p:cNvSpPr/>
          <p:nvPr/>
        </p:nvSpPr>
        <p:spPr>
          <a:xfrm>
            <a:off x="5943600" y="1463040"/>
            <a:ext cx="2606040" cy="502920"/>
          </a:xfrm>
          <a:prstGeom prst="rect">
            <a:avLst/>
          </a:prstGeom>
          <a:noFill/>
          <a:ln/>
        </p:spPr>
        <p:txBody>
          <a:bodyPr wrap="square" lIns="0" tIns="0" rIns="0" bIns="0" rtlCol="0" anchor="ctr"/>
          <a:lstStyle/>
          <a:p>
            <a:pPr marL="0" indent="0">
              <a:buNone/>
            </a:pPr>
            <a:r>
              <a:rPr lang="en-US" sz="1030" b="1" dirty="0">
                <a:solidFill>
                  <a:srgbClr val="BE5320"/>
                </a:solidFill>
                <a:latin typeface="Calibri" pitchFamily="34" charset="0"/>
                <a:ea typeface="Calibri" pitchFamily="34" charset="-122"/>
                <a:cs typeface="Calibri" pitchFamily="34" charset="-120"/>
              </a:rPr>
              <a:t>Verify every fact and reference at source</a:t>
            </a:r>
            <a:endParaRPr lang="en-US" sz="1030" dirty="0"/>
          </a:p>
        </p:txBody>
      </p:sp>
      <p:sp>
        <p:nvSpPr>
          <p:cNvPr id="10" name="Shape 7"/>
          <p:cNvSpPr/>
          <p:nvPr/>
        </p:nvSpPr>
        <p:spPr>
          <a:xfrm>
            <a:off x="548640" y="2130552"/>
            <a:ext cx="438912" cy="438912"/>
          </a:xfrm>
          <a:prstGeom prst="ellipse">
            <a:avLst/>
          </a:prstGeom>
          <a:solidFill>
            <a:srgbClr val="31402A"/>
          </a:solidFill>
          <a:ln/>
        </p:spPr>
        <p:txBody>
          <a:bodyPr/>
          <a:lstStyle/>
          <a:p>
            <a:endParaRPr lang="en-GB"/>
          </a:p>
        </p:txBody>
      </p:sp>
      <p:pic>
        <p:nvPicPr>
          <p:cNvPr id="11" name="Image 1" descr="preencoded.png"/>
          <p:cNvPicPr>
            <a:picLocks noChangeAspect="1"/>
          </p:cNvPicPr>
          <p:nvPr/>
        </p:nvPicPr>
        <p:blipFill>
          <a:blip r:embed="rId4"/>
          <a:stretch>
            <a:fillRect/>
          </a:stretch>
        </p:blipFill>
        <p:spPr>
          <a:xfrm>
            <a:off x="608702" y="2190614"/>
            <a:ext cx="324795" cy="324795"/>
          </a:xfrm>
          <a:prstGeom prst="rect">
            <a:avLst/>
          </a:prstGeom>
        </p:spPr>
      </p:pic>
      <p:sp>
        <p:nvSpPr>
          <p:cNvPr id="12" name="Text 8"/>
          <p:cNvSpPr/>
          <p:nvPr/>
        </p:nvSpPr>
        <p:spPr>
          <a:xfrm>
            <a:off x="1207008" y="2121408"/>
            <a:ext cx="1828800" cy="502920"/>
          </a:xfrm>
          <a:prstGeom prst="rect">
            <a:avLst/>
          </a:prstGeom>
          <a:noFill/>
          <a:ln/>
        </p:spPr>
        <p:txBody>
          <a:bodyPr wrap="square" lIns="0" tIns="0" rIns="0" bIns="0" rtlCol="0" anchor="ctr"/>
          <a:lstStyle/>
          <a:p>
            <a:pPr marL="0" indent="0">
              <a:buNone/>
            </a:pPr>
            <a:r>
              <a:rPr lang="en-US" sz="1300" b="1" dirty="0">
                <a:solidFill>
                  <a:srgbClr val="3B2314"/>
                </a:solidFill>
                <a:latin typeface="Cambria" pitchFamily="34" charset="0"/>
                <a:ea typeface="Cambria" pitchFamily="34" charset="-122"/>
                <a:cs typeface="Cambria" pitchFamily="34" charset="-120"/>
              </a:rPr>
              <a:t>Hidden bias</a:t>
            </a:r>
            <a:endParaRPr lang="en-US" sz="1300" dirty="0"/>
          </a:p>
        </p:txBody>
      </p:sp>
      <p:sp>
        <p:nvSpPr>
          <p:cNvPr id="13" name="Text 9"/>
          <p:cNvSpPr/>
          <p:nvPr/>
        </p:nvSpPr>
        <p:spPr>
          <a:xfrm>
            <a:off x="3108960" y="2121408"/>
            <a:ext cx="2606040" cy="502920"/>
          </a:xfrm>
          <a:prstGeom prst="rect">
            <a:avLst/>
          </a:prstGeom>
          <a:noFill/>
          <a:ln/>
        </p:spPr>
        <p:txBody>
          <a:bodyPr wrap="square" lIns="0" tIns="0" rIns="0" bIns="0" rtlCol="0" anchor="ctr"/>
          <a:lstStyle/>
          <a:p>
            <a:pPr marL="0" indent="0">
              <a:buNone/>
            </a:pPr>
            <a:r>
              <a:rPr lang="en-US" sz="1080" dirty="0">
                <a:solidFill>
                  <a:srgbClr val="8A7A6B"/>
                </a:solidFill>
                <a:latin typeface="Calibri" pitchFamily="34" charset="0"/>
                <a:ea typeface="Calibri" pitchFamily="34" charset="-122"/>
                <a:cs typeface="Calibri" pitchFamily="34" charset="-120"/>
              </a:rPr>
              <a:t>Trained mostly on Western, English data</a:t>
            </a:r>
            <a:endParaRPr lang="en-US" sz="1080" dirty="0"/>
          </a:p>
        </p:txBody>
      </p:sp>
      <p:sp>
        <p:nvSpPr>
          <p:cNvPr id="14" name="Shape 10"/>
          <p:cNvSpPr/>
          <p:nvPr/>
        </p:nvSpPr>
        <p:spPr>
          <a:xfrm>
            <a:off x="5806440" y="2093976"/>
            <a:ext cx="2834640" cy="530352"/>
          </a:xfrm>
          <a:prstGeom prst="roundRect">
            <a:avLst>
              <a:gd name="adj" fmla="val 13793"/>
            </a:avLst>
          </a:prstGeom>
          <a:solidFill>
            <a:srgbClr val="F3E7D7"/>
          </a:solidFill>
          <a:ln/>
        </p:spPr>
        <p:txBody>
          <a:bodyPr/>
          <a:lstStyle/>
          <a:p>
            <a:endParaRPr lang="en-GB"/>
          </a:p>
        </p:txBody>
      </p:sp>
      <p:sp>
        <p:nvSpPr>
          <p:cNvPr id="15" name="Text 11"/>
          <p:cNvSpPr/>
          <p:nvPr/>
        </p:nvSpPr>
        <p:spPr>
          <a:xfrm>
            <a:off x="5943600" y="2121408"/>
            <a:ext cx="2606040" cy="502920"/>
          </a:xfrm>
          <a:prstGeom prst="rect">
            <a:avLst/>
          </a:prstGeom>
          <a:noFill/>
          <a:ln/>
        </p:spPr>
        <p:txBody>
          <a:bodyPr wrap="square" lIns="0" tIns="0" rIns="0" bIns="0" rtlCol="0" anchor="ctr"/>
          <a:lstStyle/>
          <a:p>
            <a:pPr marL="0" indent="0">
              <a:buNone/>
            </a:pPr>
            <a:r>
              <a:rPr lang="en-US" sz="1030" b="1" dirty="0">
                <a:solidFill>
                  <a:srgbClr val="BE5320"/>
                </a:solidFill>
                <a:latin typeface="Calibri" pitchFamily="34" charset="0"/>
                <a:ea typeface="Calibri" pitchFamily="34" charset="-122"/>
                <a:cs typeface="Calibri" pitchFamily="34" charset="-120"/>
              </a:rPr>
              <a:t>Ask: whose knowledge is missing here?</a:t>
            </a:r>
            <a:endParaRPr lang="en-US" sz="1030" dirty="0"/>
          </a:p>
        </p:txBody>
      </p:sp>
      <p:sp>
        <p:nvSpPr>
          <p:cNvPr id="16" name="Shape 12"/>
          <p:cNvSpPr/>
          <p:nvPr/>
        </p:nvSpPr>
        <p:spPr>
          <a:xfrm>
            <a:off x="548640" y="2788920"/>
            <a:ext cx="438912" cy="438912"/>
          </a:xfrm>
          <a:prstGeom prst="ellipse">
            <a:avLst/>
          </a:prstGeom>
          <a:solidFill>
            <a:srgbClr val="31402A"/>
          </a:solidFill>
          <a:ln/>
        </p:spPr>
        <p:txBody>
          <a:bodyPr/>
          <a:lstStyle/>
          <a:p>
            <a:endParaRPr lang="en-GB"/>
          </a:p>
        </p:txBody>
      </p:sp>
      <p:pic>
        <p:nvPicPr>
          <p:cNvPr id="17" name="Image 2" descr="preencoded.png"/>
          <p:cNvPicPr>
            <a:picLocks noChangeAspect="1"/>
          </p:cNvPicPr>
          <p:nvPr/>
        </p:nvPicPr>
        <p:blipFill>
          <a:blip r:embed="rId5"/>
          <a:stretch>
            <a:fillRect/>
          </a:stretch>
        </p:blipFill>
        <p:spPr>
          <a:xfrm>
            <a:off x="608702" y="2848982"/>
            <a:ext cx="324795" cy="324795"/>
          </a:xfrm>
          <a:prstGeom prst="rect">
            <a:avLst/>
          </a:prstGeom>
        </p:spPr>
      </p:pic>
      <p:sp>
        <p:nvSpPr>
          <p:cNvPr id="18" name="Text 13"/>
          <p:cNvSpPr/>
          <p:nvPr/>
        </p:nvSpPr>
        <p:spPr>
          <a:xfrm>
            <a:off x="1207008" y="2779776"/>
            <a:ext cx="1828800" cy="502920"/>
          </a:xfrm>
          <a:prstGeom prst="rect">
            <a:avLst/>
          </a:prstGeom>
          <a:noFill/>
          <a:ln/>
        </p:spPr>
        <p:txBody>
          <a:bodyPr wrap="square" lIns="0" tIns="0" rIns="0" bIns="0" rtlCol="0" anchor="ctr"/>
          <a:lstStyle/>
          <a:p>
            <a:pPr marL="0" indent="0">
              <a:buNone/>
            </a:pPr>
            <a:r>
              <a:rPr lang="en-US" sz="1300" b="1" dirty="0">
                <a:solidFill>
                  <a:srgbClr val="3B2314"/>
                </a:solidFill>
                <a:latin typeface="Cambria" pitchFamily="34" charset="0"/>
                <a:ea typeface="Cambria" pitchFamily="34" charset="-122"/>
                <a:cs typeface="Cambria" pitchFamily="34" charset="-120"/>
              </a:rPr>
              <a:t>Privacy &amp; data leakage</a:t>
            </a:r>
            <a:endParaRPr lang="en-US" sz="1300" dirty="0"/>
          </a:p>
        </p:txBody>
      </p:sp>
      <p:sp>
        <p:nvSpPr>
          <p:cNvPr id="19" name="Text 14"/>
          <p:cNvSpPr/>
          <p:nvPr/>
        </p:nvSpPr>
        <p:spPr>
          <a:xfrm>
            <a:off x="3108960" y="2779776"/>
            <a:ext cx="2606040" cy="502920"/>
          </a:xfrm>
          <a:prstGeom prst="rect">
            <a:avLst/>
          </a:prstGeom>
          <a:noFill/>
          <a:ln/>
        </p:spPr>
        <p:txBody>
          <a:bodyPr wrap="square" lIns="0" tIns="0" rIns="0" bIns="0" rtlCol="0" anchor="ctr"/>
          <a:lstStyle/>
          <a:p>
            <a:pPr marL="0" indent="0">
              <a:buNone/>
            </a:pPr>
            <a:r>
              <a:rPr lang="en-US" sz="1080" dirty="0">
                <a:solidFill>
                  <a:srgbClr val="8A7A6B"/>
                </a:solidFill>
                <a:latin typeface="Calibri" pitchFamily="34" charset="0"/>
                <a:ea typeface="Calibri" pitchFamily="34" charset="-122"/>
                <a:cs typeface="Calibri" pitchFamily="34" charset="-120"/>
              </a:rPr>
              <a:t>Prompts may be retained by providers</a:t>
            </a:r>
            <a:endParaRPr lang="en-US" sz="1080" dirty="0"/>
          </a:p>
        </p:txBody>
      </p:sp>
      <p:sp>
        <p:nvSpPr>
          <p:cNvPr id="20" name="Shape 15"/>
          <p:cNvSpPr/>
          <p:nvPr/>
        </p:nvSpPr>
        <p:spPr>
          <a:xfrm>
            <a:off x="5806440" y="2752344"/>
            <a:ext cx="2834640" cy="530352"/>
          </a:xfrm>
          <a:prstGeom prst="roundRect">
            <a:avLst>
              <a:gd name="adj" fmla="val 13793"/>
            </a:avLst>
          </a:prstGeom>
          <a:solidFill>
            <a:srgbClr val="F3E7D7"/>
          </a:solidFill>
          <a:ln/>
        </p:spPr>
        <p:txBody>
          <a:bodyPr/>
          <a:lstStyle/>
          <a:p>
            <a:endParaRPr lang="en-GB"/>
          </a:p>
        </p:txBody>
      </p:sp>
      <p:sp>
        <p:nvSpPr>
          <p:cNvPr id="21" name="Text 16"/>
          <p:cNvSpPr/>
          <p:nvPr/>
        </p:nvSpPr>
        <p:spPr>
          <a:xfrm>
            <a:off x="5943600" y="2779776"/>
            <a:ext cx="2606040" cy="502920"/>
          </a:xfrm>
          <a:prstGeom prst="rect">
            <a:avLst/>
          </a:prstGeom>
          <a:noFill/>
          <a:ln/>
        </p:spPr>
        <p:txBody>
          <a:bodyPr wrap="square" lIns="0" tIns="0" rIns="0" bIns="0" rtlCol="0" anchor="ctr"/>
          <a:lstStyle/>
          <a:p>
            <a:pPr marL="0" indent="0">
              <a:buNone/>
            </a:pPr>
            <a:r>
              <a:rPr lang="en-US" sz="1030" b="1" dirty="0">
                <a:solidFill>
                  <a:srgbClr val="BE5320"/>
                </a:solidFill>
                <a:latin typeface="Calibri" pitchFamily="34" charset="0"/>
                <a:ea typeface="Calibri" pitchFamily="34" charset="-122"/>
                <a:cs typeface="Calibri" pitchFamily="34" charset="-120"/>
              </a:rPr>
              <a:t>No unpublished data, student records or PII (NDPA 2023)</a:t>
            </a:r>
            <a:endParaRPr lang="en-US" sz="1030" dirty="0"/>
          </a:p>
        </p:txBody>
      </p:sp>
      <p:sp>
        <p:nvSpPr>
          <p:cNvPr id="22" name="Shape 17"/>
          <p:cNvSpPr/>
          <p:nvPr/>
        </p:nvSpPr>
        <p:spPr>
          <a:xfrm>
            <a:off x="548640" y="3447288"/>
            <a:ext cx="438912" cy="438912"/>
          </a:xfrm>
          <a:prstGeom prst="ellipse">
            <a:avLst/>
          </a:prstGeom>
          <a:solidFill>
            <a:srgbClr val="31402A"/>
          </a:solidFill>
          <a:ln/>
        </p:spPr>
        <p:txBody>
          <a:bodyPr/>
          <a:lstStyle/>
          <a:p>
            <a:endParaRPr lang="en-GB"/>
          </a:p>
        </p:txBody>
      </p:sp>
      <p:pic>
        <p:nvPicPr>
          <p:cNvPr id="23" name="Image 3" descr="preencoded.png"/>
          <p:cNvPicPr>
            <a:picLocks noChangeAspect="1"/>
          </p:cNvPicPr>
          <p:nvPr/>
        </p:nvPicPr>
        <p:blipFill>
          <a:blip r:embed="rId6"/>
          <a:stretch>
            <a:fillRect/>
          </a:stretch>
        </p:blipFill>
        <p:spPr>
          <a:xfrm>
            <a:off x="608702" y="3507350"/>
            <a:ext cx="324795" cy="324795"/>
          </a:xfrm>
          <a:prstGeom prst="rect">
            <a:avLst/>
          </a:prstGeom>
        </p:spPr>
      </p:pic>
      <p:sp>
        <p:nvSpPr>
          <p:cNvPr id="24" name="Text 18"/>
          <p:cNvSpPr/>
          <p:nvPr/>
        </p:nvSpPr>
        <p:spPr>
          <a:xfrm>
            <a:off x="1207008" y="3438144"/>
            <a:ext cx="1828800" cy="502920"/>
          </a:xfrm>
          <a:prstGeom prst="rect">
            <a:avLst/>
          </a:prstGeom>
          <a:noFill/>
          <a:ln/>
        </p:spPr>
        <p:txBody>
          <a:bodyPr wrap="square" lIns="0" tIns="0" rIns="0" bIns="0" rtlCol="0" anchor="ctr"/>
          <a:lstStyle/>
          <a:p>
            <a:pPr marL="0" indent="0">
              <a:buNone/>
            </a:pPr>
            <a:r>
              <a:rPr lang="en-US" sz="1300" b="1" dirty="0">
                <a:solidFill>
                  <a:srgbClr val="3B2314"/>
                </a:solidFill>
                <a:latin typeface="Cambria" pitchFamily="34" charset="0"/>
                <a:ea typeface="Cambria" pitchFamily="34" charset="-122"/>
                <a:cs typeface="Cambria" pitchFamily="34" charset="-120"/>
              </a:rPr>
              <a:t>Skill atrophy</a:t>
            </a:r>
            <a:endParaRPr lang="en-US" sz="1300" dirty="0"/>
          </a:p>
        </p:txBody>
      </p:sp>
      <p:sp>
        <p:nvSpPr>
          <p:cNvPr id="25" name="Text 19"/>
          <p:cNvSpPr/>
          <p:nvPr/>
        </p:nvSpPr>
        <p:spPr>
          <a:xfrm>
            <a:off x="3108960" y="3438144"/>
            <a:ext cx="2606040" cy="502920"/>
          </a:xfrm>
          <a:prstGeom prst="rect">
            <a:avLst/>
          </a:prstGeom>
          <a:noFill/>
          <a:ln/>
        </p:spPr>
        <p:txBody>
          <a:bodyPr wrap="square" lIns="0" tIns="0" rIns="0" bIns="0" rtlCol="0" anchor="ctr"/>
          <a:lstStyle/>
          <a:p>
            <a:pPr marL="0" indent="0">
              <a:buNone/>
            </a:pPr>
            <a:r>
              <a:rPr lang="en-US" sz="1080" dirty="0">
                <a:solidFill>
                  <a:srgbClr val="8A7A6B"/>
                </a:solidFill>
                <a:latin typeface="Calibri" pitchFamily="34" charset="0"/>
                <a:ea typeface="Calibri" pitchFamily="34" charset="-122"/>
                <a:cs typeface="Calibri" pitchFamily="34" charset="-120"/>
              </a:rPr>
              <a:t>Outsource thinking, lose the muscle</a:t>
            </a:r>
            <a:endParaRPr lang="en-US" sz="1080" dirty="0"/>
          </a:p>
        </p:txBody>
      </p:sp>
      <p:sp>
        <p:nvSpPr>
          <p:cNvPr id="26" name="Shape 20"/>
          <p:cNvSpPr/>
          <p:nvPr/>
        </p:nvSpPr>
        <p:spPr>
          <a:xfrm>
            <a:off x="5806440" y="3410712"/>
            <a:ext cx="2834640" cy="530352"/>
          </a:xfrm>
          <a:prstGeom prst="roundRect">
            <a:avLst>
              <a:gd name="adj" fmla="val 13793"/>
            </a:avLst>
          </a:prstGeom>
          <a:solidFill>
            <a:srgbClr val="F3E7D7"/>
          </a:solidFill>
          <a:ln/>
        </p:spPr>
        <p:txBody>
          <a:bodyPr/>
          <a:lstStyle/>
          <a:p>
            <a:endParaRPr lang="en-GB"/>
          </a:p>
        </p:txBody>
      </p:sp>
      <p:sp>
        <p:nvSpPr>
          <p:cNvPr id="27" name="Text 21"/>
          <p:cNvSpPr/>
          <p:nvPr/>
        </p:nvSpPr>
        <p:spPr>
          <a:xfrm>
            <a:off x="5943600" y="3438144"/>
            <a:ext cx="2606040" cy="502920"/>
          </a:xfrm>
          <a:prstGeom prst="rect">
            <a:avLst/>
          </a:prstGeom>
          <a:noFill/>
          <a:ln/>
        </p:spPr>
        <p:txBody>
          <a:bodyPr wrap="square" lIns="0" tIns="0" rIns="0" bIns="0" rtlCol="0" anchor="ctr"/>
          <a:lstStyle/>
          <a:p>
            <a:pPr marL="0" indent="0">
              <a:buNone/>
            </a:pPr>
            <a:r>
              <a:rPr lang="en-US" sz="1030" b="1" dirty="0">
                <a:solidFill>
                  <a:srgbClr val="BE5320"/>
                </a:solidFill>
                <a:latin typeface="Calibri" pitchFamily="34" charset="0"/>
                <a:ea typeface="Calibri" pitchFamily="34" charset="-122"/>
                <a:cs typeface="Calibri" pitchFamily="34" charset="-120"/>
              </a:rPr>
              <a:t>Draft first yourself on core skills; AI second</a:t>
            </a:r>
            <a:endParaRPr lang="en-US" sz="1030" dirty="0"/>
          </a:p>
        </p:txBody>
      </p:sp>
      <p:sp>
        <p:nvSpPr>
          <p:cNvPr id="28" name="Shape 22"/>
          <p:cNvSpPr/>
          <p:nvPr/>
        </p:nvSpPr>
        <p:spPr>
          <a:xfrm>
            <a:off x="548640" y="4105656"/>
            <a:ext cx="438912" cy="438912"/>
          </a:xfrm>
          <a:prstGeom prst="ellipse">
            <a:avLst/>
          </a:prstGeom>
          <a:solidFill>
            <a:srgbClr val="31402A"/>
          </a:solidFill>
          <a:ln/>
        </p:spPr>
        <p:txBody>
          <a:bodyPr/>
          <a:lstStyle/>
          <a:p>
            <a:endParaRPr lang="en-GB"/>
          </a:p>
        </p:txBody>
      </p:sp>
      <p:pic>
        <p:nvPicPr>
          <p:cNvPr id="29" name="Image 4" descr="preencoded.png"/>
          <p:cNvPicPr>
            <a:picLocks noChangeAspect="1"/>
          </p:cNvPicPr>
          <p:nvPr/>
        </p:nvPicPr>
        <p:blipFill>
          <a:blip r:embed="rId7"/>
          <a:stretch>
            <a:fillRect/>
          </a:stretch>
        </p:blipFill>
        <p:spPr>
          <a:xfrm>
            <a:off x="608702" y="4165718"/>
            <a:ext cx="324795" cy="324795"/>
          </a:xfrm>
          <a:prstGeom prst="rect">
            <a:avLst/>
          </a:prstGeom>
        </p:spPr>
      </p:pic>
      <p:sp>
        <p:nvSpPr>
          <p:cNvPr id="30" name="Text 23"/>
          <p:cNvSpPr/>
          <p:nvPr/>
        </p:nvSpPr>
        <p:spPr>
          <a:xfrm>
            <a:off x="1207008" y="4096512"/>
            <a:ext cx="1828800" cy="502920"/>
          </a:xfrm>
          <a:prstGeom prst="rect">
            <a:avLst/>
          </a:prstGeom>
          <a:noFill/>
          <a:ln/>
        </p:spPr>
        <p:txBody>
          <a:bodyPr wrap="square" lIns="0" tIns="0" rIns="0" bIns="0" rtlCol="0" anchor="ctr"/>
          <a:lstStyle/>
          <a:p>
            <a:pPr marL="0" indent="0">
              <a:buNone/>
            </a:pPr>
            <a:r>
              <a:rPr lang="en-US" sz="1300" b="1" dirty="0">
                <a:solidFill>
                  <a:srgbClr val="3B2314"/>
                </a:solidFill>
                <a:latin typeface="Cambria" pitchFamily="34" charset="0"/>
                <a:ea typeface="Cambria" pitchFamily="34" charset="-122"/>
                <a:cs typeface="Cambria" pitchFamily="34" charset="-120"/>
              </a:rPr>
              <a:t>Homogenised voice</a:t>
            </a:r>
            <a:endParaRPr lang="en-US" sz="1300" dirty="0"/>
          </a:p>
        </p:txBody>
      </p:sp>
      <p:sp>
        <p:nvSpPr>
          <p:cNvPr id="31" name="Text 24"/>
          <p:cNvSpPr/>
          <p:nvPr/>
        </p:nvSpPr>
        <p:spPr>
          <a:xfrm>
            <a:off x="3108960" y="4096512"/>
            <a:ext cx="2606040" cy="502920"/>
          </a:xfrm>
          <a:prstGeom prst="rect">
            <a:avLst/>
          </a:prstGeom>
          <a:noFill/>
          <a:ln/>
        </p:spPr>
        <p:txBody>
          <a:bodyPr wrap="square" lIns="0" tIns="0" rIns="0" bIns="0" rtlCol="0" anchor="ctr"/>
          <a:lstStyle/>
          <a:p>
            <a:pPr marL="0" indent="0">
              <a:buNone/>
            </a:pPr>
            <a:r>
              <a:rPr lang="en-US" sz="1080" dirty="0">
                <a:solidFill>
                  <a:srgbClr val="8A7A6B"/>
                </a:solidFill>
                <a:latin typeface="Calibri" pitchFamily="34" charset="0"/>
                <a:ea typeface="Calibri" pitchFamily="34" charset="-122"/>
                <a:cs typeface="Calibri" pitchFamily="34" charset="-120"/>
              </a:rPr>
              <a:t>Every paper starts to sound the same</a:t>
            </a:r>
            <a:endParaRPr lang="en-US" sz="1080" dirty="0"/>
          </a:p>
        </p:txBody>
      </p:sp>
      <p:sp>
        <p:nvSpPr>
          <p:cNvPr id="32" name="Shape 25"/>
          <p:cNvSpPr/>
          <p:nvPr/>
        </p:nvSpPr>
        <p:spPr>
          <a:xfrm>
            <a:off x="5806440" y="4069080"/>
            <a:ext cx="2834640" cy="530352"/>
          </a:xfrm>
          <a:prstGeom prst="roundRect">
            <a:avLst>
              <a:gd name="adj" fmla="val 13793"/>
            </a:avLst>
          </a:prstGeom>
          <a:solidFill>
            <a:srgbClr val="F3E7D7"/>
          </a:solidFill>
          <a:ln/>
        </p:spPr>
        <p:txBody>
          <a:bodyPr/>
          <a:lstStyle/>
          <a:p>
            <a:endParaRPr lang="en-GB"/>
          </a:p>
        </p:txBody>
      </p:sp>
      <p:sp>
        <p:nvSpPr>
          <p:cNvPr id="33" name="Text 26"/>
          <p:cNvSpPr/>
          <p:nvPr/>
        </p:nvSpPr>
        <p:spPr>
          <a:xfrm>
            <a:off x="5943600" y="4096512"/>
            <a:ext cx="2606040" cy="502920"/>
          </a:xfrm>
          <a:prstGeom prst="rect">
            <a:avLst/>
          </a:prstGeom>
          <a:noFill/>
          <a:ln/>
        </p:spPr>
        <p:txBody>
          <a:bodyPr wrap="square" lIns="0" tIns="0" rIns="0" bIns="0" rtlCol="0" anchor="ctr"/>
          <a:lstStyle/>
          <a:p>
            <a:pPr marL="0" indent="0">
              <a:buNone/>
            </a:pPr>
            <a:r>
              <a:rPr lang="en-US" sz="1030" b="1" dirty="0">
                <a:solidFill>
                  <a:srgbClr val="BE5320"/>
                </a:solidFill>
                <a:latin typeface="Calibri" pitchFamily="34" charset="0"/>
                <a:ea typeface="Calibri" pitchFamily="34" charset="-122"/>
                <a:cs typeface="Calibri" pitchFamily="34" charset="-120"/>
              </a:rPr>
              <a:t>Final pass is always in your own hand</a:t>
            </a:r>
            <a:endParaRPr lang="en-US" sz="1030" dirty="0"/>
          </a:p>
        </p:txBody>
      </p:sp>
      <p:sp>
        <p:nvSpPr>
          <p:cNvPr id="34" name="Text 27"/>
          <p:cNvSpPr/>
          <p:nvPr/>
        </p:nvSpPr>
        <p:spPr>
          <a:xfrm>
            <a:off x="502920" y="4846320"/>
            <a:ext cx="4114800" cy="228600"/>
          </a:xfrm>
          <a:prstGeom prst="rect">
            <a:avLst/>
          </a:prstGeom>
          <a:noFill/>
          <a:ln/>
        </p:spPr>
        <p:txBody>
          <a:bodyPr wrap="square" lIns="0" tIns="0" rIns="0" bIns="0" rtlCol="0" anchor="ctr"/>
          <a:lstStyle/>
          <a:p>
            <a:pPr marL="0" indent="0">
              <a:buNone/>
            </a:pPr>
            <a:r>
              <a:rPr lang="en-US" sz="900" dirty="0">
                <a:solidFill>
                  <a:srgbClr val="8A7A6B"/>
                </a:solidFill>
                <a:latin typeface="Calibri" pitchFamily="34" charset="0"/>
                <a:ea typeface="Calibri" pitchFamily="34" charset="-122"/>
                <a:cs typeface="Calibri" pitchFamily="34" charset="-120"/>
              </a:rPr>
              <a:t>AWAU Monthly Colloquium  ·  July 2026</a:t>
            </a:r>
            <a:endParaRPr lang="en-US" sz="900" dirty="0"/>
          </a:p>
        </p:txBody>
      </p:sp>
      <p:sp>
        <p:nvSpPr>
          <p:cNvPr id="35" name="Text 28"/>
          <p:cNvSpPr/>
          <p:nvPr/>
        </p:nvSpPr>
        <p:spPr>
          <a:xfrm>
            <a:off x="8503920" y="4846320"/>
            <a:ext cx="320040" cy="228600"/>
          </a:xfrm>
          <a:prstGeom prst="rect">
            <a:avLst/>
          </a:prstGeom>
          <a:noFill/>
          <a:ln/>
        </p:spPr>
        <p:txBody>
          <a:bodyPr wrap="square" lIns="0" tIns="0" rIns="0" bIns="0" rtlCol="0" anchor="ctr"/>
          <a:lstStyle/>
          <a:p>
            <a:pPr marL="0" indent="0" algn="r">
              <a:buNone/>
            </a:pPr>
            <a:r>
              <a:rPr lang="en-US" sz="900" dirty="0">
                <a:solidFill>
                  <a:srgbClr val="8A7A6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marL="0" indent="0">
              <a:buNone/>
            </a:pPr>
            <a:r>
              <a:rPr lang="en-US" sz="1200" b="1" kern="0" spc="300" dirty="0">
                <a:solidFill>
                  <a:srgbClr val="BE5320"/>
                </a:solidFill>
                <a:latin typeface="Calibri" pitchFamily="34" charset="0"/>
                <a:ea typeface="Calibri" pitchFamily="34" charset="-122"/>
                <a:cs typeface="Calibri" pitchFamily="34" charset="-120"/>
              </a:rPr>
              <a:t>INTEGRITY</a:t>
            </a:r>
            <a:endParaRPr lang="en-US" sz="120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3000" b="1" dirty="0">
                <a:solidFill>
                  <a:srgbClr val="3B2314"/>
                </a:solidFill>
                <a:latin typeface="Cambria" pitchFamily="34" charset="0"/>
                <a:ea typeface="Cambria" pitchFamily="34" charset="-122"/>
                <a:cs typeface="Cambria" pitchFamily="34" charset="-120"/>
              </a:rPr>
              <a:t>The Line Between Assistance and Outsourced Thinking</a:t>
            </a:r>
            <a:endParaRPr lang="en-US" sz="3000" dirty="0"/>
          </a:p>
        </p:txBody>
      </p:sp>
      <p:sp>
        <p:nvSpPr>
          <p:cNvPr id="4" name="Shape 2"/>
          <p:cNvSpPr/>
          <p:nvPr/>
        </p:nvSpPr>
        <p:spPr>
          <a:xfrm>
            <a:off x="502920" y="1417320"/>
            <a:ext cx="4114800" cy="3154680"/>
          </a:xfrm>
          <a:prstGeom prst="roundRect">
            <a:avLst>
              <a:gd name="adj" fmla="val 2319"/>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5" name="Text 3"/>
          <p:cNvSpPr/>
          <p:nvPr/>
        </p:nvSpPr>
        <p:spPr>
          <a:xfrm>
            <a:off x="777240" y="1600200"/>
            <a:ext cx="3566160" cy="320040"/>
          </a:xfrm>
          <a:prstGeom prst="rect">
            <a:avLst/>
          </a:prstGeom>
          <a:noFill/>
          <a:ln/>
        </p:spPr>
        <p:txBody>
          <a:bodyPr wrap="square" lIns="0" tIns="0" rIns="0" bIns="0" rtlCol="0" anchor="ctr"/>
          <a:lstStyle/>
          <a:p>
            <a:pPr marL="0" indent="0">
              <a:buNone/>
            </a:pPr>
            <a:r>
              <a:rPr lang="en-US" sz="1450" b="1" dirty="0">
                <a:solidFill>
                  <a:srgbClr val="3B2314"/>
                </a:solidFill>
                <a:latin typeface="Cambria" pitchFamily="34" charset="0"/>
                <a:ea typeface="Cambria" pitchFamily="34" charset="-122"/>
                <a:cs typeface="Cambria" pitchFamily="34" charset="-120"/>
              </a:rPr>
              <a:t>A simple test for any use of AI</a:t>
            </a:r>
            <a:endParaRPr lang="en-US" sz="1450" dirty="0"/>
          </a:p>
        </p:txBody>
      </p:sp>
      <p:sp>
        <p:nvSpPr>
          <p:cNvPr id="6" name="Text 4"/>
          <p:cNvSpPr/>
          <p:nvPr/>
        </p:nvSpPr>
        <p:spPr>
          <a:xfrm>
            <a:off x="777240" y="2011680"/>
            <a:ext cx="3611880" cy="2377440"/>
          </a:xfrm>
          <a:prstGeom prst="rect">
            <a:avLst/>
          </a:prstGeom>
          <a:noFill/>
          <a:ln/>
        </p:spPr>
        <p:txBody>
          <a:bodyPr wrap="square" lIns="0" tIns="0" rIns="0" bIns="0" rtlCol="0" anchor="ctr"/>
          <a:lstStyle/>
          <a:p>
            <a:pPr marL="0" indent="0">
              <a:spcAft>
                <a:spcPts val="900"/>
              </a:spcAft>
              <a:buNone/>
            </a:pPr>
            <a:r>
              <a:rPr lang="en-US" sz="1250" b="1" i="1" dirty="0">
                <a:solidFill>
                  <a:srgbClr val="BE5320"/>
                </a:solidFill>
                <a:latin typeface="Calibri" pitchFamily="34" charset="0"/>
                <a:ea typeface="Calibri" pitchFamily="34" charset="-122"/>
                <a:cs typeface="Calibri" pitchFamily="34" charset="-120"/>
              </a:rPr>
              <a:t>Could I explain and defend this work, unaided, to a panel of peers?</a:t>
            </a:r>
            <a:endParaRPr lang="en-US" sz="1250" dirty="0"/>
          </a:p>
          <a:p>
            <a:pPr marL="0" indent="0">
              <a:spcAft>
                <a:spcPts val="900"/>
              </a:spcAft>
              <a:buNone/>
            </a:pPr>
            <a:endParaRPr lang="en-US" sz="1250" dirty="0"/>
          </a:p>
          <a:p>
            <a:pPr marL="342900" indent="-342900">
              <a:spcAft>
                <a:spcPts val="900"/>
              </a:spcAft>
              <a:buSzPct val="100000"/>
              <a:buChar char="•"/>
            </a:pPr>
            <a:r>
              <a:rPr lang="en-US" sz="1250" dirty="0">
                <a:solidFill>
                  <a:srgbClr val="2B2118"/>
                </a:solidFill>
                <a:latin typeface="Calibri" pitchFamily="34" charset="0"/>
                <a:ea typeface="Calibri" pitchFamily="34" charset="-122"/>
                <a:cs typeface="Calibri" pitchFamily="34" charset="-120"/>
              </a:rPr>
              <a:t>Yes → assistance. The thinking is yours; the tool moved the labour.</a:t>
            </a:r>
            <a:endParaRPr lang="en-US" sz="1250" dirty="0"/>
          </a:p>
          <a:p>
            <a:pPr marL="342900" indent="-342900">
              <a:spcAft>
                <a:spcPts val="900"/>
              </a:spcAft>
              <a:buSzPct val="100000"/>
              <a:buChar char="•"/>
            </a:pPr>
            <a:r>
              <a:rPr lang="en-US" sz="1250" dirty="0">
                <a:solidFill>
                  <a:srgbClr val="2B2118"/>
                </a:solidFill>
                <a:latin typeface="Calibri" pitchFamily="34" charset="0"/>
                <a:ea typeface="Calibri" pitchFamily="34" charset="-122"/>
                <a:cs typeface="Calibri" pitchFamily="34" charset="-120"/>
              </a:rPr>
              <a:t>No → outsourcing. The tool did the thinking; the work is not yours to sign.</a:t>
            </a:r>
            <a:endParaRPr lang="en-US" sz="1250" dirty="0"/>
          </a:p>
        </p:txBody>
      </p:sp>
      <p:sp>
        <p:nvSpPr>
          <p:cNvPr id="7" name="Shape 5"/>
          <p:cNvSpPr/>
          <p:nvPr/>
        </p:nvSpPr>
        <p:spPr>
          <a:xfrm>
            <a:off x="4846320" y="1417320"/>
            <a:ext cx="3794760" cy="3154680"/>
          </a:xfrm>
          <a:prstGeom prst="roundRect">
            <a:avLst>
              <a:gd name="adj" fmla="val 2319"/>
            </a:avLst>
          </a:prstGeom>
          <a:solidFill>
            <a:srgbClr val="3B2314"/>
          </a:solidFill>
          <a:ln/>
          <a:effectLst>
            <a:outerShdw blurRad="88900" dist="25400" dir="2700000" algn="bl" rotWithShape="0">
              <a:srgbClr val="000000">
                <a:alpha val="14000"/>
              </a:srgbClr>
            </a:outerShdw>
          </a:effectLst>
        </p:spPr>
        <p:txBody>
          <a:bodyPr/>
          <a:lstStyle/>
          <a:p>
            <a:endParaRPr lang="en-GB"/>
          </a:p>
        </p:txBody>
      </p:sp>
      <p:sp>
        <p:nvSpPr>
          <p:cNvPr id="8" name="Text 6"/>
          <p:cNvSpPr/>
          <p:nvPr/>
        </p:nvSpPr>
        <p:spPr>
          <a:xfrm>
            <a:off x="5074920" y="1600200"/>
            <a:ext cx="3291840" cy="274320"/>
          </a:xfrm>
          <a:prstGeom prst="rect">
            <a:avLst/>
          </a:prstGeom>
          <a:noFill/>
          <a:ln/>
        </p:spPr>
        <p:txBody>
          <a:bodyPr wrap="square" lIns="0" tIns="0" rIns="0" bIns="0" rtlCol="0" anchor="ctr"/>
          <a:lstStyle/>
          <a:p>
            <a:pPr marL="0" indent="0">
              <a:buNone/>
            </a:pPr>
            <a:r>
              <a:rPr lang="en-US" sz="1050" b="1" kern="0" spc="200" dirty="0">
                <a:solidFill>
                  <a:srgbClr val="D99B32"/>
                </a:solidFill>
                <a:latin typeface="Calibri" pitchFamily="34" charset="0"/>
                <a:ea typeface="Calibri" pitchFamily="34" charset="-122"/>
                <a:cs typeface="Calibri" pitchFamily="34" charset="-120"/>
              </a:rPr>
              <a:t>FOR YOUR INSTITUTION</a:t>
            </a:r>
            <a:endParaRPr lang="en-US" sz="1050" dirty="0"/>
          </a:p>
        </p:txBody>
      </p:sp>
      <p:sp>
        <p:nvSpPr>
          <p:cNvPr id="9" name="Text 7"/>
          <p:cNvSpPr/>
          <p:nvPr/>
        </p:nvSpPr>
        <p:spPr>
          <a:xfrm>
            <a:off x="5074920" y="1965960"/>
            <a:ext cx="3337560" cy="2468880"/>
          </a:xfrm>
          <a:prstGeom prst="rect">
            <a:avLst/>
          </a:prstGeom>
          <a:noFill/>
          <a:ln/>
        </p:spPr>
        <p:txBody>
          <a:bodyPr wrap="square" lIns="0" tIns="0" rIns="0" bIns="0" rtlCol="0" anchor="ctr"/>
          <a:lstStyle/>
          <a:p>
            <a:pPr marL="342900" indent="-342900">
              <a:spcAft>
                <a:spcPts val="900"/>
              </a:spcAft>
              <a:buSzPct val="100000"/>
              <a:buChar char="•"/>
            </a:pPr>
            <a:r>
              <a:rPr lang="en-US" sz="1200" dirty="0">
                <a:solidFill>
                  <a:srgbClr val="F0E4D2"/>
                </a:solidFill>
                <a:latin typeface="Calibri" pitchFamily="34" charset="0"/>
                <a:ea typeface="Calibri" pitchFamily="34" charset="-122"/>
                <a:cs typeface="Calibri" pitchFamily="34" charset="-120"/>
              </a:rPr>
              <a:t>Adopt a written AI-use policy for staff and postgraduates — don’t leave it to rumour</a:t>
            </a:r>
            <a:endParaRPr lang="en-US" sz="1200" dirty="0"/>
          </a:p>
          <a:p>
            <a:pPr marL="342900" indent="-342900">
              <a:spcAft>
                <a:spcPts val="900"/>
              </a:spcAft>
              <a:buSzPct val="100000"/>
              <a:buChar char="•"/>
            </a:pPr>
            <a:r>
              <a:rPr lang="en-US" sz="1200" dirty="0">
                <a:solidFill>
                  <a:srgbClr val="F0E4D2"/>
                </a:solidFill>
                <a:latin typeface="Calibri" pitchFamily="34" charset="0"/>
                <a:ea typeface="Calibri" pitchFamily="34" charset="-122"/>
                <a:cs typeface="Calibri" pitchFamily="34" charset="-120"/>
              </a:rPr>
              <a:t>Require disclosure statements in theses and publications</a:t>
            </a:r>
            <a:endParaRPr lang="en-US" sz="1200" dirty="0"/>
          </a:p>
          <a:p>
            <a:pPr marL="342900" indent="-342900">
              <a:spcAft>
                <a:spcPts val="900"/>
              </a:spcAft>
              <a:buSzPct val="100000"/>
              <a:buChar char="•"/>
            </a:pPr>
            <a:r>
              <a:rPr lang="en-US" sz="1200" dirty="0">
                <a:solidFill>
                  <a:srgbClr val="F0E4D2"/>
                </a:solidFill>
                <a:latin typeface="Calibri" pitchFamily="34" charset="0"/>
                <a:ea typeface="Calibri" pitchFamily="34" charset="-122"/>
                <a:cs typeface="Calibri" pitchFamily="34" charset="-120"/>
              </a:rPr>
              <a:t>Update supervision agreements: what may students automate?</a:t>
            </a:r>
            <a:endParaRPr lang="en-US" sz="1200" dirty="0"/>
          </a:p>
          <a:p>
            <a:pPr marL="342900" indent="-342900">
              <a:spcAft>
                <a:spcPts val="900"/>
              </a:spcAft>
              <a:buSzPct val="100000"/>
              <a:buChar char="•"/>
            </a:pPr>
            <a:r>
              <a:rPr lang="en-US" sz="1200" b="1" dirty="0">
                <a:solidFill>
                  <a:srgbClr val="F0E4D2"/>
                </a:solidFill>
                <a:latin typeface="Calibri" pitchFamily="34" charset="0"/>
                <a:ea typeface="Calibri" pitchFamily="34" charset="-122"/>
                <a:cs typeface="Calibri" pitchFamily="34" charset="-120"/>
              </a:rPr>
              <a:t>Train before you police — capacity first, sanctions second</a:t>
            </a:r>
            <a:endParaRPr lang="en-US" sz="1200" dirty="0"/>
          </a:p>
        </p:txBody>
      </p:sp>
      <p:sp>
        <p:nvSpPr>
          <p:cNvPr id="10" name="Text 8"/>
          <p:cNvSpPr/>
          <p:nvPr/>
        </p:nvSpPr>
        <p:spPr>
          <a:xfrm>
            <a:off x="502920" y="4846320"/>
            <a:ext cx="4114800" cy="228600"/>
          </a:xfrm>
          <a:prstGeom prst="rect">
            <a:avLst/>
          </a:prstGeom>
          <a:noFill/>
          <a:ln/>
        </p:spPr>
        <p:txBody>
          <a:bodyPr wrap="square" lIns="0" tIns="0" rIns="0" bIns="0" rtlCol="0" anchor="ctr"/>
          <a:lstStyle/>
          <a:p>
            <a:pPr marL="0" indent="0">
              <a:buNone/>
            </a:pPr>
            <a:r>
              <a:rPr lang="en-US" sz="900" dirty="0">
                <a:solidFill>
                  <a:srgbClr val="8A7A6B"/>
                </a:solidFill>
                <a:latin typeface="Calibri" pitchFamily="34" charset="0"/>
                <a:ea typeface="Calibri" pitchFamily="34" charset="-122"/>
                <a:cs typeface="Calibri" pitchFamily="34" charset="-120"/>
              </a:rPr>
              <a:t>AWAU Monthly Colloquium  ·  July 2026</a:t>
            </a:r>
            <a:endParaRPr lang="en-US" sz="900" dirty="0"/>
          </a:p>
        </p:txBody>
      </p:sp>
      <p:sp>
        <p:nvSpPr>
          <p:cNvPr id="11" name="Text 9"/>
          <p:cNvSpPr/>
          <p:nvPr/>
        </p:nvSpPr>
        <p:spPr>
          <a:xfrm>
            <a:off x="8503920" y="4846320"/>
            <a:ext cx="320040" cy="228600"/>
          </a:xfrm>
          <a:prstGeom prst="rect">
            <a:avLst/>
          </a:prstGeom>
          <a:noFill/>
          <a:ln/>
        </p:spPr>
        <p:txBody>
          <a:bodyPr wrap="square" lIns="0" tIns="0" rIns="0" bIns="0" rtlCol="0" anchor="ctr"/>
          <a:lstStyle/>
          <a:p>
            <a:pPr marL="0" indent="0" algn="r">
              <a:buNone/>
            </a:pPr>
            <a:r>
              <a:rPr lang="en-US" sz="900" dirty="0">
                <a:solidFill>
                  <a:srgbClr val="8A7A6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B2314"/>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marL="0" indent="0">
              <a:buNone/>
            </a:pPr>
            <a:r>
              <a:rPr lang="en-US" sz="1200" b="1" kern="0" spc="300" dirty="0">
                <a:solidFill>
                  <a:srgbClr val="D99B32"/>
                </a:solidFill>
                <a:latin typeface="Calibri" pitchFamily="34" charset="0"/>
                <a:ea typeface="Calibri" pitchFamily="34" charset="-122"/>
                <a:cs typeface="Calibri" pitchFamily="34" charset="-120"/>
              </a:rPr>
              <a:t>OUR MOMENT</a:t>
            </a:r>
            <a:endParaRPr lang="en-US" sz="1200" dirty="0"/>
          </a:p>
        </p:txBody>
      </p:sp>
      <p:sp>
        <p:nvSpPr>
          <p:cNvPr id="3" name="Text 1"/>
          <p:cNvSpPr/>
          <p:nvPr/>
        </p:nvSpPr>
        <p:spPr>
          <a:xfrm>
            <a:off x="502920" y="530352"/>
            <a:ext cx="8138160" cy="50292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The West African Opportunity</a:t>
            </a:r>
            <a:endParaRPr lang="en-US" sz="2800" dirty="0"/>
          </a:p>
        </p:txBody>
      </p:sp>
      <p:sp>
        <p:nvSpPr>
          <p:cNvPr id="4" name="Text 2"/>
          <p:cNvSpPr/>
          <p:nvPr/>
        </p:nvSpPr>
        <p:spPr>
          <a:xfrm>
            <a:off x="502920" y="1078992"/>
            <a:ext cx="8138160" cy="256032"/>
          </a:xfrm>
          <a:prstGeom prst="rect">
            <a:avLst/>
          </a:prstGeom>
          <a:noFill/>
          <a:ln/>
        </p:spPr>
        <p:txBody>
          <a:bodyPr wrap="square" lIns="0" tIns="0" rIns="0" bIns="0" rtlCol="0" anchor="ctr"/>
          <a:lstStyle/>
          <a:p>
            <a:pPr marL="0" indent="0">
              <a:buNone/>
            </a:pPr>
            <a:r>
              <a:rPr lang="en-US" sz="1050" b="1" kern="0" spc="150" dirty="0">
                <a:solidFill>
                  <a:srgbClr val="D99B32"/>
                </a:solidFill>
                <a:latin typeface="Calibri" pitchFamily="34" charset="0"/>
                <a:ea typeface="Calibri" pitchFamily="34" charset="-122"/>
                <a:cs typeface="Calibri" pitchFamily="34" charset="-120"/>
              </a:rPr>
              <a:t>‘LOW-RESOURCE’ ONLY BECAUSE THE DATA DOESN’T EXIST YET</a:t>
            </a:r>
            <a:endParaRPr lang="en-US" sz="1050" dirty="0"/>
          </a:p>
        </p:txBody>
      </p:sp>
      <p:sp>
        <p:nvSpPr>
          <p:cNvPr id="5" name="Shape 3"/>
          <p:cNvSpPr/>
          <p:nvPr/>
        </p:nvSpPr>
        <p:spPr>
          <a:xfrm>
            <a:off x="502920" y="1389888"/>
            <a:ext cx="1874520" cy="420624"/>
          </a:xfrm>
          <a:prstGeom prst="roundRect">
            <a:avLst>
              <a:gd name="adj" fmla="val 50000"/>
            </a:avLst>
          </a:prstGeom>
          <a:solidFill>
            <a:srgbClr val="54341E"/>
          </a:solidFill>
          <a:ln/>
        </p:spPr>
        <p:txBody>
          <a:bodyPr/>
          <a:lstStyle/>
          <a:p>
            <a:endParaRPr lang="en-GB"/>
          </a:p>
        </p:txBody>
      </p:sp>
      <p:sp>
        <p:nvSpPr>
          <p:cNvPr id="6" name="Text 4"/>
          <p:cNvSpPr/>
          <p:nvPr/>
        </p:nvSpPr>
        <p:spPr>
          <a:xfrm>
            <a:off x="502920" y="1389888"/>
            <a:ext cx="1874520"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Yorùbá</a:t>
            </a:r>
            <a:endParaRPr lang="en-US" sz="1350" dirty="0"/>
          </a:p>
        </p:txBody>
      </p:sp>
      <p:sp>
        <p:nvSpPr>
          <p:cNvPr id="7" name="Shape 5"/>
          <p:cNvSpPr/>
          <p:nvPr/>
        </p:nvSpPr>
        <p:spPr>
          <a:xfrm>
            <a:off x="2551176" y="1389888"/>
            <a:ext cx="1874520" cy="420624"/>
          </a:xfrm>
          <a:prstGeom prst="roundRect">
            <a:avLst>
              <a:gd name="adj" fmla="val 50000"/>
            </a:avLst>
          </a:prstGeom>
          <a:solidFill>
            <a:srgbClr val="54341E"/>
          </a:solidFill>
          <a:ln/>
        </p:spPr>
        <p:txBody>
          <a:bodyPr/>
          <a:lstStyle/>
          <a:p>
            <a:endParaRPr lang="en-GB"/>
          </a:p>
        </p:txBody>
      </p:sp>
      <p:sp>
        <p:nvSpPr>
          <p:cNvPr id="8" name="Text 6"/>
          <p:cNvSpPr/>
          <p:nvPr/>
        </p:nvSpPr>
        <p:spPr>
          <a:xfrm>
            <a:off x="2551176" y="1389888"/>
            <a:ext cx="1874520"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Hausa</a:t>
            </a:r>
            <a:endParaRPr lang="en-US" sz="1350" dirty="0"/>
          </a:p>
        </p:txBody>
      </p:sp>
      <p:sp>
        <p:nvSpPr>
          <p:cNvPr id="9" name="Shape 7"/>
          <p:cNvSpPr/>
          <p:nvPr/>
        </p:nvSpPr>
        <p:spPr>
          <a:xfrm>
            <a:off x="4599432" y="1389888"/>
            <a:ext cx="1874520" cy="420624"/>
          </a:xfrm>
          <a:prstGeom prst="roundRect">
            <a:avLst>
              <a:gd name="adj" fmla="val 50000"/>
            </a:avLst>
          </a:prstGeom>
          <a:solidFill>
            <a:srgbClr val="54341E"/>
          </a:solidFill>
          <a:ln/>
        </p:spPr>
        <p:txBody>
          <a:bodyPr/>
          <a:lstStyle/>
          <a:p>
            <a:endParaRPr lang="en-GB"/>
          </a:p>
        </p:txBody>
      </p:sp>
      <p:sp>
        <p:nvSpPr>
          <p:cNvPr id="10" name="Text 8"/>
          <p:cNvSpPr/>
          <p:nvPr/>
        </p:nvSpPr>
        <p:spPr>
          <a:xfrm>
            <a:off x="4599432" y="1389888"/>
            <a:ext cx="1874520"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Igbo</a:t>
            </a:r>
            <a:endParaRPr lang="en-US" sz="1350" dirty="0"/>
          </a:p>
        </p:txBody>
      </p:sp>
      <p:sp>
        <p:nvSpPr>
          <p:cNvPr id="11" name="Shape 9"/>
          <p:cNvSpPr/>
          <p:nvPr/>
        </p:nvSpPr>
        <p:spPr>
          <a:xfrm>
            <a:off x="6647688" y="1389888"/>
            <a:ext cx="1874520" cy="420624"/>
          </a:xfrm>
          <a:prstGeom prst="roundRect">
            <a:avLst>
              <a:gd name="adj" fmla="val 50000"/>
            </a:avLst>
          </a:prstGeom>
          <a:solidFill>
            <a:srgbClr val="54341E"/>
          </a:solidFill>
          <a:ln/>
        </p:spPr>
        <p:txBody>
          <a:bodyPr/>
          <a:lstStyle/>
          <a:p>
            <a:endParaRPr lang="en-GB"/>
          </a:p>
        </p:txBody>
      </p:sp>
      <p:sp>
        <p:nvSpPr>
          <p:cNvPr id="12" name="Text 10"/>
          <p:cNvSpPr/>
          <p:nvPr/>
        </p:nvSpPr>
        <p:spPr>
          <a:xfrm>
            <a:off x="6647688" y="1389888"/>
            <a:ext cx="1874520"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Twi</a:t>
            </a:r>
            <a:endParaRPr lang="en-US" sz="1350" dirty="0"/>
          </a:p>
        </p:txBody>
      </p:sp>
      <p:sp>
        <p:nvSpPr>
          <p:cNvPr id="13" name="Shape 11"/>
          <p:cNvSpPr/>
          <p:nvPr/>
        </p:nvSpPr>
        <p:spPr>
          <a:xfrm>
            <a:off x="502920" y="1920240"/>
            <a:ext cx="1874520" cy="420624"/>
          </a:xfrm>
          <a:prstGeom prst="roundRect">
            <a:avLst>
              <a:gd name="adj" fmla="val 50000"/>
            </a:avLst>
          </a:prstGeom>
          <a:solidFill>
            <a:srgbClr val="54341E"/>
          </a:solidFill>
          <a:ln/>
        </p:spPr>
        <p:txBody>
          <a:bodyPr/>
          <a:lstStyle/>
          <a:p>
            <a:endParaRPr lang="en-GB"/>
          </a:p>
        </p:txBody>
      </p:sp>
      <p:sp>
        <p:nvSpPr>
          <p:cNvPr id="14" name="Text 12"/>
          <p:cNvSpPr/>
          <p:nvPr/>
        </p:nvSpPr>
        <p:spPr>
          <a:xfrm>
            <a:off x="502920" y="1920240"/>
            <a:ext cx="1874520"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Wolof</a:t>
            </a:r>
            <a:endParaRPr lang="en-US" sz="1350" dirty="0"/>
          </a:p>
        </p:txBody>
      </p:sp>
      <p:sp>
        <p:nvSpPr>
          <p:cNvPr id="15" name="Shape 13"/>
          <p:cNvSpPr/>
          <p:nvPr/>
        </p:nvSpPr>
        <p:spPr>
          <a:xfrm>
            <a:off x="2551176" y="1920240"/>
            <a:ext cx="1874520" cy="420624"/>
          </a:xfrm>
          <a:prstGeom prst="roundRect">
            <a:avLst>
              <a:gd name="adj" fmla="val 50000"/>
            </a:avLst>
          </a:prstGeom>
          <a:solidFill>
            <a:srgbClr val="54341E"/>
          </a:solidFill>
          <a:ln/>
        </p:spPr>
        <p:txBody>
          <a:bodyPr/>
          <a:lstStyle/>
          <a:p>
            <a:endParaRPr lang="en-GB"/>
          </a:p>
        </p:txBody>
      </p:sp>
      <p:sp>
        <p:nvSpPr>
          <p:cNvPr id="16" name="Text 14"/>
          <p:cNvSpPr/>
          <p:nvPr/>
        </p:nvSpPr>
        <p:spPr>
          <a:xfrm>
            <a:off x="2551176" y="1920240"/>
            <a:ext cx="1874520"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Fulfulde</a:t>
            </a:r>
            <a:endParaRPr lang="en-US" sz="1350" dirty="0"/>
          </a:p>
        </p:txBody>
      </p:sp>
      <p:sp>
        <p:nvSpPr>
          <p:cNvPr id="17" name="Shape 15"/>
          <p:cNvSpPr/>
          <p:nvPr/>
        </p:nvSpPr>
        <p:spPr>
          <a:xfrm>
            <a:off x="4599432" y="1920240"/>
            <a:ext cx="1874520" cy="420624"/>
          </a:xfrm>
          <a:prstGeom prst="roundRect">
            <a:avLst>
              <a:gd name="adj" fmla="val 50000"/>
            </a:avLst>
          </a:prstGeom>
          <a:solidFill>
            <a:srgbClr val="54341E"/>
          </a:solidFill>
          <a:ln/>
        </p:spPr>
        <p:txBody>
          <a:bodyPr/>
          <a:lstStyle/>
          <a:p>
            <a:endParaRPr lang="en-GB"/>
          </a:p>
        </p:txBody>
      </p:sp>
      <p:sp>
        <p:nvSpPr>
          <p:cNvPr id="18" name="Text 16"/>
          <p:cNvSpPr/>
          <p:nvPr/>
        </p:nvSpPr>
        <p:spPr>
          <a:xfrm>
            <a:off x="4599432" y="1920240"/>
            <a:ext cx="1874520"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Akan</a:t>
            </a:r>
            <a:endParaRPr lang="en-US" sz="1350" dirty="0"/>
          </a:p>
        </p:txBody>
      </p:sp>
      <p:sp>
        <p:nvSpPr>
          <p:cNvPr id="19" name="Shape 17"/>
          <p:cNvSpPr/>
          <p:nvPr/>
        </p:nvSpPr>
        <p:spPr>
          <a:xfrm>
            <a:off x="6647688" y="1920240"/>
            <a:ext cx="1874520" cy="420624"/>
          </a:xfrm>
          <a:prstGeom prst="roundRect">
            <a:avLst>
              <a:gd name="adj" fmla="val 50000"/>
            </a:avLst>
          </a:prstGeom>
          <a:solidFill>
            <a:srgbClr val="54341E"/>
          </a:solidFill>
          <a:ln/>
        </p:spPr>
        <p:txBody>
          <a:bodyPr/>
          <a:lstStyle/>
          <a:p>
            <a:endParaRPr lang="en-GB"/>
          </a:p>
        </p:txBody>
      </p:sp>
      <p:sp>
        <p:nvSpPr>
          <p:cNvPr id="20" name="Text 18"/>
          <p:cNvSpPr/>
          <p:nvPr/>
        </p:nvSpPr>
        <p:spPr>
          <a:xfrm>
            <a:off x="6647688" y="1920240"/>
            <a:ext cx="1874520"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mbria" pitchFamily="34" charset="0"/>
                <a:ea typeface="Cambria" pitchFamily="34" charset="-122"/>
                <a:cs typeface="Cambria" pitchFamily="34" charset="-120"/>
              </a:rPr>
              <a:t>Swahili</a:t>
            </a:r>
            <a:endParaRPr lang="en-US" sz="1350" dirty="0"/>
          </a:p>
        </p:txBody>
      </p:sp>
      <p:sp>
        <p:nvSpPr>
          <p:cNvPr id="21" name="Shape 19"/>
          <p:cNvSpPr/>
          <p:nvPr/>
        </p:nvSpPr>
        <p:spPr>
          <a:xfrm>
            <a:off x="548640" y="2697480"/>
            <a:ext cx="457200" cy="457200"/>
          </a:xfrm>
          <a:prstGeom prst="ellipse">
            <a:avLst/>
          </a:prstGeom>
          <a:solidFill>
            <a:srgbClr val="D99B32"/>
          </a:solidFill>
          <a:ln/>
        </p:spPr>
        <p:txBody>
          <a:bodyPr/>
          <a:lstStyle/>
          <a:p>
            <a:endParaRPr lang="en-GB"/>
          </a:p>
        </p:txBody>
      </p:sp>
      <p:pic>
        <p:nvPicPr>
          <p:cNvPr id="22" name="Image 0" descr="preencoded.png"/>
          <p:cNvPicPr>
            <a:picLocks noChangeAspect="1"/>
          </p:cNvPicPr>
          <p:nvPr/>
        </p:nvPicPr>
        <p:blipFill>
          <a:blip r:embed="rId3"/>
          <a:stretch>
            <a:fillRect/>
          </a:stretch>
        </p:blipFill>
        <p:spPr>
          <a:xfrm>
            <a:off x="611204" y="2760044"/>
            <a:ext cx="338328" cy="338328"/>
          </a:xfrm>
          <a:prstGeom prst="rect">
            <a:avLst/>
          </a:prstGeom>
        </p:spPr>
      </p:pic>
      <p:sp>
        <p:nvSpPr>
          <p:cNvPr id="23" name="Text 20"/>
          <p:cNvSpPr/>
          <p:nvPr/>
        </p:nvSpPr>
        <p:spPr>
          <a:xfrm>
            <a:off x="1234440" y="2670048"/>
            <a:ext cx="4617720" cy="749808"/>
          </a:xfrm>
          <a:prstGeom prst="rect">
            <a:avLst/>
          </a:prstGeom>
          <a:noFill/>
          <a:ln/>
        </p:spPr>
        <p:txBody>
          <a:bodyPr wrap="square" lIns="0" tIns="0" rIns="0" bIns="0" rtlCol="0" anchor="ctr"/>
          <a:lstStyle/>
          <a:p>
            <a:pPr marL="0" indent="0">
              <a:buNone/>
            </a:pPr>
            <a:r>
              <a:rPr lang="en-US" sz="1200" dirty="0">
                <a:solidFill>
                  <a:srgbClr val="F0E4D2"/>
                </a:solidFill>
                <a:latin typeface="Calibri" pitchFamily="34" charset="0"/>
                <a:ea typeface="Calibri" pitchFamily="34" charset="-122"/>
                <a:cs typeface="Calibri" pitchFamily="34" charset="-120"/>
              </a:rPr>
              <a:t>Archives, oral histories, court records and music collections across the region are waiting to be digitised, enriched and studied at scale.</a:t>
            </a:r>
            <a:endParaRPr lang="en-US" sz="1200" dirty="0"/>
          </a:p>
        </p:txBody>
      </p:sp>
      <p:sp>
        <p:nvSpPr>
          <p:cNvPr id="24" name="Shape 21"/>
          <p:cNvSpPr/>
          <p:nvPr/>
        </p:nvSpPr>
        <p:spPr>
          <a:xfrm>
            <a:off x="548640" y="3474720"/>
            <a:ext cx="457200" cy="457200"/>
          </a:xfrm>
          <a:prstGeom prst="ellipse">
            <a:avLst/>
          </a:prstGeom>
          <a:solidFill>
            <a:srgbClr val="D99B32"/>
          </a:solidFill>
          <a:ln/>
        </p:spPr>
        <p:txBody>
          <a:bodyPr/>
          <a:lstStyle/>
          <a:p>
            <a:endParaRPr lang="en-GB"/>
          </a:p>
        </p:txBody>
      </p:sp>
      <p:pic>
        <p:nvPicPr>
          <p:cNvPr id="25" name="Image 1" descr="preencoded.png"/>
          <p:cNvPicPr>
            <a:picLocks noChangeAspect="1"/>
          </p:cNvPicPr>
          <p:nvPr/>
        </p:nvPicPr>
        <p:blipFill>
          <a:blip r:embed="rId4"/>
          <a:stretch>
            <a:fillRect/>
          </a:stretch>
        </p:blipFill>
        <p:spPr>
          <a:xfrm>
            <a:off x="611204" y="3537284"/>
            <a:ext cx="338328" cy="338328"/>
          </a:xfrm>
          <a:prstGeom prst="rect">
            <a:avLst/>
          </a:prstGeom>
        </p:spPr>
      </p:pic>
      <p:sp>
        <p:nvSpPr>
          <p:cNvPr id="26" name="Text 22"/>
          <p:cNvSpPr/>
          <p:nvPr/>
        </p:nvSpPr>
        <p:spPr>
          <a:xfrm>
            <a:off x="1234440" y="3447288"/>
            <a:ext cx="4617720" cy="749808"/>
          </a:xfrm>
          <a:prstGeom prst="rect">
            <a:avLst/>
          </a:prstGeom>
          <a:noFill/>
          <a:ln/>
        </p:spPr>
        <p:txBody>
          <a:bodyPr wrap="square" lIns="0" tIns="0" rIns="0" bIns="0" rtlCol="0" anchor="ctr"/>
          <a:lstStyle/>
          <a:p>
            <a:pPr marL="0" indent="0">
              <a:buNone/>
            </a:pPr>
            <a:r>
              <a:rPr lang="en-US" sz="1200" dirty="0">
                <a:solidFill>
                  <a:srgbClr val="F0E4D2"/>
                </a:solidFill>
                <a:latin typeface="Calibri" pitchFamily="34" charset="0"/>
                <a:ea typeface="Calibri" pitchFamily="34" charset="-122"/>
                <a:cs typeface="Calibri" pitchFamily="34" charset="-120"/>
              </a:rPr>
              <a:t>National AI strategies (e.g., Nigeria’s NAIS) need academic voices — ours — shaping data governance and research policy.</a:t>
            </a:r>
            <a:endParaRPr lang="en-US" sz="1200" dirty="0"/>
          </a:p>
        </p:txBody>
      </p:sp>
      <p:sp>
        <p:nvSpPr>
          <p:cNvPr id="27" name="Shape 23"/>
          <p:cNvSpPr/>
          <p:nvPr/>
        </p:nvSpPr>
        <p:spPr>
          <a:xfrm>
            <a:off x="6126480" y="2697480"/>
            <a:ext cx="2514600" cy="1554480"/>
          </a:xfrm>
          <a:prstGeom prst="roundRect">
            <a:avLst>
              <a:gd name="adj" fmla="val 4706"/>
            </a:avLst>
          </a:prstGeom>
          <a:solidFill>
            <a:srgbClr val="54341E"/>
          </a:solidFill>
          <a:ln/>
          <a:effectLst>
            <a:outerShdw blurRad="88900" dist="25400" dir="2700000" algn="bl" rotWithShape="0">
              <a:srgbClr val="000000">
                <a:alpha val="14000"/>
              </a:srgbClr>
            </a:outerShdw>
          </a:effectLst>
        </p:spPr>
        <p:txBody>
          <a:bodyPr/>
          <a:lstStyle/>
          <a:p>
            <a:endParaRPr lang="en-GB"/>
          </a:p>
        </p:txBody>
      </p:sp>
      <p:sp>
        <p:nvSpPr>
          <p:cNvPr id="28" name="Text 24"/>
          <p:cNvSpPr/>
          <p:nvPr/>
        </p:nvSpPr>
        <p:spPr>
          <a:xfrm>
            <a:off x="6309360" y="2816352"/>
            <a:ext cx="2194560" cy="411480"/>
          </a:xfrm>
          <a:prstGeom prst="rect">
            <a:avLst/>
          </a:prstGeom>
          <a:noFill/>
          <a:ln/>
        </p:spPr>
        <p:txBody>
          <a:bodyPr wrap="square" lIns="0" tIns="0" rIns="0" bIns="0" rtlCol="0" anchor="ctr"/>
          <a:lstStyle/>
          <a:p>
            <a:pPr marL="0" indent="0">
              <a:buNone/>
            </a:pPr>
            <a:r>
              <a:rPr lang="en-US" sz="950" b="1" kern="0" spc="100" dirty="0">
                <a:solidFill>
                  <a:srgbClr val="D99B32"/>
                </a:solidFill>
                <a:latin typeface="Calibri" pitchFamily="34" charset="0"/>
                <a:ea typeface="Calibri" pitchFamily="34" charset="-122"/>
                <a:cs typeface="Calibri" pitchFamily="34" charset="-120"/>
              </a:rPr>
              <a:t>REAL CONSTRAINTS, REAL ANSWERS</a:t>
            </a:r>
            <a:endParaRPr lang="en-US" sz="950" dirty="0"/>
          </a:p>
        </p:txBody>
      </p:sp>
      <p:sp>
        <p:nvSpPr>
          <p:cNvPr id="29" name="Text 25"/>
          <p:cNvSpPr/>
          <p:nvPr/>
        </p:nvSpPr>
        <p:spPr>
          <a:xfrm>
            <a:off x="6309360" y="3200400"/>
            <a:ext cx="2286000" cy="1143000"/>
          </a:xfrm>
          <a:prstGeom prst="rect">
            <a:avLst/>
          </a:prstGeom>
          <a:noFill/>
          <a:ln/>
        </p:spPr>
        <p:txBody>
          <a:bodyPr wrap="square" lIns="0" tIns="0" rIns="0" bIns="0" rtlCol="0" anchor="ctr"/>
          <a:lstStyle/>
          <a:p>
            <a:pPr marL="342900" indent="-342900">
              <a:spcAft>
                <a:spcPts val="500"/>
              </a:spcAft>
              <a:buSzPct val="100000"/>
              <a:buChar char="•"/>
            </a:pPr>
            <a:r>
              <a:rPr lang="en-US" sz="980" dirty="0">
                <a:solidFill>
                  <a:srgbClr val="E5D6C2"/>
                </a:solidFill>
                <a:latin typeface="Calibri" pitchFamily="34" charset="0"/>
                <a:ea typeface="Calibri" pitchFamily="34" charset="-122"/>
                <a:cs typeface="Calibri" pitchFamily="34" charset="-120"/>
              </a:rPr>
              <a:t>Cost → free tiers, consortia</a:t>
            </a:r>
            <a:endParaRPr lang="en-US" sz="980" dirty="0"/>
          </a:p>
          <a:p>
            <a:pPr marL="342900" indent="-342900">
              <a:spcAft>
                <a:spcPts val="500"/>
              </a:spcAft>
              <a:buSzPct val="100000"/>
              <a:buChar char="•"/>
            </a:pPr>
            <a:r>
              <a:rPr lang="en-US" sz="980" dirty="0">
                <a:solidFill>
                  <a:srgbClr val="E5D6C2"/>
                </a:solidFill>
                <a:latin typeface="Calibri" pitchFamily="34" charset="0"/>
                <a:ea typeface="Calibri" pitchFamily="34" charset="-122"/>
                <a:cs typeface="Calibri" pitchFamily="34" charset="-120"/>
              </a:rPr>
              <a:t>Bandwidth → offline local models</a:t>
            </a:r>
            <a:endParaRPr lang="en-US" sz="980" dirty="0"/>
          </a:p>
          <a:p>
            <a:pPr marL="342900" indent="-342900">
              <a:spcAft>
                <a:spcPts val="500"/>
              </a:spcAft>
              <a:buSzPct val="100000"/>
              <a:buChar char="•"/>
            </a:pPr>
            <a:r>
              <a:rPr lang="en-US" sz="980" dirty="0">
                <a:solidFill>
                  <a:srgbClr val="E5D6C2"/>
                </a:solidFill>
                <a:latin typeface="Calibri" pitchFamily="34" charset="0"/>
                <a:ea typeface="Calibri" pitchFamily="34" charset="-122"/>
                <a:cs typeface="Calibri" pitchFamily="34" charset="-120"/>
              </a:rPr>
              <a:t>Sovereignty → data stays on-machine</a:t>
            </a:r>
            <a:endParaRPr lang="en-US" sz="980" dirty="0"/>
          </a:p>
        </p:txBody>
      </p:sp>
      <p:sp>
        <p:nvSpPr>
          <p:cNvPr id="30" name="Text 26"/>
          <p:cNvSpPr/>
          <p:nvPr/>
        </p:nvSpPr>
        <p:spPr>
          <a:xfrm>
            <a:off x="502920" y="4526280"/>
            <a:ext cx="8138160" cy="457200"/>
          </a:xfrm>
          <a:prstGeom prst="rect">
            <a:avLst/>
          </a:prstGeom>
          <a:noFill/>
          <a:ln/>
        </p:spPr>
        <p:txBody>
          <a:bodyPr wrap="square" lIns="0" tIns="0" rIns="0" bIns="0" rtlCol="0" anchor="ctr"/>
          <a:lstStyle/>
          <a:p>
            <a:pPr marL="0" indent="0" algn="ctr">
              <a:buNone/>
            </a:pPr>
            <a:r>
              <a:rPr lang="en-US" sz="1550" b="1" i="1" dirty="0">
                <a:solidFill>
                  <a:srgbClr val="D99B32"/>
                </a:solidFill>
                <a:latin typeface="Cambria" pitchFamily="34" charset="0"/>
                <a:ea typeface="Cambria" pitchFamily="34" charset="-122"/>
                <a:cs typeface="Cambria" pitchFamily="34" charset="-120"/>
              </a:rPr>
              <a:t>We are not late to AI. For African-language and African-context research, we are early.</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marL="0" indent="0">
              <a:buNone/>
            </a:pPr>
            <a:r>
              <a:rPr lang="en-US" sz="1200" b="1" kern="0" spc="300" dirty="0">
                <a:solidFill>
                  <a:srgbClr val="BE5320"/>
                </a:solidFill>
                <a:latin typeface="Calibri" pitchFamily="34" charset="0"/>
                <a:ea typeface="Calibri" pitchFamily="34" charset="-122"/>
                <a:cs typeface="Calibri" pitchFamily="34" charset="-120"/>
              </a:rPr>
              <a:t>THE QUESTION EVERYONE ASKS</a:t>
            </a:r>
            <a:endParaRPr lang="en-US" sz="120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3000" b="1" dirty="0">
                <a:solidFill>
                  <a:srgbClr val="3B2314"/>
                </a:solidFill>
                <a:latin typeface="Cambria" pitchFamily="34" charset="0"/>
                <a:ea typeface="Cambria" pitchFamily="34" charset="-122"/>
                <a:cs typeface="Cambria" pitchFamily="34" charset="-120"/>
              </a:rPr>
              <a:t>The AI Research Tool Ecosystem, at a Glance</a:t>
            </a:r>
            <a:endParaRPr lang="en-US" sz="3000" dirty="0"/>
          </a:p>
        </p:txBody>
      </p:sp>
      <p:sp>
        <p:nvSpPr>
          <p:cNvPr id="4" name="Shape 2"/>
          <p:cNvSpPr/>
          <p:nvPr/>
        </p:nvSpPr>
        <p:spPr>
          <a:xfrm>
            <a:off x="502920" y="1417320"/>
            <a:ext cx="2606040" cy="3108960"/>
          </a:xfrm>
          <a:prstGeom prst="roundRect">
            <a:avLst>
              <a:gd name="adj" fmla="val 2807"/>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5" name="Text 3"/>
          <p:cNvSpPr/>
          <p:nvPr/>
        </p:nvSpPr>
        <p:spPr>
          <a:xfrm>
            <a:off x="685800" y="1600200"/>
            <a:ext cx="2240280" cy="411480"/>
          </a:xfrm>
          <a:prstGeom prst="rect">
            <a:avLst/>
          </a:prstGeom>
          <a:noFill/>
          <a:ln/>
        </p:spPr>
        <p:txBody>
          <a:bodyPr wrap="square" lIns="0" tIns="0" rIns="0" bIns="0" rtlCol="0" anchor="ctr"/>
          <a:lstStyle/>
          <a:p>
            <a:pPr marL="0" indent="0">
              <a:buNone/>
            </a:pPr>
            <a:r>
              <a:rPr lang="en-US" sz="1450" b="1" dirty="0">
                <a:solidFill>
                  <a:srgbClr val="BE5320"/>
                </a:solidFill>
                <a:latin typeface="Cambria" pitchFamily="34" charset="0"/>
                <a:ea typeface="Cambria" pitchFamily="34" charset="-122"/>
                <a:cs typeface="Cambria" pitchFamily="34" charset="-120"/>
              </a:rPr>
              <a:t>Discover &amp; Write</a:t>
            </a:r>
            <a:endParaRPr lang="en-US" sz="1450" dirty="0"/>
          </a:p>
        </p:txBody>
      </p:sp>
      <p:sp>
        <p:nvSpPr>
          <p:cNvPr id="6" name="Text 4"/>
          <p:cNvSpPr/>
          <p:nvPr/>
        </p:nvSpPr>
        <p:spPr>
          <a:xfrm>
            <a:off x="704088" y="2057400"/>
            <a:ext cx="2240280" cy="2331720"/>
          </a:xfrm>
          <a:prstGeom prst="rect">
            <a:avLst/>
          </a:prstGeom>
          <a:noFill/>
          <a:ln/>
        </p:spPr>
        <p:txBody>
          <a:bodyPr wrap="square" lIns="0" tIns="0" rIns="0" bIns="0" rtlCol="0" anchor="ctr"/>
          <a:lstStyle/>
          <a:p>
            <a:pPr marL="342900" indent="-342900">
              <a:spcAft>
                <a:spcPts val="1000"/>
              </a:spcAft>
              <a:buSzPct val="100000"/>
              <a:buChar char="•"/>
            </a:pPr>
            <a:r>
              <a:rPr lang="en-US" sz="1030" dirty="0">
                <a:solidFill>
                  <a:srgbClr val="2B2118"/>
                </a:solidFill>
                <a:latin typeface="Calibri" pitchFamily="34" charset="0"/>
                <a:ea typeface="Calibri" pitchFamily="34" charset="-122"/>
                <a:cs typeface="Calibri" pitchFamily="34" charset="-120"/>
              </a:rPr>
              <a:t>General assistants — chat-based drafting, translation, code (any major provider)</a:t>
            </a:r>
            <a:endParaRPr lang="en-US" sz="1030" dirty="0"/>
          </a:p>
          <a:p>
            <a:pPr marL="342900" indent="-342900">
              <a:spcAft>
                <a:spcPts val="1000"/>
              </a:spcAft>
              <a:buSzPct val="100000"/>
              <a:buChar char="•"/>
            </a:pPr>
            <a:r>
              <a:rPr lang="en-US" sz="1030" dirty="0">
                <a:solidFill>
                  <a:srgbClr val="2B2118"/>
                </a:solidFill>
                <a:latin typeface="Calibri" pitchFamily="34" charset="0"/>
                <a:ea typeface="Calibri" pitchFamily="34" charset="-122"/>
                <a:cs typeface="Calibri" pitchFamily="34" charset="-120"/>
              </a:rPr>
              <a:t>Semantic literature tools — meaning-based search &amp; synthesis</a:t>
            </a:r>
            <a:endParaRPr lang="en-US" sz="1030" dirty="0"/>
          </a:p>
          <a:p>
            <a:pPr marL="342900" indent="-342900">
              <a:spcAft>
                <a:spcPts val="1000"/>
              </a:spcAft>
              <a:buSzPct val="100000"/>
              <a:buChar char="•"/>
            </a:pPr>
            <a:r>
              <a:rPr lang="en-US" sz="1030" dirty="0">
                <a:solidFill>
                  <a:srgbClr val="2B2118"/>
                </a:solidFill>
                <a:latin typeface="Calibri" pitchFamily="34" charset="0"/>
                <a:ea typeface="Calibri" pitchFamily="34" charset="-122"/>
                <a:cs typeface="Calibri" pitchFamily="34" charset="-120"/>
              </a:rPr>
              <a:t>Reference managers with AI features — organise &amp; auto-tag sources</a:t>
            </a:r>
            <a:endParaRPr lang="en-US" sz="1030" dirty="0"/>
          </a:p>
        </p:txBody>
      </p:sp>
      <p:sp>
        <p:nvSpPr>
          <p:cNvPr id="7" name="Shape 5"/>
          <p:cNvSpPr/>
          <p:nvPr/>
        </p:nvSpPr>
        <p:spPr>
          <a:xfrm>
            <a:off x="3291840" y="1417320"/>
            <a:ext cx="2606040" cy="3108960"/>
          </a:xfrm>
          <a:prstGeom prst="roundRect">
            <a:avLst>
              <a:gd name="adj" fmla="val 2807"/>
            </a:avLst>
          </a:prstGeom>
          <a:solidFill>
            <a:srgbClr val="F3E7D7"/>
          </a:solidFill>
          <a:ln/>
          <a:effectLst>
            <a:outerShdw blurRad="88900" dist="25400" dir="2700000" algn="bl" rotWithShape="0">
              <a:srgbClr val="000000">
                <a:alpha val="14000"/>
              </a:srgbClr>
            </a:outerShdw>
          </a:effectLst>
        </p:spPr>
        <p:txBody>
          <a:bodyPr/>
          <a:lstStyle/>
          <a:p>
            <a:endParaRPr lang="en-GB"/>
          </a:p>
        </p:txBody>
      </p:sp>
      <p:sp>
        <p:nvSpPr>
          <p:cNvPr id="8" name="Text 6"/>
          <p:cNvSpPr/>
          <p:nvPr/>
        </p:nvSpPr>
        <p:spPr>
          <a:xfrm>
            <a:off x="3474720" y="1600200"/>
            <a:ext cx="2240280" cy="411480"/>
          </a:xfrm>
          <a:prstGeom prst="rect">
            <a:avLst/>
          </a:prstGeom>
          <a:noFill/>
          <a:ln/>
        </p:spPr>
        <p:txBody>
          <a:bodyPr wrap="square" lIns="0" tIns="0" rIns="0" bIns="0" rtlCol="0" anchor="ctr"/>
          <a:lstStyle/>
          <a:p>
            <a:pPr marL="0" indent="0">
              <a:buNone/>
            </a:pPr>
            <a:r>
              <a:rPr lang="en-US" sz="1450" b="1" dirty="0">
                <a:solidFill>
                  <a:srgbClr val="BE5320"/>
                </a:solidFill>
                <a:latin typeface="Cambria" pitchFamily="34" charset="0"/>
                <a:ea typeface="Cambria" pitchFamily="34" charset="-122"/>
                <a:cs typeface="Cambria" pitchFamily="34" charset="-120"/>
              </a:rPr>
              <a:t>Analyse &amp; Visualise</a:t>
            </a:r>
            <a:endParaRPr lang="en-US" sz="1450" dirty="0"/>
          </a:p>
        </p:txBody>
      </p:sp>
      <p:sp>
        <p:nvSpPr>
          <p:cNvPr id="9" name="Text 7"/>
          <p:cNvSpPr/>
          <p:nvPr/>
        </p:nvSpPr>
        <p:spPr>
          <a:xfrm>
            <a:off x="3493008" y="2057400"/>
            <a:ext cx="2240280" cy="2331720"/>
          </a:xfrm>
          <a:prstGeom prst="rect">
            <a:avLst/>
          </a:prstGeom>
          <a:noFill/>
          <a:ln/>
        </p:spPr>
        <p:txBody>
          <a:bodyPr wrap="square" lIns="0" tIns="0" rIns="0" bIns="0" rtlCol="0" anchor="ctr"/>
          <a:lstStyle/>
          <a:p>
            <a:pPr marL="342900" indent="-342900">
              <a:spcAft>
                <a:spcPts val="1000"/>
              </a:spcAft>
              <a:buSzPct val="100000"/>
              <a:buChar char="•"/>
            </a:pPr>
            <a:r>
              <a:rPr lang="en-US" sz="1030" dirty="0">
                <a:solidFill>
                  <a:srgbClr val="2B2118"/>
                </a:solidFill>
                <a:latin typeface="Calibri" pitchFamily="34" charset="0"/>
                <a:ea typeface="Calibri" pitchFamily="34" charset="-122"/>
                <a:cs typeface="Calibri" pitchFamily="34" charset="-120"/>
              </a:rPr>
              <a:t>Statistical software with AI helpers — R, Python, JASP/Jamovi ecosystems</a:t>
            </a:r>
            <a:endParaRPr lang="en-US" sz="1030" dirty="0"/>
          </a:p>
          <a:p>
            <a:pPr marL="342900" indent="-342900">
              <a:spcAft>
                <a:spcPts val="1000"/>
              </a:spcAft>
              <a:buSzPct val="100000"/>
              <a:buChar char="•"/>
            </a:pPr>
            <a:r>
              <a:rPr lang="en-US" sz="1030" dirty="0">
                <a:solidFill>
                  <a:srgbClr val="2B2118"/>
                </a:solidFill>
                <a:latin typeface="Calibri" pitchFamily="34" charset="0"/>
                <a:ea typeface="Calibri" pitchFamily="34" charset="-122"/>
                <a:cs typeface="Calibri" pitchFamily="34" charset="-120"/>
              </a:rPr>
              <a:t>Code assistants — inline suggestions inside your IDE</a:t>
            </a:r>
            <a:endParaRPr lang="en-US" sz="1030" dirty="0"/>
          </a:p>
          <a:p>
            <a:pPr marL="342900" indent="-342900">
              <a:spcAft>
                <a:spcPts val="1000"/>
              </a:spcAft>
              <a:buSzPct val="100000"/>
              <a:buChar char="•"/>
            </a:pPr>
            <a:r>
              <a:rPr lang="en-US" sz="1030" dirty="0">
                <a:solidFill>
                  <a:srgbClr val="2B2118"/>
                </a:solidFill>
                <a:latin typeface="Calibri" pitchFamily="34" charset="0"/>
                <a:ea typeface="Calibri" pitchFamily="34" charset="-122"/>
                <a:cs typeface="Calibri" pitchFamily="34" charset="-120"/>
              </a:rPr>
              <a:t>AI-assisted figure &amp; diagram tools — for schematics, not for data plots</a:t>
            </a:r>
            <a:endParaRPr lang="en-US" sz="1030" dirty="0"/>
          </a:p>
        </p:txBody>
      </p:sp>
      <p:sp>
        <p:nvSpPr>
          <p:cNvPr id="10" name="Shape 8"/>
          <p:cNvSpPr/>
          <p:nvPr/>
        </p:nvSpPr>
        <p:spPr>
          <a:xfrm>
            <a:off x="6080760" y="1417320"/>
            <a:ext cx="2606040" cy="3108960"/>
          </a:xfrm>
          <a:prstGeom prst="roundRect">
            <a:avLst>
              <a:gd name="adj" fmla="val 2807"/>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11" name="Text 9"/>
          <p:cNvSpPr/>
          <p:nvPr/>
        </p:nvSpPr>
        <p:spPr>
          <a:xfrm>
            <a:off x="6263640" y="1600200"/>
            <a:ext cx="2240280" cy="411480"/>
          </a:xfrm>
          <a:prstGeom prst="rect">
            <a:avLst/>
          </a:prstGeom>
          <a:noFill/>
          <a:ln/>
        </p:spPr>
        <p:txBody>
          <a:bodyPr wrap="square" lIns="0" tIns="0" rIns="0" bIns="0" rtlCol="0" anchor="ctr"/>
          <a:lstStyle/>
          <a:p>
            <a:pPr marL="0" indent="0">
              <a:buNone/>
            </a:pPr>
            <a:r>
              <a:rPr lang="en-US" sz="1450" b="1" dirty="0">
                <a:solidFill>
                  <a:srgbClr val="BE5320"/>
                </a:solidFill>
                <a:latin typeface="Cambria" pitchFamily="34" charset="0"/>
                <a:ea typeface="Cambria" pitchFamily="34" charset="-122"/>
                <a:cs typeface="Cambria" pitchFamily="34" charset="-120"/>
              </a:rPr>
              <a:t>Present &amp; Share</a:t>
            </a:r>
            <a:endParaRPr lang="en-US" sz="1450" dirty="0"/>
          </a:p>
        </p:txBody>
      </p:sp>
      <p:sp>
        <p:nvSpPr>
          <p:cNvPr id="12" name="Text 10"/>
          <p:cNvSpPr/>
          <p:nvPr/>
        </p:nvSpPr>
        <p:spPr>
          <a:xfrm>
            <a:off x="6281928" y="2057400"/>
            <a:ext cx="2240280" cy="2331720"/>
          </a:xfrm>
          <a:prstGeom prst="rect">
            <a:avLst/>
          </a:prstGeom>
          <a:noFill/>
          <a:ln/>
        </p:spPr>
        <p:txBody>
          <a:bodyPr wrap="square" lIns="0" tIns="0" rIns="0" bIns="0" rtlCol="0" anchor="ctr"/>
          <a:lstStyle/>
          <a:p>
            <a:pPr marL="342900" indent="-342900">
              <a:spcAft>
                <a:spcPts val="1000"/>
              </a:spcAft>
              <a:buSzPct val="100000"/>
              <a:buChar char="•"/>
            </a:pPr>
            <a:r>
              <a:rPr lang="en-US" sz="1030" dirty="0">
                <a:solidFill>
                  <a:srgbClr val="2B2118"/>
                </a:solidFill>
                <a:latin typeface="Calibri" pitchFamily="34" charset="0"/>
                <a:ea typeface="Calibri" pitchFamily="34" charset="-122"/>
                <a:cs typeface="Calibri" pitchFamily="34" charset="-120"/>
              </a:rPr>
              <a:t>Slide-generation assistants — first-draft decks from an outline</a:t>
            </a:r>
            <a:endParaRPr lang="en-US" sz="1030" dirty="0"/>
          </a:p>
          <a:p>
            <a:pPr marL="342900" indent="-342900">
              <a:spcAft>
                <a:spcPts val="1000"/>
              </a:spcAft>
              <a:buSzPct val="100000"/>
              <a:buChar char="•"/>
            </a:pPr>
            <a:r>
              <a:rPr lang="en-US" sz="1030" dirty="0">
                <a:solidFill>
                  <a:srgbClr val="2B2118"/>
                </a:solidFill>
                <a:latin typeface="Calibri" pitchFamily="34" charset="0"/>
                <a:ea typeface="Calibri" pitchFamily="34" charset="-122"/>
                <a:cs typeface="Calibri" pitchFamily="34" charset="-120"/>
              </a:rPr>
              <a:t>Grammar &amp; clarity checkers — language polishing, not authorship</a:t>
            </a:r>
            <a:endParaRPr lang="en-US" sz="1030" dirty="0"/>
          </a:p>
          <a:p>
            <a:pPr marL="342900" indent="-342900">
              <a:spcAft>
                <a:spcPts val="1000"/>
              </a:spcAft>
              <a:buSzPct val="100000"/>
              <a:buChar char="•"/>
            </a:pPr>
            <a:r>
              <a:rPr lang="en-US" sz="1030" dirty="0">
                <a:solidFill>
                  <a:srgbClr val="2B2118"/>
                </a:solidFill>
                <a:latin typeface="Calibri" pitchFamily="34" charset="0"/>
                <a:ea typeface="Calibri" pitchFamily="34" charset="-122"/>
                <a:cs typeface="Calibri" pitchFamily="34" charset="-120"/>
              </a:rPr>
              <a:t>Institutional repositories — always your system of record</a:t>
            </a:r>
            <a:endParaRPr lang="en-US" sz="1030" dirty="0"/>
          </a:p>
        </p:txBody>
      </p:sp>
      <p:sp>
        <p:nvSpPr>
          <p:cNvPr id="13" name="Text 11"/>
          <p:cNvSpPr/>
          <p:nvPr/>
        </p:nvSpPr>
        <p:spPr>
          <a:xfrm>
            <a:off x="502920" y="4617720"/>
            <a:ext cx="8138160" cy="320040"/>
          </a:xfrm>
          <a:prstGeom prst="rect">
            <a:avLst/>
          </a:prstGeom>
          <a:noFill/>
          <a:ln/>
        </p:spPr>
        <p:txBody>
          <a:bodyPr wrap="square" lIns="0" tIns="0" rIns="0" bIns="0" rtlCol="0" anchor="ctr"/>
          <a:lstStyle/>
          <a:p>
            <a:pPr marL="0" indent="0" algn="ctr">
              <a:buNone/>
            </a:pPr>
            <a:r>
              <a:rPr lang="en-US" sz="1150" i="1" dirty="0">
                <a:solidFill>
                  <a:srgbClr val="8A7A6B"/>
                </a:solidFill>
                <a:latin typeface="Calibri" pitchFamily="34" charset="0"/>
                <a:ea typeface="Calibri" pitchFamily="34" charset="-122"/>
                <a:cs typeface="Calibri" pitchFamily="34" charset="-120"/>
              </a:rPr>
              <a:t>Categories, not endorsements — pick by task fit, data policy, and your institution’s licence, not by hype.</a:t>
            </a:r>
            <a:endParaRPr lang="en-US" sz="1150" dirty="0"/>
          </a:p>
        </p:txBody>
      </p:sp>
      <p:sp>
        <p:nvSpPr>
          <p:cNvPr id="14" name="Text 12"/>
          <p:cNvSpPr/>
          <p:nvPr/>
        </p:nvSpPr>
        <p:spPr>
          <a:xfrm>
            <a:off x="502920" y="4846320"/>
            <a:ext cx="4114800" cy="228600"/>
          </a:xfrm>
          <a:prstGeom prst="rect">
            <a:avLst/>
          </a:prstGeom>
          <a:noFill/>
          <a:ln/>
        </p:spPr>
        <p:txBody>
          <a:bodyPr wrap="square" lIns="0" tIns="0" rIns="0" bIns="0" rtlCol="0" anchor="ctr"/>
          <a:lstStyle/>
          <a:p>
            <a:pPr marL="0" indent="0">
              <a:buNone/>
            </a:pPr>
            <a:r>
              <a:rPr lang="en-US" sz="900" dirty="0">
                <a:solidFill>
                  <a:srgbClr val="8A7A6B"/>
                </a:solidFill>
                <a:latin typeface="Calibri" pitchFamily="34" charset="0"/>
                <a:ea typeface="Calibri" pitchFamily="34" charset="-122"/>
                <a:cs typeface="Calibri" pitchFamily="34" charset="-120"/>
              </a:rPr>
              <a:t>AWAU Monthly Colloquium  ·  July 2026</a:t>
            </a:r>
            <a:endParaRPr lang="en-US" sz="900" dirty="0"/>
          </a:p>
        </p:txBody>
      </p:sp>
      <p:sp>
        <p:nvSpPr>
          <p:cNvPr id="15" name="Text 13"/>
          <p:cNvSpPr/>
          <p:nvPr/>
        </p:nvSpPr>
        <p:spPr>
          <a:xfrm>
            <a:off x="8503920" y="4846320"/>
            <a:ext cx="320040" cy="228600"/>
          </a:xfrm>
          <a:prstGeom prst="rect">
            <a:avLst/>
          </a:prstGeom>
          <a:noFill/>
          <a:ln/>
        </p:spPr>
        <p:txBody>
          <a:bodyPr wrap="square" lIns="0" tIns="0" rIns="0" bIns="0" rtlCol="0" anchor="ctr"/>
          <a:lstStyle/>
          <a:p>
            <a:pPr marL="0" indent="0" algn="r">
              <a:buNone/>
            </a:pPr>
            <a:r>
              <a:rPr lang="en-US" sz="900" dirty="0">
                <a:solidFill>
                  <a:srgbClr val="8A7A6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marL="0" indent="0">
              <a:buNone/>
            </a:pPr>
            <a:r>
              <a:rPr lang="en-US" sz="1200" b="1" kern="0" spc="300" dirty="0">
                <a:solidFill>
                  <a:srgbClr val="BE5320"/>
                </a:solidFill>
                <a:latin typeface="Calibri" pitchFamily="34" charset="0"/>
                <a:ea typeface="Calibri" pitchFamily="34" charset="-122"/>
                <a:cs typeface="Calibri" pitchFamily="34" charset="-120"/>
              </a:rPr>
              <a:t>KNOW THE RULES OF YOUR VENUE</a:t>
            </a:r>
            <a:endParaRPr lang="en-US" sz="120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3000" b="1" dirty="0">
                <a:solidFill>
                  <a:srgbClr val="3B2314"/>
                </a:solidFill>
                <a:latin typeface="Cambria" pitchFamily="34" charset="0"/>
                <a:ea typeface="Cambria" pitchFamily="34" charset="-122"/>
                <a:cs typeface="Cambria" pitchFamily="34" charset="-120"/>
              </a:rPr>
              <a:t>Publisher &amp; Body Positions on AI Use</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8138160" cy="1341120"/>
        </p:xfrm>
        <a:graphic>
          <a:graphicData uri="http://schemas.openxmlformats.org/drawingml/2006/table">
            <a:tbl>
              <a:tblPr/>
              <a:tblGrid>
                <a:gridCol w="301752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Body / Publisher</a:t>
                      </a:r>
                      <a:endParaRPr lang="en-US" sz="1200" dirty="0">
                        <a:latin typeface="Calibri" charset="0"/>
                        <a:ea typeface="Calibri" charset="0"/>
                        <a:cs typeface="Calibri" charset="0"/>
                      </a:endParaRPr>
                    </a:p>
                  </a:txBody>
                  <a:tcPr>
                    <a:lnL w="9525" cap="flat" cmpd="sng" algn="ctr">
                      <a:solidFill>
                        <a:srgbClr val="E5D6C2"/>
                      </a:solidFill>
                      <a:prstDash val="solid"/>
                      <a:round/>
                      <a:headEnd type="none" w="med" len="med"/>
                      <a:tailEnd type="none" w="med" len="med"/>
                    </a:lnL>
                    <a:lnR w="9525" cap="flat" cmpd="sng" algn="ctr">
                      <a:solidFill>
                        <a:srgbClr val="E5D6C2"/>
                      </a:solidFill>
                      <a:prstDash val="solid"/>
                      <a:round/>
                      <a:headEnd type="none" w="med" len="med"/>
                      <a:tailEnd type="none" w="med" len="med"/>
                    </a:lnR>
                    <a:lnT w="9525" cap="flat" cmpd="sng" algn="ctr">
                      <a:solidFill>
                        <a:srgbClr val="E5D6C2"/>
                      </a:solidFill>
                      <a:prstDash val="solid"/>
                      <a:round/>
                      <a:headEnd type="none" w="med" len="med"/>
                      <a:tailEnd type="none" w="med" len="med"/>
                    </a:lnT>
                    <a:lnB w="9525" cap="flat" cmpd="sng" algn="ctr">
                      <a:solidFill>
                        <a:srgbClr val="E5D6C2"/>
                      </a:solidFill>
                      <a:prstDash val="solid"/>
                      <a:round/>
                      <a:headEnd type="none" w="med" len="med"/>
                      <a:tailEnd type="none" w="med" len="med"/>
                    </a:lnB>
                    <a:solidFill>
                      <a:srgbClr val="3B231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Core position</a:t>
                      </a:r>
                      <a:endParaRPr lang="en-US" sz="1200" dirty="0">
                        <a:latin typeface="Calibri" charset="0"/>
                        <a:ea typeface="Calibri" charset="0"/>
                        <a:cs typeface="Calibri" charset="0"/>
                      </a:endParaRPr>
                    </a:p>
                  </a:txBody>
                  <a:tcPr>
                    <a:lnL w="9525" cap="flat" cmpd="sng" algn="ctr">
                      <a:solidFill>
                        <a:srgbClr val="E5D6C2"/>
                      </a:solidFill>
                      <a:prstDash val="solid"/>
                      <a:round/>
                      <a:headEnd type="none" w="med" len="med"/>
                      <a:tailEnd type="none" w="med" len="med"/>
                    </a:lnL>
                    <a:lnR w="9525" cap="flat" cmpd="sng" algn="ctr">
                      <a:solidFill>
                        <a:srgbClr val="E5D6C2"/>
                      </a:solidFill>
                      <a:prstDash val="solid"/>
                      <a:round/>
                      <a:headEnd type="none" w="med" len="med"/>
                      <a:tailEnd type="none" w="med" len="med"/>
                    </a:lnR>
                    <a:lnT w="9525" cap="flat" cmpd="sng" algn="ctr">
                      <a:solidFill>
                        <a:srgbClr val="E5D6C2"/>
                      </a:solidFill>
                      <a:prstDash val="solid"/>
                      <a:round/>
                      <a:headEnd type="none" w="med" len="med"/>
                      <a:tailEnd type="none" w="med" len="med"/>
                    </a:lnT>
                    <a:lnB w="9525" cap="flat" cmpd="sng" algn="ctr">
                      <a:solidFill>
                        <a:srgbClr val="E5D6C2"/>
                      </a:solidFill>
                      <a:prstDash val="solid"/>
                      <a:round/>
                      <a:headEnd type="none" w="med" len="med"/>
                      <a:tailEnd type="none" w="med" len="med"/>
                    </a:lnB>
                    <a:solidFill>
                      <a:srgbClr val="3B2314"/>
                    </a:solidFill>
                  </a:tcPr>
                </a:tc>
                <a:extLst>
                  <a:ext uri="{0D108BD9-81ED-4DB2-BD59-A6C34878D82A}">
                    <a16:rowId xmlns:a16="http://schemas.microsoft.com/office/drawing/2014/main" val="10000"/>
                  </a:ext>
                </a:extLst>
              </a:tr>
              <a:tr h="0">
                <a:tc>
                  <a:txBody>
                    <a:bodyPr/>
                    <a:lstStyle/>
                    <a:p>
                      <a:pPr marL="0" indent="0">
                        <a:buNone/>
                      </a:pPr>
                      <a:r>
                        <a:rPr lang="en-US" sz="1150" b="1" dirty="0">
                          <a:solidFill>
                            <a:srgbClr val="3B2314"/>
                          </a:solidFill>
                          <a:latin typeface="Calibri" pitchFamily="34" charset="0"/>
                          <a:ea typeface="Calibri" pitchFamily="34" charset="-122"/>
                          <a:cs typeface="Calibri" pitchFamily="34" charset="-120"/>
                        </a:rPr>
                        <a:t>COPE (Committee on Publication Ethics)</a:t>
                      </a:r>
                      <a:endParaRPr lang="en-US" sz="1150" dirty="0">
                        <a:latin typeface="Calibri" charset="0"/>
                        <a:ea typeface="Calibri" charset="0"/>
                        <a:cs typeface="Calibri" charset="0"/>
                      </a:endParaRPr>
                    </a:p>
                  </a:txBody>
                  <a:tcPr>
                    <a:lnL w="9525" cap="flat" cmpd="sng" algn="ctr">
                      <a:solidFill>
                        <a:srgbClr val="E5D6C2"/>
                      </a:solidFill>
                      <a:prstDash val="solid"/>
                      <a:round/>
                      <a:headEnd type="none" w="med" len="med"/>
                      <a:tailEnd type="none" w="med" len="med"/>
                    </a:lnL>
                    <a:lnR w="9525" cap="flat" cmpd="sng" algn="ctr">
                      <a:solidFill>
                        <a:srgbClr val="E5D6C2"/>
                      </a:solidFill>
                      <a:prstDash val="solid"/>
                      <a:round/>
                      <a:headEnd type="none" w="med" len="med"/>
                      <a:tailEnd type="none" w="med" len="med"/>
                    </a:lnR>
                    <a:lnT w="9525" cap="flat" cmpd="sng" algn="ctr">
                      <a:solidFill>
                        <a:srgbClr val="E5D6C2"/>
                      </a:solidFill>
                      <a:prstDash val="solid"/>
                      <a:round/>
                      <a:headEnd type="none" w="med" len="med"/>
                      <a:tailEnd type="none" w="med" len="med"/>
                    </a:lnT>
                    <a:lnB w="9525" cap="flat" cmpd="sng" algn="ctr">
                      <a:solidFill>
                        <a:srgbClr val="E5D6C2"/>
                      </a:solidFill>
                      <a:prstDash val="solid"/>
                      <a:round/>
                      <a:headEnd type="none" w="med" len="med"/>
                      <a:tailEnd type="none" w="med" len="med"/>
                    </a:lnB>
                    <a:solidFill>
                      <a:srgbClr val="FAF3EA"/>
                    </a:solidFill>
                  </a:tcPr>
                </a:tc>
                <a:tc>
                  <a:txBody>
                    <a:bodyPr/>
                    <a:lstStyle/>
                    <a:p>
                      <a:pPr marL="0" indent="0">
                        <a:buNone/>
                      </a:pPr>
                      <a:r>
                        <a:rPr lang="en-US" sz="1150" dirty="0">
                          <a:solidFill>
                            <a:srgbClr val="2B2118"/>
                          </a:solidFill>
                          <a:latin typeface="Calibri" pitchFamily="34" charset="0"/>
                          <a:ea typeface="Calibri" pitchFamily="34" charset="-122"/>
                          <a:cs typeface="Calibri" pitchFamily="34" charset="-120"/>
                        </a:rPr>
                        <a:t>AI tools cannot be listed as authors; authors are accountable for all content</a:t>
                      </a:r>
                      <a:endParaRPr lang="en-US" sz="1150" dirty="0">
                        <a:latin typeface="Calibri" charset="0"/>
                        <a:ea typeface="Calibri" charset="0"/>
                        <a:cs typeface="Calibri" charset="0"/>
                      </a:endParaRPr>
                    </a:p>
                  </a:txBody>
                  <a:tcPr>
                    <a:lnL w="9525" cap="flat" cmpd="sng" algn="ctr">
                      <a:solidFill>
                        <a:srgbClr val="E5D6C2"/>
                      </a:solidFill>
                      <a:prstDash val="solid"/>
                      <a:round/>
                      <a:headEnd type="none" w="med" len="med"/>
                      <a:tailEnd type="none" w="med" len="med"/>
                    </a:lnL>
                    <a:lnR w="9525" cap="flat" cmpd="sng" algn="ctr">
                      <a:solidFill>
                        <a:srgbClr val="E5D6C2"/>
                      </a:solidFill>
                      <a:prstDash val="solid"/>
                      <a:round/>
                      <a:headEnd type="none" w="med" len="med"/>
                      <a:tailEnd type="none" w="med" len="med"/>
                    </a:lnR>
                    <a:lnT w="9525" cap="flat" cmpd="sng" algn="ctr">
                      <a:solidFill>
                        <a:srgbClr val="E5D6C2"/>
                      </a:solidFill>
                      <a:prstDash val="solid"/>
                      <a:round/>
                      <a:headEnd type="none" w="med" len="med"/>
                      <a:tailEnd type="none" w="med" len="med"/>
                    </a:lnT>
                    <a:lnB w="9525" cap="flat" cmpd="sng" algn="ctr">
                      <a:solidFill>
                        <a:srgbClr val="E5D6C2"/>
                      </a:solidFill>
                      <a:prstDash val="solid"/>
                      <a:round/>
                      <a:headEnd type="none" w="med" len="med"/>
                      <a:tailEnd type="none" w="med" len="med"/>
                    </a:lnB>
                    <a:solidFill>
                      <a:srgbClr val="FAF3EA"/>
                    </a:solidFill>
                  </a:tcPr>
                </a:tc>
                <a:extLst>
                  <a:ext uri="{0D108BD9-81ED-4DB2-BD59-A6C34878D82A}">
                    <a16:rowId xmlns:a16="http://schemas.microsoft.com/office/drawing/2014/main" val="10001"/>
                  </a:ext>
                </a:extLst>
              </a:tr>
              <a:tr h="0">
                <a:tc>
                  <a:txBody>
                    <a:bodyPr/>
                    <a:lstStyle/>
                    <a:p>
                      <a:pPr marL="0" indent="0">
                        <a:buNone/>
                      </a:pPr>
                      <a:r>
                        <a:rPr lang="en-US" sz="1150" b="1" dirty="0">
                          <a:solidFill>
                            <a:srgbClr val="3B2314"/>
                          </a:solidFill>
                          <a:latin typeface="Calibri" pitchFamily="34" charset="0"/>
                          <a:ea typeface="Calibri" pitchFamily="34" charset="-122"/>
                          <a:cs typeface="Calibri" pitchFamily="34" charset="-120"/>
                        </a:rPr>
                        <a:t>ICMJE</a:t>
                      </a:r>
                      <a:endParaRPr lang="en-US" sz="1150" dirty="0">
                        <a:latin typeface="Calibri" charset="0"/>
                        <a:ea typeface="Calibri" charset="0"/>
                        <a:cs typeface="Calibri" charset="0"/>
                      </a:endParaRPr>
                    </a:p>
                  </a:txBody>
                  <a:tcPr>
                    <a:lnL w="9525" cap="flat" cmpd="sng" algn="ctr">
                      <a:solidFill>
                        <a:srgbClr val="E5D6C2"/>
                      </a:solidFill>
                      <a:prstDash val="solid"/>
                      <a:round/>
                      <a:headEnd type="none" w="med" len="med"/>
                      <a:tailEnd type="none" w="med" len="med"/>
                    </a:lnL>
                    <a:lnR w="9525" cap="flat" cmpd="sng" algn="ctr">
                      <a:solidFill>
                        <a:srgbClr val="E5D6C2"/>
                      </a:solidFill>
                      <a:prstDash val="solid"/>
                      <a:round/>
                      <a:headEnd type="none" w="med" len="med"/>
                      <a:tailEnd type="none" w="med" len="med"/>
                    </a:lnR>
                    <a:lnT w="9525" cap="flat" cmpd="sng" algn="ctr">
                      <a:solidFill>
                        <a:srgbClr val="E5D6C2"/>
                      </a:solidFill>
                      <a:prstDash val="solid"/>
                      <a:round/>
                      <a:headEnd type="none" w="med" len="med"/>
                      <a:tailEnd type="none" w="med" len="med"/>
                    </a:lnT>
                    <a:lnB w="9525" cap="flat" cmpd="sng" algn="ctr">
                      <a:solidFill>
                        <a:srgbClr val="E5D6C2"/>
                      </a:solidFill>
                      <a:prstDash val="solid"/>
                      <a:round/>
                      <a:headEnd type="none" w="med" len="med"/>
                      <a:tailEnd type="none" w="med" len="med"/>
                    </a:lnB>
                    <a:solidFill>
                      <a:srgbClr val="FAF3EA"/>
                    </a:solidFill>
                  </a:tcPr>
                </a:tc>
                <a:tc>
                  <a:txBody>
                    <a:bodyPr/>
                    <a:lstStyle/>
                    <a:p>
                      <a:pPr marL="0" indent="0">
                        <a:buNone/>
                      </a:pPr>
                      <a:r>
                        <a:rPr lang="en-US" sz="1150" dirty="0">
                          <a:solidFill>
                            <a:srgbClr val="2B2118"/>
                          </a:solidFill>
                          <a:latin typeface="Calibri" pitchFamily="34" charset="0"/>
                          <a:ea typeface="Calibri" pitchFamily="34" charset="-122"/>
                          <a:cs typeface="Calibri" pitchFamily="34" charset="-120"/>
                        </a:rPr>
                        <a:t>Same authorship position as COPE; requires a statement of how AI was used</a:t>
                      </a:r>
                      <a:endParaRPr lang="en-US" sz="1150" dirty="0">
                        <a:latin typeface="Calibri" charset="0"/>
                        <a:ea typeface="Calibri" charset="0"/>
                        <a:cs typeface="Calibri" charset="0"/>
                      </a:endParaRPr>
                    </a:p>
                  </a:txBody>
                  <a:tcPr>
                    <a:lnL w="9525" cap="flat" cmpd="sng" algn="ctr">
                      <a:solidFill>
                        <a:srgbClr val="E5D6C2"/>
                      </a:solidFill>
                      <a:prstDash val="solid"/>
                      <a:round/>
                      <a:headEnd type="none" w="med" len="med"/>
                      <a:tailEnd type="none" w="med" len="med"/>
                    </a:lnL>
                    <a:lnR w="9525" cap="flat" cmpd="sng" algn="ctr">
                      <a:solidFill>
                        <a:srgbClr val="E5D6C2"/>
                      </a:solidFill>
                      <a:prstDash val="solid"/>
                      <a:round/>
                      <a:headEnd type="none" w="med" len="med"/>
                      <a:tailEnd type="none" w="med" len="med"/>
                    </a:lnR>
                    <a:lnT w="9525" cap="flat" cmpd="sng" algn="ctr">
                      <a:solidFill>
                        <a:srgbClr val="E5D6C2"/>
                      </a:solidFill>
                      <a:prstDash val="solid"/>
                      <a:round/>
                      <a:headEnd type="none" w="med" len="med"/>
                      <a:tailEnd type="none" w="med" len="med"/>
                    </a:lnT>
                    <a:lnB w="9525" cap="flat" cmpd="sng" algn="ctr">
                      <a:solidFill>
                        <a:srgbClr val="E5D6C2"/>
                      </a:solidFill>
                      <a:prstDash val="solid"/>
                      <a:round/>
                      <a:headEnd type="none" w="med" len="med"/>
                      <a:tailEnd type="none" w="med" len="med"/>
                    </a:lnB>
                    <a:solidFill>
                      <a:srgbClr val="FAF3EA"/>
                    </a:solidFill>
                  </a:tcPr>
                </a:tc>
                <a:extLst>
                  <a:ext uri="{0D108BD9-81ED-4DB2-BD59-A6C34878D82A}">
                    <a16:rowId xmlns:a16="http://schemas.microsoft.com/office/drawing/2014/main" val="10002"/>
                  </a:ext>
                </a:extLst>
              </a:tr>
              <a:tr h="0">
                <a:tc>
                  <a:txBody>
                    <a:bodyPr/>
                    <a:lstStyle/>
                    <a:p>
                      <a:pPr marL="0" indent="0">
                        <a:buNone/>
                      </a:pPr>
                      <a:r>
                        <a:rPr lang="en-US" sz="1150" b="1" dirty="0">
                          <a:solidFill>
                            <a:srgbClr val="3B2314"/>
                          </a:solidFill>
                          <a:latin typeface="Calibri" pitchFamily="34" charset="0"/>
                          <a:ea typeface="Calibri" pitchFamily="34" charset="-122"/>
                          <a:cs typeface="Calibri" pitchFamily="34" charset="-120"/>
                        </a:rPr>
                        <a:t>Elsevier / Springer Nature / Wiley</a:t>
                      </a:r>
                      <a:endParaRPr lang="en-US" sz="1150" dirty="0">
                        <a:latin typeface="Calibri" charset="0"/>
                        <a:ea typeface="Calibri" charset="0"/>
                        <a:cs typeface="Calibri" charset="0"/>
                      </a:endParaRPr>
                    </a:p>
                  </a:txBody>
                  <a:tcPr>
                    <a:lnL w="9525" cap="flat" cmpd="sng" algn="ctr">
                      <a:solidFill>
                        <a:srgbClr val="E5D6C2"/>
                      </a:solidFill>
                      <a:prstDash val="solid"/>
                      <a:round/>
                      <a:headEnd type="none" w="med" len="med"/>
                      <a:tailEnd type="none" w="med" len="med"/>
                    </a:lnL>
                    <a:lnR w="9525" cap="flat" cmpd="sng" algn="ctr">
                      <a:solidFill>
                        <a:srgbClr val="E5D6C2"/>
                      </a:solidFill>
                      <a:prstDash val="solid"/>
                      <a:round/>
                      <a:headEnd type="none" w="med" len="med"/>
                      <a:tailEnd type="none" w="med" len="med"/>
                    </a:lnR>
                    <a:lnT w="9525" cap="flat" cmpd="sng" algn="ctr">
                      <a:solidFill>
                        <a:srgbClr val="E5D6C2"/>
                      </a:solidFill>
                      <a:prstDash val="solid"/>
                      <a:round/>
                      <a:headEnd type="none" w="med" len="med"/>
                      <a:tailEnd type="none" w="med" len="med"/>
                    </a:lnT>
                    <a:lnB w="9525" cap="flat" cmpd="sng" algn="ctr">
                      <a:solidFill>
                        <a:srgbClr val="E5D6C2"/>
                      </a:solidFill>
                      <a:prstDash val="solid"/>
                      <a:round/>
                      <a:headEnd type="none" w="med" len="med"/>
                      <a:tailEnd type="none" w="med" len="med"/>
                    </a:lnB>
                    <a:solidFill>
                      <a:srgbClr val="FAF3EA"/>
                    </a:solidFill>
                  </a:tcPr>
                </a:tc>
                <a:tc>
                  <a:txBody>
                    <a:bodyPr/>
                    <a:lstStyle/>
                    <a:p>
                      <a:pPr marL="0" indent="0">
                        <a:buNone/>
                      </a:pPr>
                      <a:r>
                        <a:rPr lang="en-US" sz="1150" dirty="0">
                          <a:solidFill>
                            <a:srgbClr val="2B2118"/>
                          </a:solidFill>
                          <a:latin typeface="Calibri" pitchFamily="34" charset="0"/>
                          <a:ea typeface="Calibri" pitchFamily="34" charset="-122"/>
                          <a:cs typeface="Calibri" pitchFamily="34" charset="-120"/>
                        </a:rPr>
                        <a:t>Permit AI for language editing; require disclosure for substantive use in the text</a:t>
                      </a:r>
                      <a:endParaRPr lang="en-US" sz="1150" dirty="0">
                        <a:latin typeface="Calibri" charset="0"/>
                        <a:ea typeface="Calibri" charset="0"/>
                        <a:cs typeface="Calibri" charset="0"/>
                      </a:endParaRPr>
                    </a:p>
                  </a:txBody>
                  <a:tcPr>
                    <a:lnL w="9525" cap="flat" cmpd="sng" algn="ctr">
                      <a:solidFill>
                        <a:srgbClr val="E5D6C2"/>
                      </a:solidFill>
                      <a:prstDash val="solid"/>
                      <a:round/>
                      <a:headEnd type="none" w="med" len="med"/>
                      <a:tailEnd type="none" w="med" len="med"/>
                    </a:lnL>
                    <a:lnR w="9525" cap="flat" cmpd="sng" algn="ctr">
                      <a:solidFill>
                        <a:srgbClr val="E5D6C2"/>
                      </a:solidFill>
                      <a:prstDash val="solid"/>
                      <a:round/>
                      <a:headEnd type="none" w="med" len="med"/>
                      <a:tailEnd type="none" w="med" len="med"/>
                    </a:lnR>
                    <a:lnT w="9525" cap="flat" cmpd="sng" algn="ctr">
                      <a:solidFill>
                        <a:srgbClr val="E5D6C2"/>
                      </a:solidFill>
                      <a:prstDash val="solid"/>
                      <a:round/>
                      <a:headEnd type="none" w="med" len="med"/>
                      <a:tailEnd type="none" w="med" len="med"/>
                    </a:lnT>
                    <a:lnB w="9525" cap="flat" cmpd="sng" algn="ctr">
                      <a:solidFill>
                        <a:srgbClr val="E5D6C2"/>
                      </a:solidFill>
                      <a:prstDash val="solid"/>
                      <a:round/>
                      <a:headEnd type="none" w="med" len="med"/>
                      <a:tailEnd type="none" w="med" len="med"/>
                    </a:lnB>
                    <a:solidFill>
                      <a:srgbClr val="FAF3EA"/>
                    </a:solidFill>
                  </a:tcPr>
                </a:tc>
                <a:extLst>
                  <a:ext uri="{0D108BD9-81ED-4DB2-BD59-A6C34878D82A}">
                    <a16:rowId xmlns:a16="http://schemas.microsoft.com/office/drawing/2014/main" val="10003"/>
                  </a:ext>
                </a:extLst>
              </a:tr>
              <a:tr h="0">
                <a:tc>
                  <a:txBody>
                    <a:bodyPr/>
                    <a:lstStyle/>
                    <a:p>
                      <a:pPr marL="0" indent="0">
                        <a:buNone/>
                      </a:pPr>
                      <a:r>
                        <a:rPr lang="en-US" sz="1150" b="1" dirty="0">
                          <a:solidFill>
                            <a:srgbClr val="3B2314"/>
                          </a:solidFill>
                          <a:latin typeface="Calibri" pitchFamily="34" charset="0"/>
                          <a:ea typeface="Calibri" pitchFamily="34" charset="-122"/>
                          <a:cs typeface="Calibri" pitchFamily="34" charset="-120"/>
                        </a:rPr>
                        <a:t>IEEE / ACM</a:t>
                      </a:r>
                      <a:endParaRPr lang="en-US" sz="1150" dirty="0">
                        <a:latin typeface="Calibri" charset="0"/>
                        <a:ea typeface="Calibri" charset="0"/>
                        <a:cs typeface="Calibri" charset="0"/>
                      </a:endParaRPr>
                    </a:p>
                  </a:txBody>
                  <a:tcPr>
                    <a:lnL w="9525" cap="flat" cmpd="sng" algn="ctr">
                      <a:solidFill>
                        <a:srgbClr val="E5D6C2"/>
                      </a:solidFill>
                      <a:prstDash val="solid"/>
                      <a:round/>
                      <a:headEnd type="none" w="med" len="med"/>
                      <a:tailEnd type="none" w="med" len="med"/>
                    </a:lnL>
                    <a:lnR w="9525" cap="flat" cmpd="sng" algn="ctr">
                      <a:solidFill>
                        <a:srgbClr val="E5D6C2"/>
                      </a:solidFill>
                      <a:prstDash val="solid"/>
                      <a:round/>
                      <a:headEnd type="none" w="med" len="med"/>
                      <a:tailEnd type="none" w="med" len="med"/>
                    </a:lnR>
                    <a:lnT w="9525" cap="flat" cmpd="sng" algn="ctr">
                      <a:solidFill>
                        <a:srgbClr val="E5D6C2"/>
                      </a:solidFill>
                      <a:prstDash val="solid"/>
                      <a:round/>
                      <a:headEnd type="none" w="med" len="med"/>
                      <a:tailEnd type="none" w="med" len="med"/>
                    </a:lnT>
                    <a:lnB w="9525" cap="flat" cmpd="sng" algn="ctr">
                      <a:solidFill>
                        <a:srgbClr val="E5D6C2"/>
                      </a:solidFill>
                      <a:prstDash val="solid"/>
                      <a:round/>
                      <a:headEnd type="none" w="med" len="med"/>
                      <a:tailEnd type="none" w="med" len="med"/>
                    </a:lnB>
                    <a:solidFill>
                      <a:srgbClr val="FAF3EA"/>
                    </a:solidFill>
                  </a:tcPr>
                </a:tc>
                <a:tc>
                  <a:txBody>
                    <a:bodyPr/>
                    <a:lstStyle/>
                    <a:p>
                      <a:pPr marL="0" indent="0">
                        <a:buNone/>
                      </a:pPr>
                      <a:r>
                        <a:rPr lang="en-US" sz="1150" dirty="0">
                          <a:solidFill>
                            <a:srgbClr val="2B2118"/>
                          </a:solidFill>
                          <a:latin typeface="Calibri" pitchFamily="34" charset="0"/>
                          <a:ea typeface="Calibri" pitchFamily="34" charset="-122"/>
                          <a:cs typeface="Calibri" pitchFamily="34" charset="-120"/>
                        </a:rPr>
                        <a:t>Disclosure required in acknowledgements; no AI-generated peer reviews</a:t>
                      </a:r>
                      <a:endParaRPr lang="en-US" sz="1150" dirty="0">
                        <a:latin typeface="Calibri" charset="0"/>
                        <a:ea typeface="Calibri" charset="0"/>
                        <a:cs typeface="Calibri" charset="0"/>
                      </a:endParaRPr>
                    </a:p>
                  </a:txBody>
                  <a:tcPr>
                    <a:lnL w="9525" cap="flat" cmpd="sng" algn="ctr">
                      <a:solidFill>
                        <a:srgbClr val="E5D6C2"/>
                      </a:solidFill>
                      <a:prstDash val="solid"/>
                      <a:round/>
                      <a:headEnd type="none" w="med" len="med"/>
                      <a:tailEnd type="none" w="med" len="med"/>
                    </a:lnL>
                    <a:lnR w="9525" cap="flat" cmpd="sng" algn="ctr">
                      <a:solidFill>
                        <a:srgbClr val="E5D6C2"/>
                      </a:solidFill>
                      <a:prstDash val="solid"/>
                      <a:round/>
                      <a:headEnd type="none" w="med" len="med"/>
                      <a:tailEnd type="none" w="med" len="med"/>
                    </a:lnR>
                    <a:lnT w="9525" cap="flat" cmpd="sng" algn="ctr">
                      <a:solidFill>
                        <a:srgbClr val="E5D6C2"/>
                      </a:solidFill>
                      <a:prstDash val="solid"/>
                      <a:round/>
                      <a:headEnd type="none" w="med" len="med"/>
                      <a:tailEnd type="none" w="med" len="med"/>
                    </a:lnT>
                    <a:lnB w="9525" cap="flat" cmpd="sng" algn="ctr">
                      <a:solidFill>
                        <a:srgbClr val="E5D6C2"/>
                      </a:solidFill>
                      <a:prstDash val="solid"/>
                      <a:round/>
                      <a:headEnd type="none" w="med" len="med"/>
                      <a:tailEnd type="none" w="med" len="med"/>
                    </a:lnB>
                    <a:solidFill>
                      <a:srgbClr val="FAF3EA"/>
                    </a:solidFill>
                  </a:tcPr>
                </a:tc>
                <a:extLst>
                  <a:ext uri="{0D108BD9-81ED-4DB2-BD59-A6C34878D82A}">
                    <a16:rowId xmlns:a16="http://schemas.microsoft.com/office/drawing/2014/main" val="10004"/>
                  </a:ext>
                </a:extLst>
              </a:tr>
            </a:tbl>
          </a:graphicData>
        </a:graphic>
      </p:graphicFrame>
      <p:sp>
        <p:nvSpPr>
          <p:cNvPr id="5" name="Shape 2"/>
          <p:cNvSpPr/>
          <p:nvPr/>
        </p:nvSpPr>
        <p:spPr>
          <a:xfrm>
            <a:off x="502920" y="3977640"/>
            <a:ext cx="8138160" cy="594360"/>
          </a:xfrm>
          <a:prstGeom prst="roundRect">
            <a:avLst>
              <a:gd name="adj" fmla="val 12308"/>
            </a:avLst>
          </a:prstGeom>
          <a:solidFill>
            <a:srgbClr val="F3E7D7"/>
          </a:solidFill>
          <a:ln/>
        </p:spPr>
        <p:txBody>
          <a:bodyPr/>
          <a:lstStyle/>
          <a:p>
            <a:endParaRPr lang="en-GB"/>
          </a:p>
        </p:txBody>
      </p:sp>
      <p:sp>
        <p:nvSpPr>
          <p:cNvPr id="6" name="Text 3"/>
          <p:cNvSpPr/>
          <p:nvPr/>
        </p:nvSpPr>
        <p:spPr>
          <a:xfrm>
            <a:off x="685800" y="4023360"/>
            <a:ext cx="7772400" cy="502920"/>
          </a:xfrm>
          <a:prstGeom prst="rect">
            <a:avLst/>
          </a:prstGeom>
          <a:noFill/>
          <a:ln/>
        </p:spPr>
        <p:txBody>
          <a:bodyPr wrap="square" lIns="0" tIns="0" rIns="0" bIns="0" rtlCol="0" anchor="ctr"/>
          <a:lstStyle/>
          <a:p>
            <a:pPr marL="0" indent="0" algn="ctr">
              <a:buNone/>
            </a:pPr>
            <a:r>
              <a:rPr lang="en-US" sz="1150" b="1" dirty="0">
                <a:solidFill>
                  <a:srgbClr val="BE5320"/>
                </a:solidFill>
                <a:latin typeface="Calibri" pitchFamily="34" charset="0"/>
                <a:ea typeface="Calibri" pitchFamily="34" charset="-122"/>
                <a:cs typeface="Calibri" pitchFamily="34" charset="-120"/>
              </a:rPr>
              <a:t>The common thread: AI can assist; only a named human can be accountable. Always check your specific target journal’s current policy before submission.</a:t>
            </a:r>
            <a:endParaRPr lang="en-US" sz="1150" dirty="0"/>
          </a:p>
        </p:txBody>
      </p:sp>
      <p:sp>
        <p:nvSpPr>
          <p:cNvPr id="7" name="Text 4"/>
          <p:cNvSpPr/>
          <p:nvPr/>
        </p:nvSpPr>
        <p:spPr>
          <a:xfrm>
            <a:off x="502920" y="4846320"/>
            <a:ext cx="4114800" cy="228600"/>
          </a:xfrm>
          <a:prstGeom prst="rect">
            <a:avLst/>
          </a:prstGeom>
          <a:noFill/>
          <a:ln/>
        </p:spPr>
        <p:txBody>
          <a:bodyPr wrap="square" lIns="0" tIns="0" rIns="0" bIns="0" rtlCol="0" anchor="ctr"/>
          <a:lstStyle/>
          <a:p>
            <a:pPr marL="0" indent="0">
              <a:buNone/>
            </a:pPr>
            <a:r>
              <a:rPr lang="en-US" sz="900" dirty="0">
                <a:solidFill>
                  <a:srgbClr val="8A7A6B"/>
                </a:solidFill>
                <a:latin typeface="Calibri" pitchFamily="34" charset="0"/>
                <a:ea typeface="Calibri" pitchFamily="34" charset="-122"/>
                <a:cs typeface="Calibri" pitchFamily="34" charset="-120"/>
              </a:rPr>
              <a:t>AWAU Monthly Colloquium  ·  July 2026</a:t>
            </a:r>
            <a:endParaRPr lang="en-US" sz="900" dirty="0"/>
          </a:p>
        </p:txBody>
      </p:sp>
      <p:sp>
        <p:nvSpPr>
          <p:cNvPr id="8" name="Text 5"/>
          <p:cNvSpPr/>
          <p:nvPr/>
        </p:nvSpPr>
        <p:spPr>
          <a:xfrm>
            <a:off x="8503920" y="4846320"/>
            <a:ext cx="320040" cy="228600"/>
          </a:xfrm>
          <a:prstGeom prst="rect">
            <a:avLst/>
          </a:prstGeom>
          <a:noFill/>
          <a:ln/>
        </p:spPr>
        <p:txBody>
          <a:bodyPr wrap="square" lIns="0" tIns="0" rIns="0" bIns="0" rtlCol="0" anchor="ctr"/>
          <a:lstStyle/>
          <a:p>
            <a:pPr marL="0" indent="0" algn="r">
              <a:buNone/>
            </a:pPr>
            <a:r>
              <a:rPr lang="en-US" sz="900" dirty="0">
                <a:solidFill>
                  <a:srgbClr val="8A7A6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marL="0" indent="0">
              <a:buNone/>
            </a:pPr>
            <a:r>
              <a:rPr lang="en-US" sz="1200" b="1" kern="0" spc="300" dirty="0">
                <a:solidFill>
                  <a:srgbClr val="BE5320"/>
                </a:solidFill>
                <a:latin typeface="Calibri" pitchFamily="34" charset="0"/>
                <a:ea typeface="Calibri" pitchFamily="34" charset="-122"/>
                <a:cs typeface="Calibri" pitchFamily="34" charset="-120"/>
              </a:rPr>
              <a:t>FUNDING IS A WORKFLOW TOO</a:t>
            </a:r>
            <a:endParaRPr lang="en-US" sz="120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3000" b="1" dirty="0">
                <a:solidFill>
                  <a:srgbClr val="3B2314"/>
                </a:solidFill>
                <a:latin typeface="Cambria" pitchFamily="34" charset="0"/>
                <a:ea typeface="Cambria" pitchFamily="34" charset="-122"/>
                <a:cs typeface="Cambria" pitchFamily="34" charset="-120"/>
              </a:rPr>
              <a:t>AI Across the Grant-Writing Pipeline</a:t>
            </a:r>
            <a:endParaRPr lang="en-US" sz="3000" dirty="0"/>
          </a:p>
        </p:txBody>
      </p:sp>
      <p:sp>
        <p:nvSpPr>
          <p:cNvPr id="4" name="Shape 2"/>
          <p:cNvSpPr/>
          <p:nvPr/>
        </p:nvSpPr>
        <p:spPr>
          <a:xfrm>
            <a:off x="502920" y="1463040"/>
            <a:ext cx="1280160" cy="914400"/>
          </a:xfrm>
          <a:prstGeom prst="roundRect">
            <a:avLst>
              <a:gd name="adj" fmla="val 8000"/>
            </a:avLst>
          </a:prstGeom>
          <a:solidFill>
            <a:srgbClr val="F3E7D7"/>
          </a:solidFill>
          <a:ln/>
          <a:effectLst>
            <a:outerShdw blurRad="88900" dist="25400" dir="2700000" algn="bl" rotWithShape="0">
              <a:srgbClr val="000000">
                <a:alpha val="14000"/>
              </a:srgbClr>
            </a:outerShdw>
          </a:effectLst>
        </p:spPr>
        <p:txBody>
          <a:bodyPr/>
          <a:lstStyle/>
          <a:p>
            <a:endParaRPr lang="en-GB"/>
          </a:p>
        </p:txBody>
      </p:sp>
      <p:sp>
        <p:nvSpPr>
          <p:cNvPr id="5" name="Text 3"/>
          <p:cNvSpPr/>
          <p:nvPr/>
        </p:nvSpPr>
        <p:spPr>
          <a:xfrm>
            <a:off x="548640" y="1463040"/>
            <a:ext cx="1188720" cy="914400"/>
          </a:xfrm>
          <a:prstGeom prst="rect">
            <a:avLst/>
          </a:prstGeom>
          <a:noFill/>
          <a:ln/>
        </p:spPr>
        <p:txBody>
          <a:bodyPr wrap="square" lIns="0" tIns="0" rIns="0" bIns="0" rtlCol="0" anchor="ctr"/>
          <a:lstStyle/>
          <a:p>
            <a:pPr marL="0" indent="0" algn="ctr">
              <a:buNone/>
            </a:pPr>
            <a:r>
              <a:rPr lang="en-US" sz="1050" dirty="0">
                <a:solidFill>
                  <a:srgbClr val="2B2118"/>
                </a:solidFill>
                <a:latin typeface="Calibri" pitchFamily="34" charset="0"/>
                <a:ea typeface="Calibri" pitchFamily="34" charset="-122"/>
                <a:cs typeface="Calibri" pitchFamily="34" charset="-120"/>
              </a:rPr>
              <a:t>Call</a:t>
            </a:r>
            <a:endParaRPr lang="en-US" sz="1050" dirty="0"/>
          </a:p>
          <a:p>
            <a:pPr marL="0" indent="0" algn="ctr">
              <a:buNone/>
            </a:pPr>
            <a:r>
              <a:rPr lang="en-US" sz="1050" dirty="0">
                <a:solidFill>
                  <a:srgbClr val="2B2118"/>
                </a:solidFill>
                <a:latin typeface="Calibri" pitchFamily="34" charset="0"/>
                <a:ea typeface="Calibri" pitchFamily="34" charset="-122"/>
                <a:cs typeface="Calibri" pitchFamily="34" charset="-120"/>
              </a:rPr>
              <a:t>matching</a:t>
            </a:r>
            <a:endParaRPr lang="en-US" sz="1050" dirty="0"/>
          </a:p>
        </p:txBody>
      </p:sp>
      <p:sp>
        <p:nvSpPr>
          <p:cNvPr id="6" name="Text 4"/>
          <p:cNvSpPr/>
          <p:nvPr/>
        </p:nvSpPr>
        <p:spPr>
          <a:xfrm>
            <a:off x="1709928" y="1627632"/>
            <a:ext cx="256032" cy="548640"/>
          </a:xfrm>
          <a:prstGeom prst="rect">
            <a:avLst/>
          </a:prstGeom>
          <a:noFill/>
          <a:ln/>
        </p:spPr>
        <p:txBody>
          <a:bodyPr wrap="square" lIns="0" tIns="0" rIns="0" bIns="0" rtlCol="0" anchor="ctr"/>
          <a:lstStyle/>
          <a:p>
            <a:pPr marL="0" indent="0" algn="ctr">
              <a:buNone/>
            </a:pPr>
            <a:r>
              <a:rPr lang="en-US" sz="1600" b="1" dirty="0">
                <a:solidFill>
                  <a:srgbClr val="BE5320"/>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1929384" y="1463040"/>
            <a:ext cx="1280160" cy="914400"/>
          </a:xfrm>
          <a:prstGeom prst="roundRect">
            <a:avLst>
              <a:gd name="adj" fmla="val 8000"/>
            </a:avLst>
          </a:prstGeom>
          <a:solidFill>
            <a:srgbClr val="F3E7D7"/>
          </a:solidFill>
          <a:ln/>
          <a:effectLst>
            <a:outerShdw blurRad="88900" dist="25400" dir="2700000" algn="bl" rotWithShape="0">
              <a:srgbClr val="000000">
                <a:alpha val="14000"/>
              </a:srgbClr>
            </a:outerShdw>
          </a:effectLst>
        </p:spPr>
        <p:txBody>
          <a:bodyPr/>
          <a:lstStyle/>
          <a:p>
            <a:endParaRPr lang="en-GB"/>
          </a:p>
        </p:txBody>
      </p:sp>
      <p:sp>
        <p:nvSpPr>
          <p:cNvPr id="8" name="Text 6"/>
          <p:cNvSpPr/>
          <p:nvPr/>
        </p:nvSpPr>
        <p:spPr>
          <a:xfrm>
            <a:off x="1975104" y="1463040"/>
            <a:ext cx="1188720" cy="914400"/>
          </a:xfrm>
          <a:prstGeom prst="rect">
            <a:avLst/>
          </a:prstGeom>
          <a:noFill/>
          <a:ln/>
        </p:spPr>
        <p:txBody>
          <a:bodyPr wrap="square" lIns="0" tIns="0" rIns="0" bIns="0" rtlCol="0" anchor="ctr"/>
          <a:lstStyle/>
          <a:p>
            <a:pPr marL="0" indent="0" algn="ctr">
              <a:buNone/>
            </a:pPr>
            <a:r>
              <a:rPr lang="en-US" sz="1050" dirty="0">
                <a:solidFill>
                  <a:srgbClr val="2B2118"/>
                </a:solidFill>
                <a:latin typeface="Calibri" pitchFamily="34" charset="0"/>
                <a:ea typeface="Calibri" pitchFamily="34" charset="-122"/>
                <a:cs typeface="Calibri" pitchFamily="34" charset="-120"/>
              </a:rPr>
              <a:t>Gap</a:t>
            </a:r>
            <a:endParaRPr lang="en-US" sz="1050" dirty="0"/>
          </a:p>
          <a:p>
            <a:pPr marL="0" indent="0" algn="ctr">
              <a:buNone/>
            </a:pPr>
            <a:r>
              <a:rPr lang="en-US" sz="1050" dirty="0">
                <a:solidFill>
                  <a:srgbClr val="2B2118"/>
                </a:solidFill>
                <a:latin typeface="Calibri" pitchFamily="34" charset="0"/>
                <a:ea typeface="Calibri" pitchFamily="34" charset="-122"/>
                <a:cs typeface="Calibri" pitchFamily="34" charset="-120"/>
              </a:rPr>
              <a:t>analysis</a:t>
            </a:r>
            <a:endParaRPr lang="en-US" sz="1050" dirty="0"/>
          </a:p>
        </p:txBody>
      </p:sp>
      <p:sp>
        <p:nvSpPr>
          <p:cNvPr id="9" name="Text 7"/>
          <p:cNvSpPr/>
          <p:nvPr/>
        </p:nvSpPr>
        <p:spPr>
          <a:xfrm>
            <a:off x="3136392" y="1627632"/>
            <a:ext cx="256032" cy="548640"/>
          </a:xfrm>
          <a:prstGeom prst="rect">
            <a:avLst/>
          </a:prstGeom>
          <a:noFill/>
          <a:ln/>
        </p:spPr>
        <p:txBody>
          <a:bodyPr wrap="square" lIns="0" tIns="0" rIns="0" bIns="0" rtlCol="0" anchor="ctr"/>
          <a:lstStyle/>
          <a:p>
            <a:pPr marL="0" indent="0" algn="ctr">
              <a:buNone/>
            </a:pPr>
            <a:r>
              <a:rPr lang="en-US" sz="1600" b="1" dirty="0">
                <a:solidFill>
                  <a:srgbClr val="BE5320"/>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3355848" y="1463040"/>
            <a:ext cx="1280160" cy="914400"/>
          </a:xfrm>
          <a:prstGeom prst="roundRect">
            <a:avLst>
              <a:gd name="adj" fmla="val 8000"/>
            </a:avLst>
          </a:prstGeom>
          <a:solidFill>
            <a:srgbClr val="F3E7D7"/>
          </a:solidFill>
          <a:ln/>
          <a:effectLst>
            <a:outerShdw blurRad="88900" dist="25400" dir="2700000" algn="bl" rotWithShape="0">
              <a:srgbClr val="000000">
                <a:alpha val="14000"/>
              </a:srgbClr>
            </a:outerShdw>
          </a:effectLst>
        </p:spPr>
        <p:txBody>
          <a:bodyPr/>
          <a:lstStyle/>
          <a:p>
            <a:endParaRPr lang="en-GB"/>
          </a:p>
        </p:txBody>
      </p:sp>
      <p:sp>
        <p:nvSpPr>
          <p:cNvPr id="11" name="Text 9"/>
          <p:cNvSpPr/>
          <p:nvPr/>
        </p:nvSpPr>
        <p:spPr>
          <a:xfrm>
            <a:off x="3401568" y="1463040"/>
            <a:ext cx="1188720" cy="914400"/>
          </a:xfrm>
          <a:prstGeom prst="rect">
            <a:avLst/>
          </a:prstGeom>
          <a:noFill/>
          <a:ln/>
        </p:spPr>
        <p:txBody>
          <a:bodyPr wrap="square" lIns="0" tIns="0" rIns="0" bIns="0" rtlCol="0" anchor="ctr"/>
          <a:lstStyle/>
          <a:p>
            <a:pPr marL="0" indent="0" algn="ctr">
              <a:buNone/>
            </a:pPr>
            <a:r>
              <a:rPr lang="en-US" sz="1050" dirty="0">
                <a:solidFill>
                  <a:srgbClr val="2B2118"/>
                </a:solidFill>
                <a:latin typeface="Calibri" pitchFamily="34" charset="0"/>
                <a:ea typeface="Calibri" pitchFamily="34" charset="-122"/>
                <a:cs typeface="Calibri" pitchFamily="34" charset="-120"/>
              </a:rPr>
              <a:t>Draft</a:t>
            </a:r>
            <a:endParaRPr lang="en-US" sz="1050" dirty="0"/>
          </a:p>
          <a:p>
            <a:pPr marL="0" indent="0" algn="ctr">
              <a:buNone/>
            </a:pPr>
            <a:r>
              <a:rPr lang="en-US" sz="1050" dirty="0">
                <a:solidFill>
                  <a:srgbClr val="2B2118"/>
                </a:solidFill>
                <a:latin typeface="Calibri" pitchFamily="34" charset="0"/>
                <a:ea typeface="Calibri" pitchFamily="34" charset="-122"/>
                <a:cs typeface="Calibri" pitchFamily="34" charset="-120"/>
              </a:rPr>
              <a:t>Aims</a:t>
            </a:r>
            <a:endParaRPr lang="en-US" sz="1050" dirty="0"/>
          </a:p>
        </p:txBody>
      </p:sp>
      <p:sp>
        <p:nvSpPr>
          <p:cNvPr id="12" name="Text 10"/>
          <p:cNvSpPr/>
          <p:nvPr/>
        </p:nvSpPr>
        <p:spPr>
          <a:xfrm>
            <a:off x="4562856" y="1627632"/>
            <a:ext cx="256032" cy="548640"/>
          </a:xfrm>
          <a:prstGeom prst="rect">
            <a:avLst/>
          </a:prstGeom>
          <a:noFill/>
          <a:ln/>
        </p:spPr>
        <p:txBody>
          <a:bodyPr wrap="square" lIns="0" tIns="0" rIns="0" bIns="0" rtlCol="0" anchor="ctr"/>
          <a:lstStyle/>
          <a:p>
            <a:pPr marL="0" indent="0" algn="ctr">
              <a:buNone/>
            </a:pPr>
            <a:r>
              <a:rPr lang="en-US" sz="1600" b="1" dirty="0">
                <a:solidFill>
                  <a:srgbClr val="BE5320"/>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4782312" y="1463040"/>
            <a:ext cx="1280160" cy="914400"/>
          </a:xfrm>
          <a:prstGeom prst="roundRect">
            <a:avLst>
              <a:gd name="adj" fmla="val 8000"/>
            </a:avLst>
          </a:prstGeom>
          <a:solidFill>
            <a:srgbClr val="F3E7D7"/>
          </a:solidFill>
          <a:ln/>
          <a:effectLst>
            <a:outerShdw blurRad="88900" dist="25400" dir="2700000" algn="bl" rotWithShape="0">
              <a:srgbClr val="000000">
                <a:alpha val="14000"/>
              </a:srgbClr>
            </a:outerShdw>
          </a:effectLst>
        </p:spPr>
        <p:txBody>
          <a:bodyPr/>
          <a:lstStyle/>
          <a:p>
            <a:endParaRPr lang="en-GB"/>
          </a:p>
        </p:txBody>
      </p:sp>
      <p:sp>
        <p:nvSpPr>
          <p:cNvPr id="14" name="Text 12"/>
          <p:cNvSpPr/>
          <p:nvPr/>
        </p:nvSpPr>
        <p:spPr>
          <a:xfrm>
            <a:off x="4828032" y="1463040"/>
            <a:ext cx="1188720" cy="914400"/>
          </a:xfrm>
          <a:prstGeom prst="rect">
            <a:avLst/>
          </a:prstGeom>
          <a:noFill/>
          <a:ln/>
        </p:spPr>
        <p:txBody>
          <a:bodyPr wrap="square" lIns="0" tIns="0" rIns="0" bIns="0" rtlCol="0" anchor="ctr"/>
          <a:lstStyle/>
          <a:p>
            <a:pPr marL="0" indent="0" algn="ctr">
              <a:buNone/>
            </a:pPr>
            <a:r>
              <a:rPr lang="en-US" sz="1050" dirty="0">
                <a:solidFill>
                  <a:srgbClr val="2B2118"/>
                </a:solidFill>
                <a:latin typeface="Calibri" pitchFamily="34" charset="0"/>
                <a:ea typeface="Calibri" pitchFamily="34" charset="-122"/>
                <a:cs typeface="Calibri" pitchFamily="34" charset="-120"/>
              </a:rPr>
              <a:t>Budget</a:t>
            </a:r>
            <a:endParaRPr lang="en-US" sz="1050" dirty="0"/>
          </a:p>
          <a:p>
            <a:pPr marL="0" indent="0" algn="ctr">
              <a:buNone/>
            </a:pPr>
            <a:r>
              <a:rPr lang="en-US" sz="1050" dirty="0">
                <a:solidFill>
                  <a:srgbClr val="2B2118"/>
                </a:solidFill>
                <a:latin typeface="Calibri" pitchFamily="34" charset="0"/>
                <a:ea typeface="Calibri" pitchFamily="34" charset="-122"/>
                <a:cs typeface="Calibri" pitchFamily="34" charset="-120"/>
              </a:rPr>
              <a:t>first pass</a:t>
            </a:r>
            <a:endParaRPr lang="en-US" sz="1050" dirty="0"/>
          </a:p>
        </p:txBody>
      </p:sp>
      <p:sp>
        <p:nvSpPr>
          <p:cNvPr id="15" name="Text 13"/>
          <p:cNvSpPr/>
          <p:nvPr/>
        </p:nvSpPr>
        <p:spPr>
          <a:xfrm>
            <a:off x="5989320" y="1627632"/>
            <a:ext cx="256032" cy="548640"/>
          </a:xfrm>
          <a:prstGeom prst="rect">
            <a:avLst/>
          </a:prstGeom>
          <a:noFill/>
          <a:ln/>
        </p:spPr>
        <p:txBody>
          <a:bodyPr wrap="square" lIns="0" tIns="0" rIns="0" bIns="0" rtlCol="0" anchor="ctr"/>
          <a:lstStyle/>
          <a:p>
            <a:pPr marL="0" indent="0" algn="ctr">
              <a:buNone/>
            </a:pPr>
            <a:r>
              <a:rPr lang="en-US" sz="1600" b="1" dirty="0">
                <a:solidFill>
                  <a:srgbClr val="BE5320"/>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6208776" y="1463040"/>
            <a:ext cx="1280160" cy="914400"/>
          </a:xfrm>
          <a:prstGeom prst="roundRect">
            <a:avLst>
              <a:gd name="adj" fmla="val 8000"/>
            </a:avLst>
          </a:prstGeom>
          <a:solidFill>
            <a:srgbClr val="3B2314"/>
          </a:solidFill>
          <a:ln/>
          <a:effectLst>
            <a:outerShdw blurRad="88900" dist="25400" dir="2700000" algn="bl" rotWithShape="0">
              <a:srgbClr val="000000">
                <a:alpha val="14000"/>
              </a:srgbClr>
            </a:outerShdw>
          </a:effectLst>
        </p:spPr>
        <p:txBody>
          <a:bodyPr/>
          <a:lstStyle/>
          <a:p>
            <a:endParaRPr lang="en-GB"/>
          </a:p>
        </p:txBody>
      </p:sp>
      <p:sp>
        <p:nvSpPr>
          <p:cNvPr id="17" name="Text 15"/>
          <p:cNvSpPr/>
          <p:nvPr/>
        </p:nvSpPr>
        <p:spPr>
          <a:xfrm>
            <a:off x="6254496" y="1463040"/>
            <a:ext cx="1188720" cy="91440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Reviewer</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simulation</a:t>
            </a:r>
            <a:endParaRPr lang="en-US" sz="1050" dirty="0"/>
          </a:p>
        </p:txBody>
      </p:sp>
      <p:sp>
        <p:nvSpPr>
          <p:cNvPr id="18" name="Text 16"/>
          <p:cNvSpPr/>
          <p:nvPr/>
        </p:nvSpPr>
        <p:spPr>
          <a:xfrm>
            <a:off x="7415784" y="1627632"/>
            <a:ext cx="256032" cy="548640"/>
          </a:xfrm>
          <a:prstGeom prst="rect">
            <a:avLst/>
          </a:prstGeom>
          <a:noFill/>
          <a:ln/>
        </p:spPr>
        <p:txBody>
          <a:bodyPr wrap="square" lIns="0" tIns="0" rIns="0" bIns="0" rtlCol="0" anchor="ctr"/>
          <a:lstStyle/>
          <a:p>
            <a:pPr marL="0" indent="0" algn="ctr">
              <a:buNone/>
            </a:pPr>
            <a:r>
              <a:rPr lang="en-US" sz="1600" b="1" dirty="0">
                <a:solidFill>
                  <a:srgbClr val="BE5320"/>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7635240" y="1463040"/>
            <a:ext cx="1280160" cy="914400"/>
          </a:xfrm>
          <a:prstGeom prst="roundRect">
            <a:avLst>
              <a:gd name="adj" fmla="val 8000"/>
            </a:avLst>
          </a:prstGeom>
          <a:solidFill>
            <a:srgbClr val="F3E7D7"/>
          </a:solidFill>
          <a:ln/>
          <a:effectLst>
            <a:outerShdw blurRad="88900" dist="25400" dir="2700000" algn="bl" rotWithShape="0">
              <a:srgbClr val="000000">
                <a:alpha val="14000"/>
              </a:srgbClr>
            </a:outerShdw>
          </a:effectLst>
        </p:spPr>
        <p:txBody>
          <a:bodyPr/>
          <a:lstStyle/>
          <a:p>
            <a:endParaRPr lang="en-GB"/>
          </a:p>
        </p:txBody>
      </p:sp>
      <p:sp>
        <p:nvSpPr>
          <p:cNvPr id="20" name="Text 18"/>
          <p:cNvSpPr/>
          <p:nvPr/>
        </p:nvSpPr>
        <p:spPr>
          <a:xfrm>
            <a:off x="7680960" y="1463040"/>
            <a:ext cx="1188720" cy="914400"/>
          </a:xfrm>
          <a:prstGeom prst="rect">
            <a:avLst/>
          </a:prstGeom>
          <a:noFill/>
          <a:ln/>
        </p:spPr>
        <p:txBody>
          <a:bodyPr wrap="square" lIns="0" tIns="0" rIns="0" bIns="0" rtlCol="0" anchor="ctr"/>
          <a:lstStyle/>
          <a:p>
            <a:pPr marL="0" indent="0" algn="ctr">
              <a:buNone/>
            </a:pPr>
            <a:r>
              <a:rPr lang="en-US" sz="1050" dirty="0">
                <a:solidFill>
                  <a:srgbClr val="2B2118"/>
                </a:solidFill>
                <a:latin typeface="Calibri" pitchFamily="34" charset="0"/>
                <a:ea typeface="Calibri" pitchFamily="34" charset="-122"/>
                <a:cs typeface="Calibri" pitchFamily="34" charset="-120"/>
              </a:rPr>
              <a:t>Impact</a:t>
            </a:r>
            <a:endParaRPr lang="en-US" sz="1050" dirty="0"/>
          </a:p>
          <a:p>
            <a:pPr marL="0" indent="0" algn="ctr">
              <a:buNone/>
            </a:pPr>
            <a:r>
              <a:rPr lang="en-US" sz="1050" dirty="0">
                <a:solidFill>
                  <a:srgbClr val="2B2118"/>
                </a:solidFill>
                <a:latin typeface="Calibri" pitchFamily="34" charset="0"/>
                <a:ea typeface="Calibri" pitchFamily="34" charset="-122"/>
                <a:cs typeface="Calibri" pitchFamily="34" charset="-120"/>
              </a:rPr>
              <a:t>statement</a:t>
            </a:r>
            <a:endParaRPr lang="en-US" sz="1050" dirty="0"/>
          </a:p>
        </p:txBody>
      </p:sp>
      <p:sp>
        <p:nvSpPr>
          <p:cNvPr id="21" name="Shape 19"/>
          <p:cNvSpPr/>
          <p:nvPr/>
        </p:nvSpPr>
        <p:spPr>
          <a:xfrm>
            <a:off x="502920" y="2651760"/>
            <a:ext cx="420624" cy="420624"/>
          </a:xfrm>
          <a:prstGeom prst="ellipse">
            <a:avLst/>
          </a:prstGeom>
          <a:solidFill>
            <a:srgbClr val="BE5320"/>
          </a:solidFill>
          <a:ln/>
        </p:spPr>
        <p:txBody>
          <a:bodyPr/>
          <a:lstStyle/>
          <a:p>
            <a:endParaRPr lang="en-GB"/>
          </a:p>
        </p:txBody>
      </p:sp>
      <p:pic>
        <p:nvPicPr>
          <p:cNvPr id="22" name="Image 0" descr="preencoded.png"/>
          <p:cNvPicPr>
            <a:picLocks noChangeAspect="1"/>
          </p:cNvPicPr>
          <p:nvPr/>
        </p:nvPicPr>
        <p:blipFill>
          <a:blip r:embed="rId3"/>
          <a:stretch>
            <a:fillRect/>
          </a:stretch>
        </p:blipFill>
        <p:spPr>
          <a:xfrm>
            <a:off x="560479" y="2709319"/>
            <a:ext cx="311262" cy="311262"/>
          </a:xfrm>
          <a:prstGeom prst="rect">
            <a:avLst/>
          </a:prstGeom>
        </p:spPr>
      </p:pic>
      <p:sp>
        <p:nvSpPr>
          <p:cNvPr id="23" name="Text 20"/>
          <p:cNvSpPr/>
          <p:nvPr/>
        </p:nvSpPr>
        <p:spPr>
          <a:xfrm>
            <a:off x="1069848" y="2633472"/>
            <a:ext cx="3383280" cy="932688"/>
          </a:xfrm>
          <a:prstGeom prst="rect">
            <a:avLst/>
          </a:prstGeom>
          <a:noFill/>
          <a:ln/>
        </p:spPr>
        <p:txBody>
          <a:bodyPr wrap="square" lIns="0" tIns="0" rIns="0" bIns="0" rtlCol="0" anchor="ctr"/>
          <a:lstStyle/>
          <a:p>
            <a:pPr marL="0" indent="0">
              <a:buNone/>
            </a:pPr>
            <a:r>
              <a:rPr lang="en-US" sz="1100" dirty="0">
                <a:solidFill>
                  <a:srgbClr val="2B2118"/>
                </a:solidFill>
                <a:latin typeface="Calibri" pitchFamily="34" charset="0"/>
                <a:ea typeface="Calibri" pitchFamily="34" charset="-122"/>
                <a:cs typeface="Calibri" pitchFamily="34" charset="-120"/>
              </a:rPr>
              <a:t>Match your abstract against open calls; flag eligibility mismatches early.</a:t>
            </a:r>
            <a:endParaRPr lang="en-US" sz="1100" dirty="0"/>
          </a:p>
        </p:txBody>
      </p:sp>
      <p:sp>
        <p:nvSpPr>
          <p:cNvPr id="24" name="Shape 21"/>
          <p:cNvSpPr/>
          <p:nvPr/>
        </p:nvSpPr>
        <p:spPr>
          <a:xfrm>
            <a:off x="4709160" y="2651760"/>
            <a:ext cx="420624" cy="420624"/>
          </a:xfrm>
          <a:prstGeom prst="ellipse">
            <a:avLst/>
          </a:prstGeom>
          <a:solidFill>
            <a:srgbClr val="BE5320"/>
          </a:solidFill>
          <a:ln/>
        </p:spPr>
        <p:txBody>
          <a:bodyPr/>
          <a:lstStyle/>
          <a:p>
            <a:endParaRPr lang="en-GB"/>
          </a:p>
        </p:txBody>
      </p:sp>
      <p:pic>
        <p:nvPicPr>
          <p:cNvPr id="25" name="Image 1" descr="preencoded.png"/>
          <p:cNvPicPr>
            <a:picLocks noChangeAspect="1"/>
          </p:cNvPicPr>
          <p:nvPr/>
        </p:nvPicPr>
        <p:blipFill>
          <a:blip r:embed="rId4"/>
          <a:stretch>
            <a:fillRect/>
          </a:stretch>
        </p:blipFill>
        <p:spPr>
          <a:xfrm>
            <a:off x="4766719" y="2709319"/>
            <a:ext cx="311262" cy="311262"/>
          </a:xfrm>
          <a:prstGeom prst="rect">
            <a:avLst/>
          </a:prstGeom>
        </p:spPr>
      </p:pic>
      <p:sp>
        <p:nvSpPr>
          <p:cNvPr id="26" name="Text 22"/>
          <p:cNvSpPr/>
          <p:nvPr/>
        </p:nvSpPr>
        <p:spPr>
          <a:xfrm>
            <a:off x="5276088" y="2633472"/>
            <a:ext cx="3383280" cy="932688"/>
          </a:xfrm>
          <a:prstGeom prst="rect">
            <a:avLst/>
          </a:prstGeom>
          <a:noFill/>
          <a:ln/>
        </p:spPr>
        <p:txBody>
          <a:bodyPr wrap="square" lIns="0" tIns="0" rIns="0" bIns="0" rtlCol="0" anchor="ctr"/>
          <a:lstStyle/>
          <a:p>
            <a:pPr marL="0" indent="0">
              <a:buNone/>
            </a:pPr>
            <a:r>
              <a:rPr lang="en-US" sz="1100" dirty="0">
                <a:solidFill>
                  <a:srgbClr val="2B2118"/>
                </a:solidFill>
                <a:latin typeface="Calibri" pitchFamily="34" charset="0"/>
                <a:ea typeface="Calibri" pitchFamily="34" charset="-122"/>
                <a:cs typeface="Calibri" pitchFamily="34" charset="-120"/>
              </a:rPr>
              <a:t>“Given this call’s priorities and my last three proposals, what is missing?”</a:t>
            </a:r>
            <a:endParaRPr lang="en-US" sz="1100" dirty="0"/>
          </a:p>
        </p:txBody>
      </p:sp>
      <p:sp>
        <p:nvSpPr>
          <p:cNvPr id="27" name="Shape 23"/>
          <p:cNvSpPr/>
          <p:nvPr/>
        </p:nvSpPr>
        <p:spPr>
          <a:xfrm>
            <a:off x="502920" y="3703320"/>
            <a:ext cx="420624" cy="420624"/>
          </a:xfrm>
          <a:prstGeom prst="ellipse">
            <a:avLst/>
          </a:prstGeom>
          <a:solidFill>
            <a:srgbClr val="BE5320"/>
          </a:solidFill>
          <a:ln/>
        </p:spPr>
        <p:txBody>
          <a:bodyPr/>
          <a:lstStyle/>
          <a:p>
            <a:endParaRPr lang="en-GB"/>
          </a:p>
        </p:txBody>
      </p:sp>
      <p:pic>
        <p:nvPicPr>
          <p:cNvPr id="28" name="Image 2" descr="preencoded.png"/>
          <p:cNvPicPr>
            <a:picLocks noChangeAspect="1"/>
          </p:cNvPicPr>
          <p:nvPr/>
        </p:nvPicPr>
        <p:blipFill>
          <a:blip r:embed="rId5"/>
          <a:stretch>
            <a:fillRect/>
          </a:stretch>
        </p:blipFill>
        <p:spPr>
          <a:xfrm>
            <a:off x="560479" y="3760879"/>
            <a:ext cx="311262" cy="311262"/>
          </a:xfrm>
          <a:prstGeom prst="rect">
            <a:avLst/>
          </a:prstGeom>
        </p:spPr>
      </p:pic>
      <p:sp>
        <p:nvSpPr>
          <p:cNvPr id="29" name="Text 24"/>
          <p:cNvSpPr/>
          <p:nvPr/>
        </p:nvSpPr>
        <p:spPr>
          <a:xfrm>
            <a:off x="1069848" y="3685032"/>
            <a:ext cx="3383280" cy="932688"/>
          </a:xfrm>
          <a:prstGeom prst="rect">
            <a:avLst/>
          </a:prstGeom>
          <a:noFill/>
          <a:ln/>
        </p:spPr>
        <p:txBody>
          <a:bodyPr wrap="square" lIns="0" tIns="0" rIns="0" bIns="0" rtlCol="0" anchor="ctr"/>
          <a:lstStyle/>
          <a:p>
            <a:pPr marL="0" indent="0">
              <a:buNone/>
            </a:pPr>
            <a:r>
              <a:rPr lang="en-US" sz="1100" dirty="0">
                <a:solidFill>
                  <a:srgbClr val="2B2118"/>
                </a:solidFill>
                <a:latin typeface="Calibri" pitchFamily="34" charset="0"/>
                <a:ea typeface="Calibri" pitchFamily="34" charset="-122"/>
                <a:cs typeface="Calibri" pitchFamily="34" charset="-120"/>
              </a:rPr>
              <a:t>Simulate a sceptical reviewer panel on your Specific Aims before you submit.</a:t>
            </a:r>
            <a:endParaRPr lang="en-US" sz="1100" dirty="0"/>
          </a:p>
        </p:txBody>
      </p:sp>
      <p:sp>
        <p:nvSpPr>
          <p:cNvPr id="30" name="Shape 25"/>
          <p:cNvSpPr/>
          <p:nvPr/>
        </p:nvSpPr>
        <p:spPr>
          <a:xfrm>
            <a:off x="4709160" y="3703320"/>
            <a:ext cx="420624" cy="420624"/>
          </a:xfrm>
          <a:prstGeom prst="ellipse">
            <a:avLst/>
          </a:prstGeom>
          <a:solidFill>
            <a:srgbClr val="BE5320"/>
          </a:solidFill>
          <a:ln/>
        </p:spPr>
        <p:txBody>
          <a:bodyPr/>
          <a:lstStyle/>
          <a:p>
            <a:endParaRPr lang="en-GB"/>
          </a:p>
        </p:txBody>
      </p:sp>
      <p:pic>
        <p:nvPicPr>
          <p:cNvPr id="31" name="Image 3" descr="preencoded.png"/>
          <p:cNvPicPr>
            <a:picLocks noChangeAspect="1"/>
          </p:cNvPicPr>
          <p:nvPr/>
        </p:nvPicPr>
        <p:blipFill>
          <a:blip r:embed="rId6"/>
          <a:stretch>
            <a:fillRect/>
          </a:stretch>
        </p:blipFill>
        <p:spPr>
          <a:xfrm>
            <a:off x="4766719" y="3760879"/>
            <a:ext cx="311262" cy="311262"/>
          </a:xfrm>
          <a:prstGeom prst="rect">
            <a:avLst/>
          </a:prstGeom>
        </p:spPr>
      </p:pic>
      <p:sp>
        <p:nvSpPr>
          <p:cNvPr id="32" name="Text 26"/>
          <p:cNvSpPr/>
          <p:nvPr/>
        </p:nvSpPr>
        <p:spPr>
          <a:xfrm>
            <a:off x="5276088" y="3685032"/>
            <a:ext cx="3383280" cy="932688"/>
          </a:xfrm>
          <a:prstGeom prst="rect">
            <a:avLst/>
          </a:prstGeom>
          <a:noFill/>
          <a:ln/>
        </p:spPr>
        <p:txBody>
          <a:bodyPr wrap="square" lIns="0" tIns="0" rIns="0" bIns="0" rtlCol="0" anchor="ctr"/>
          <a:lstStyle/>
          <a:p>
            <a:pPr marL="0" indent="0">
              <a:buNone/>
            </a:pPr>
            <a:r>
              <a:rPr lang="en-US" sz="1100" dirty="0">
                <a:solidFill>
                  <a:srgbClr val="2B2118"/>
                </a:solidFill>
                <a:latin typeface="Calibri" pitchFamily="34" charset="0"/>
                <a:ea typeface="Calibri" pitchFamily="34" charset="-122"/>
                <a:cs typeface="Calibri" pitchFamily="34" charset="-120"/>
              </a:rPr>
              <a:t>Draft a first-pass budget justification and Theory of Change — you finalise every figure.</a:t>
            </a:r>
            <a:endParaRPr lang="en-US" sz="1100" dirty="0"/>
          </a:p>
        </p:txBody>
      </p:sp>
      <p:sp>
        <p:nvSpPr>
          <p:cNvPr id="33" name="Text 27"/>
          <p:cNvSpPr/>
          <p:nvPr/>
        </p:nvSpPr>
        <p:spPr>
          <a:xfrm>
            <a:off x="502920" y="4617720"/>
            <a:ext cx="8138160" cy="320040"/>
          </a:xfrm>
          <a:prstGeom prst="rect">
            <a:avLst/>
          </a:prstGeom>
          <a:noFill/>
          <a:ln/>
        </p:spPr>
        <p:txBody>
          <a:bodyPr wrap="square" lIns="0" tIns="0" rIns="0" bIns="0" rtlCol="0" anchor="ctr"/>
          <a:lstStyle/>
          <a:p>
            <a:pPr marL="0" indent="0" algn="ctr">
              <a:buNone/>
            </a:pPr>
            <a:r>
              <a:rPr lang="en-US" sz="1250" i="1" dirty="0">
                <a:solidFill>
                  <a:srgbClr val="31402A"/>
                </a:solidFill>
                <a:latin typeface="Cambria" pitchFamily="34" charset="0"/>
                <a:ea typeface="Cambria" pitchFamily="34" charset="-122"/>
                <a:cs typeface="Cambria" pitchFamily="34" charset="-120"/>
              </a:rPr>
              <a:t>AI drafts the scaffolding. You supply the vision, the feasibility, and every number you can defend.</a:t>
            </a:r>
            <a:endParaRPr lang="en-US" sz="1250" dirty="0"/>
          </a:p>
        </p:txBody>
      </p:sp>
      <p:sp>
        <p:nvSpPr>
          <p:cNvPr id="34" name="Text 28"/>
          <p:cNvSpPr/>
          <p:nvPr/>
        </p:nvSpPr>
        <p:spPr>
          <a:xfrm>
            <a:off x="502920" y="4846320"/>
            <a:ext cx="4114800" cy="228600"/>
          </a:xfrm>
          <a:prstGeom prst="rect">
            <a:avLst/>
          </a:prstGeom>
          <a:noFill/>
          <a:ln/>
        </p:spPr>
        <p:txBody>
          <a:bodyPr wrap="square" lIns="0" tIns="0" rIns="0" bIns="0" rtlCol="0" anchor="ctr"/>
          <a:lstStyle/>
          <a:p>
            <a:pPr marL="0" indent="0">
              <a:buNone/>
            </a:pPr>
            <a:r>
              <a:rPr lang="en-US" sz="900" dirty="0">
                <a:solidFill>
                  <a:srgbClr val="8A7A6B"/>
                </a:solidFill>
                <a:latin typeface="Calibri" pitchFamily="34" charset="0"/>
                <a:ea typeface="Calibri" pitchFamily="34" charset="-122"/>
                <a:cs typeface="Calibri" pitchFamily="34" charset="-120"/>
              </a:rPr>
              <a:t>AWAU Monthly Colloquium  ·  July 2026</a:t>
            </a:r>
            <a:endParaRPr lang="en-US" sz="900" dirty="0"/>
          </a:p>
        </p:txBody>
      </p:sp>
      <p:sp>
        <p:nvSpPr>
          <p:cNvPr id="35" name="Text 29"/>
          <p:cNvSpPr/>
          <p:nvPr/>
        </p:nvSpPr>
        <p:spPr>
          <a:xfrm>
            <a:off x="8503920" y="4846320"/>
            <a:ext cx="320040" cy="228600"/>
          </a:xfrm>
          <a:prstGeom prst="rect">
            <a:avLst/>
          </a:prstGeom>
          <a:noFill/>
          <a:ln/>
        </p:spPr>
        <p:txBody>
          <a:bodyPr wrap="square" lIns="0" tIns="0" rIns="0" bIns="0" rtlCol="0" anchor="ctr"/>
          <a:lstStyle/>
          <a:p>
            <a:pPr marL="0" indent="0" algn="r">
              <a:buNone/>
            </a:pPr>
            <a:r>
              <a:rPr lang="en-US" sz="900" dirty="0">
                <a:solidFill>
                  <a:srgbClr val="8A7A6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3B2314"/>
        </a:solidFill>
        <a:effectLst/>
      </p:bgPr>
    </p:bg>
    <p:spTree>
      <p:nvGrpSpPr>
        <p:cNvPr id="1" name=""/>
        <p:cNvGrpSpPr/>
        <p:nvPr/>
      </p:nvGrpSpPr>
      <p:grpSpPr>
        <a:xfrm>
          <a:off x="0" y="0"/>
          <a:ext cx="0" cy="0"/>
          <a:chOff x="0" y="0"/>
          <a:chExt cx="0" cy="0"/>
        </a:xfrm>
      </p:grpSpPr>
      <p:sp>
        <p:nvSpPr>
          <p:cNvPr id="2" name="Text 0"/>
          <p:cNvSpPr/>
          <p:nvPr/>
        </p:nvSpPr>
        <p:spPr>
          <a:xfrm>
            <a:off x="502920" y="320040"/>
            <a:ext cx="8229600" cy="274320"/>
          </a:xfrm>
          <a:prstGeom prst="rect">
            <a:avLst/>
          </a:prstGeom>
          <a:noFill/>
          <a:ln/>
        </p:spPr>
        <p:txBody>
          <a:bodyPr wrap="square" lIns="0" tIns="0" rIns="0" bIns="0" rtlCol="0" anchor="ctr"/>
          <a:lstStyle/>
          <a:p>
            <a:pPr marL="0" indent="0">
              <a:buNone/>
            </a:pPr>
            <a:r>
              <a:rPr lang="en-US" sz="1200" b="1" kern="0" spc="300" dirty="0">
                <a:solidFill>
                  <a:srgbClr val="D99B32"/>
                </a:solidFill>
                <a:latin typeface="Calibri" pitchFamily="34" charset="0"/>
                <a:ea typeface="Calibri" pitchFamily="34" charset="-122"/>
                <a:cs typeface="Calibri" pitchFamily="34" charset="-120"/>
              </a:rPr>
              <a:t>A SHORT LIST</a:t>
            </a:r>
            <a:endParaRPr lang="en-US" sz="1200" dirty="0"/>
          </a:p>
        </p:txBody>
      </p:sp>
      <p:sp>
        <p:nvSpPr>
          <p:cNvPr id="3" name="Text 1"/>
          <p:cNvSpPr/>
          <p:nvPr/>
        </p:nvSpPr>
        <p:spPr>
          <a:xfrm>
            <a:off x="502920" y="566928"/>
            <a:ext cx="8138160" cy="54864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Five Things AI Must Never Do in Your Research</a:t>
            </a:r>
            <a:endParaRPr lang="en-US" sz="2700" dirty="0"/>
          </a:p>
        </p:txBody>
      </p:sp>
      <p:sp>
        <p:nvSpPr>
          <p:cNvPr id="4" name="Shape 2"/>
          <p:cNvSpPr/>
          <p:nvPr/>
        </p:nvSpPr>
        <p:spPr>
          <a:xfrm>
            <a:off x="548640" y="1508760"/>
            <a:ext cx="457200" cy="457200"/>
          </a:xfrm>
          <a:prstGeom prst="ellipse">
            <a:avLst/>
          </a:prstGeom>
          <a:solidFill>
            <a:srgbClr val="BE5320"/>
          </a:solidFill>
          <a:ln/>
        </p:spPr>
        <p:txBody>
          <a:bodyPr/>
          <a:lstStyle/>
          <a:p>
            <a:endParaRPr lang="en-GB"/>
          </a:p>
        </p:txBody>
      </p:sp>
      <p:pic>
        <p:nvPicPr>
          <p:cNvPr id="5" name="Image 0" descr="preencoded.png"/>
          <p:cNvPicPr>
            <a:picLocks noChangeAspect="1"/>
          </p:cNvPicPr>
          <p:nvPr/>
        </p:nvPicPr>
        <p:blipFill>
          <a:blip r:embed="rId3"/>
          <a:stretch>
            <a:fillRect/>
          </a:stretch>
        </p:blipFill>
        <p:spPr>
          <a:xfrm>
            <a:off x="621792" y="1581912"/>
            <a:ext cx="310896" cy="310896"/>
          </a:xfrm>
          <a:prstGeom prst="rect">
            <a:avLst/>
          </a:prstGeom>
        </p:spPr>
      </p:pic>
      <p:sp>
        <p:nvSpPr>
          <p:cNvPr id="6" name="Text 3"/>
          <p:cNvSpPr/>
          <p:nvPr/>
        </p:nvSpPr>
        <p:spPr>
          <a:xfrm>
            <a:off x="1188720" y="1508760"/>
            <a:ext cx="7132320" cy="457200"/>
          </a:xfrm>
          <a:prstGeom prst="rect">
            <a:avLst/>
          </a:prstGeom>
          <a:noFill/>
          <a:ln/>
        </p:spPr>
        <p:txBody>
          <a:bodyPr wrap="square" lIns="0" tIns="0" rIns="0" bIns="0" rtlCol="0" anchor="ctr"/>
          <a:lstStyle/>
          <a:p>
            <a:pPr marL="0" indent="0">
              <a:buNone/>
            </a:pPr>
            <a:r>
              <a:rPr lang="en-US" sz="1550" dirty="0">
                <a:solidFill>
                  <a:srgbClr val="F0E4D2"/>
                </a:solidFill>
                <a:latin typeface="Calibri" pitchFamily="34" charset="0"/>
                <a:ea typeface="Calibri" pitchFamily="34" charset="-122"/>
                <a:cs typeface="Calibri" pitchFamily="34" charset="-120"/>
              </a:rPr>
              <a:t>Invent a reference, statute, or dataset</a:t>
            </a:r>
            <a:endParaRPr lang="en-US" sz="1550" dirty="0"/>
          </a:p>
        </p:txBody>
      </p:sp>
      <p:sp>
        <p:nvSpPr>
          <p:cNvPr id="7" name="Shape 4"/>
          <p:cNvSpPr/>
          <p:nvPr/>
        </p:nvSpPr>
        <p:spPr>
          <a:xfrm>
            <a:off x="548640" y="2130552"/>
            <a:ext cx="457200" cy="457200"/>
          </a:xfrm>
          <a:prstGeom prst="ellipse">
            <a:avLst/>
          </a:prstGeom>
          <a:solidFill>
            <a:srgbClr val="BE5320"/>
          </a:solidFill>
          <a:ln/>
        </p:spPr>
        <p:txBody>
          <a:bodyPr/>
          <a:lstStyle/>
          <a:p>
            <a:endParaRPr lang="en-GB"/>
          </a:p>
        </p:txBody>
      </p:sp>
      <p:pic>
        <p:nvPicPr>
          <p:cNvPr id="8" name="Image 1" descr="preencoded.png"/>
          <p:cNvPicPr>
            <a:picLocks noChangeAspect="1"/>
          </p:cNvPicPr>
          <p:nvPr/>
        </p:nvPicPr>
        <p:blipFill>
          <a:blip r:embed="rId3"/>
          <a:stretch>
            <a:fillRect/>
          </a:stretch>
        </p:blipFill>
        <p:spPr>
          <a:xfrm>
            <a:off x="621792" y="2203704"/>
            <a:ext cx="310896" cy="310896"/>
          </a:xfrm>
          <a:prstGeom prst="rect">
            <a:avLst/>
          </a:prstGeom>
        </p:spPr>
      </p:pic>
      <p:sp>
        <p:nvSpPr>
          <p:cNvPr id="9" name="Text 5"/>
          <p:cNvSpPr/>
          <p:nvPr/>
        </p:nvSpPr>
        <p:spPr>
          <a:xfrm>
            <a:off x="1188720" y="2130552"/>
            <a:ext cx="7132320" cy="457200"/>
          </a:xfrm>
          <a:prstGeom prst="rect">
            <a:avLst/>
          </a:prstGeom>
          <a:noFill/>
          <a:ln/>
        </p:spPr>
        <p:txBody>
          <a:bodyPr wrap="square" lIns="0" tIns="0" rIns="0" bIns="0" rtlCol="0" anchor="ctr"/>
          <a:lstStyle/>
          <a:p>
            <a:pPr marL="0" indent="0">
              <a:buNone/>
            </a:pPr>
            <a:r>
              <a:rPr lang="en-US" sz="1550" dirty="0">
                <a:solidFill>
                  <a:srgbClr val="F0E4D2"/>
                </a:solidFill>
                <a:latin typeface="Calibri" pitchFamily="34" charset="0"/>
                <a:ea typeface="Calibri" pitchFamily="34" charset="-122"/>
                <a:cs typeface="Calibri" pitchFamily="34" charset="-120"/>
              </a:rPr>
              <a:t>Interpret your findings on your behalf</a:t>
            </a:r>
            <a:endParaRPr lang="en-US" sz="1550" dirty="0"/>
          </a:p>
        </p:txBody>
      </p:sp>
      <p:sp>
        <p:nvSpPr>
          <p:cNvPr id="10" name="Shape 6"/>
          <p:cNvSpPr/>
          <p:nvPr/>
        </p:nvSpPr>
        <p:spPr>
          <a:xfrm>
            <a:off x="548640" y="2752344"/>
            <a:ext cx="457200" cy="457200"/>
          </a:xfrm>
          <a:prstGeom prst="ellipse">
            <a:avLst/>
          </a:prstGeom>
          <a:solidFill>
            <a:srgbClr val="BE5320"/>
          </a:solidFill>
          <a:ln/>
        </p:spPr>
        <p:txBody>
          <a:bodyPr/>
          <a:lstStyle/>
          <a:p>
            <a:endParaRPr lang="en-GB"/>
          </a:p>
        </p:txBody>
      </p:sp>
      <p:pic>
        <p:nvPicPr>
          <p:cNvPr id="11" name="Image 2" descr="preencoded.png"/>
          <p:cNvPicPr>
            <a:picLocks noChangeAspect="1"/>
          </p:cNvPicPr>
          <p:nvPr/>
        </p:nvPicPr>
        <p:blipFill>
          <a:blip r:embed="rId3"/>
          <a:stretch>
            <a:fillRect/>
          </a:stretch>
        </p:blipFill>
        <p:spPr>
          <a:xfrm>
            <a:off x="621792" y="2825496"/>
            <a:ext cx="310896" cy="310896"/>
          </a:xfrm>
          <a:prstGeom prst="rect">
            <a:avLst/>
          </a:prstGeom>
        </p:spPr>
      </p:pic>
      <p:sp>
        <p:nvSpPr>
          <p:cNvPr id="12" name="Text 7"/>
          <p:cNvSpPr/>
          <p:nvPr/>
        </p:nvSpPr>
        <p:spPr>
          <a:xfrm>
            <a:off x="1188720" y="2752344"/>
            <a:ext cx="7132320" cy="457200"/>
          </a:xfrm>
          <a:prstGeom prst="rect">
            <a:avLst/>
          </a:prstGeom>
          <a:noFill/>
          <a:ln/>
        </p:spPr>
        <p:txBody>
          <a:bodyPr wrap="square" lIns="0" tIns="0" rIns="0" bIns="0" rtlCol="0" anchor="ctr"/>
          <a:lstStyle/>
          <a:p>
            <a:pPr marL="0" indent="0">
              <a:buNone/>
            </a:pPr>
            <a:r>
              <a:rPr lang="en-US" sz="1550" dirty="0">
                <a:solidFill>
                  <a:srgbClr val="F0E4D2"/>
                </a:solidFill>
                <a:latin typeface="Calibri" pitchFamily="34" charset="0"/>
                <a:ea typeface="Calibri" pitchFamily="34" charset="-122"/>
                <a:cs typeface="Calibri" pitchFamily="34" charset="-120"/>
              </a:rPr>
              <a:t>Draft or approve an ethics application unsupervised</a:t>
            </a:r>
            <a:endParaRPr lang="en-US" sz="1550" dirty="0"/>
          </a:p>
        </p:txBody>
      </p:sp>
      <p:sp>
        <p:nvSpPr>
          <p:cNvPr id="13" name="Shape 8"/>
          <p:cNvSpPr/>
          <p:nvPr/>
        </p:nvSpPr>
        <p:spPr>
          <a:xfrm>
            <a:off x="548640" y="3374136"/>
            <a:ext cx="457200" cy="457200"/>
          </a:xfrm>
          <a:prstGeom prst="ellipse">
            <a:avLst/>
          </a:prstGeom>
          <a:solidFill>
            <a:srgbClr val="BE5320"/>
          </a:solidFill>
          <a:ln/>
        </p:spPr>
        <p:txBody>
          <a:bodyPr/>
          <a:lstStyle/>
          <a:p>
            <a:endParaRPr lang="en-GB"/>
          </a:p>
        </p:txBody>
      </p:sp>
      <p:pic>
        <p:nvPicPr>
          <p:cNvPr id="14" name="Image 3" descr="preencoded.png"/>
          <p:cNvPicPr>
            <a:picLocks noChangeAspect="1"/>
          </p:cNvPicPr>
          <p:nvPr/>
        </p:nvPicPr>
        <p:blipFill>
          <a:blip r:embed="rId3"/>
          <a:stretch>
            <a:fillRect/>
          </a:stretch>
        </p:blipFill>
        <p:spPr>
          <a:xfrm>
            <a:off x="621792" y="3447288"/>
            <a:ext cx="310896" cy="310896"/>
          </a:xfrm>
          <a:prstGeom prst="rect">
            <a:avLst/>
          </a:prstGeom>
        </p:spPr>
      </p:pic>
      <p:sp>
        <p:nvSpPr>
          <p:cNvPr id="15" name="Text 9"/>
          <p:cNvSpPr/>
          <p:nvPr/>
        </p:nvSpPr>
        <p:spPr>
          <a:xfrm>
            <a:off x="1188720" y="3374136"/>
            <a:ext cx="7132320" cy="457200"/>
          </a:xfrm>
          <a:prstGeom prst="rect">
            <a:avLst/>
          </a:prstGeom>
          <a:noFill/>
          <a:ln/>
        </p:spPr>
        <p:txBody>
          <a:bodyPr wrap="square" lIns="0" tIns="0" rIns="0" bIns="0" rtlCol="0" anchor="ctr"/>
          <a:lstStyle/>
          <a:p>
            <a:pPr marL="0" indent="0">
              <a:buNone/>
            </a:pPr>
            <a:r>
              <a:rPr lang="en-US" sz="1550" dirty="0">
                <a:solidFill>
                  <a:srgbClr val="F0E4D2"/>
                </a:solidFill>
                <a:latin typeface="Calibri" pitchFamily="34" charset="0"/>
                <a:ea typeface="Calibri" pitchFamily="34" charset="-122"/>
                <a:cs typeface="Calibri" pitchFamily="34" charset="-120"/>
              </a:rPr>
              <a:t>Replace a supervisor’s judgement of a student’s progress</a:t>
            </a:r>
            <a:endParaRPr lang="en-US" sz="1550" dirty="0"/>
          </a:p>
        </p:txBody>
      </p:sp>
      <p:sp>
        <p:nvSpPr>
          <p:cNvPr id="16" name="Shape 10"/>
          <p:cNvSpPr/>
          <p:nvPr/>
        </p:nvSpPr>
        <p:spPr>
          <a:xfrm>
            <a:off x="548640" y="3995928"/>
            <a:ext cx="457200" cy="457200"/>
          </a:xfrm>
          <a:prstGeom prst="ellipse">
            <a:avLst/>
          </a:prstGeom>
          <a:solidFill>
            <a:srgbClr val="BE5320"/>
          </a:solidFill>
          <a:ln/>
        </p:spPr>
        <p:txBody>
          <a:bodyPr/>
          <a:lstStyle/>
          <a:p>
            <a:endParaRPr lang="en-GB"/>
          </a:p>
        </p:txBody>
      </p:sp>
      <p:pic>
        <p:nvPicPr>
          <p:cNvPr id="17" name="Image 4" descr="preencoded.png"/>
          <p:cNvPicPr>
            <a:picLocks noChangeAspect="1"/>
          </p:cNvPicPr>
          <p:nvPr/>
        </p:nvPicPr>
        <p:blipFill>
          <a:blip r:embed="rId3"/>
          <a:stretch>
            <a:fillRect/>
          </a:stretch>
        </p:blipFill>
        <p:spPr>
          <a:xfrm>
            <a:off x="621792" y="4069080"/>
            <a:ext cx="310896" cy="310896"/>
          </a:xfrm>
          <a:prstGeom prst="rect">
            <a:avLst/>
          </a:prstGeom>
        </p:spPr>
      </p:pic>
      <p:sp>
        <p:nvSpPr>
          <p:cNvPr id="18" name="Text 11"/>
          <p:cNvSpPr/>
          <p:nvPr/>
        </p:nvSpPr>
        <p:spPr>
          <a:xfrm>
            <a:off x="1188720" y="3995928"/>
            <a:ext cx="7132320" cy="457200"/>
          </a:xfrm>
          <a:prstGeom prst="rect">
            <a:avLst/>
          </a:prstGeom>
          <a:noFill/>
          <a:ln/>
        </p:spPr>
        <p:txBody>
          <a:bodyPr wrap="square" lIns="0" tIns="0" rIns="0" bIns="0" rtlCol="0" anchor="ctr"/>
          <a:lstStyle/>
          <a:p>
            <a:pPr marL="0" indent="0">
              <a:buNone/>
            </a:pPr>
            <a:r>
              <a:rPr lang="en-US" sz="1550" dirty="0">
                <a:solidFill>
                  <a:srgbClr val="F0E4D2"/>
                </a:solidFill>
                <a:latin typeface="Calibri" pitchFamily="34" charset="0"/>
                <a:ea typeface="Calibri" pitchFamily="34" charset="-122"/>
                <a:cs typeface="Calibri" pitchFamily="34" charset="-120"/>
              </a:rPr>
              <a:t>Stand in for peer review of others’ work</a:t>
            </a:r>
            <a:endParaRPr lang="en-US" sz="1550" dirty="0"/>
          </a:p>
        </p:txBody>
      </p:sp>
      <p:sp>
        <p:nvSpPr>
          <p:cNvPr id="19" name="Text 12"/>
          <p:cNvSpPr/>
          <p:nvPr/>
        </p:nvSpPr>
        <p:spPr>
          <a:xfrm>
            <a:off x="502920" y="4663440"/>
            <a:ext cx="8138160" cy="365760"/>
          </a:xfrm>
          <a:prstGeom prst="rect">
            <a:avLst/>
          </a:prstGeom>
          <a:noFill/>
          <a:ln/>
        </p:spPr>
        <p:txBody>
          <a:bodyPr wrap="square" lIns="0" tIns="0" rIns="0" bIns="0" rtlCol="0" anchor="ctr"/>
          <a:lstStyle/>
          <a:p>
            <a:pPr marL="0" indent="0" algn="ctr">
              <a:buNone/>
            </a:pPr>
            <a:r>
              <a:rPr lang="en-US" sz="1400" i="1" dirty="0">
                <a:solidFill>
                  <a:srgbClr val="D99B32"/>
                </a:solidFill>
                <a:latin typeface="Cambria" pitchFamily="34" charset="0"/>
                <a:ea typeface="Cambria" pitchFamily="34" charset="-122"/>
                <a:cs typeface="Cambria" pitchFamily="34" charset="-120"/>
              </a:rPr>
              <a:t>If a task involves invention, interpretation, or accountability — it stays with a human.</a:t>
            </a:r>
            <a:endParaRPr lang="en-US" sz="1400" dirty="0"/>
          </a:p>
        </p:txBody>
      </p:sp>
      <p:sp>
        <p:nvSpPr>
          <p:cNvPr id="20" name="Text 13"/>
          <p:cNvSpPr/>
          <p:nvPr/>
        </p:nvSpPr>
        <p:spPr>
          <a:xfrm>
            <a:off x="502920" y="4846320"/>
            <a:ext cx="4114800" cy="228600"/>
          </a:xfrm>
          <a:prstGeom prst="rect">
            <a:avLst/>
          </a:prstGeom>
          <a:noFill/>
          <a:ln/>
        </p:spPr>
        <p:txBody>
          <a:bodyPr wrap="square" lIns="0" tIns="0" rIns="0" bIns="0" rtlCol="0" anchor="ctr"/>
          <a:lstStyle/>
          <a:p>
            <a:pPr marL="0" indent="0">
              <a:buNone/>
            </a:pPr>
            <a:r>
              <a:rPr lang="en-US" sz="900" dirty="0">
                <a:solidFill>
                  <a:srgbClr val="8A7A6B"/>
                </a:solidFill>
                <a:latin typeface="Calibri" pitchFamily="34" charset="0"/>
                <a:ea typeface="Calibri" pitchFamily="34" charset="-122"/>
                <a:cs typeface="Calibri" pitchFamily="34" charset="-120"/>
              </a:rPr>
              <a:t>AWAU Monthly Colloquium  ·  July 2026</a:t>
            </a:r>
            <a:endParaRPr lang="en-US" sz="900" dirty="0"/>
          </a:p>
        </p:txBody>
      </p:sp>
      <p:sp>
        <p:nvSpPr>
          <p:cNvPr id="21" name="Text 14"/>
          <p:cNvSpPr/>
          <p:nvPr/>
        </p:nvSpPr>
        <p:spPr>
          <a:xfrm>
            <a:off x="8503920" y="4846320"/>
            <a:ext cx="320040" cy="228600"/>
          </a:xfrm>
          <a:prstGeom prst="rect">
            <a:avLst/>
          </a:prstGeom>
          <a:noFill/>
          <a:ln/>
        </p:spPr>
        <p:txBody>
          <a:bodyPr wrap="square" lIns="0" tIns="0" rIns="0" bIns="0" rtlCol="0" anchor="ctr"/>
          <a:lstStyle/>
          <a:p>
            <a:pPr marL="0" indent="0" algn="r">
              <a:buNone/>
            </a:pPr>
            <a:r>
              <a:rPr lang="en-US" sz="900" dirty="0">
                <a:solidFill>
                  <a:srgbClr val="8A7A6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marL="0" indent="0">
              <a:buNone/>
            </a:pPr>
            <a:r>
              <a:rPr lang="en-US" sz="1200" b="1" kern="0" spc="300" dirty="0">
                <a:solidFill>
                  <a:srgbClr val="BE5320"/>
                </a:solidFill>
                <a:latin typeface="Calibri" pitchFamily="34" charset="0"/>
                <a:ea typeface="Calibri" pitchFamily="34" charset="-122"/>
                <a:cs typeface="Calibri" pitchFamily="34" charset="-120"/>
              </a:rPr>
              <a:t>FROM TALK TO HABIT</a:t>
            </a:r>
            <a:endParaRPr lang="en-US" sz="120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3000" b="1" dirty="0">
                <a:solidFill>
                  <a:srgbClr val="3B2314"/>
                </a:solidFill>
                <a:latin typeface="Cambria" pitchFamily="34" charset="0"/>
                <a:ea typeface="Cambria" pitchFamily="34" charset="-122"/>
                <a:cs typeface="Cambria" pitchFamily="34" charset="-120"/>
              </a:rPr>
              <a:t>Your First 30 Days</a:t>
            </a:r>
            <a:endParaRPr lang="en-US" sz="3000" dirty="0"/>
          </a:p>
        </p:txBody>
      </p:sp>
      <p:sp>
        <p:nvSpPr>
          <p:cNvPr id="4" name="Shape 2"/>
          <p:cNvSpPr/>
          <p:nvPr/>
        </p:nvSpPr>
        <p:spPr>
          <a:xfrm>
            <a:off x="502920" y="1554480"/>
            <a:ext cx="1920240" cy="2651760"/>
          </a:xfrm>
          <a:prstGeom prst="roundRect">
            <a:avLst>
              <a:gd name="adj" fmla="val 3810"/>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5" name="Shape 3"/>
          <p:cNvSpPr/>
          <p:nvPr/>
        </p:nvSpPr>
        <p:spPr>
          <a:xfrm>
            <a:off x="1124712" y="1783080"/>
            <a:ext cx="676656" cy="676656"/>
          </a:xfrm>
          <a:prstGeom prst="ellipse">
            <a:avLst/>
          </a:prstGeom>
          <a:solidFill>
            <a:srgbClr val="BE5320"/>
          </a:solidFill>
          <a:ln/>
        </p:spPr>
        <p:txBody>
          <a:bodyPr/>
          <a:lstStyle/>
          <a:p>
            <a:endParaRPr lang="en-GB"/>
          </a:p>
        </p:txBody>
      </p:sp>
      <p:sp>
        <p:nvSpPr>
          <p:cNvPr id="6" name="Text 4"/>
          <p:cNvSpPr/>
          <p:nvPr/>
        </p:nvSpPr>
        <p:spPr>
          <a:xfrm>
            <a:off x="1124712" y="1783080"/>
            <a:ext cx="676656" cy="676656"/>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7" name="Text 5"/>
          <p:cNvSpPr/>
          <p:nvPr/>
        </p:nvSpPr>
        <p:spPr>
          <a:xfrm>
            <a:off x="640080" y="2606040"/>
            <a:ext cx="1645920" cy="365760"/>
          </a:xfrm>
          <a:prstGeom prst="rect">
            <a:avLst/>
          </a:prstGeom>
          <a:noFill/>
          <a:ln/>
        </p:spPr>
        <p:txBody>
          <a:bodyPr wrap="square" lIns="0" tIns="0" rIns="0" bIns="0" rtlCol="0" anchor="ctr"/>
          <a:lstStyle/>
          <a:p>
            <a:pPr marL="0" indent="0" algn="ctr">
              <a:buNone/>
            </a:pPr>
            <a:r>
              <a:rPr lang="en-US" sz="1450" b="1" dirty="0">
                <a:solidFill>
                  <a:srgbClr val="3B2314"/>
                </a:solidFill>
                <a:latin typeface="Cambria" pitchFamily="34" charset="0"/>
                <a:ea typeface="Cambria" pitchFamily="34" charset="-122"/>
                <a:cs typeface="Cambria" pitchFamily="34" charset="-120"/>
              </a:rPr>
              <a:t>One task</a:t>
            </a:r>
            <a:endParaRPr lang="en-US" sz="1450" dirty="0"/>
          </a:p>
        </p:txBody>
      </p:sp>
      <p:sp>
        <p:nvSpPr>
          <p:cNvPr id="8" name="Text 6"/>
          <p:cNvSpPr/>
          <p:nvPr/>
        </p:nvSpPr>
        <p:spPr>
          <a:xfrm>
            <a:off x="667512" y="2999232"/>
            <a:ext cx="1600200" cy="1143000"/>
          </a:xfrm>
          <a:prstGeom prst="rect">
            <a:avLst/>
          </a:prstGeom>
          <a:noFill/>
          <a:ln/>
        </p:spPr>
        <p:txBody>
          <a:bodyPr wrap="square" lIns="0" tIns="0" rIns="0" bIns="0" rtlCol="0" anchor="ctr"/>
          <a:lstStyle/>
          <a:p>
            <a:pPr marL="0" indent="0" algn="ctr">
              <a:buNone/>
            </a:pPr>
            <a:r>
              <a:rPr lang="en-US" sz="1030" dirty="0">
                <a:solidFill>
                  <a:srgbClr val="2B2118"/>
                </a:solidFill>
                <a:latin typeface="Calibri" pitchFamily="34" charset="0"/>
                <a:ea typeface="Calibri" pitchFamily="34" charset="-122"/>
                <a:cs typeface="Calibri" pitchFamily="34" charset="-120"/>
              </a:rPr>
              <a:t>Pick a single labour-heavy task — e.g., reverse-outline a stalled draft — and run the ADAPT loop on it.</a:t>
            </a:r>
            <a:endParaRPr lang="en-US" sz="1030" dirty="0"/>
          </a:p>
        </p:txBody>
      </p:sp>
      <p:sp>
        <p:nvSpPr>
          <p:cNvPr id="9" name="Shape 7"/>
          <p:cNvSpPr/>
          <p:nvPr/>
        </p:nvSpPr>
        <p:spPr>
          <a:xfrm>
            <a:off x="2606040" y="1554480"/>
            <a:ext cx="1920240" cy="2651760"/>
          </a:xfrm>
          <a:prstGeom prst="roundRect">
            <a:avLst>
              <a:gd name="adj" fmla="val 3810"/>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10" name="Shape 8"/>
          <p:cNvSpPr/>
          <p:nvPr/>
        </p:nvSpPr>
        <p:spPr>
          <a:xfrm>
            <a:off x="3227832" y="1783080"/>
            <a:ext cx="676656" cy="676656"/>
          </a:xfrm>
          <a:prstGeom prst="ellipse">
            <a:avLst/>
          </a:prstGeom>
          <a:solidFill>
            <a:srgbClr val="D99B32"/>
          </a:solidFill>
          <a:ln/>
        </p:spPr>
        <p:txBody>
          <a:bodyPr/>
          <a:lstStyle/>
          <a:p>
            <a:endParaRPr lang="en-GB"/>
          </a:p>
        </p:txBody>
      </p:sp>
      <p:sp>
        <p:nvSpPr>
          <p:cNvPr id="11" name="Text 9"/>
          <p:cNvSpPr/>
          <p:nvPr/>
        </p:nvSpPr>
        <p:spPr>
          <a:xfrm>
            <a:off x="3227832" y="1783080"/>
            <a:ext cx="676656" cy="676656"/>
          </a:xfrm>
          <a:prstGeom prst="rect">
            <a:avLst/>
          </a:prstGeom>
          <a:noFill/>
          <a:ln/>
        </p:spPr>
        <p:txBody>
          <a:bodyPr wrap="square" lIns="0" tIns="0" rIns="0" bIns="0" rtlCol="0" anchor="ctr"/>
          <a:lstStyle/>
          <a:p>
            <a:pPr marL="0" indent="0" algn="ctr">
              <a:buNone/>
            </a:pPr>
            <a:r>
              <a:rPr lang="en-US" sz="2800" b="1" dirty="0">
                <a:solidFill>
                  <a:srgbClr val="3B2314"/>
                </a:solidFill>
                <a:latin typeface="Cambria" pitchFamily="34" charset="0"/>
                <a:ea typeface="Cambria" pitchFamily="34" charset="-122"/>
                <a:cs typeface="Cambria" pitchFamily="34" charset="-120"/>
              </a:rPr>
              <a:t>2</a:t>
            </a:r>
            <a:endParaRPr lang="en-US" sz="2800" dirty="0"/>
          </a:p>
        </p:txBody>
      </p:sp>
      <p:sp>
        <p:nvSpPr>
          <p:cNvPr id="12" name="Text 10"/>
          <p:cNvSpPr/>
          <p:nvPr/>
        </p:nvSpPr>
        <p:spPr>
          <a:xfrm>
            <a:off x="2743200" y="2606040"/>
            <a:ext cx="1645920" cy="365760"/>
          </a:xfrm>
          <a:prstGeom prst="rect">
            <a:avLst/>
          </a:prstGeom>
          <a:noFill/>
          <a:ln/>
        </p:spPr>
        <p:txBody>
          <a:bodyPr wrap="square" lIns="0" tIns="0" rIns="0" bIns="0" rtlCol="0" anchor="ctr"/>
          <a:lstStyle/>
          <a:p>
            <a:pPr marL="0" indent="0" algn="ctr">
              <a:buNone/>
            </a:pPr>
            <a:r>
              <a:rPr lang="en-US" sz="1450" b="1" dirty="0">
                <a:solidFill>
                  <a:srgbClr val="3B2314"/>
                </a:solidFill>
                <a:latin typeface="Cambria" pitchFamily="34" charset="0"/>
                <a:ea typeface="Cambria" pitchFamily="34" charset="-122"/>
                <a:cs typeface="Cambria" pitchFamily="34" charset="-120"/>
              </a:rPr>
              <a:t>Prompt library</a:t>
            </a:r>
            <a:endParaRPr lang="en-US" sz="1450" dirty="0"/>
          </a:p>
        </p:txBody>
      </p:sp>
      <p:sp>
        <p:nvSpPr>
          <p:cNvPr id="13" name="Text 11"/>
          <p:cNvSpPr/>
          <p:nvPr/>
        </p:nvSpPr>
        <p:spPr>
          <a:xfrm>
            <a:off x="2770632" y="2999232"/>
            <a:ext cx="1600200" cy="1143000"/>
          </a:xfrm>
          <a:prstGeom prst="rect">
            <a:avLst/>
          </a:prstGeom>
          <a:noFill/>
          <a:ln/>
        </p:spPr>
        <p:txBody>
          <a:bodyPr wrap="square" lIns="0" tIns="0" rIns="0" bIns="0" rtlCol="0" anchor="ctr"/>
          <a:lstStyle/>
          <a:p>
            <a:pPr marL="0" indent="0" algn="ctr">
              <a:buNone/>
            </a:pPr>
            <a:r>
              <a:rPr lang="en-US" sz="1030" dirty="0">
                <a:solidFill>
                  <a:srgbClr val="2B2118"/>
                </a:solidFill>
                <a:latin typeface="Calibri" pitchFamily="34" charset="0"/>
                <a:ea typeface="Calibri" pitchFamily="34" charset="-122"/>
                <a:cs typeface="Calibri" pitchFamily="34" charset="-120"/>
              </a:rPr>
              <a:t>Start one document. Save every prompt that worked, with notes on what it produced.</a:t>
            </a:r>
            <a:endParaRPr lang="en-US" sz="1030" dirty="0"/>
          </a:p>
        </p:txBody>
      </p:sp>
      <p:sp>
        <p:nvSpPr>
          <p:cNvPr id="14" name="Shape 12"/>
          <p:cNvSpPr/>
          <p:nvPr/>
        </p:nvSpPr>
        <p:spPr>
          <a:xfrm>
            <a:off x="4709160" y="1554480"/>
            <a:ext cx="1920240" cy="2651760"/>
          </a:xfrm>
          <a:prstGeom prst="roundRect">
            <a:avLst>
              <a:gd name="adj" fmla="val 3810"/>
            </a:avLst>
          </a:prstGeom>
          <a:solidFill>
            <a:srgbClr val="FAF3EA"/>
          </a:solidFill>
          <a:ln/>
          <a:effectLst>
            <a:outerShdw blurRad="88900" dist="25400" dir="2700000" algn="bl" rotWithShape="0">
              <a:srgbClr val="000000">
                <a:alpha val="14000"/>
              </a:srgbClr>
            </a:outerShdw>
          </a:effectLst>
        </p:spPr>
        <p:txBody>
          <a:bodyPr/>
          <a:lstStyle/>
          <a:p>
            <a:endParaRPr lang="en-GB"/>
          </a:p>
        </p:txBody>
      </p:sp>
      <p:sp>
        <p:nvSpPr>
          <p:cNvPr id="15" name="Shape 13"/>
          <p:cNvSpPr/>
          <p:nvPr/>
        </p:nvSpPr>
        <p:spPr>
          <a:xfrm>
            <a:off x="5330952" y="1783080"/>
            <a:ext cx="676656" cy="676656"/>
          </a:xfrm>
          <a:prstGeom prst="ellipse">
            <a:avLst/>
          </a:prstGeom>
          <a:solidFill>
            <a:srgbClr val="BE5320"/>
          </a:solidFill>
          <a:ln/>
        </p:spPr>
        <p:txBody>
          <a:bodyPr/>
          <a:lstStyle/>
          <a:p>
            <a:endParaRPr lang="en-GB"/>
          </a:p>
        </p:txBody>
      </p:sp>
      <p:sp>
        <p:nvSpPr>
          <p:cNvPr id="16" name="Text 14"/>
          <p:cNvSpPr/>
          <p:nvPr/>
        </p:nvSpPr>
        <p:spPr>
          <a:xfrm>
            <a:off x="5330952" y="1783080"/>
            <a:ext cx="676656" cy="676656"/>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3</a:t>
            </a:r>
            <a:endParaRPr lang="en-US" sz="2800" dirty="0"/>
          </a:p>
        </p:txBody>
      </p:sp>
      <p:sp>
        <p:nvSpPr>
          <p:cNvPr id="17" name="Text 15"/>
          <p:cNvSpPr/>
          <p:nvPr/>
        </p:nvSpPr>
        <p:spPr>
          <a:xfrm>
            <a:off x="4846320" y="2606040"/>
            <a:ext cx="1645920" cy="365760"/>
          </a:xfrm>
          <a:prstGeom prst="rect">
            <a:avLst/>
          </a:prstGeom>
          <a:noFill/>
          <a:ln/>
        </p:spPr>
        <p:txBody>
          <a:bodyPr wrap="square" lIns="0" tIns="0" rIns="0" bIns="0" rtlCol="0" anchor="ctr"/>
          <a:lstStyle/>
          <a:p>
            <a:pPr marL="0" indent="0" algn="ctr">
              <a:buNone/>
            </a:pPr>
            <a:r>
              <a:rPr lang="en-US" sz="1450" b="1" dirty="0">
                <a:solidFill>
                  <a:srgbClr val="3B2314"/>
                </a:solidFill>
                <a:latin typeface="Cambria" pitchFamily="34" charset="0"/>
                <a:ea typeface="Cambria" pitchFamily="34" charset="-122"/>
                <a:cs typeface="Cambria" pitchFamily="34" charset="-120"/>
              </a:rPr>
              <a:t>Verification habit</a:t>
            </a:r>
            <a:endParaRPr lang="en-US" sz="1450" dirty="0"/>
          </a:p>
        </p:txBody>
      </p:sp>
      <p:sp>
        <p:nvSpPr>
          <p:cNvPr id="18" name="Text 16"/>
          <p:cNvSpPr/>
          <p:nvPr/>
        </p:nvSpPr>
        <p:spPr>
          <a:xfrm>
            <a:off x="4873752" y="2999232"/>
            <a:ext cx="1600200" cy="1143000"/>
          </a:xfrm>
          <a:prstGeom prst="rect">
            <a:avLst/>
          </a:prstGeom>
          <a:noFill/>
          <a:ln/>
        </p:spPr>
        <p:txBody>
          <a:bodyPr wrap="square" lIns="0" tIns="0" rIns="0" bIns="0" rtlCol="0" anchor="ctr"/>
          <a:lstStyle/>
          <a:p>
            <a:pPr marL="0" indent="0" algn="ctr">
              <a:buNone/>
            </a:pPr>
            <a:r>
              <a:rPr lang="en-US" sz="1030" dirty="0">
                <a:solidFill>
                  <a:srgbClr val="2B2118"/>
                </a:solidFill>
                <a:latin typeface="Calibri" pitchFamily="34" charset="0"/>
                <a:ea typeface="Calibri" pitchFamily="34" charset="-122"/>
                <a:cs typeface="Calibri" pitchFamily="34" charset="-120"/>
              </a:rPr>
              <a:t>Add an explicit ‘Probe’ step: citations opened, numbers re-run, and a disclosure line drafted.</a:t>
            </a:r>
            <a:endParaRPr lang="en-US" sz="1030" dirty="0"/>
          </a:p>
        </p:txBody>
      </p:sp>
      <p:sp>
        <p:nvSpPr>
          <p:cNvPr id="19" name="Shape 17"/>
          <p:cNvSpPr/>
          <p:nvPr/>
        </p:nvSpPr>
        <p:spPr>
          <a:xfrm>
            <a:off x="6812280" y="1554480"/>
            <a:ext cx="1920240" cy="2651760"/>
          </a:xfrm>
          <a:prstGeom prst="roundRect">
            <a:avLst>
              <a:gd name="adj" fmla="val 3810"/>
            </a:avLst>
          </a:prstGeom>
          <a:solidFill>
            <a:srgbClr val="F3E7D7"/>
          </a:solidFill>
          <a:ln/>
          <a:effectLst>
            <a:outerShdw blurRad="88900" dist="25400" dir="2700000" algn="bl" rotWithShape="0">
              <a:srgbClr val="000000">
                <a:alpha val="14000"/>
              </a:srgbClr>
            </a:outerShdw>
          </a:effectLst>
        </p:spPr>
        <p:txBody>
          <a:bodyPr/>
          <a:lstStyle/>
          <a:p>
            <a:endParaRPr lang="en-GB"/>
          </a:p>
        </p:txBody>
      </p:sp>
      <p:sp>
        <p:nvSpPr>
          <p:cNvPr id="20" name="Shape 18"/>
          <p:cNvSpPr/>
          <p:nvPr/>
        </p:nvSpPr>
        <p:spPr>
          <a:xfrm>
            <a:off x="7434072" y="1783080"/>
            <a:ext cx="676656" cy="676656"/>
          </a:xfrm>
          <a:prstGeom prst="ellipse">
            <a:avLst/>
          </a:prstGeom>
          <a:solidFill>
            <a:srgbClr val="D99B32"/>
          </a:solidFill>
          <a:ln/>
        </p:spPr>
        <p:txBody>
          <a:bodyPr/>
          <a:lstStyle/>
          <a:p>
            <a:endParaRPr lang="en-GB"/>
          </a:p>
        </p:txBody>
      </p:sp>
      <p:sp>
        <p:nvSpPr>
          <p:cNvPr id="21" name="Text 19"/>
          <p:cNvSpPr/>
          <p:nvPr/>
        </p:nvSpPr>
        <p:spPr>
          <a:xfrm>
            <a:off x="7434072" y="1783080"/>
            <a:ext cx="676656" cy="676656"/>
          </a:xfrm>
          <a:prstGeom prst="rect">
            <a:avLst/>
          </a:prstGeom>
          <a:noFill/>
          <a:ln/>
        </p:spPr>
        <p:txBody>
          <a:bodyPr wrap="square" lIns="0" tIns="0" rIns="0" bIns="0" rtlCol="0" anchor="ctr"/>
          <a:lstStyle/>
          <a:p>
            <a:pPr marL="0" indent="0" algn="ctr">
              <a:buNone/>
            </a:pPr>
            <a:r>
              <a:rPr lang="en-US" sz="2800" b="1" dirty="0">
                <a:solidFill>
                  <a:srgbClr val="3B2314"/>
                </a:solidFill>
                <a:latin typeface="Cambria" pitchFamily="34" charset="0"/>
                <a:ea typeface="Cambria" pitchFamily="34" charset="-122"/>
                <a:cs typeface="Cambria" pitchFamily="34" charset="-120"/>
              </a:rPr>
              <a:t>4</a:t>
            </a:r>
            <a:endParaRPr lang="en-US" sz="2800" dirty="0"/>
          </a:p>
        </p:txBody>
      </p:sp>
      <p:sp>
        <p:nvSpPr>
          <p:cNvPr id="22" name="Text 20"/>
          <p:cNvSpPr/>
          <p:nvPr/>
        </p:nvSpPr>
        <p:spPr>
          <a:xfrm>
            <a:off x="6949440" y="2606040"/>
            <a:ext cx="1645920" cy="365760"/>
          </a:xfrm>
          <a:prstGeom prst="rect">
            <a:avLst/>
          </a:prstGeom>
          <a:noFill/>
          <a:ln/>
        </p:spPr>
        <p:txBody>
          <a:bodyPr wrap="square" lIns="0" tIns="0" rIns="0" bIns="0" rtlCol="0" anchor="ctr"/>
          <a:lstStyle/>
          <a:p>
            <a:pPr marL="0" indent="0" algn="ctr">
              <a:buNone/>
            </a:pPr>
            <a:r>
              <a:rPr lang="en-US" sz="1450" b="1" dirty="0">
                <a:solidFill>
                  <a:srgbClr val="3B2314"/>
                </a:solidFill>
                <a:latin typeface="Cambria" pitchFamily="34" charset="0"/>
                <a:ea typeface="Cambria" pitchFamily="34" charset="-122"/>
                <a:cs typeface="Cambria" pitchFamily="34" charset="-120"/>
              </a:rPr>
              <a:t>Multiply it</a:t>
            </a:r>
            <a:endParaRPr lang="en-US" sz="1450" dirty="0"/>
          </a:p>
        </p:txBody>
      </p:sp>
      <p:sp>
        <p:nvSpPr>
          <p:cNvPr id="23" name="Text 21"/>
          <p:cNvSpPr/>
          <p:nvPr/>
        </p:nvSpPr>
        <p:spPr>
          <a:xfrm>
            <a:off x="6976872" y="2999232"/>
            <a:ext cx="1600200" cy="1143000"/>
          </a:xfrm>
          <a:prstGeom prst="rect">
            <a:avLst/>
          </a:prstGeom>
          <a:noFill/>
          <a:ln/>
        </p:spPr>
        <p:txBody>
          <a:bodyPr wrap="square" lIns="0" tIns="0" rIns="0" bIns="0" rtlCol="0" anchor="ctr"/>
          <a:lstStyle/>
          <a:p>
            <a:pPr marL="0" indent="0" algn="ctr">
              <a:buNone/>
            </a:pPr>
            <a:r>
              <a:rPr lang="en-US" sz="1030" dirty="0">
                <a:solidFill>
                  <a:srgbClr val="2B2118"/>
                </a:solidFill>
                <a:latin typeface="Calibri" pitchFamily="34" charset="0"/>
                <a:ea typeface="Calibri" pitchFamily="34" charset="-122"/>
                <a:cs typeface="Calibri" pitchFamily="34" charset="-120"/>
              </a:rPr>
              <a:t>Show a colleague or run a 30-minute departmental demo. Teaching it is how it sticks.</a:t>
            </a:r>
            <a:endParaRPr lang="en-US" sz="1030" dirty="0"/>
          </a:p>
        </p:txBody>
      </p:sp>
      <p:sp>
        <p:nvSpPr>
          <p:cNvPr id="24" name="Text 22"/>
          <p:cNvSpPr/>
          <p:nvPr/>
        </p:nvSpPr>
        <p:spPr>
          <a:xfrm>
            <a:off x="502920" y="4526280"/>
            <a:ext cx="8138160" cy="365760"/>
          </a:xfrm>
          <a:prstGeom prst="rect">
            <a:avLst/>
          </a:prstGeom>
          <a:noFill/>
          <a:ln/>
        </p:spPr>
        <p:txBody>
          <a:bodyPr wrap="square" lIns="0" tIns="0" rIns="0" bIns="0" rtlCol="0" anchor="ctr"/>
          <a:lstStyle/>
          <a:p>
            <a:pPr marL="0" indent="0" algn="ctr">
              <a:buNone/>
            </a:pPr>
            <a:r>
              <a:rPr lang="en-US" sz="1500" b="1" i="1" dirty="0">
                <a:solidFill>
                  <a:srgbClr val="BE5320"/>
                </a:solidFill>
                <a:latin typeface="Cambria" pitchFamily="34" charset="0"/>
                <a:ea typeface="Cambria" pitchFamily="34" charset="-122"/>
                <a:cs typeface="Cambria" pitchFamily="34" charset="-120"/>
              </a:rPr>
              <a:t>Rule of thumb: automate the labour of scholarship — never its judgement.</a:t>
            </a:r>
            <a:endParaRPr lang="en-US" sz="1500" dirty="0"/>
          </a:p>
        </p:txBody>
      </p:sp>
      <p:sp>
        <p:nvSpPr>
          <p:cNvPr id="25" name="Text 23"/>
          <p:cNvSpPr/>
          <p:nvPr/>
        </p:nvSpPr>
        <p:spPr>
          <a:xfrm>
            <a:off x="502920" y="4846320"/>
            <a:ext cx="4114800" cy="228600"/>
          </a:xfrm>
          <a:prstGeom prst="rect">
            <a:avLst/>
          </a:prstGeom>
          <a:noFill/>
          <a:ln/>
        </p:spPr>
        <p:txBody>
          <a:bodyPr wrap="square" lIns="0" tIns="0" rIns="0" bIns="0" rtlCol="0" anchor="ctr"/>
          <a:lstStyle/>
          <a:p>
            <a:pPr marL="0" indent="0">
              <a:buNone/>
            </a:pPr>
            <a:r>
              <a:rPr lang="en-US" sz="900" dirty="0">
                <a:solidFill>
                  <a:srgbClr val="8A7A6B"/>
                </a:solidFill>
                <a:latin typeface="Calibri" pitchFamily="34" charset="0"/>
                <a:ea typeface="Calibri" pitchFamily="34" charset="-122"/>
                <a:cs typeface="Calibri" pitchFamily="34" charset="-120"/>
              </a:rPr>
              <a:t>AWAU Monthly Colloquium  ·  July 2026</a:t>
            </a:r>
            <a:endParaRPr lang="en-US" sz="900" dirty="0"/>
          </a:p>
        </p:txBody>
      </p:sp>
      <p:sp>
        <p:nvSpPr>
          <p:cNvPr id="26" name="Text 24"/>
          <p:cNvSpPr/>
          <p:nvPr/>
        </p:nvSpPr>
        <p:spPr>
          <a:xfrm>
            <a:off x="8503920" y="4846320"/>
            <a:ext cx="320040" cy="228600"/>
          </a:xfrm>
          <a:prstGeom prst="rect">
            <a:avLst/>
          </a:prstGeom>
          <a:noFill/>
          <a:ln/>
        </p:spPr>
        <p:txBody>
          <a:bodyPr wrap="square" lIns="0" tIns="0" rIns="0" bIns="0" rtlCol="0" anchor="ctr"/>
          <a:lstStyle/>
          <a:p>
            <a:pPr marL="0" indent="0" algn="r">
              <a:buNone/>
            </a:pPr>
            <a:r>
              <a:rPr lang="en-US" sz="900" dirty="0">
                <a:solidFill>
                  <a:srgbClr val="8A7A6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marL="0" indent="0">
              <a:buNone/>
            </a:pPr>
            <a:r>
              <a:rPr lang="en-US" sz="1200" b="1" kern="0" spc="300" dirty="0">
                <a:solidFill>
                  <a:srgbClr val="BE5320"/>
                </a:solidFill>
                <a:latin typeface="Calibri" pitchFamily="34" charset="0"/>
                <a:ea typeface="Calibri" pitchFamily="34" charset="-122"/>
                <a:cs typeface="Calibri" pitchFamily="34" charset="-120"/>
              </a:rPr>
              <a:t>IN ONE BREATH</a:t>
            </a:r>
            <a:endParaRPr lang="en-US" sz="1200" dirty="0"/>
          </a:p>
        </p:txBody>
      </p:sp>
      <p:sp>
        <p:nvSpPr>
          <p:cNvPr id="3" name="Text 1"/>
          <p:cNvSpPr/>
          <p:nvPr/>
        </p:nvSpPr>
        <p:spPr>
          <a:xfrm>
            <a:off x="502920" y="530352"/>
            <a:ext cx="8138160" cy="658368"/>
          </a:xfrm>
          <a:prstGeom prst="rect">
            <a:avLst/>
          </a:prstGeom>
          <a:noFill/>
          <a:ln/>
        </p:spPr>
        <p:txBody>
          <a:bodyPr wrap="square" lIns="0" tIns="0" rIns="0" bIns="0" rtlCol="0" anchor="t"/>
          <a:lstStyle/>
          <a:p>
            <a:pPr marL="0" indent="0">
              <a:buNone/>
            </a:pPr>
            <a:r>
              <a:rPr lang="en-US" sz="3000" b="1" dirty="0">
                <a:solidFill>
                  <a:srgbClr val="3B2314"/>
                </a:solidFill>
                <a:latin typeface="Cambria" pitchFamily="34" charset="0"/>
                <a:ea typeface="Cambria" pitchFamily="34" charset="-122"/>
                <a:cs typeface="Cambria" pitchFamily="34" charset="-120"/>
              </a:rPr>
              <a:t>Four Things to Carry Out of This Room</a:t>
            </a:r>
            <a:endParaRPr lang="en-US" sz="3000" dirty="0"/>
          </a:p>
        </p:txBody>
      </p:sp>
      <p:sp>
        <p:nvSpPr>
          <p:cNvPr id="4" name="Shape 2"/>
          <p:cNvSpPr/>
          <p:nvPr/>
        </p:nvSpPr>
        <p:spPr>
          <a:xfrm>
            <a:off x="548640" y="1417320"/>
            <a:ext cx="566928" cy="566928"/>
          </a:xfrm>
          <a:prstGeom prst="ellipse">
            <a:avLst/>
          </a:prstGeom>
          <a:solidFill>
            <a:srgbClr val="BE5320"/>
          </a:solidFill>
          <a:ln/>
        </p:spPr>
        <p:txBody>
          <a:bodyPr/>
          <a:lstStyle/>
          <a:p>
            <a:endParaRPr lang="en-GB"/>
          </a:p>
        </p:txBody>
      </p:sp>
      <p:sp>
        <p:nvSpPr>
          <p:cNvPr id="5" name="Text 3"/>
          <p:cNvSpPr/>
          <p:nvPr/>
        </p:nvSpPr>
        <p:spPr>
          <a:xfrm>
            <a:off x="548640" y="1417320"/>
            <a:ext cx="566928" cy="566928"/>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6" name="Text 4"/>
          <p:cNvSpPr/>
          <p:nvPr/>
        </p:nvSpPr>
        <p:spPr>
          <a:xfrm>
            <a:off x="1325880" y="1435608"/>
            <a:ext cx="7223760" cy="658368"/>
          </a:xfrm>
          <a:prstGeom prst="rect">
            <a:avLst/>
          </a:prstGeom>
          <a:noFill/>
          <a:ln/>
        </p:spPr>
        <p:txBody>
          <a:bodyPr wrap="square" lIns="0" tIns="0" rIns="0" bIns="0" rtlCol="0" anchor="t"/>
          <a:lstStyle/>
          <a:p>
            <a:pPr marL="0" indent="0">
              <a:buNone/>
            </a:pPr>
            <a:r>
              <a:rPr lang="en-US" sz="1450" dirty="0">
                <a:solidFill>
                  <a:srgbClr val="2B2118"/>
                </a:solidFill>
                <a:latin typeface="Calibri" pitchFamily="34" charset="0"/>
                <a:ea typeface="Calibri" pitchFamily="34" charset="-122"/>
                <a:cs typeface="Calibri" pitchFamily="34" charset="-120"/>
              </a:rPr>
              <a:t>The method changes; the standards do not. Rigour, honesty and accountability are non-negotiable.</a:t>
            </a:r>
            <a:endParaRPr lang="en-US" sz="1450" dirty="0"/>
          </a:p>
        </p:txBody>
      </p:sp>
      <p:sp>
        <p:nvSpPr>
          <p:cNvPr id="7" name="Shape 5"/>
          <p:cNvSpPr/>
          <p:nvPr/>
        </p:nvSpPr>
        <p:spPr>
          <a:xfrm>
            <a:off x="548640" y="2167128"/>
            <a:ext cx="566928" cy="566928"/>
          </a:xfrm>
          <a:prstGeom prst="ellipse">
            <a:avLst/>
          </a:prstGeom>
          <a:solidFill>
            <a:srgbClr val="D99B32"/>
          </a:solidFill>
          <a:ln/>
        </p:spPr>
        <p:txBody>
          <a:bodyPr/>
          <a:lstStyle/>
          <a:p>
            <a:endParaRPr lang="en-GB"/>
          </a:p>
        </p:txBody>
      </p:sp>
      <p:sp>
        <p:nvSpPr>
          <p:cNvPr id="8" name="Text 6"/>
          <p:cNvSpPr/>
          <p:nvPr/>
        </p:nvSpPr>
        <p:spPr>
          <a:xfrm>
            <a:off x="548640" y="2167128"/>
            <a:ext cx="566928" cy="566928"/>
          </a:xfrm>
          <a:prstGeom prst="rect">
            <a:avLst/>
          </a:prstGeom>
          <a:noFill/>
          <a:ln/>
        </p:spPr>
        <p:txBody>
          <a:bodyPr wrap="square" lIns="0" tIns="0" rIns="0" bIns="0" rtlCol="0" anchor="ctr"/>
          <a:lstStyle/>
          <a:p>
            <a:pPr marL="0" indent="0" algn="ctr">
              <a:buNone/>
            </a:pPr>
            <a:r>
              <a:rPr lang="en-US" sz="2400" b="1" dirty="0">
                <a:solidFill>
                  <a:srgbClr val="3B2314"/>
                </a:solidFill>
                <a:latin typeface="Cambria" pitchFamily="34" charset="0"/>
                <a:ea typeface="Cambria" pitchFamily="34" charset="-122"/>
                <a:cs typeface="Cambria" pitchFamily="34" charset="-120"/>
              </a:rPr>
              <a:t>2</a:t>
            </a:r>
            <a:endParaRPr lang="en-US" sz="2400" dirty="0"/>
          </a:p>
        </p:txBody>
      </p:sp>
      <p:sp>
        <p:nvSpPr>
          <p:cNvPr id="9" name="Text 7"/>
          <p:cNvSpPr/>
          <p:nvPr/>
        </p:nvSpPr>
        <p:spPr>
          <a:xfrm>
            <a:off x="1325880" y="2185416"/>
            <a:ext cx="7223760" cy="658368"/>
          </a:xfrm>
          <a:prstGeom prst="rect">
            <a:avLst/>
          </a:prstGeom>
          <a:noFill/>
          <a:ln/>
        </p:spPr>
        <p:txBody>
          <a:bodyPr wrap="square" lIns="0" tIns="0" rIns="0" bIns="0" rtlCol="0" anchor="t"/>
          <a:lstStyle/>
          <a:p>
            <a:pPr marL="0" indent="0">
              <a:buNone/>
            </a:pPr>
            <a:r>
              <a:rPr lang="en-US" sz="1450" dirty="0">
                <a:solidFill>
                  <a:srgbClr val="2B2118"/>
                </a:solidFill>
                <a:latin typeface="Calibri" pitchFamily="34" charset="0"/>
                <a:ea typeface="Calibri" pitchFamily="34" charset="-122"/>
                <a:cs typeface="Calibri" pitchFamily="34" charset="-120"/>
              </a:rPr>
              <a:t>Run the ADAPT loop: Assess · Delegate · Anchor · Probe · Take ownership.</a:t>
            </a:r>
            <a:endParaRPr lang="en-US" sz="1450" dirty="0"/>
          </a:p>
        </p:txBody>
      </p:sp>
      <p:sp>
        <p:nvSpPr>
          <p:cNvPr id="10" name="Shape 8"/>
          <p:cNvSpPr/>
          <p:nvPr/>
        </p:nvSpPr>
        <p:spPr>
          <a:xfrm>
            <a:off x="548640" y="2916936"/>
            <a:ext cx="566928" cy="566928"/>
          </a:xfrm>
          <a:prstGeom prst="ellipse">
            <a:avLst/>
          </a:prstGeom>
          <a:solidFill>
            <a:srgbClr val="BE5320"/>
          </a:solidFill>
          <a:ln/>
        </p:spPr>
        <p:txBody>
          <a:bodyPr/>
          <a:lstStyle/>
          <a:p>
            <a:endParaRPr lang="en-GB"/>
          </a:p>
        </p:txBody>
      </p:sp>
      <p:sp>
        <p:nvSpPr>
          <p:cNvPr id="11" name="Text 9"/>
          <p:cNvSpPr/>
          <p:nvPr/>
        </p:nvSpPr>
        <p:spPr>
          <a:xfrm>
            <a:off x="548640" y="2916936"/>
            <a:ext cx="566928" cy="566928"/>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2" name="Text 10"/>
          <p:cNvSpPr/>
          <p:nvPr/>
        </p:nvSpPr>
        <p:spPr>
          <a:xfrm>
            <a:off x="1325880" y="2935224"/>
            <a:ext cx="7223760" cy="658368"/>
          </a:xfrm>
          <a:prstGeom prst="rect">
            <a:avLst/>
          </a:prstGeom>
          <a:noFill/>
          <a:ln/>
        </p:spPr>
        <p:txBody>
          <a:bodyPr wrap="square" lIns="0" tIns="0" rIns="0" bIns="0" rtlCol="0" anchor="t"/>
          <a:lstStyle/>
          <a:p>
            <a:pPr marL="0" indent="0">
              <a:buNone/>
            </a:pPr>
            <a:r>
              <a:rPr lang="en-US" sz="1450" dirty="0">
                <a:solidFill>
                  <a:srgbClr val="2B2118"/>
                </a:solidFill>
                <a:latin typeface="Calibri" pitchFamily="34" charset="0"/>
                <a:ea typeface="Calibri" pitchFamily="34" charset="-122"/>
                <a:cs typeface="Calibri" pitchFamily="34" charset="-120"/>
              </a:rPr>
              <a:t>Delegate the labour, never the judgement — and verify everything before it enters the record.</a:t>
            </a:r>
            <a:endParaRPr lang="en-US" sz="1450" dirty="0"/>
          </a:p>
        </p:txBody>
      </p:sp>
      <p:sp>
        <p:nvSpPr>
          <p:cNvPr id="13" name="Shape 11"/>
          <p:cNvSpPr/>
          <p:nvPr/>
        </p:nvSpPr>
        <p:spPr>
          <a:xfrm>
            <a:off x="548640" y="3666744"/>
            <a:ext cx="566928" cy="566928"/>
          </a:xfrm>
          <a:prstGeom prst="ellipse">
            <a:avLst/>
          </a:prstGeom>
          <a:solidFill>
            <a:srgbClr val="D99B32"/>
          </a:solidFill>
          <a:ln/>
        </p:spPr>
        <p:txBody>
          <a:bodyPr/>
          <a:lstStyle/>
          <a:p>
            <a:endParaRPr lang="en-GB"/>
          </a:p>
        </p:txBody>
      </p:sp>
      <p:sp>
        <p:nvSpPr>
          <p:cNvPr id="14" name="Text 12"/>
          <p:cNvSpPr/>
          <p:nvPr/>
        </p:nvSpPr>
        <p:spPr>
          <a:xfrm>
            <a:off x="548640" y="3666744"/>
            <a:ext cx="566928" cy="566928"/>
          </a:xfrm>
          <a:prstGeom prst="rect">
            <a:avLst/>
          </a:prstGeom>
          <a:noFill/>
          <a:ln/>
        </p:spPr>
        <p:txBody>
          <a:bodyPr wrap="square" lIns="0" tIns="0" rIns="0" bIns="0" rtlCol="0" anchor="ctr"/>
          <a:lstStyle/>
          <a:p>
            <a:pPr marL="0" indent="0" algn="ctr">
              <a:buNone/>
            </a:pPr>
            <a:r>
              <a:rPr lang="en-US" sz="2400" b="1" dirty="0">
                <a:solidFill>
                  <a:srgbClr val="3B2314"/>
                </a:solidFill>
                <a:latin typeface="Cambria" pitchFamily="34" charset="0"/>
                <a:ea typeface="Cambria" pitchFamily="34" charset="-122"/>
                <a:cs typeface="Cambria" pitchFamily="34" charset="-120"/>
              </a:rPr>
              <a:t>4</a:t>
            </a:r>
            <a:endParaRPr lang="en-US" sz="2400" dirty="0"/>
          </a:p>
        </p:txBody>
      </p:sp>
      <p:sp>
        <p:nvSpPr>
          <p:cNvPr id="15" name="Text 13"/>
          <p:cNvSpPr/>
          <p:nvPr/>
        </p:nvSpPr>
        <p:spPr>
          <a:xfrm>
            <a:off x="1325880" y="3685032"/>
            <a:ext cx="7223760" cy="658368"/>
          </a:xfrm>
          <a:prstGeom prst="rect">
            <a:avLst/>
          </a:prstGeom>
          <a:noFill/>
          <a:ln/>
        </p:spPr>
        <p:txBody>
          <a:bodyPr wrap="square" lIns="0" tIns="0" rIns="0" bIns="0" rtlCol="0" anchor="t"/>
          <a:lstStyle/>
          <a:p>
            <a:pPr marL="0" indent="0">
              <a:buNone/>
            </a:pPr>
            <a:r>
              <a:rPr lang="en-US" sz="1450" dirty="0">
                <a:solidFill>
                  <a:srgbClr val="2B2118"/>
                </a:solidFill>
                <a:latin typeface="Calibri" pitchFamily="34" charset="0"/>
                <a:ea typeface="Calibri" pitchFamily="34" charset="-122"/>
                <a:cs typeface="Calibri" pitchFamily="34" charset="-120"/>
              </a:rPr>
              <a:t>Start small this week; build the datasets, policies and habits our region needs.</a:t>
            </a:r>
            <a:endParaRPr lang="en-US" sz="1450" dirty="0"/>
          </a:p>
        </p:txBody>
      </p:sp>
      <p:sp>
        <p:nvSpPr>
          <p:cNvPr id="16" name="Shape 14"/>
          <p:cNvSpPr/>
          <p:nvPr/>
        </p:nvSpPr>
        <p:spPr>
          <a:xfrm>
            <a:off x="502920" y="4526280"/>
            <a:ext cx="8138160" cy="457200"/>
          </a:xfrm>
          <a:prstGeom prst="roundRect">
            <a:avLst>
              <a:gd name="adj" fmla="val 16000"/>
            </a:avLst>
          </a:prstGeom>
          <a:solidFill>
            <a:srgbClr val="F3E7D7"/>
          </a:solidFill>
          <a:ln/>
        </p:spPr>
        <p:txBody>
          <a:bodyPr/>
          <a:lstStyle/>
          <a:p>
            <a:endParaRPr lang="en-GB"/>
          </a:p>
        </p:txBody>
      </p:sp>
      <p:sp>
        <p:nvSpPr>
          <p:cNvPr id="17" name="Text 15"/>
          <p:cNvSpPr/>
          <p:nvPr/>
        </p:nvSpPr>
        <p:spPr>
          <a:xfrm>
            <a:off x="685800" y="4553712"/>
            <a:ext cx="7772400" cy="402336"/>
          </a:xfrm>
          <a:prstGeom prst="rect">
            <a:avLst/>
          </a:prstGeom>
          <a:noFill/>
          <a:ln/>
        </p:spPr>
        <p:txBody>
          <a:bodyPr wrap="square" lIns="0" tIns="0" rIns="0" bIns="0" rtlCol="0" anchor="ctr"/>
          <a:lstStyle/>
          <a:p>
            <a:pPr marL="0" indent="0" algn="ctr">
              <a:buNone/>
            </a:pPr>
            <a:r>
              <a:rPr lang="en-US" sz="1150" b="1" i="1" dirty="0">
                <a:solidFill>
                  <a:srgbClr val="BE5320"/>
                </a:solidFill>
                <a:latin typeface="Cambria" pitchFamily="34" charset="0"/>
                <a:ea typeface="Cambria" pitchFamily="34" charset="-122"/>
                <a:cs typeface="Cambria" pitchFamily="34" charset="-120"/>
              </a:rPr>
              <a:t>Every technological revolution has changed the tools of scholarship. The question is not whether AI joins that list — it already has. The question is who shapes it.</a:t>
            </a:r>
            <a:endParaRPr lang="en-US" sz="1150" dirty="0"/>
          </a:p>
        </p:txBody>
      </p:sp>
      <p:sp>
        <p:nvSpPr>
          <p:cNvPr id="18" name="Text 16"/>
          <p:cNvSpPr/>
          <p:nvPr/>
        </p:nvSpPr>
        <p:spPr>
          <a:xfrm>
            <a:off x="502920" y="4846320"/>
            <a:ext cx="4114800" cy="228600"/>
          </a:xfrm>
          <a:prstGeom prst="rect">
            <a:avLst/>
          </a:prstGeom>
          <a:noFill/>
          <a:ln/>
        </p:spPr>
        <p:txBody>
          <a:bodyPr wrap="square" lIns="0" tIns="0" rIns="0" bIns="0" rtlCol="0" anchor="ctr"/>
          <a:lstStyle/>
          <a:p>
            <a:pPr marL="0" indent="0">
              <a:buNone/>
            </a:pPr>
            <a:r>
              <a:rPr lang="en-US" sz="900" dirty="0">
                <a:solidFill>
                  <a:srgbClr val="8A7A6B"/>
                </a:solidFill>
                <a:latin typeface="Calibri" pitchFamily="34" charset="0"/>
                <a:ea typeface="Calibri" pitchFamily="34" charset="-122"/>
                <a:cs typeface="Calibri" pitchFamily="34" charset="-120"/>
              </a:rPr>
              <a:t>AWAU Monthly Colloquium  ·  July 2026</a:t>
            </a:r>
            <a:endParaRPr lang="en-US" sz="900" dirty="0"/>
          </a:p>
        </p:txBody>
      </p:sp>
      <p:sp>
        <p:nvSpPr>
          <p:cNvPr id="19" name="Text 17"/>
          <p:cNvSpPr/>
          <p:nvPr/>
        </p:nvSpPr>
        <p:spPr>
          <a:xfrm>
            <a:off x="8503920" y="4846320"/>
            <a:ext cx="320040" cy="228600"/>
          </a:xfrm>
          <a:prstGeom prst="rect">
            <a:avLst/>
          </a:prstGeom>
          <a:noFill/>
          <a:ln/>
        </p:spPr>
        <p:txBody>
          <a:bodyPr wrap="square" lIns="0" tIns="0" rIns="0" bIns="0" rtlCol="0" anchor="ctr"/>
          <a:lstStyle/>
          <a:p>
            <a:pPr marL="0" indent="0" algn="r">
              <a:buNone/>
            </a:pPr>
            <a:r>
              <a:rPr lang="en-US" sz="900" dirty="0">
                <a:solidFill>
                  <a:srgbClr val="8A7A6B"/>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3B2314"/>
        </a:solidFill>
        <a:effectLst/>
      </p:bgPr>
    </p:bg>
    <p:spTree>
      <p:nvGrpSpPr>
        <p:cNvPr id="1" name=""/>
        <p:cNvGrpSpPr/>
        <p:nvPr/>
      </p:nvGrpSpPr>
      <p:grpSpPr>
        <a:xfrm>
          <a:off x="0" y="0"/>
          <a:ext cx="0" cy="0"/>
          <a:chOff x="0" y="0"/>
          <a:chExt cx="0" cy="0"/>
        </a:xfrm>
      </p:grpSpPr>
      <p:sp>
        <p:nvSpPr>
          <p:cNvPr id="2" name="Shape 0"/>
          <p:cNvSpPr/>
          <p:nvPr/>
        </p:nvSpPr>
        <p:spPr>
          <a:xfrm>
            <a:off x="7863840" y="640080"/>
            <a:ext cx="146304" cy="146304"/>
          </a:xfrm>
          <a:prstGeom prst="ellipse">
            <a:avLst/>
          </a:prstGeom>
          <a:solidFill>
            <a:srgbClr val="D99B32">
              <a:alpha val="65000"/>
            </a:srgbClr>
          </a:solidFill>
          <a:ln/>
        </p:spPr>
        <p:txBody>
          <a:bodyPr/>
          <a:lstStyle/>
          <a:p>
            <a:endParaRPr lang="en-GB"/>
          </a:p>
        </p:txBody>
      </p:sp>
      <p:sp>
        <p:nvSpPr>
          <p:cNvPr id="3" name="Shape 1"/>
          <p:cNvSpPr/>
          <p:nvPr/>
        </p:nvSpPr>
        <p:spPr>
          <a:xfrm>
            <a:off x="8412480" y="1188720"/>
            <a:ext cx="91440" cy="91440"/>
          </a:xfrm>
          <a:prstGeom prst="ellipse">
            <a:avLst/>
          </a:prstGeom>
          <a:solidFill>
            <a:srgbClr val="D99B32">
              <a:alpha val="65000"/>
            </a:srgbClr>
          </a:solidFill>
          <a:ln/>
        </p:spPr>
        <p:txBody>
          <a:bodyPr/>
          <a:lstStyle/>
          <a:p>
            <a:endParaRPr lang="en-GB"/>
          </a:p>
        </p:txBody>
      </p:sp>
      <p:sp>
        <p:nvSpPr>
          <p:cNvPr id="4" name="Shape 2"/>
          <p:cNvSpPr/>
          <p:nvPr/>
        </p:nvSpPr>
        <p:spPr>
          <a:xfrm>
            <a:off x="8138160" y="1920240"/>
            <a:ext cx="201168" cy="201168"/>
          </a:xfrm>
          <a:prstGeom prst="ellipse">
            <a:avLst/>
          </a:prstGeom>
          <a:solidFill>
            <a:srgbClr val="D99B32">
              <a:alpha val="65000"/>
            </a:srgbClr>
          </a:solidFill>
          <a:ln/>
        </p:spPr>
        <p:txBody>
          <a:bodyPr/>
          <a:lstStyle/>
          <a:p>
            <a:endParaRPr lang="en-GB"/>
          </a:p>
        </p:txBody>
      </p:sp>
      <p:sp>
        <p:nvSpPr>
          <p:cNvPr id="5" name="Shape 3"/>
          <p:cNvSpPr/>
          <p:nvPr/>
        </p:nvSpPr>
        <p:spPr>
          <a:xfrm>
            <a:off x="8595360" y="2651760"/>
            <a:ext cx="118872" cy="118872"/>
          </a:xfrm>
          <a:prstGeom prst="ellipse">
            <a:avLst/>
          </a:prstGeom>
          <a:solidFill>
            <a:srgbClr val="D99B32">
              <a:alpha val="65000"/>
            </a:srgbClr>
          </a:solidFill>
          <a:ln/>
        </p:spPr>
        <p:txBody>
          <a:bodyPr/>
          <a:lstStyle/>
          <a:p>
            <a:endParaRPr lang="en-GB"/>
          </a:p>
        </p:txBody>
      </p:sp>
      <p:sp>
        <p:nvSpPr>
          <p:cNvPr id="6" name="Shape 4"/>
          <p:cNvSpPr/>
          <p:nvPr/>
        </p:nvSpPr>
        <p:spPr>
          <a:xfrm>
            <a:off x="7772400" y="3291840"/>
            <a:ext cx="91440" cy="91440"/>
          </a:xfrm>
          <a:prstGeom prst="ellipse">
            <a:avLst/>
          </a:prstGeom>
          <a:solidFill>
            <a:srgbClr val="D99B32">
              <a:alpha val="65000"/>
            </a:srgbClr>
          </a:solidFill>
          <a:ln/>
        </p:spPr>
        <p:txBody>
          <a:bodyPr/>
          <a:lstStyle/>
          <a:p>
            <a:endParaRPr lang="en-GB"/>
          </a:p>
        </p:txBody>
      </p:sp>
      <p:sp>
        <p:nvSpPr>
          <p:cNvPr id="7" name="Shape 5"/>
          <p:cNvSpPr/>
          <p:nvPr/>
        </p:nvSpPr>
        <p:spPr>
          <a:xfrm>
            <a:off x="8321040" y="4023360"/>
            <a:ext cx="164592" cy="164592"/>
          </a:xfrm>
          <a:prstGeom prst="ellipse">
            <a:avLst/>
          </a:prstGeom>
          <a:solidFill>
            <a:srgbClr val="D99B32">
              <a:alpha val="65000"/>
            </a:srgbClr>
          </a:solidFill>
          <a:ln/>
        </p:spPr>
        <p:txBody>
          <a:bodyPr/>
          <a:lstStyle/>
          <a:p>
            <a:endParaRPr lang="en-GB"/>
          </a:p>
        </p:txBody>
      </p:sp>
      <p:sp>
        <p:nvSpPr>
          <p:cNvPr id="8" name="Shape 6"/>
          <p:cNvSpPr/>
          <p:nvPr/>
        </p:nvSpPr>
        <p:spPr>
          <a:xfrm>
            <a:off x="7955280" y="4572000"/>
            <a:ext cx="109728" cy="109728"/>
          </a:xfrm>
          <a:prstGeom prst="ellipse">
            <a:avLst/>
          </a:prstGeom>
          <a:solidFill>
            <a:srgbClr val="D99B32">
              <a:alpha val="65000"/>
            </a:srgbClr>
          </a:solidFill>
          <a:ln/>
        </p:spPr>
        <p:txBody>
          <a:bodyPr/>
          <a:lstStyle/>
          <a:p>
            <a:endParaRPr lang="en-GB"/>
          </a:p>
        </p:txBody>
      </p:sp>
      <p:sp>
        <p:nvSpPr>
          <p:cNvPr id="9" name="Text 7"/>
          <p:cNvSpPr/>
          <p:nvPr/>
        </p:nvSpPr>
        <p:spPr>
          <a:xfrm>
            <a:off x="182880" y="365760"/>
            <a:ext cx="841248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Ẹ ṣeun. Na gode. Daalụ. Thank you.</a:t>
            </a:r>
            <a:endParaRPr lang="en-US" sz="4000" dirty="0"/>
          </a:p>
        </p:txBody>
      </p:sp>
      <p:sp>
        <p:nvSpPr>
          <p:cNvPr id="10" name="Text 8"/>
          <p:cNvSpPr/>
          <p:nvPr/>
        </p:nvSpPr>
        <p:spPr>
          <a:xfrm>
            <a:off x="548640" y="2084832"/>
            <a:ext cx="6949440" cy="594360"/>
          </a:xfrm>
          <a:prstGeom prst="rect">
            <a:avLst/>
          </a:prstGeom>
          <a:noFill/>
          <a:ln/>
        </p:spPr>
        <p:txBody>
          <a:bodyPr wrap="square" lIns="0" tIns="0" rIns="0" bIns="0" rtlCol="0" anchor="ctr"/>
          <a:lstStyle/>
          <a:p>
            <a:pPr marL="0" indent="0">
              <a:buNone/>
            </a:pPr>
            <a:r>
              <a:rPr lang="en-US" sz="1350" i="1" dirty="0">
                <a:solidFill>
                  <a:srgbClr val="D99B32"/>
                </a:solidFill>
                <a:latin typeface="Calibri" pitchFamily="34" charset="0"/>
                <a:ea typeface="Calibri" pitchFamily="34" charset="-122"/>
                <a:cs typeface="Calibri" pitchFamily="34" charset="-120"/>
              </a:rPr>
              <a:t>Our opportunity is not simply to use AI — but to shape it with our languages, our knowledge systems, and our research priorities.</a:t>
            </a:r>
            <a:endParaRPr lang="en-US" sz="1350" dirty="0"/>
          </a:p>
        </p:txBody>
      </p:sp>
      <p:sp>
        <p:nvSpPr>
          <p:cNvPr id="11" name="Shape 9"/>
          <p:cNvSpPr/>
          <p:nvPr/>
        </p:nvSpPr>
        <p:spPr>
          <a:xfrm>
            <a:off x="576072" y="2880360"/>
            <a:ext cx="5120640" cy="0"/>
          </a:xfrm>
          <a:prstGeom prst="line">
            <a:avLst/>
          </a:prstGeom>
          <a:noFill/>
          <a:ln w="19050">
            <a:solidFill>
              <a:srgbClr val="BE5320"/>
            </a:solidFill>
            <a:prstDash val="solid"/>
          </a:ln>
        </p:spPr>
        <p:txBody>
          <a:bodyPr/>
          <a:lstStyle/>
          <a:p>
            <a:endParaRPr lang="en-GB"/>
          </a:p>
        </p:txBody>
      </p:sp>
      <p:sp>
        <p:nvSpPr>
          <p:cNvPr id="12" name="Text 10"/>
          <p:cNvSpPr/>
          <p:nvPr/>
        </p:nvSpPr>
        <p:spPr>
          <a:xfrm>
            <a:off x="548640" y="3063240"/>
            <a:ext cx="7315200" cy="100584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Dr. Sakinat Oluwabukonla Folorunso</a:t>
            </a:r>
            <a:endParaRPr lang="en-US" sz="1600" dirty="0"/>
          </a:p>
          <a:p>
            <a:pPr marL="0" indent="0">
              <a:buNone/>
            </a:pPr>
            <a:r>
              <a:rPr lang="en-US" sz="1300" dirty="0">
                <a:solidFill>
                  <a:srgbClr val="D8C5AE"/>
                </a:solidFill>
                <a:latin typeface="Calibri" pitchFamily="34" charset="0"/>
                <a:ea typeface="Calibri" pitchFamily="34" charset="-122"/>
                <a:cs typeface="Calibri" pitchFamily="34" charset="-120"/>
              </a:rPr>
              <a:t>Artificial Intelligence Systems Research Group (ARISG)</a:t>
            </a:r>
            <a:endParaRPr lang="en-US" sz="1600" dirty="0"/>
          </a:p>
          <a:p>
            <a:pPr marL="0" indent="0">
              <a:buNone/>
            </a:pPr>
            <a:r>
              <a:rPr lang="en-US" sz="1300" dirty="0">
                <a:solidFill>
                  <a:srgbClr val="D8C5AE"/>
                </a:solidFill>
                <a:latin typeface="Calibri" pitchFamily="34" charset="0"/>
                <a:ea typeface="Calibri" pitchFamily="34" charset="-122"/>
                <a:cs typeface="Calibri" pitchFamily="34" charset="-120"/>
              </a:rPr>
              <a:t>Department of Computer Sciences, Olabisi Onabanjo University, Ago-Iwoye, Nigeria</a:t>
            </a:r>
            <a:endParaRPr lang="en-US" sz="1600" dirty="0"/>
          </a:p>
        </p:txBody>
      </p:sp>
      <p:sp>
        <p:nvSpPr>
          <p:cNvPr id="13" name="Text 11"/>
          <p:cNvSpPr/>
          <p:nvPr/>
        </p:nvSpPr>
        <p:spPr>
          <a:xfrm>
            <a:off x="548640" y="4343400"/>
            <a:ext cx="7680960" cy="320040"/>
          </a:xfrm>
          <a:prstGeom prst="rect">
            <a:avLst/>
          </a:prstGeom>
          <a:noFill/>
          <a:ln/>
        </p:spPr>
        <p:txBody>
          <a:bodyPr wrap="square" lIns="0" tIns="0" rIns="0" bIns="0" rtlCol="0" anchor="ctr"/>
          <a:lstStyle/>
          <a:p>
            <a:pPr marL="0" indent="0">
              <a:buNone/>
            </a:pPr>
            <a:r>
              <a:rPr lang="en-US" sz="1200" dirty="0">
                <a:solidFill>
                  <a:srgbClr val="D99B32"/>
                </a:solidFill>
                <a:latin typeface="Calibri" pitchFamily="34" charset="0"/>
                <a:ea typeface="Calibri" pitchFamily="34" charset="-122"/>
                <a:cs typeface="Calibri" pitchFamily="34" charset="-120"/>
              </a:rPr>
              <a:t>Association of West Africa Universities · Monthly Colloquium Series · www.awau.africa</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8229600" cy="274320"/>
          </a:xfrm>
          <a:prstGeom prst="rect">
            <a:avLst/>
          </a:prstGeom>
          <a:noFill/>
          <a:ln/>
        </p:spPr>
        <p:txBody>
          <a:bodyPr wrap="square" lIns="0" tIns="0" rIns="0" bIns="0" rtlCol="0" anchor="ctr"/>
          <a:lstStyle/>
          <a:p>
            <a:pPr marL="0" indent="0">
              <a:buNone/>
            </a:pPr>
            <a:r>
              <a:rPr lang="en-US" sz="1100" b="1" kern="0" spc="150" dirty="0">
                <a:solidFill>
                  <a:srgbClr val="BE5320"/>
                </a:solidFill>
                <a:latin typeface="Calibri" pitchFamily="34" charset="0"/>
                <a:ea typeface="Calibri" pitchFamily="34" charset="-122"/>
                <a:cs typeface="Calibri" pitchFamily="34" charset="-120"/>
              </a:rPr>
              <a:t>APPENDIX  ·  FOR Q&amp;A USE ONLY — NOT FOR LIVE PRESENTATION</a:t>
            </a:r>
            <a:endParaRPr lang="en-US" sz="1100" dirty="0"/>
          </a:p>
        </p:txBody>
      </p:sp>
      <p:sp>
        <p:nvSpPr>
          <p:cNvPr id="3" name="Text 1"/>
          <p:cNvSpPr/>
          <p:nvPr/>
        </p:nvSpPr>
        <p:spPr>
          <a:xfrm>
            <a:off x="502920" y="548640"/>
            <a:ext cx="8138160" cy="457200"/>
          </a:xfrm>
          <a:prstGeom prst="rect">
            <a:avLst/>
          </a:prstGeom>
          <a:noFill/>
          <a:ln/>
        </p:spPr>
        <p:txBody>
          <a:bodyPr wrap="square" lIns="0" tIns="0" rIns="0" bIns="0" rtlCol="0" anchor="ctr"/>
          <a:lstStyle/>
          <a:p>
            <a:pPr marL="0" indent="0">
              <a:buNone/>
            </a:pPr>
            <a:r>
              <a:rPr lang="en-US" sz="2200" b="1" dirty="0">
                <a:solidFill>
                  <a:srgbClr val="3B2314"/>
                </a:solidFill>
                <a:latin typeface="Cambria" pitchFamily="34" charset="0"/>
                <a:ea typeface="Cambria" pitchFamily="34" charset="-122"/>
                <a:cs typeface="Cambria" pitchFamily="34" charset="-120"/>
              </a:rPr>
              <a:t>Anticipated Questions — Quick Reference</a:t>
            </a:r>
            <a:endParaRPr lang="en-US" sz="2200" dirty="0"/>
          </a:p>
        </p:txBody>
      </p:sp>
      <p:sp>
        <p:nvSpPr>
          <p:cNvPr id="4" name="Text 2"/>
          <p:cNvSpPr/>
          <p:nvPr/>
        </p:nvSpPr>
        <p:spPr>
          <a:xfrm>
            <a:off x="502920" y="1234440"/>
            <a:ext cx="3977640" cy="292608"/>
          </a:xfrm>
          <a:prstGeom prst="rect">
            <a:avLst/>
          </a:prstGeom>
          <a:noFill/>
          <a:ln/>
        </p:spPr>
        <p:txBody>
          <a:bodyPr wrap="square" lIns="0" tIns="0" rIns="0" bIns="0" rtlCol="0" anchor="ctr"/>
          <a:lstStyle/>
          <a:p>
            <a:pPr marL="0" indent="0">
              <a:buNone/>
            </a:pPr>
            <a:r>
              <a:rPr lang="en-US" sz="1150" b="1" dirty="0">
                <a:solidFill>
                  <a:srgbClr val="BE5320"/>
                </a:solidFill>
                <a:latin typeface="Cambria" pitchFamily="34" charset="0"/>
                <a:ea typeface="Cambria" pitchFamily="34" charset="-122"/>
                <a:cs typeface="Cambria" pitchFamily="34" charset="-120"/>
              </a:rPr>
              <a:t>Which tool should a beginner start with?</a:t>
            </a:r>
            <a:endParaRPr lang="en-US" sz="1150" dirty="0"/>
          </a:p>
        </p:txBody>
      </p:sp>
      <p:sp>
        <p:nvSpPr>
          <p:cNvPr id="5" name="Text 3"/>
          <p:cNvSpPr/>
          <p:nvPr/>
        </p:nvSpPr>
        <p:spPr>
          <a:xfrm>
            <a:off x="502920" y="1527048"/>
            <a:ext cx="3977640" cy="585216"/>
          </a:xfrm>
          <a:prstGeom prst="rect">
            <a:avLst/>
          </a:prstGeom>
          <a:noFill/>
          <a:ln/>
        </p:spPr>
        <p:txBody>
          <a:bodyPr wrap="square" lIns="0" tIns="0" rIns="0" bIns="0" rtlCol="0" anchor="ctr"/>
          <a:lstStyle/>
          <a:p>
            <a:pPr marL="0" indent="0">
              <a:buNone/>
            </a:pPr>
            <a:r>
              <a:rPr lang="en-US" sz="1000" dirty="0">
                <a:solidFill>
                  <a:srgbClr val="2B2118"/>
                </a:solidFill>
                <a:latin typeface="Calibri" pitchFamily="34" charset="0"/>
                <a:ea typeface="Calibri" pitchFamily="34" charset="-122"/>
                <a:cs typeface="Calibri" pitchFamily="34" charset="-120"/>
              </a:rPr>
              <a:t>Any major chat assistant, plus one semantic literature tool. The workflow matters more than the brand.</a:t>
            </a:r>
            <a:endParaRPr lang="en-US" sz="1000" dirty="0"/>
          </a:p>
        </p:txBody>
      </p:sp>
      <p:sp>
        <p:nvSpPr>
          <p:cNvPr id="6" name="Text 4"/>
          <p:cNvSpPr/>
          <p:nvPr/>
        </p:nvSpPr>
        <p:spPr>
          <a:xfrm>
            <a:off x="4709160" y="1234440"/>
            <a:ext cx="3977640" cy="292608"/>
          </a:xfrm>
          <a:prstGeom prst="rect">
            <a:avLst/>
          </a:prstGeom>
          <a:noFill/>
          <a:ln/>
        </p:spPr>
        <p:txBody>
          <a:bodyPr wrap="square" lIns="0" tIns="0" rIns="0" bIns="0" rtlCol="0" anchor="ctr"/>
          <a:lstStyle/>
          <a:p>
            <a:pPr marL="0" indent="0">
              <a:buNone/>
            </a:pPr>
            <a:r>
              <a:rPr lang="en-US" sz="1150" b="1" dirty="0">
                <a:solidFill>
                  <a:srgbClr val="BE5320"/>
                </a:solidFill>
                <a:latin typeface="Cambria" pitchFamily="34" charset="0"/>
                <a:ea typeface="Cambria" pitchFamily="34" charset="-122"/>
                <a:cs typeface="Cambria" pitchFamily="34" charset="-120"/>
              </a:rPr>
              <a:t>How do I cite AI use in a paper?</a:t>
            </a:r>
            <a:endParaRPr lang="en-US" sz="1150" dirty="0"/>
          </a:p>
        </p:txBody>
      </p:sp>
      <p:sp>
        <p:nvSpPr>
          <p:cNvPr id="7" name="Text 5"/>
          <p:cNvSpPr/>
          <p:nvPr/>
        </p:nvSpPr>
        <p:spPr>
          <a:xfrm>
            <a:off x="4709160" y="1527048"/>
            <a:ext cx="3977640" cy="585216"/>
          </a:xfrm>
          <a:prstGeom prst="rect">
            <a:avLst/>
          </a:prstGeom>
          <a:noFill/>
          <a:ln/>
        </p:spPr>
        <p:txBody>
          <a:bodyPr wrap="square" lIns="0" tIns="0" rIns="0" bIns="0" rtlCol="0" anchor="ctr"/>
          <a:lstStyle/>
          <a:p>
            <a:pPr marL="0" indent="0">
              <a:buNone/>
            </a:pPr>
            <a:r>
              <a:rPr lang="en-US" sz="1000" dirty="0">
                <a:solidFill>
                  <a:srgbClr val="2B2118"/>
                </a:solidFill>
                <a:latin typeface="Calibri" pitchFamily="34" charset="0"/>
                <a:ea typeface="Calibri" pitchFamily="34" charset="-122"/>
                <a:cs typeface="Calibri" pitchFamily="34" charset="-120"/>
              </a:rPr>
              <a:t>Follow your target journal’s current instructions — check at submission time; requirements are still evolving.</a:t>
            </a:r>
            <a:endParaRPr lang="en-US" sz="1000" dirty="0"/>
          </a:p>
        </p:txBody>
      </p:sp>
      <p:sp>
        <p:nvSpPr>
          <p:cNvPr id="8" name="Text 6"/>
          <p:cNvSpPr/>
          <p:nvPr/>
        </p:nvSpPr>
        <p:spPr>
          <a:xfrm>
            <a:off x="502920" y="2148840"/>
            <a:ext cx="3977640" cy="292608"/>
          </a:xfrm>
          <a:prstGeom prst="rect">
            <a:avLst/>
          </a:prstGeom>
          <a:noFill/>
          <a:ln/>
        </p:spPr>
        <p:txBody>
          <a:bodyPr wrap="square" lIns="0" tIns="0" rIns="0" bIns="0" rtlCol="0" anchor="ctr"/>
          <a:lstStyle/>
          <a:p>
            <a:pPr marL="0" indent="0">
              <a:buNone/>
            </a:pPr>
            <a:r>
              <a:rPr lang="en-US" sz="1150" b="1" dirty="0">
                <a:solidFill>
                  <a:srgbClr val="BE5320"/>
                </a:solidFill>
                <a:latin typeface="Cambria" pitchFamily="34" charset="0"/>
                <a:ea typeface="Cambria" pitchFamily="34" charset="-122"/>
                <a:cs typeface="Cambria" pitchFamily="34" charset="-120"/>
              </a:rPr>
              <a:t>Is AI-generated text plagiarism?</a:t>
            </a:r>
            <a:endParaRPr lang="en-US" sz="1150" dirty="0"/>
          </a:p>
        </p:txBody>
      </p:sp>
      <p:sp>
        <p:nvSpPr>
          <p:cNvPr id="9" name="Text 7"/>
          <p:cNvSpPr/>
          <p:nvPr/>
        </p:nvSpPr>
        <p:spPr>
          <a:xfrm>
            <a:off x="502920" y="2441448"/>
            <a:ext cx="3977640" cy="585216"/>
          </a:xfrm>
          <a:prstGeom prst="rect">
            <a:avLst/>
          </a:prstGeom>
          <a:noFill/>
          <a:ln/>
        </p:spPr>
        <p:txBody>
          <a:bodyPr wrap="square" lIns="0" tIns="0" rIns="0" bIns="0" rtlCol="0" anchor="ctr"/>
          <a:lstStyle/>
          <a:p>
            <a:pPr marL="0" indent="0">
              <a:buNone/>
            </a:pPr>
            <a:r>
              <a:rPr lang="en-US" sz="1000" dirty="0">
                <a:solidFill>
                  <a:srgbClr val="2B2118"/>
                </a:solidFill>
                <a:latin typeface="Calibri" pitchFamily="34" charset="0"/>
                <a:ea typeface="Calibri" pitchFamily="34" charset="-122"/>
                <a:cs typeface="Calibri" pitchFamily="34" charset="-120"/>
              </a:rPr>
              <a:t>Apply the defensibility test (slide 19) and your venue’s disclosure policy; undisclosed substantive use is the risk, not the tool itself.</a:t>
            </a:r>
            <a:endParaRPr lang="en-US" sz="1000" dirty="0"/>
          </a:p>
        </p:txBody>
      </p:sp>
      <p:sp>
        <p:nvSpPr>
          <p:cNvPr id="10" name="Text 8"/>
          <p:cNvSpPr/>
          <p:nvPr/>
        </p:nvSpPr>
        <p:spPr>
          <a:xfrm>
            <a:off x="4709160" y="2148840"/>
            <a:ext cx="3977640" cy="292608"/>
          </a:xfrm>
          <a:prstGeom prst="rect">
            <a:avLst/>
          </a:prstGeom>
          <a:noFill/>
          <a:ln/>
        </p:spPr>
        <p:txBody>
          <a:bodyPr wrap="square" lIns="0" tIns="0" rIns="0" bIns="0" rtlCol="0" anchor="ctr"/>
          <a:lstStyle/>
          <a:p>
            <a:pPr marL="0" indent="0">
              <a:buNone/>
            </a:pPr>
            <a:r>
              <a:rPr lang="en-US" sz="1150" b="1" dirty="0">
                <a:solidFill>
                  <a:srgbClr val="BE5320"/>
                </a:solidFill>
                <a:latin typeface="Cambria" pitchFamily="34" charset="0"/>
                <a:ea typeface="Cambria" pitchFamily="34" charset="-122"/>
                <a:cs typeface="Cambria" pitchFamily="34" charset="-120"/>
              </a:rPr>
              <a:t>What works with limited connectivity?</a:t>
            </a:r>
            <a:endParaRPr lang="en-US" sz="1150" dirty="0"/>
          </a:p>
        </p:txBody>
      </p:sp>
      <p:sp>
        <p:nvSpPr>
          <p:cNvPr id="11" name="Text 9"/>
          <p:cNvSpPr/>
          <p:nvPr/>
        </p:nvSpPr>
        <p:spPr>
          <a:xfrm>
            <a:off x="4709160" y="2441448"/>
            <a:ext cx="3977640" cy="585216"/>
          </a:xfrm>
          <a:prstGeom prst="rect">
            <a:avLst/>
          </a:prstGeom>
          <a:noFill/>
          <a:ln/>
        </p:spPr>
        <p:txBody>
          <a:bodyPr wrap="square" lIns="0" tIns="0" rIns="0" bIns="0" rtlCol="0" anchor="ctr"/>
          <a:lstStyle/>
          <a:p>
            <a:pPr marL="0" indent="0">
              <a:buNone/>
            </a:pPr>
            <a:r>
              <a:rPr lang="en-US" sz="1000" dirty="0">
                <a:solidFill>
                  <a:srgbClr val="2B2118"/>
                </a:solidFill>
                <a:latin typeface="Calibri" pitchFamily="34" charset="0"/>
                <a:ea typeface="Calibri" pitchFamily="34" charset="-122"/>
                <a:cs typeface="Calibri" pitchFamily="34" charset="-120"/>
              </a:rPr>
              <a:t>Small open-weight models run fully offline on a standard laptop — no data ever leaves the machine.</a:t>
            </a:r>
            <a:endParaRPr lang="en-US" sz="1000" dirty="0"/>
          </a:p>
        </p:txBody>
      </p:sp>
      <p:sp>
        <p:nvSpPr>
          <p:cNvPr id="12" name="Text 10"/>
          <p:cNvSpPr/>
          <p:nvPr/>
        </p:nvSpPr>
        <p:spPr>
          <a:xfrm>
            <a:off x="502920" y="3063240"/>
            <a:ext cx="3977640" cy="292608"/>
          </a:xfrm>
          <a:prstGeom prst="rect">
            <a:avLst/>
          </a:prstGeom>
          <a:noFill/>
          <a:ln/>
        </p:spPr>
        <p:txBody>
          <a:bodyPr wrap="square" lIns="0" tIns="0" rIns="0" bIns="0" rtlCol="0" anchor="ctr"/>
          <a:lstStyle/>
          <a:p>
            <a:pPr marL="0" indent="0">
              <a:buNone/>
            </a:pPr>
            <a:r>
              <a:rPr lang="en-US" sz="1150" b="1" dirty="0">
                <a:solidFill>
                  <a:srgbClr val="BE5320"/>
                </a:solidFill>
                <a:latin typeface="Cambria" pitchFamily="34" charset="0"/>
                <a:ea typeface="Cambria" pitchFamily="34" charset="-122"/>
                <a:cs typeface="Cambria" pitchFamily="34" charset="-120"/>
              </a:rPr>
              <a:t>How do I supervise students who use AI?</a:t>
            </a:r>
            <a:endParaRPr lang="en-US" sz="1150" dirty="0"/>
          </a:p>
        </p:txBody>
      </p:sp>
      <p:sp>
        <p:nvSpPr>
          <p:cNvPr id="13" name="Text 11"/>
          <p:cNvSpPr/>
          <p:nvPr/>
        </p:nvSpPr>
        <p:spPr>
          <a:xfrm>
            <a:off x="502920" y="3355848"/>
            <a:ext cx="3977640" cy="585216"/>
          </a:xfrm>
          <a:prstGeom prst="rect">
            <a:avLst/>
          </a:prstGeom>
          <a:noFill/>
          <a:ln/>
        </p:spPr>
        <p:txBody>
          <a:bodyPr wrap="square" lIns="0" tIns="0" rIns="0" bIns="0" rtlCol="0" anchor="ctr"/>
          <a:lstStyle/>
          <a:p>
            <a:pPr marL="0" indent="0">
              <a:buNone/>
            </a:pPr>
            <a:r>
              <a:rPr lang="en-US" sz="1000" dirty="0">
                <a:solidFill>
                  <a:srgbClr val="2B2118"/>
                </a:solidFill>
                <a:latin typeface="Calibri" pitchFamily="34" charset="0"/>
                <a:ea typeface="Calibri" pitchFamily="34" charset="-122"/>
                <a:cs typeface="Calibri" pitchFamily="34" charset="-120"/>
              </a:rPr>
              <a:t>Update supervision agreements explicitly: what may be automated, what must be the student’s own hand, and how it is disclosed.</a:t>
            </a:r>
            <a:endParaRPr lang="en-US" sz="1000" dirty="0"/>
          </a:p>
        </p:txBody>
      </p:sp>
      <p:sp>
        <p:nvSpPr>
          <p:cNvPr id="14" name="Text 12"/>
          <p:cNvSpPr/>
          <p:nvPr/>
        </p:nvSpPr>
        <p:spPr>
          <a:xfrm>
            <a:off x="4709160" y="3063240"/>
            <a:ext cx="3977640" cy="292608"/>
          </a:xfrm>
          <a:prstGeom prst="rect">
            <a:avLst/>
          </a:prstGeom>
          <a:noFill/>
          <a:ln/>
        </p:spPr>
        <p:txBody>
          <a:bodyPr wrap="square" lIns="0" tIns="0" rIns="0" bIns="0" rtlCol="0" anchor="ctr"/>
          <a:lstStyle/>
          <a:p>
            <a:pPr marL="0" indent="0">
              <a:buNone/>
            </a:pPr>
            <a:r>
              <a:rPr lang="en-US" sz="1150" b="1" dirty="0">
                <a:solidFill>
                  <a:srgbClr val="BE5320"/>
                </a:solidFill>
                <a:latin typeface="Cambria" pitchFamily="34" charset="0"/>
                <a:ea typeface="Cambria" pitchFamily="34" charset="-122"/>
                <a:cs typeface="Cambria" pitchFamily="34" charset="-120"/>
              </a:rPr>
              <a:t>What about sensitive research data?</a:t>
            </a:r>
            <a:endParaRPr lang="en-US" sz="1150" dirty="0"/>
          </a:p>
        </p:txBody>
      </p:sp>
      <p:sp>
        <p:nvSpPr>
          <p:cNvPr id="15" name="Text 13"/>
          <p:cNvSpPr/>
          <p:nvPr/>
        </p:nvSpPr>
        <p:spPr>
          <a:xfrm>
            <a:off x="4709160" y="3355848"/>
            <a:ext cx="3977640" cy="585216"/>
          </a:xfrm>
          <a:prstGeom prst="rect">
            <a:avLst/>
          </a:prstGeom>
          <a:noFill/>
          <a:ln/>
        </p:spPr>
        <p:txBody>
          <a:bodyPr wrap="square" lIns="0" tIns="0" rIns="0" bIns="0" rtlCol="0" anchor="ctr"/>
          <a:lstStyle/>
          <a:p>
            <a:pPr marL="0" indent="0">
              <a:buNone/>
            </a:pPr>
            <a:r>
              <a:rPr lang="en-US" sz="1000" dirty="0">
                <a:solidFill>
                  <a:srgbClr val="2B2118"/>
                </a:solidFill>
                <a:latin typeface="Calibri" pitchFamily="34" charset="0"/>
                <a:ea typeface="Calibri" pitchFamily="34" charset="-122"/>
                <a:cs typeface="Calibri" pitchFamily="34" charset="-120"/>
              </a:rPr>
              <a:t>Never enter unpublished data, PII, or participant records into a public tool. Use institutional accounts or local models; follow NDPA 2023 or your jurisdiction’s equivalent.</a:t>
            </a:r>
            <a:endParaRPr lang="en-US" sz="1000" dirty="0"/>
          </a:p>
        </p:txBody>
      </p:sp>
      <p:sp>
        <p:nvSpPr>
          <p:cNvPr id="16" name="Text 14"/>
          <p:cNvSpPr/>
          <p:nvPr/>
        </p:nvSpPr>
        <p:spPr>
          <a:xfrm>
            <a:off x="502920" y="3977640"/>
            <a:ext cx="3977640" cy="292608"/>
          </a:xfrm>
          <a:prstGeom prst="rect">
            <a:avLst/>
          </a:prstGeom>
          <a:noFill/>
          <a:ln/>
        </p:spPr>
        <p:txBody>
          <a:bodyPr wrap="square" lIns="0" tIns="0" rIns="0" bIns="0" rtlCol="0" anchor="ctr"/>
          <a:lstStyle/>
          <a:p>
            <a:pPr marL="0" indent="0">
              <a:buNone/>
            </a:pPr>
            <a:r>
              <a:rPr lang="en-US" sz="1150" b="1" dirty="0">
                <a:solidFill>
                  <a:srgbClr val="BE5320"/>
                </a:solidFill>
                <a:latin typeface="Cambria" pitchFamily="34" charset="0"/>
                <a:ea typeface="Cambria" pitchFamily="34" charset="-122"/>
                <a:cs typeface="Cambria" pitchFamily="34" charset="-120"/>
              </a:rPr>
              <a:t>Can AWAU coordinate an AI policy?</a:t>
            </a:r>
            <a:endParaRPr lang="en-US" sz="1150" dirty="0"/>
          </a:p>
        </p:txBody>
      </p:sp>
      <p:sp>
        <p:nvSpPr>
          <p:cNvPr id="17" name="Text 15"/>
          <p:cNvSpPr/>
          <p:nvPr/>
        </p:nvSpPr>
        <p:spPr>
          <a:xfrm>
            <a:off x="502920" y="4270248"/>
            <a:ext cx="3977640" cy="585216"/>
          </a:xfrm>
          <a:prstGeom prst="rect">
            <a:avLst/>
          </a:prstGeom>
          <a:noFill/>
          <a:ln/>
        </p:spPr>
        <p:txBody>
          <a:bodyPr wrap="square" lIns="0" tIns="0" rIns="0" bIns="0" rtlCol="0" anchor="ctr"/>
          <a:lstStyle/>
          <a:p>
            <a:pPr marL="0" indent="0">
              <a:buNone/>
            </a:pPr>
            <a:r>
              <a:rPr lang="en-US" sz="1000" dirty="0">
                <a:solidFill>
                  <a:srgbClr val="2B2118"/>
                </a:solidFill>
                <a:latin typeface="Calibri" pitchFamily="34" charset="0"/>
                <a:ea typeface="Calibri" pitchFamily="34" charset="-122"/>
                <a:cs typeface="Calibri" pitchFamily="34" charset="-120"/>
              </a:rPr>
              <a:t>Yes — this colloquium is a natural starting point; volunteer contributions from member institutions are welcome.</a:t>
            </a:r>
            <a:endParaRPr lang="en-US" sz="1000" dirty="0"/>
          </a:p>
        </p:txBody>
      </p:sp>
      <p:sp>
        <p:nvSpPr>
          <p:cNvPr id="18" name="Text 16"/>
          <p:cNvSpPr/>
          <p:nvPr/>
        </p:nvSpPr>
        <p:spPr>
          <a:xfrm>
            <a:off x="4709160" y="3977640"/>
            <a:ext cx="3977640" cy="292608"/>
          </a:xfrm>
          <a:prstGeom prst="rect">
            <a:avLst/>
          </a:prstGeom>
          <a:noFill/>
          <a:ln/>
        </p:spPr>
        <p:txBody>
          <a:bodyPr wrap="square" lIns="0" tIns="0" rIns="0" bIns="0" rtlCol="0" anchor="ctr"/>
          <a:lstStyle/>
          <a:p>
            <a:pPr marL="0" indent="0">
              <a:buNone/>
            </a:pPr>
            <a:r>
              <a:rPr lang="en-US" sz="1150" b="1" dirty="0">
                <a:solidFill>
                  <a:srgbClr val="BE5320"/>
                </a:solidFill>
                <a:latin typeface="Cambria" pitchFamily="34" charset="0"/>
                <a:ea typeface="Cambria" pitchFamily="34" charset="-122"/>
                <a:cs typeface="Cambria" pitchFamily="34" charset="-120"/>
              </a:rPr>
              <a:t>How do I contribute to African-language AI?</a:t>
            </a:r>
            <a:endParaRPr lang="en-US" sz="1150" dirty="0"/>
          </a:p>
        </p:txBody>
      </p:sp>
      <p:sp>
        <p:nvSpPr>
          <p:cNvPr id="19" name="Text 17"/>
          <p:cNvSpPr/>
          <p:nvPr/>
        </p:nvSpPr>
        <p:spPr>
          <a:xfrm>
            <a:off x="4709160" y="4270248"/>
            <a:ext cx="3977640" cy="585216"/>
          </a:xfrm>
          <a:prstGeom prst="rect">
            <a:avLst/>
          </a:prstGeom>
          <a:noFill/>
          <a:ln/>
        </p:spPr>
        <p:txBody>
          <a:bodyPr wrap="square" lIns="0" tIns="0" rIns="0" bIns="0" rtlCol="0" anchor="ctr"/>
          <a:lstStyle/>
          <a:p>
            <a:pPr marL="0" indent="0">
              <a:buNone/>
            </a:pPr>
            <a:r>
              <a:rPr lang="en-US" sz="1000" dirty="0">
                <a:solidFill>
                  <a:srgbClr val="2B2118"/>
                </a:solidFill>
                <a:latin typeface="Calibri" pitchFamily="34" charset="0"/>
                <a:ea typeface="Calibri" pitchFamily="34" charset="-122"/>
                <a:cs typeface="Calibri" pitchFamily="34" charset="-120"/>
              </a:rPr>
              <a:t>Start with a small, well-documented gold-standard dataset in your domain — that is the highest-leverage single contribution any lecturer can make.</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74320"/>
            <a:ext cx="8229600" cy="256032"/>
          </a:xfrm>
          <a:prstGeom prst="rect">
            <a:avLst/>
          </a:prstGeom>
          <a:noFill/>
          <a:ln/>
        </p:spPr>
        <p:txBody>
          <a:bodyPr wrap="square" lIns="0" tIns="0" rIns="0" bIns="0" rtlCol="0" anchor="ctr"/>
          <a:lstStyle/>
          <a:p>
            <a:pPr marL="0" indent="0">
              <a:buNone/>
            </a:pPr>
            <a:r>
              <a:rPr lang="en-US" sz="1050" b="1" kern="0" spc="130" dirty="0">
                <a:solidFill>
                  <a:srgbClr val="BE5320"/>
                </a:solidFill>
                <a:latin typeface="Calibri" pitchFamily="34" charset="0"/>
                <a:ea typeface="Calibri" pitchFamily="34" charset="-122"/>
                <a:cs typeface="Calibri" pitchFamily="34" charset="-120"/>
              </a:rPr>
              <a:t>APPENDIX  ·  SHARE-AFTER-THE-TALK REFERENCE — NOT FOR LIVE PRESENTATION</a:t>
            </a:r>
            <a:endParaRPr lang="en-US" sz="1050" dirty="0"/>
          </a:p>
        </p:txBody>
      </p:sp>
      <p:sp>
        <p:nvSpPr>
          <p:cNvPr id="3" name="Text 1"/>
          <p:cNvSpPr/>
          <p:nvPr/>
        </p:nvSpPr>
        <p:spPr>
          <a:xfrm>
            <a:off x="502920" y="512064"/>
            <a:ext cx="8138160" cy="384048"/>
          </a:xfrm>
          <a:prstGeom prst="rect">
            <a:avLst/>
          </a:prstGeom>
          <a:noFill/>
          <a:ln/>
        </p:spPr>
        <p:txBody>
          <a:bodyPr wrap="square" lIns="0" tIns="0" rIns="0" bIns="0" rtlCol="0" anchor="ctr"/>
          <a:lstStyle/>
          <a:p>
            <a:pPr marL="0" indent="0">
              <a:buNone/>
            </a:pPr>
            <a:r>
              <a:rPr lang="en-US" sz="2000" b="1" dirty="0">
                <a:solidFill>
                  <a:srgbClr val="3B2314"/>
                </a:solidFill>
                <a:latin typeface="Cambria" pitchFamily="34" charset="0"/>
                <a:ea typeface="Cambria" pitchFamily="34" charset="-122"/>
                <a:cs typeface="Cambria" pitchFamily="34" charset="-120"/>
              </a:rPr>
              <a:t>Named Tools by Task — Quick Reference</a:t>
            </a:r>
            <a:endParaRPr lang="en-US" sz="2000" dirty="0"/>
          </a:p>
        </p:txBody>
      </p:sp>
      <p:sp>
        <p:nvSpPr>
          <p:cNvPr id="4" name="Text 2"/>
          <p:cNvSpPr/>
          <p:nvPr/>
        </p:nvSpPr>
        <p:spPr>
          <a:xfrm>
            <a:off x="502920" y="896112"/>
            <a:ext cx="8138160" cy="274320"/>
          </a:xfrm>
          <a:prstGeom prst="rect">
            <a:avLst/>
          </a:prstGeom>
          <a:noFill/>
          <a:ln/>
        </p:spPr>
        <p:txBody>
          <a:bodyPr wrap="square" lIns="0" tIns="0" rIns="0" bIns="0" rtlCol="0" anchor="ctr"/>
          <a:lstStyle/>
          <a:p>
            <a:pPr marL="0" indent="0">
              <a:buNone/>
            </a:pPr>
            <a:r>
              <a:rPr lang="en-US" sz="1000" i="1" dirty="0">
                <a:solidFill>
                  <a:srgbClr val="8A7A6B"/>
                </a:solidFill>
                <a:latin typeface="Calibri" pitchFamily="34" charset="0"/>
                <a:ea typeface="Calibri" pitchFamily="34" charset="-122"/>
                <a:cs typeface="Calibri" pitchFamily="34" charset="-120"/>
              </a:rPr>
              <a:t>Complements the category view on the Tool Ecosystem slide — for attendees who want brand names to try this week.</a:t>
            </a:r>
            <a:endParaRPr lang="en-US" sz="1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83880" cy="2026920"/>
        </p:xfrm>
        <a:graphic>
          <a:graphicData uri="http://schemas.openxmlformats.org/drawingml/2006/table">
            <a:tbl>
              <a:tblPr/>
              <a:tblGrid>
                <a:gridCol w="169164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gridCol w="1234440">
                  <a:extLst>
                    <a:ext uri="{9D8B030D-6E8A-4147-A177-3AD203B41FA5}">
                      <a16:colId xmlns:a16="http://schemas.microsoft.com/office/drawing/2014/main" val="20006"/>
                    </a:ext>
                  </a:extLst>
                </a:gridCol>
                <a:gridCol w="777240">
                  <a:extLst>
                    <a:ext uri="{9D8B030D-6E8A-4147-A177-3AD203B41FA5}">
                      <a16:colId xmlns:a16="http://schemas.microsoft.com/office/drawing/2014/main" val="20007"/>
                    </a:ext>
                  </a:extLst>
                </a:gridCol>
              </a:tblGrid>
              <a:tr h="0">
                <a:tc>
                  <a:txBody>
                    <a:bodyPr/>
                    <a:lstStyle/>
                    <a:p>
                      <a:pPr marL="0" indent="0" algn="l">
                        <a:buNone/>
                      </a:pPr>
                      <a:r>
                        <a:rPr lang="en-US" sz="900" b="1" dirty="0">
                          <a:solidFill>
                            <a:srgbClr val="FFFFFF"/>
                          </a:solidFill>
                          <a:latin typeface="Calibri" pitchFamily="34" charset="0"/>
                          <a:ea typeface="Calibri" pitchFamily="34" charset="-122"/>
                          <a:cs typeface="Calibri" pitchFamily="34" charset="-120"/>
                        </a:rPr>
                        <a:t>Task</a:t>
                      </a:r>
                      <a:endParaRPr lang="en-US" sz="90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3B2314"/>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ChatGPT / Gemini</a:t>
                      </a:r>
                      <a:endParaRPr lang="en-US" sz="90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3B2314"/>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Claude</a:t>
                      </a:r>
                      <a:endParaRPr lang="en-US" sz="90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3B2314"/>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Elicit</a:t>
                      </a:r>
                      <a:endParaRPr lang="en-US" sz="90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3B2314"/>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Consensus</a:t>
                      </a:r>
                      <a:endParaRPr lang="en-US" sz="90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3B2314"/>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Perplexity</a:t>
                      </a:r>
                      <a:endParaRPr lang="en-US" sz="90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3B2314"/>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Grammarly / QuillBot</a:t>
                      </a:r>
                      <a:endParaRPr lang="en-US" sz="90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3B2314"/>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Gamma</a:t>
                      </a:r>
                      <a:endParaRPr lang="en-US" sz="90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3B2314"/>
                    </a:solidFill>
                  </a:tcPr>
                </a:tc>
                <a:extLst>
                  <a:ext uri="{0D108BD9-81ED-4DB2-BD59-A6C34878D82A}">
                    <a16:rowId xmlns:a16="http://schemas.microsoft.com/office/drawing/2014/main" val="10000"/>
                  </a:ext>
                </a:extLst>
              </a:tr>
              <a:tr h="0">
                <a:tc>
                  <a:txBody>
                    <a:bodyPr/>
                    <a:lstStyle/>
                    <a:p>
                      <a:pPr marL="0" indent="0" algn="l">
                        <a:buNone/>
                      </a:pPr>
                      <a:r>
                        <a:rPr lang="en-US" sz="950" b="1" dirty="0">
                          <a:solidFill>
                            <a:srgbClr val="3B2314"/>
                          </a:solidFill>
                          <a:latin typeface="Calibri" pitchFamily="34" charset="0"/>
                          <a:ea typeface="Calibri" pitchFamily="34" charset="-122"/>
                          <a:cs typeface="Calibri" pitchFamily="34" charset="-120"/>
                        </a:rPr>
                        <a:t>Literature review</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Good</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Good</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BE5320"/>
                          </a:solidFill>
                          <a:latin typeface="Calibri" pitchFamily="34" charset="0"/>
                          <a:ea typeface="Calibri" pitchFamily="34" charset="-122"/>
                          <a:cs typeface="Calibri" pitchFamily="34" charset="-120"/>
                        </a:rPr>
                        <a:t>Best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BE5320"/>
                          </a:solidFill>
                          <a:latin typeface="Calibri" pitchFamily="34" charset="0"/>
                          <a:ea typeface="Calibri" pitchFamily="34" charset="-122"/>
                          <a:cs typeface="Calibri" pitchFamily="34" charset="-120"/>
                        </a:rPr>
                        <a:t>Best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BE5320"/>
                          </a:solidFill>
                          <a:latin typeface="Calibri" pitchFamily="34" charset="0"/>
                          <a:ea typeface="Calibri" pitchFamily="34" charset="-122"/>
                          <a:cs typeface="Calibri" pitchFamily="34" charset="-120"/>
                        </a:rPr>
                        <a:t>Best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extLst>
                  <a:ext uri="{0D108BD9-81ED-4DB2-BD59-A6C34878D82A}">
                    <a16:rowId xmlns:a16="http://schemas.microsoft.com/office/drawing/2014/main" val="10001"/>
                  </a:ext>
                </a:extLst>
              </a:tr>
              <a:tr h="0">
                <a:tc>
                  <a:txBody>
                    <a:bodyPr/>
                    <a:lstStyle/>
                    <a:p>
                      <a:pPr marL="0" indent="0" algn="l">
                        <a:buNone/>
                      </a:pPr>
                      <a:r>
                        <a:rPr lang="en-US" sz="950" b="1" dirty="0">
                          <a:solidFill>
                            <a:srgbClr val="3B2314"/>
                          </a:solidFill>
                          <a:latin typeface="Calibri" pitchFamily="34" charset="0"/>
                          <a:ea typeface="Calibri" pitchFamily="34" charset="-122"/>
                          <a:cs typeface="Calibri" pitchFamily="34" charset="-120"/>
                        </a:rPr>
                        <a:t>Drafting papers</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BE5320"/>
                          </a:solidFill>
                          <a:latin typeface="Calibri" pitchFamily="34" charset="0"/>
                          <a:ea typeface="Calibri" pitchFamily="34" charset="-122"/>
                          <a:cs typeface="Calibri" pitchFamily="34" charset="-120"/>
                        </a:rPr>
                        <a:t>Best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BE5320"/>
                          </a:solidFill>
                          <a:latin typeface="Calibri" pitchFamily="34" charset="0"/>
                          <a:ea typeface="Calibri" pitchFamily="34" charset="-122"/>
                          <a:cs typeface="Calibri" pitchFamily="34" charset="-120"/>
                        </a:rPr>
                        <a:t>Best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Basic</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Good</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l">
                        <a:buNone/>
                      </a:pPr>
                      <a:r>
                        <a:rPr lang="en-US" sz="950" b="1" dirty="0">
                          <a:solidFill>
                            <a:srgbClr val="3B2314"/>
                          </a:solidFill>
                          <a:latin typeface="Calibri" pitchFamily="34" charset="0"/>
                          <a:ea typeface="Calibri" pitchFamily="34" charset="-122"/>
                          <a:cs typeface="Calibri" pitchFamily="34" charset="-120"/>
                        </a:rPr>
                        <a:t>Lesson planning</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BE5320"/>
                          </a:solidFill>
                          <a:latin typeface="Calibri" pitchFamily="34" charset="0"/>
                          <a:ea typeface="Calibri" pitchFamily="34" charset="-122"/>
                          <a:cs typeface="Calibri" pitchFamily="34" charset="-120"/>
                        </a:rPr>
                        <a:t>Best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BE5320"/>
                          </a:solidFill>
                          <a:latin typeface="Calibri" pitchFamily="34" charset="0"/>
                          <a:ea typeface="Calibri" pitchFamily="34" charset="-122"/>
                          <a:cs typeface="Calibri" pitchFamily="34" charset="-120"/>
                        </a:rPr>
                        <a:t>Best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Good</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extLst>
                  <a:ext uri="{0D108BD9-81ED-4DB2-BD59-A6C34878D82A}">
                    <a16:rowId xmlns:a16="http://schemas.microsoft.com/office/drawing/2014/main" val="10003"/>
                  </a:ext>
                </a:extLst>
              </a:tr>
              <a:tr h="0">
                <a:tc>
                  <a:txBody>
                    <a:bodyPr/>
                    <a:lstStyle/>
                    <a:p>
                      <a:pPr marL="0" indent="0" algn="l">
                        <a:buNone/>
                      </a:pPr>
                      <a:r>
                        <a:rPr lang="en-US" sz="950" b="1" dirty="0">
                          <a:solidFill>
                            <a:srgbClr val="3B2314"/>
                          </a:solidFill>
                          <a:latin typeface="Calibri" pitchFamily="34" charset="0"/>
                          <a:ea typeface="Calibri" pitchFamily="34" charset="-122"/>
                          <a:cs typeface="Calibri" pitchFamily="34" charset="-120"/>
                        </a:rPr>
                        <a:t>Quiz / exam generation</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BE5320"/>
                          </a:solidFill>
                          <a:latin typeface="Calibri" pitchFamily="34" charset="0"/>
                          <a:ea typeface="Calibri" pitchFamily="34" charset="-122"/>
                          <a:cs typeface="Calibri" pitchFamily="34" charset="-120"/>
                        </a:rPr>
                        <a:t>Best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BE5320"/>
                          </a:solidFill>
                          <a:latin typeface="Calibri" pitchFamily="34" charset="0"/>
                          <a:ea typeface="Calibri" pitchFamily="34" charset="-122"/>
                          <a:cs typeface="Calibri" pitchFamily="34" charset="-120"/>
                        </a:rPr>
                        <a:t>Best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lgn="l">
                        <a:buNone/>
                      </a:pPr>
                      <a:r>
                        <a:rPr lang="en-US" sz="950" b="1" dirty="0">
                          <a:solidFill>
                            <a:srgbClr val="3B2314"/>
                          </a:solidFill>
                          <a:latin typeface="Calibri" pitchFamily="34" charset="0"/>
                          <a:ea typeface="Calibri" pitchFamily="34" charset="-122"/>
                          <a:cs typeface="Calibri" pitchFamily="34" charset="-120"/>
                        </a:rPr>
                        <a:t>Grant writing</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BE5320"/>
                          </a:solidFill>
                          <a:latin typeface="Calibri" pitchFamily="34" charset="0"/>
                          <a:ea typeface="Calibri" pitchFamily="34" charset="-122"/>
                          <a:cs typeface="Calibri" pitchFamily="34" charset="-120"/>
                        </a:rPr>
                        <a:t>Best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BE5320"/>
                          </a:solidFill>
                          <a:latin typeface="Calibri" pitchFamily="34" charset="0"/>
                          <a:ea typeface="Calibri" pitchFamily="34" charset="-122"/>
                          <a:cs typeface="Calibri" pitchFamily="34" charset="-120"/>
                        </a:rPr>
                        <a:t>Best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Basic</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Basic</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Good</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Good</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extLst>
                  <a:ext uri="{0D108BD9-81ED-4DB2-BD59-A6C34878D82A}">
                    <a16:rowId xmlns:a16="http://schemas.microsoft.com/office/drawing/2014/main" val="10005"/>
                  </a:ext>
                </a:extLst>
              </a:tr>
              <a:tr h="0">
                <a:tc>
                  <a:txBody>
                    <a:bodyPr/>
                    <a:lstStyle/>
                    <a:p>
                      <a:pPr marL="0" indent="0" algn="l">
                        <a:buNone/>
                      </a:pPr>
                      <a:r>
                        <a:rPr lang="en-US" sz="950" b="1" dirty="0">
                          <a:solidFill>
                            <a:srgbClr val="3B2314"/>
                          </a:solidFill>
                          <a:latin typeface="Calibri" pitchFamily="34" charset="0"/>
                          <a:ea typeface="Calibri" pitchFamily="34" charset="-122"/>
                          <a:cs typeface="Calibri" pitchFamily="34" charset="-120"/>
                        </a:rPr>
                        <a:t>Long-document / data analysis</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Good</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BE5320"/>
                          </a:solidFill>
                          <a:latin typeface="Calibri" pitchFamily="34" charset="0"/>
                          <a:ea typeface="Calibri" pitchFamily="34" charset="-122"/>
                          <a:cs typeface="Calibri" pitchFamily="34" charset="-120"/>
                        </a:rPr>
                        <a:t>Best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lgn="l">
                        <a:buNone/>
                      </a:pPr>
                      <a:r>
                        <a:rPr lang="en-US" sz="950" b="1" dirty="0">
                          <a:solidFill>
                            <a:srgbClr val="3B2314"/>
                          </a:solidFill>
                          <a:latin typeface="Calibri" pitchFamily="34" charset="0"/>
                          <a:ea typeface="Calibri" pitchFamily="34" charset="-122"/>
                          <a:cs typeface="Calibri" pitchFamily="34" charset="-120"/>
                        </a:rPr>
                        <a:t>Presentation drafting</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Good</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Basic</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2B2118"/>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tc>
                  <a:txBody>
                    <a:bodyPr/>
                    <a:lstStyle/>
                    <a:p>
                      <a:pPr marL="0" indent="0" algn="ctr">
                        <a:buNone/>
                      </a:pPr>
                      <a:r>
                        <a:rPr lang="en-US" sz="950" dirty="0">
                          <a:solidFill>
                            <a:srgbClr val="BE5320"/>
                          </a:solidFill>
                          <a:latin typeface="Calibri" pitchFamily="34" charset="0"/>
                          <a:ea typeface="Calibri" pitchFamily="34" charset="-122"/>
                          <a:cs typeface="Calibri" pitchFamily="34" charset="-120"/>
                        </a:rPr>
                        <a:t>Best</a:t>
                      </a:r>
                      <a:endParaRPr lang="en-US" sz="950" dirty="0">
                        <a:latin typeface="Calibri" charset="0"/>
                        <a:ea typeface="Calibri" charset="0"/>
                        <a:cs typeface="Calibri" charset="0"/>
                      </a:endParaRPr>
                    </a:p>
                  </a:txBody>
                  <a:tcPr>
                    <a:lnL w="6350" cap="flat" cmpd="sng" algn="ctr">
                      <a:solidFill>
                        <a:srgbClr val="E5D6C2"/>
                      </a:solidFill>
                      <a:prstDash val="solid"/>
                      <a:round/>
                      <a:headEnd type="none" w="med" len="med"/>
                      <a:tailEnd type="none" w="med" len="med"/>
                    </a:lnL>
                    <a:lnR w="6350" cap="flat" cmpd="sng" algn="ctr">
                      <a:solidFill>
                        <a:srgbClr val="E5D6C2"/>
                      </a:solidFill>
                      <a:prstDash val="solid"/>
                      <a:round/>
                      <a:headEnd type="none" w="med" len="med"/>
                      <a:tailEnd type="none" w="med" len="med"/>
                    </a:lnR>
                    <a:lnT w="6350" cap="flat" cmpd="sng" algn="ctr">
                      <a:solidFill>
                        <a:srgbClr val="E5D6C2"/>
                      </a:solidFill>
                      <a:prstDash val="solid"/>
                      <a:round/>
                      <a:headEnd type="none" w="med" len="med"/>
                      <a:tailEnd type="none" w="med" len="med"/>
                    </a:lnT>
                    <a:lnB w="6350" cap="flat" cmpd="sng" algn="ctr">
                      <a:solidFill>
                        <a:srgbClr val="E5D6C2"/>
                      </a:solidFill>
                      <a:prstDash val="solid"/>
                      <a:round/>
                      <a:headEnd type="none" w="med" len="med"/>
                      <a:tailEnd type="none" w="med" len="med"/>
                    </a:lnB>
                    <a:solidFill>
                      <a:srgbClr val="FAF3EA"/>
                    </a:solidFill>
                  </a:tcPr>
                </a:tc>
                <a:extLst>
                  <a:ext uri="{0D108BD9-81ED-4DB2-BD59-A6C34878D82A}">
                    <a16:rowId xmlns:a16="http://schemas.microsoft.com/office/drawing/2014/main" val="10007"/>
                  </a:ext>
                </a:extLst>
              </a:tr>
            </a:tbl>
          </a:graphicData>
        </a:graphic>
      </p:graphicFrame>
      <p:sp>
        <p:nvSpPr>
          <p:cNvPr id="6" name="Text 3"/>
          <p:cNvSpPr/>
          <p:nvPr/>
        </p:nvSpPr>
        <p:spPr>
          <a:xfrm>
            <a:off x="502920" y="4343400"/>
            <a:ext cx="8138160" cy="457200"/>
          </a:xfrm>
          <a:prstGeom prst="rect">
            <a:avLst/>
          </a:prstGeom>
          <a:noFill/>
          <a:ln/>
        </p:spPr>
        <p:txBody>
          <a:bodyPr wrap="square" lIns="0" tIns="0" rIns="0" bIns="0" rtlCol="0" anchor="ctr"/>
          <a:lstStyle/>
          <a:p>
            <a:pPr marL="0" indent="0" algn="ctr">
              <a:buNone/>
            </a:pPr>
            <a:r>
              <a:rPr lang="en-US" sz="1050" i="1" dirty="0">
                <a:solidFill>
                  <a:srgbClr val="8A7A6B"/>
                </a:solidFill>
                <a:latin typeface="Calibri" pitchFamily="34" charset="0"/>
                <a:ea typeface="Calibri" pitchFamily="34" charset="-122"/>
                <a:cs typeface="Calibri" pitchFamily="34" charset="-120"/>
              </a:rPr>
              <a:t>All listed tools have a usable free tier. Best results come from combining two or three, not from finding one ‘winner’.</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3B2314"/>
        </a:solidFill>
        <a:effectLst/>
      </p:bgPr>
    </p:bg>
    <p:spTree>
      <p:nvGrpSpPr>
        <p:cNvPr id="1" name="">
          <a:extLst>
            <a:ext uri="{FF2B5EF4-FFF2-40B4-BE49-F238E27FC236}">
              <a16:creationId xmlns:a16="http://schemas.microsoft.com/office/drawing/2014/main" id="{8E183378-94F2-E5B3-56E9-16D9B3C9D085}"/>
            </a:ext>
          </a:extLst>
        </p:cNvPr>
        <p:cNvGrpSpPr/>
        <p:nvPr/>
      </p:nvGrpSpPr>
      <p:grpSpPr>
        <a:xfrm>
          <a:off x="0" y="0"/>
          <a:ext cx="0" cy="0"/>
          <a:chOff x="0" y="0"/>
          <a:chExt cx="0" cy="0"/>
        </a:xfrm>
      </p:grpSpPr>
      <p:sp>
        <p:nvSpPr>
          <p:cNvPr id="25" name="TextBox 24">
            <a:extLst>
              <a:ext uri="{FF2B5EF4-FFF2-40B4-BE49-F238E27FC236}">
                <a16:creationId xmlns:a16="http://schemas.microsoft.com/office/drawing/2014/main" id="{4A871548-2ABA-AB39-5EAD-677F8655A2F7}"/>
              </a:ext>
            </a:extLst>
          </p:cNvPr>
          <p:cNvSpPr txBox="1"/>
          <p:nvPr/>
        </p:nvSpPr>
        <p:spPr>
          <a:xfrm>
            <a:off x="37214" y="12213"/>
            <a:ext cx="9106786" cy="4266104"/>
          </a:xfrm>
          <a:prstGeom prst="rect">
            <a:avLst/>
          </a:prstGeom>
          <a:noFill/>
        </p:spPr>
        <p:txBody>
          <a:bodyPr wrap="square">
            <a:spAutoFit/>
          </a:bodyPr>
          <a:lstStyle/>
          <a:p>
            <a:pPr marL="0" marR="0" lvl="0" indent="0" algn="ctr" defTabSz="914400" rtl="0" eaLnBrk="1" fontAlgn="auto" latinLnBrk="0" hangingPunct="1">
              <a:lnSpc>
                <a:spcPct val="115000"/>
              </a:lnSpc>
              <a:spcBef>
                <a:spcPts val="0"/>
              </a:spcBef>
              <a:spcAft>
                <a:spcPts val="1000"/>
              </a:spcAft>
              <a:buClrTx/>
              <a:buSzTx/>
              <a:buFontTx/>
              <a:buNone/>
              <a:tabLst/>
              <a:defRPr/>
            </a:pPr>
            <a:r>
              <a:rPr kumimoji="0" lang="en-US" sz="6000" b="1" i="0" u="none" strike="noStrike" kern="1200" cap="none" spc="0" normalizeH="0" baseline="0" noProof="0" dirty="0">
                <a:ln>
                  <a:noFill/>
                </a:ln>
                <a:solidFill>
                  <a:prstClr val="white"/>
                </a:solidFill>
                <a:effectLst/>
                <a:uLnTx/>
                <a:uFillTx/>
                <a:latin typeface="Times New Roman" panose="02020603050405020304" pitchFamily="18" charset="0"/>
                <a:ea typeface="MS Mincho" panose="02020609040205080304" pitchFamily="49" charset="-128"/>
                <a:cs typeface="Times New Roman" panose="02020603050405020304" pitchFamily="18" charset="0"/>
              </a:rPr>
              <a:t>Sakinat Folorunso, PhD</a:t>
            </a:r>
          </a:p>
          <a:p>
            <a:pPr marL="0" marR="0" lvl="0" indent="0" algn="ctr" defTabSz="914400" rtl="0" eaLnBrk="1" fontAlgn="auto" latinLnBrk="0" hangingPunct="1">
              <a:lnSpc>
                <a:spcPct val="115000"/>
              </a:lnSpc>
              <a:spcBef>
                <a:spcPts val="0"/>
              </a:spcBef>
              <a:spcAft>
                <a:spcPts val="1000"/>
              </a:spcAft>
              <a:buClrTx/>
              <a:buSzTx/>
              <a:buFontTx/>
              <a:buNone/>
              <a:tabLst/>
              <a:defRPr/>
            </a:pPr>
            <a:b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ea typeface="MS Mincho" panose="02020609040205080304" pitchFamily="49" charset="-128"/>
                <a:cs typeface="Times New Roman" panose="02020603050405020304" pitchFamily="18" charset="0"/>
              </a:rPr>
            </a:br>
            <a:r>
              <a:rPr kumimoji="0" lang="en-US" sz="4000" b="0" i="0" u="none" strike="noStrike" kern="1200" cap="none" spc="0" normalizeH="0" baseline="0" noProof="0" dirty="0">
                <a:ln>
                  <a:noFill/>
                </a:ln>
                <a:solidFill>
                  <a:prstClr val="white"/>
                </a:solidFill>
                <a:effectLst/>
                <a:uLnTx/>
                <a:uFillTx/>
                <a:latin typeface="Times New Roman" panose="02020603050405020304" pitchFamily="18" charset="0"/>
                <a:ea typeface="MS Mincho" panose="02020609040205080304" pitchFamily="49" charset="-128"/>
                <a:cs typeface="Times New Roman" panose="02020603050405020304" pitchFamily="18" charset="0"/>
              </a:rPr>
              <a:t>Associate Professor</a:t>
            </a:r>
          </a:p>
          <a:p>
            <a:pPr marL="0" marR="0" lvl="0" indent="0" algn="ctr" defTabSz="914400" rtl="0" eaLnBrk="1" fontAlgn="auto" latinLnBrk="0" hangingPunct="1">
              <a:lnSpc>
                <a:spcPct val="115000"/>
              </a:lnSpc>
              <a:spcBef>
                <a:spcPts val="0"/>
              </a:spcBef>
              <a:spcAft>
                <a:spcPts val="100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ea typeface="MS Mincho" panose="02020609040205080304" pitchFamily="49" charset="-128"/>
                <a:cs typeface="Times New Roman" panose="02020603050405020304" pitchFamily="18" charset="0"/>
              </a:rPr>
              <a:t>Department of Computer Sciences, Olabisi Onabanjo University, Nigeria</a:t>
            </a:r>
          </a:p>
          <a:p>
            <a:pPr marL="0" marR="0" lvl="0" indent="0" algn="ctr" defTabSz="914400" rtl="0" eaLnBrk="1" fontAlgn="auto" latinLnBrk="0" hangingPunct="1">
              <a:lnSpc>
                <a:spcPct val="115000"/>
              </a:lnSpc>
              <a:spcBef>
                <a:spcPts val="0"/>
              </a:spcBef>
              <a:spcAft>
                <a:spcPts val="1000"/>
              </a:spcAft>
              <a:buClrTx/>
              <a:buSzTx/>
              <a:buFontTx/>
              <a:buNone/>
              <a:tabLst/>
              <a:defRPr/>
            </a:pPr>
            <a:b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ea typeface="MS Mincho" panose="02020609040205080304" pitchFamily="49" charset="-128"/>
                <a:cs typeface="Times New Roman" panose="02020603050405020304" pitchFamily="18" charset="0"/>
              </a:rPr>
            </a:br>
            <a:r>
              <a:rPr kumimoji="0" lang="en-US" sz="1800" b="1" i="0" u="none" strike="noStrike" kern="1200" cap="none" spc="0" normalizeH="0" baseline="0" noProof="0" dirty="0">
                <a:ln>
                  <a:noFill/>
                </a:ln>
                <a:solidFill>
                  <a:prstClr val="white"/>
                </a:solidFill>
                <a:effectLst/>
                <a:uLnTx/>
                <a:uFillTx/>
                <a:latin typeface="Times New Roman" panose="02020603050405020304" pitchFamily="18" charset="0"/>
                <a:ea typeface="MS Mincho" panose="02020609040205080304" pitchFamily="49" charset="-128"/>
                <a:cs typeface="Times New Roman" panose="02020603050405020304" pitchFamily="18" charset="0"/>
              </a:rPr>
              <a:t>Research focus:</a:t>
            </a:r>
            <a: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ea typeface="MS Mincho" panose="02020609040205080304" pitchFamily="49" charset="-128"/>
                <a:cs typeface="Times New Roman" panose="02020603050405020304" pitchFamily="18" charset="0"/>
              </a:rPr>
              <a:t> AI Systems; Machine &amp; Federated Learning; NLP; Cultural AI; FAIR Data</a:t>
            </a:r>
          </a:p>
          <a:p>
            <a:pPr marL="0" marR="0" lvl="0" indent="0" algn="ctr" defTabSz="914400" rtl="0" eaLnBrk="1" fontAlgn="auto" latinLnBrk="0" hangingPunct="1">
              <a:lnSpc>
                <a:spcPct val="115000"/>
              </a:lnSpc>
              <a:spcBef>
                <a:spcPts val="0"/>
              </a:spcBef>
              <a:spcAft>
                <a:spcPts val="1000"/>
              </a:spcAft>
              <a:buClrTx/>
              <a:buSzTx/>
              <a:buFontTx/>
              <a:buNone/>
              <a:tabLst/>
              <a:defRPr/>
            </a:pPr>
            <a:br>
              <a:rPr kumimoji="0" lang="en-US" sz="1800" b="0" i="0" u="none" strike="noStrike" kern="1200" cap="none" spc="0" normalizeH="0" baseline="0" noProof="0" dirty="0">
                <a:ln>
                  <a:noFill/>
                </a:ln>
                <a:solidFill>
                  <a:prstClr val="white"/>
                </a:solidFill>
                <a:effectLst/>
                <a:uLnTx/>
                <a:uFillTx/>
                <a:latin typeface="Times New Roman" panose="02020603050405020304" pitchFamily="18" charset="0"/>
                <a:ea typeface="MS Mincho" panose="02020609040205080304" pitchFamily="49" charset="-128"/>
                <a:cs typeface="Times New Roman" panose="02020603050405020304" pitchFamily="18" charset="0"/>
              </a:rPr>
            </a:br>
            <a:r>
              <a:rPr kumimoji="0" lang="en-US" sz="1800" b="1" i="0" u="sng" strike="noStrike" kern="1200" cap="none" spc="0" normalizeH="0" baseline="0" noProof="0" dirty="0">
                <a:ln>
                  <a:noFill/>
                </a:ln>
                <a:solidFill>
                  <a:prstClr val="white"/>
                </a:solidFill>
                <a:effectLst/>
                <a:uLnTx/>
                <a:uFillTx/>
                <a:latin typeface="Times New Roman" panose="02020603050405020304" pitchFamily="18" charset="0"/>
                <a:ea typeface="MS Mincho" panose="02020609040205080304" pitchFamily="49" charset="-128"/>
                <a:cs typeface="Times New Roman" panose="02020603050405020304" pitchFamily="18" charset="0"/>
              </a:rPr>
              <a:t>Contacts:</a:t>
            </a:r>
            <a:r>
              <a:rPr kumimoji="0" lang="en-US" sz="1800" b="0" i="0" u="sng" strike="noStrike" kern="1200" cap="none" spc="0" normalizeH="0" baseline="0" noProof="0" dirty="0">
                <a:ln>
                  <a:noFill/>
                </a:ln>
                <a:solidFill>
                  <a:prstClr val="white"/>
                </a:solidFill>
                <a:effectLst/>
                <a:uLnTx/>
                <a:uFillTx/>
                <a:latin typeface="Times New Roman" panose="02020603050405020304" pitchFamily="18" charset="0"/>
                <a:ea typeface="MS Mincho" panose="02020609040205080304" pitchFamily="49" charset="-128"/>
                <a:cs typeface="Times New Roman" panose="02020603050405020304" pitchFamily="18" charset="0"/>
              </a:rPr>
              <a:t> </a:t>
            </a:r>
            <a:r>
              <a:rPr kumimoji="0" lang="en-US" sz="1800" b="0" i="0" u="sng" strike="noStrike" kern="1200" cap="none" spc="0" normalizeH="0" baseline="0" noProof="0" dirty="0">
                <a:ln>
                  <a:noFill/>
                </a:ln>
                <a:solidFill>
                  <a:srgbClr val="ED7D31">
                    <a:lumMod val="75000"/>
                  </a:srgbClr>
                </a:solidFill>
                <a:effectLst/>
                <a:uLnTx/>
                <a:uFillTx/>
                <a:latin typeface="Times New Roman" panose="02020603050405020304" pitchFamily="18" charset="0"/>
                <a:ea typeface="MS Mincho" panose="02020609040205080304" pitchFamily="49" charset="-128"/>
                <a:cs typeface="Times New Roman" panose="02020603050405020304" pitchFamily="18" charset="0"/>
                <a:hlinkClick r:id="rId3">
                  <a:extLst>
                    <a:ext uri="{A12FA001-AC4F-418D-AE19-62706E023703}">
                      <ahyp:hlinkClr xmlns:ahyp="http://schemas.microsoft.com/office/drawing/2018/hyperlinkcolor" val="tx"/>
                    </a:ext>
                  </a:extLst>
                </a:hlinkClick>
              </a:rPr>
              <a:t>Email</a:t>
            </a:r>
            <a:r>
              <a:rPr kumimoji="0" lang="en-US" sz="1800" b="0" i="0" u="none" strike="noStrike" kern="1200" cap="none" spc="0" normalizeH="0" baseline="0" noProof="0" dirty="0">
                <a:ln>
                  <a:noFill/>
                </a:ln>
                <a:solidFill>
                  <a:srgbClr val="ED7D31">
                    <a:lumMod val="75000"/>
                  </a:srgbClr>
                </a:solidFill>
                <a:effectLst/>
                <a:uLnTx/>
                <a:uFillTx/>
                <a:latin typeface="Times New Roman" panose="02020603050405020304" pitchFamily="18" charset="0"/>
                <a:ea typeface="MS Mincho" panose="02020609040205080304" pitchFamily="49" charset="-128"/>
                <a:cs typeface="Times New Roman" panose="02020603050405020304" pitchFamily="18" charset="0"/>
              </a:rPr>
              <a:t> | </a:t>
            </a:r>
            <a:r>
              <a:rPr kumimoji="0" lang="en-US" sz="1800" b="0" i="0" u="sng" strike="noStrike" kern="1200" cap="none" spc="0" normalizeH="0" baseline="0" noProof="0" dirty="0">
                <a:ln>
                  <a:noFill/>
                </a:ln>
                <a:solidFill>
                  <a:srgbClr val="ED7D31">
                    <a:lumMod val="75000"/>
                  </a:srgbClr>
                </a:solidFill>
                <a:effectLst/>
                <a:uLnTx/>
                <a:uFillTx/>
                <a:latin typeface="Times New Roman" panose="02020603050405020304" pitchFamily="18" charset="0"/>
                <a:ea typeface="MS Mincho" panose="02020609040205080304" pitchFamily="49" charset="-128"/>
                <a:cs typeface="Times New Roman" panose="02020603050405020304" pitchFamily="18" charset="0"/>
                <a:hlinkClick r:id="rId4">
                  <a:extLst>
                    <a:ext uri="{A12FA001-AC4F-418D-AE19-62706E023703}">
                      <ahyp:hlinkClr xmlns:ahyp="http://schemas.microsoft.com/office/drawing/2018/hyperlinkcolor" val="tx"/>
                    </a:ext>
                  </a:extLst>
                </a:hlinkClick>
              </a:rPr>
              <a:t>Scholar</a:t>
            </a:r>
            <a:r>
              <a:rPr kumimoji="0" lang="en-US" sz="1800" b="0" i="0" u="none" strike="noStrike" kern="1200" cap="none" spc="0" normalizeH="0" baseline="0" noProof="0" dirty="0">
                <a:ln>
                  <a:noFill/>
                </a:ln>
                <a:solidFill>
                  <a:srgbClr val="ED7D31">
                    <a:lumMod val="75000"/>
                  </a:srgbClr>
                </a:solidFill>
                <a:effectLst/>
                <a:uLnTx/>
                <a:uFillTx/>
                <a:latin typeface="Times New Roman" panose="02020603050405020304" pitchFamily="18" charset="0"/>
                <a:ea typeface="MS Mincho" panose="02020609040205080304" pitchFamily="49" charset="-128"/>
                <a:cs typeface="Times New Roman" panose="02020603050405020304" pitchFamily="18" charset="0"/>
              </a:rPr>
              <a:t> | </a:t>
            </a:r>
            <a:r>
              <a:rPr kumimoji="0" lang="en-US" sz="1800" b="0" i="0" u="sng" strike="noStrike" kern="1200" cap="none" spc="0" normalizeH="0" baseline="0" noProof="0" dirty="0">
                <a:ln>
                  <a:noFill/>
                </a:ln>
                <a:solidFill>
                  <a:srgbClr val="ED7D31">
                    <a:lumMod val="75000"/>
                  </a:srgbClr>
                </a:solidFill>
                <a:effectLst/>
                <a:uLnTx/>
                <a:uFillTx/>
                <a:latin typeface="Times New Roman" panose="02020603050405020304" pitchFamily="18" charset="0"/>
                <a:ea typeface="MS Mincho" panose="02020609040205080304" pitchFamily="49" charset="-128"/>
                <a:cs typeface="Times New Roman" panose="02020603050405020304" pitchFamily="18" charset="0"/>
                <a:hlinkClick r:id="rId5">
                  <a:extLst>
                    <a:ext uri="{A12FA001-AC4F-418D-AE19-62706E023703}">
                      <ahyp:hlinkClr xmlns:ahyp="http://schemas.microsoft.com/office/drawing/2018/hyperlinkcolor" val="tx"/>
                    </a:ext>
                  </a:extLst>
                </a:hlinkClick>
              </a:rPr>
              <a:t>ORCID</a:t>
            </a:r>
            <a:r>
              <a:rPr kumimoji="0" lang="en-US" sz="1800" b="0" i="0" u="none" strike="noStrike" kern="1200" cap="none" spc="0" normalizeH="0" baseline="0" noProof="0" dirty="0">
                <a:ln>
                  <a:noFill/>
                </a:ln>
                <a:solidFill>
                  <a:srgbClr val="ED7D31">
                    <a:lumMod val="75000"/>
                  </a:srgbClr>
                </a:solidFill>
                <a:effectLst/>
                <a:uLnTx/>
                <a:uFillTx/>
                <a:latin typeface="Times New Roman" panose="02020603050405020304" pitchFamily="18" charset="0"/>
                <a:ea typeface="MS Mincho" panose="02020609040205080304" pitchFamily="49" charset="-128"/>
                <a:cs typeface="Times New Roman" panose="02020603050405020304" pitchFamily="18" charset="0"/>
              </a:rPr>
              <a:t> | </a:t>
            </a:r>
            <a:r>
              <a:rPr kumimoji="0" lang="en-US" sz="1800" b="0" i="0" u="sng" strike="noStrike" kern="1200" cap="none" spc="0" normalizeH="0" baseline="0" noProof="0" dirty="0">
                <a:ln>
                  <a:noFill/>
                </a:ln>
                <a:solidFill>
                  <a:srgbClr val="ED7D31">
                    <a:lumMod val="75000"/>
                  </a:srgbClr>
                </a:solidFill>
                <a:effectLst/>
                <a:uLnTx/>
                <a:uFillTx/>
                <a:latin typeface="Times New Roman" panose="02020603050405020304" pitchFamily="18" charset="0"/>
                <a:ea typeface="MS Mincho" panose="02020609040205080304" pitchFamily="49" charset="-128"/>
                <a:cs typeface="Times New Roman" panose="02020603050405020304" pitchFamily="18" charset="0"/>
                <a:hlinkClick r:id="rId6">
                  <a:extLst>
                    <a:ext uri="{A12FA001-AC4F-418D-AE19-62706E023703}">
                      <ahyp:hlinkClr xmlns:ahyp="http://schemas.microsoft.com/office/drawing/2018/hyperlinkcolor" val="tx"/>
                    </a:ext>
                  </a:extLst>
                </a:hlinkClick>
              </a:rPr>
              <a:t>LinkedIn</a:t>
            </a:r>
            <a:r>
              <a:rPr kumimoji="0" lang="en-US" sz="1800" b="0" i="0" u="none" strike="noStrike" kern="1200" cap="none" spc="0" normalizeH="0" baseline="0" noProof="0" dirty="0">
                <a:ln>
                  <a:noFill/>
                </a:ln>
                <a:solidFill>
                  <a:srgbClr val="ED7D31">
                    <a:lumMod val="75000"/>
                  </a:srgbClr>
                </a:solidFill>
                <a:effectLst/>
                <a:uLnTx/>
                <a:uFillTx/>
                <a:latin typeface="Times New Roman" panose="02020603050405020304" pitchFamily="18" charset="0"/>
                <a:ea typeface="MS Mincho" panose="02020609040205080304" pitchFamily="49" charset="-128"/>
                <a:cs typeface="Times New Roman" panose="02020603050405020304" pitchFamily="18" charset="0"/>
              </a:rPr>
              <a:t> | </a:t>
            </a:r>
            <a:r>
              <a:rPr kumimoji="0" lang="en-US" sz="1800" b="0" i="0" u="sng" strike="noStrike" kern="1200" cap="none" spc="0" normalizeH="0" baseline="0" noProof="0" dirty="0">
                <a:ln>
                  <a:noFill/>
                </a:ln>
                <a:solidFill>
                  <a:srgbClr val="ED7D31">
                    <a:lumMod val="75000"/>
                  </a:srgbClr>
                </a:solidFill>
                <a:effectLst/>
                <a:uLnTx/>
                <a:uFillTx/>
                <a:latin typeface="Times New Roman" panose="02020603050405020304" pitchFamily="18" charset="0"/>
                <a:ea typeface="MS Mincho" panose="02020609040205080304" pitchFamily="49" charset="-128"/>
                <a:cs typeface="Times New Roman" panose="02020603050405020304" pitchFamily="18" charset="0"/>
                <a:hlinkClick r:id="rId7">
                  <a:extLst>
                    <a:ext uri="{A12FA001-AC4F-418D-AE19-62706E023703}">
                      <ahyp:hlinkClr xmlns:ahyp="http://schemas.microsoft.com/office/drawing/2018/hyperlinkcolor" val="tx"/>
                    </a:ext>
                  </a:extLst>
                </a:hlinkClick>
              </a:rPr>
              <a:t>Website</a:t>
            </a:r>
            <a:r>
              <a:rPr kumimoji="0" lang="en-US" sz="1800" b="0" i="0" u="none" strike="noStrike" kern="1200" cap="none" spc="0" normalizeH="0" baseline="0" noProof="0" dirty="0">
                <a:ln>
                  <a:noFill/>
                </a:ln>
                <a:solidFill>
                  <a:srgbClr val="ED7D31">
                    <a:lumMod val="75000"/>
                  </a:srgbClr>
                </a:solidFill>
                <a:effectLst/>
                <a:uLnTx/>
                <a:uFillTx/>
                <a:latin typeface="Times New Roman" panose="02020603050405020304" pitchFamily="18" charset="0"/>
                <a:ea typeface="MS Mincho" panose="02020609040205080304" pitchFamily="49" charset="-128"/>
                <a:cs typeface="Times New Roman" panose="02020603050405020304" pitchFamily="18" charset="0"/>
              </a:rPr>
              <a:t> | </a:t>
            </a:r>
            <a:r>
              <a:rPr kumimoji="0" lang="en-US" sz="1800" b="0" i="0" u="sng" strike="noStrike" kern="1200" cap="none" spc="0" normalizeH="0" baseline="0" noProof="0" dirty="0">
                <a:ln>
                  <a:noFill/>
                </a:ln>
                <a:solidFill>
                  <a:srgbClr val="ED7D31">
                    <a:lumMod val="75000"/>
                  </a:srgbClr>
                </a:solidFill>
                <a:effectLst/>
                <a:uLnTx/>
                <a:uFillTx/>
                <a:latin typeface="Times New Roman" panose="02020603050405020304" pitchFamily="18" charset="0"/>
                <a:ea typeface="MS Mincho" panose="02020609040205080304" pitchFamily="49" charset="-128"/>
                <a:cs typeface="Times New Roman" panose="02020603050405020304" pitchFamily="18" charset="0"/>
                <a:hlinkClick r:id="rId8">
                  <a:extLst>
                    <a:ext uri="{A12FA001-AC4F-418D-AE19-62706E023703}">
                      <ahyp:hlinkClr xmlns:ahyp="http://schemas.microsoft.com/office/drawing/2018/hyperlinkcolor" val="tx"/>
                    </a:ext>
                  </a:extLst>
                </a:hlinkClick>
              </a:rPr>
              <a:t>GitHub</a:t>
            </a:r>
            <a:endParaRPr kumimoji="0" lang="en-GB" sz="1800" b="0" i="0" u="none" strike="noStrike" kern="1200" cap="none" spc="0" normalizeH="0" baseline="0" noProof="0" dirty="0">
              <a:ln>
                <a:noFill/>
              </a:ln>
              <a:solidFill>
                <a:srgbClr val="ED7D31">
                  <a:lumMod val="75000"/>
                </a:srgbClr>
              </a:solidFill>
              <a:effectLst/>
              <a:uLnTx/>
              <a:uFillTx/>
              <a:latin typeface="Calibri" panose="020F0502020204030204" pitchFamily="34" charset="0"/>
              <a:ea typeface="MS Mincho" panose="02020609040205080304" pitchFamily="49" charset="-128"/>
              <a:cs typeface="Times New Roman" panose="02020603050405020304" pitchFamily="18" charset="0"/>
            </a:endParaRPr>
          </a:p>
        </p:txBody>
      </p:sp>
    </p:spTree>
    <p:extLst>
      <p:ext uri="{BB962C8B-B14F-4D97-AF65-F5344CB8AC3E}">
        <p14:creationId xmlns:p14="http://schemas.microsoft.com/office/powerpoint/2010/main" val="22595908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981</TotalTime>
  <Words>6950</Words>
  <Application>Microsoft Office PowerPoint</Application>
  <PresentationFormat>On-screen Show (16:9)</PresentationFormat>
  <Paragraphs>553</Paragraphs>
  <Slides>30</Slides>
  <Notes>30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Aptos</vt:lpstr>
      <vt:lpstr>Arial</vt:lpstr>
      <vt:lpstr>Calibri</vt:lpstr>
      <vt:lpstr>Cambria</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Methodology Transformation: Integrating AI into Research Workflows</dc:title>
  <dc:subject>PptxGenJS Presentation</dc:subject>
  <dc:creator>Prof. Dr. Sakinat Oluwabukonla Folorunso</dc:creator>
  <cp:lastModifiedBy>Sakinat TijaniFolorunso</cp:lastModifiedBy>
  <cp:revision>5</cp:revision>
  <dcterms:created xsi:type="dcterms:W3CDTF">2026-07-06T05:18:40Z</dcterms:created>
  <dcterms:modified xsi:type="dcterms:W3CDTF">2026-07-11T12:54:02Z</dcterms:modified>
</cp:coreProperties>
</file>