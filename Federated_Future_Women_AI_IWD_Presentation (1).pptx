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66" r:id="rId3"/>
    <p:sldId id="257" r:id="rId4"/>
    <p:sldId id="267" r:id="rId5"/>
    <p:sldId id="269" r:id="rId6"/>
    <p:sldId id="263" r:id="rId7"/>
    <p:sldId id="259" r:id="rId8"/>
    <p:sldId id="260" r:id="rId9"/>
    <p:sldId id="271" r:id="rId10"/>
    <p:sldId id="261" r:id="rId11"/>
    <p:sldId id="265" r:id="rId12"/>
    <p:sldId id="270" r:id="rId13"/>
    <p:sldId id="302"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DD6E51-EC0B-4F47-9911-E6DF9AF9181A}" v="2" dt="2026-03-07T14:21:13.2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805" autoAdjust="0"/>
  </p:normalViewPr>
  <p:slideViewPr>
    <p:cSldViewPr snapToGrid="0" snapToObjects="1">
      <p:cViewPr varScale="1">
        <p:scale>
          <a:sx n="84" d="100"/>
          <a:sy n="84" d="100"/>
        </p:scale>
        <p:origin x="188" y="64"/>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kinat TijaniFolorunso" userId="2026cc75a16afb09" providerId="LiveId" clId="{33E481AB-362D-4B68-A7AB-4A96BE7EB6BE}"/>
    <pc:docChg chg="undo custSel modSld">
      <pc:chgData name="Sakinat TijaniFolorunso" userId="2026cc75a16afb09" providerId="LiveId" clId="{33E481AB-362D-4B68-A7AB-4A96BE7EB6BE}" dt="2026-03-07T14:21:20.237" v="64" actId="478"/>
      <pc:docMkLst>
        <pc:docMk/>
      </pc:docMkLst>
      <pc:sldChg chg="modSp mod">
        <pc:chgData name="Sakinat TijaniFolorunso" userId="2026cc75a16afb09" providerId="LiveId" clId="{33E481AB-362D-4B68-A7AB-4A96BE7EB6BE}" dt="2026-03-07T14:17:30.574" v="61" actId="14100"/>
        <pc:sldMkLst>
          <pc:docMk/>
          <pc:sldMk cId="0" sldId="256"/>
        </pc:sldMkLst>
        <pc:spChg chg="mod">
          <ac:chgData name="Sakinat TijaniFolorunso" userId="2026cc75a16afb09" providerId="LiveId" clId="{33E481AB-362D-4B68-A7AB-4A96BE7EB6BE}" dt="2026-03-07T14:17:30.574" v="61" actId="14100"/>
          <ac:spMkLst>
            <pc:docMk/>
            <pc:sldMk cId="0" sldId="256"/>
            <ac:spMk id="3" creationId="{00000000-0000-0000-0000-000000000000}"/>
          </ac:spMkLst>
        </pc:spChg>
      </pc:sldChg>
      <pc:sldChg chg="addSp delSp modSp mod">
        <pc:chgData name="Sakinat TijaniFolorunso" userId="2026cc75a16afb09" providerId="LiveId" clId="{33E481AB-362D-4B68-A7AB-4A96BE7EB6BE}" dt="2026-03-07T14:21:20.237" v="64" actId="478"/>
        <pc:sldMkLst>
          <pc:docMk/>
          <pc:sldMk cId="1485078424" sldId="302"/>
        </pc:sldMkLst>
        <pc:picChg chg="add del mod">
          <ac:chgData name="Sakinat TijaniFolorunso" userId="2026cc75a16afb09" providerId="LiveId" clId="{33E481AB-362D-4B68-A7AB-4A96BE7EB6BE}" dt="2026-03-07T14:21:20.237" v="64" actId="478"/>
          <ac:picMkLst>
            <pc:docMk/>
            <pc:sldMk cId="1485078424" sldId="302"/>
            <ac:picMk id="4" creationId="{42D936D5-8AC1-5BA6-A75B-2E5AEA06D1C2}"/>
          </ac:picMkLst>
        </pc:pic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419DC6D-BF7B-43E7-9EA1-F3DC786F8D27}"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A3527F8-92C8-4432-A444-D10D1F61D917}">
      <dgm:prSet/>
      <dgm:spPr/>
      <dgm:t>
        <a:bodyPr/>
        <a:lstStyle/>
        <a:p>
          <a:r>
            <a:rPr lang="en-US"/>
            <a:t>Federated learning enables collaborative AI without sharing raw data</a:t>
          </a:r>
        </a:p>
      </dgm:t>
    </dgm:pt>
    <dgm:pt modelId="{53415423-11E6-44C2-BD3E-B334C843B83A}" type="parTrans" cxnId="{862E0FCC-06BD-44FE-A668-C5B051F24017}">
      <dgm:prSet/>
      <dgm:spPr/>
      <dgm:t>
        <a:bodyPr/>
        <a:lstStyle/>
        <a:p>
          <a:endParaRPr lang="en-US"/>
        </a:p>
      </dgm:t>
    </dgm:pt>
    <dgm:pt modelId="{AD5AD8D7-0C6C-4134-9BBB-A0732C3F9EA9}" type="sibTrans" cxnId="{862E0FCC-06BD-44FE-A668-C5B051F24017}">
      <dgm:prSet/>
      <dgm:spPr/>
      <dgm:t>
        <a:bodyPr/>
        <a:lstStyle/>
        <a:p>
          <a:endParaRPr lang="en-US"/>
        </a:p>
      </dgm:t>
    </dgm:pt>
    <dgm:pt modelId="{C4DF69BF-E1CB-4D12-ABDC-5CA3E696AEB6}">
      <dgm:prSet/>
      <dgm:spPr/>
      <dgm:t>
        <a:bodyPr/>
        <a:lstStyle/>
        <a:p>
          <a:r>
            <a:rPr lang="en-US"/>
            <a:t>Models are trained across distributed nodes</a:t>
          </a:r>
        </a:p>
      </dgm:t>
    </dgm:pt>
    <dgm:pt modelId="{6E20B48D-85A3-41BC-BEC9-61FBFCAE5F2D}" type="parTrans" cxnId="{A0410DA3-523C-4D23-A36D-05FB9F3B0F3C}">
      <dgm:prSet/>
      <dgm:spPr/>
      <dgm:t>
        <a:bodyPr/>
        <a:lstStyle/>
        <a:p>
          <a:endParaRPr lang="en-US"/>
        </a:p>
      </dgm:t>
    </dgm:pt>
    <dgm:pt modelId="{B34CEA4B-9B43-4410-97E6-E7561F515664}" type="sibTrans" cxnId="{A0410DA3-523C-4D23-A36D-05FB9F3B0F3C}">
      <dgm:prSet/>
      <dgm:spPr/>
      <dgm:t>
        <a:bodyPr/>
        <a:lstStyle/>
        <a:p>
          <a:endParaRPr lang="en-US"/>
        </a:p>
      </dgm:t>
    </dgm:pt>
    <dgm:pt modelId="{2C7EEDDB-0305-438F-AF92-2DA3E024AC93}">
      <dgm:prSet/>
      <dgm:spPr/>
      <dgm:t>
        <a:bodyPr/>
        <a:lstStyle/>
        <a:p>
          <a:r>
            <a:rPr lang="en-US"/>
            <a:t>Privacy and data ownership are preserved</a:t>
          </a:r>
        </a:p>
      </dgm:t>
    </dgm:pt>
    <dgm:pt modelId="{99851788-BFD1-4D69-BB10-04A72C30A54C}" type="parTrans" cxnId="{C5F76249-7441-4682-9FA6-03FA81D03D16}">
      <dgm:prSet/>
      <dgm:spPr/>
      <dgm:t>
        <a:bodyPr/>
        <a:lstStyle/>
        <a:p>
          <a:endParaRPr lang="en-US"/>
        </a:p>
      </dgm:t>
    </dgm:pt>
    <dgm:pt modelId="{245D7E1B-FB8B-425C-9A36-87B0648DB63C}" type="sibTrans" cxnId="{C5F76249-7441-4682-9FA6-03FA81D03D16}">
      <dgm:prSet/>
      <dgm:spPr/>
      <dgm:t>
        <a:bodyPr/>
        <a:lstStyle/>
        <a:p>
          <a:endParaRPr lang="en-US"/>
        </a:p>
      </dgm:t>
    </dgm:pt>
    <dgm:pt modelId="{21811899-D9D6-46ED-90CB-69F91059A2CA}">
      <dgm:prSet/>
      <dgm:spPr/>
      <dgm:t>
        <a:bodyPr/>
        <a:lstStyle/>
        <a:p>
          <a:r>
            <a:rPr lang="en-US"/>
            <a:t>Institutions contribute knowledge rather than raw data</a:t>
          </a:r>
        </a:p>
      </dgm:t>
    </dgm:pt>
    <dgm:pt modelId="{0098B219-1A10-4300-8406-9E66761352F7}" type="parTrans" cxnId="{8C009CA9-E845-44DD-B46D-88CBBEB7995A}">
      <dgm:prSet/>
      <dgm:spPr/>
      <dgm:t>
        <a:bodyPr/>
        <a:lstStyle/>
        <a:p>
          <a:endParaRPr lang="en-US"/>
        </a:p>
      </dgm:t>
    </dgm:pt>
    <dgm:pt modelId="{86718EE0-0364-4526-AF83-4EC3A98EA4D3}" type="sibTrans" cxnId="{8C009CA9-E845-44DD-B46D-88CBBEB7995A}">
      <dgm:prSet/>
      <dgm:spPr/>
      <dgm:t>
        <a:bodyPr/>
        <a:lstStyle/>
        <a:p>
          <a:endParaRPr lang="en-US"/>
        </a:p>
      </dgm:t>
    </dgm:pt>
    <dgm:pt modelId="{69EA7C0A-8EE8-4779-989A-273BC4D38544}" type="pres">
      <dgm:prSet presAssocID="{D419DC6D-BF7B-43E7-9EA1-F3DC786F8D27}" presName="root" presStyleCnt="0">
        <dgm:presLayoutVars>
          <dgm:dir/>
          <dgm:resizeHandles val="exact"/>
        </dgm:presLayoutVars>
      </dgm:prSet>
      <dgm:spPr/>
    </dgm:pt>
    <dgm:pt modelId="{21B3D7C8-78EC-48BD-B3A1-E766C8A4D0B2}" type="pres">
      <dgm:prSet presAssocID="{3A3527F8-92C8-4432-A444-D10D1F61D917}" presName="compNode" presStyleCnt="0"/>
      <dgm:spPr/>
    </dgm:pt>
    <dgm:pt modelId="{BD96A306-6B01-4B6F-941F-55D36E66F6E2}" type="pres">
      <dgm:prSet presAssocID="{3A3527F8-92C8-4432-A444-D10D1F61D917}" presName="bgRect" presStyleLbl="bgShp" presStyleIdx="0" presStyleCnt="4"/>
      <dgm:spPr/>
    </dgm:pt>
    <dgm:pt modelId="{20A1386E-21BF-4BD0-828D-0BC54A51EF63}" type="pres">
      <dgm:prSet presAssocID="{3A3527F8-92C8-4432-A444-D10D1F61D917}"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EF851183-83F7-4854-8B37-DE6C69F3E72F}" type="pres">
      <dgm:prSet presAssocID="{3A3527F8-92C8-4432-A444-D10D1F61D917}" presName="spaceRect" presStyleCnt="0"/>
      <dgm:spPr/>
    </dgm:pt>
    <dgm:pt modelId="{3D682CEC-6526-4956-81B0-4A5CFFF7C06A}" type="pres">
      <dgm:prSet presAssocID="{3A3527F8-92C8-4432-A444-D10D1F61D917}" presName="parTx" presStyleLbl="revTx" presStyleIdx="0" presStyleCnt="4">
        <dgm:presLayoutVars>
          <dgm:chMax val="0"/>
          <dgm:chPref val="0"/>
        </dgm:presLayoutVars>
      </dgm:prSet>
      <dgm:spPr/>
    </dgm:pt>
    <dgm:pt modelId="{DD0EF813-BF40-401F-9CED-4D33C031BDF5}" type="pres">
      <dgm:prSet presAssocID="{AD5AD8D7-0C6C-4134-9BBB-A0732C3F9EA9}" presName="sibTrans" presStyleCnt="0"/>
      <dgm:spPr/>
    </dgm:pt>
    <dgm:pt modelId="{861E6035-DCA0-4969-A8A4-0A4B72BED3D9}" type="pres">
      <dgm:prSet presAssocID="{C4DF69BF-E1CB-4D12-ABDC-5CA3E696AEB6}" presName="compNode" presStyleCnt="0"/>
      <dgm:spPr/>
    </dgm:pt>
    <dgm:pt modelId="{FAA3D13E-6FE6-46F0-AF2F-5212C30002A3}" type="pres">
      <dgm:prSet presAssocID="{C4DF69BF-E1CB-4D12-ABDC-5CA3E696AEB6}" presName="bgRect" presStyleLbl="bgShp" presStyleIdx="1" presStyleCnt="4"/>
      <dgm:spPr/>
    </dgm:pt>
    <dgm:pt modelId="{29E47008-1FEA-4F58-9D26-786A2B922D4E}" type="pres">
      <dgm:prSet presAssocID="{C4DF69BF-E1CB-4D12-ABDC-5CA3E696AEB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Network"/>
        </a:ext>
      </dgm:extLst>
    </dgm:pt>
    <dgm:pt modelId="{F93AAB98-936D-4270-81E1-089364AC7F92}" type="pres">
      <dgm:prSet presAssocID="{C4DF69BF-E1CB-4D12-ABDC-5CA3E696AEB6}" presName="spaceRect" presStyleCnt="0"/>
      <dgm:spPr/>
    </dgm:pt>
    <dgm:pt modelId="{08415F79-2604-4736-910E-197D33D6AD07}" type="pres">
      <dgm:prSet presAssocID="{C4DF69BF-E1CB-4D12-ABDC-5CA3E696AEB6}" presName="parTx" presStyleLbl="revTx" presStyleIdx="1" presStyleCnt="4">
        <dgm:presLayoutVars>
          <dgm:chMax val="0"/>
          <dgm:chPref val="0"/>
        </dgm:presLayoutVars>
      </dgm:prSet>
      <dgm:spPr/>
    </dgm:pt>
    <dgm:pt modelId="{074E7BEA-8078-4D80-A42E-26D722772A79}" type="pres">
      <dgm:prSet presAssocID="{B34CEA4B-9B43-4410-97E6-E7561F515664}" presName="sibTrans" presStyleCnt="0"/>
      <dgm:spPr/>
    </dgm:pt>
    <dgm:pt modelId="{B930FB36-685B-41FB-95C0-8C51B9AE7DF6}" type="pres">
      <dgm:prSet presAssocID="{2C7EEDDB-0305-438F-AF92-2DA3E024AC93}" presName="compNode" presStyleCnt="0"/>
      <dgm:spPr/>
    </dgm:pt>
    <dgm:pt modelId="{2C8C9C59-20E7-45CE-8044-70910C3713E9}" type="pres">
      <dgm:prSet presAssocID="{2C7EEDDB-0305-438F-AF92-2DA3E024AC93}" presName="bgRect" presStyleLbl="bgShp" presStyleIdx="2" presStyleCnt="4"/>
      <dgm:spPr/>
    </dgm:pt>
    <dgm:pt modelId="{CB85215B-F5D3-48E9-B276-08B544D62EF0}" type="pres">
      <dgm:prSet presAssocID="{2C7EEDDB-0305-438F-AF92-2DA3E024AC93}"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ock"/>
        </a:ext>
      </dgm:extLst>
    </dgm:pt>
    <dgm:pt modelId="{8AE3F27F-6999-4564-9316-E48158630843}" type="pres">
      <dgm:prSet presAssocID="{2C7EEDDB-0305-438F-AF92-2DA3E024AC93}" presName="spaceRect" presStyleCnt="0"/>
      <dgm:spPr/>
    </dgm:pt>
    <dgm:pt modelId="{C183CA74-E64F-43D6-B63F-7AF012171431}" type="pres">
      <dgm:prSet presAssocID="{2C7EEDDB-0305-438F-AF92-2DA3E024AC93}" presName="parTx" presStyleLbl="revTx" presStyleIdx="2" presStyleCnt="4">
        <dgm:presLayoutVars>
          <dgm:chMax val="0"/>
          <dgm:chPref val="0"/>
        </dgm:presLayoutVars>
      </dgm:prSet>
      <dgm:spPr/>
    </dgm:pt>
    <dgm:pt modelId="{9DE7E38D-CDD1-42B9-8288-0728DFCAECFF}" type="pres">
      <dgm:prSet presAssocID="{245D7E1B-FB8B-425C-9A36-87B0648DB63C}" presName="sibTrans" presStyleCnt="0"/>
      <dgm:spPr/>
    </dgm:pt>
    <dgm:pt modelId="{0447793E-4B59-4862-BCA7-E0DC86CE7800}" type="pres">
      <dgm:prSet presAssocID="{21811899-D9D6-46ED-90CB-69F91059A2CA}" presName="compNode" presStyleCnt="0"/>
      <dgm:spPr/>
    </dgm:pt>
    <dgm:pt modelId="{804D08BB-53F3-4B28-9AD7-5C491CDEF9AF}" type="pres">
      <dgm:prSet presAssocID="{21811899-D9D6-46ED-90CB-69F91059A2CA}" presName="bgRect" presStyleLbl="bgShp" presStyleIdx="3" presStyleCnt="4"/>
      <dgm:spPr/>
    </dgm:pt>
    <dgm:pt modelId="{1332047F-C0B4-4D16-A0D1-2890E3E8833E}" type="pres">
      <dgm:prSet presAssocID="{21811899-D9D6-46ED-90CB-69F91059A2CA}"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ead with Gears"/>
        </a:ext>
      </dgm:extLst>
    </dgm:pt>
    <dgm:pt modelId="{B5BC0454-269B-4046-98C8-17CAB5FBF118}" type="pres">
      <dgm:prSet presAssocID="{21811899-D9D6-46ED-90CB-69F91059A2CA}" presName="spaceRect" presStyleCnt="0"/>
      <dgm:spPr/>
    </dgm:pt>
    <dgm:pt modelId="{77DDE86D-E54A-497C-86DE-C89FEBB31BAC}" type="pres">
      <dgm:prSet presAssocID="{21811899-D9D6-46ED-90CB-69F91059A2CA}" presName="parTx" presStyleLbl="revTx" presStyleIdx="3" presStyleCnt="4">
        <dgm:presLayoutVars>
          <dgm:chMax val="0"/>
          <dgm:chPref val="0"/>
        </dgm:presLayoutVars>
      </dgm:prSet>
      <dgm:spPr/>
    </dgm:pt>
  </dgm:ptLst>
  <dgm:cxnLst>
    <dgm:cxn modelId="{74ED725F-B777-468A-ACEB-E2EE42BF71B2}" type="presOf" srcId="{21811899-D9D6-46ED-90CB-69F91059A2CA}" destId="{77DDE86D-E54A-497C-86DE-C89FEBB31BAC}" srcOrd="0" destOrd="0" presId="urn:microsoft.com/office/officeart/2018/2/layout/IconVerticalSolidList"/>
    <dgm:cxn modelId="{C5F76249-7441-4682-9FA6-03FA81D03D16}" srcId="{D419DC6D-BF7B-43E7-9EA1-F3DC786F8D27}" destId="{2C7EEDDB-0305-438F-AF92-2DA3E024AC93}" srcOrd="2" destOrd="0" parTransId="{99851788-BFD1-4D69-BB10-04A72C30A54C}" sibTransId="{245D7E1B-FB8B-425C-9A36-87B0648DB63C}"/>
    <dgm:cxn modelId="{F084B78D-EF4A-41DC-B262-D3455B3B46AA}" type="presOf" srcId="{3A3527F8-92C8-4432-A444-D10D1F61D917}" destId="{3D682CEC-6526-4956-81B0-4A5CFFF7C06A}" srcOrd="0" destOrd="0" presId="urn:microsoft.com/office/officeart/2018/2/layout/IconVerticalSolidList"/>
    <dgm:cxn modelId="{A0410DA3-523C-4D23-A36D-05FB9F3B0F3C}" srcId="{D419DC6D-BF7B-43E7-9EA1-F3DC786F8D27}" destId="{C4DF69BF-E1CB-4D12-ABDC-5CA3E696AEB6}" srcOrd="1" destOrd="0" parTransId="{6E20B48D-85A3-41BC-BEC9-61FBFCAE5F2D}" sibTransId="{B34CEA4B-9B43-4410-97E6-E7561F515664}"/>
    <dgm:cxn modelId="{8C009CA9-E845-44DD-B46D-88CBBEB7995A}" srcId="{D419DC6D-BF7B-43E7-9EA1-F3DC786F8D27}" destId="{21811899-D9D6-46ED-90CB-69F91059A2CA}" srcOrd="3" destOrd="0" parTransId="{0098B219-1A10-4300-8406-9E66761352F7}" sibTransId="{86718EE0-0364-4526-AF83-4EC3A98EA4D3}"/>
    <dgm:cxn modelId="{1A1574B8-F1F6-4832-AD14-0ACC8DB60EA5}" type="presOf" srcId="{C4DF69BF-E1CB-4D12-ABDC-5CA3E696AEB6}" destId="{08415F79-2604-4736-910E-197D33D6AD07}" srcOrd="0" destOrd="0" presId="urn:microsoft.com/office/officeart/2018/2/layout/IconVerticalSolidList"/>
    <dgm:cxn modelId="{862E0FCC-06BD-44FE-A668-C5B051F24017}" srcId="{D419DC6D-BF7B-43E7-9EA1-F3DC786F8D27}" destId="{3A3527F8-92C8-4432-A444-D10D1F61D917}" srcOrd="0" destOrd="0" parTransId="{53415423-11E6-44C2-BD3E-B334C843B83A}" sibTransId="{AD5AD8D7-0C6C-4134-9BBB-A0732C3F9EA9}"/>
    <dgm:cxn modelId="{51C197DA-88BF-4966-8718-F709536BC633}" type="presOf" srcId="{2C7EEDDB-0305-438F-AF92-2DA3E024AC93}" destId="{C183CA74-E64F-43D6-B63F-7AF012171431}" srcOrd="0" destOrd="0" presId="urn:microsoft.com/office/officeart/2018/2/layout/IconVerticalSolidList"/>
    <dgm:cxn modelId="{6F596BEF-1A1D-4806-A86F-7397D9CD8F2D}" type="presOf" srcId="{D419DC6D-BF7B-43E7-9EA1-F3DC786F8D27}" destId="{69EA7C0A-8EE8-4779-989A-273BC4D38544}" srcOrd="0" destOrd="0" presId="urn:microsoft.com/office/officeart/2018/2/layout/IconVerticalSolidList"/>
    <dgm:cxn modelId="{5FA85F6A-4374-4A7F-BEC0-3C66533A903F}" type="presParOf" srcId="{69EA7C0A-8EE8-4779-989A-273BC4D38544}" destId="{21B3D7C8-78EC-48BD-B3A1-E766C8A4D0B2}" srcOrd="0" destOrd="0" presId="urn:microsoft.com/office/officeart/2018/2/layout/IconVerticalSolidList"/>
    <dgm:cxn modelId="{49E7BF7B-7B9B-4910-9191-253402F2134B}" type="presParOf" srcId="{21B3D7C8-78EC-48BD-B3A1-E766C8A4D0B2}" destId="{BD96A306-6B01-4B6F-941F-55D36E66F6E2}" srcOrd="0" destOrd="0" presId="urn:microsoft.com/office/officeart/2018/2/layout/IconVerticalSolidList"/>
    <dgm:cxn modelId="{A4C6A04D-8A19-4D09-9DEE-97F66BE093C9}" type="presParOf" srcId="{21B3D7C8-78EC-48BD-B3A1-E766C8A4D0B2}" destId="{20A1386E-21BF-4BD0-828D-0BC54A51EF63}" srcOrd="1" destOrd="0" presId="urn:microsoft.com/office/officeart/2018/2/layout/IconVerticalSolidList"/>
    <dgm:cxn modelId="{37DB3BD3-3CB6-4FF8-B6A0-7C5C086BC149}" type="presParOf" srcId="{21B3D7C8-78EC-48BD-B3A1-E766C8A4D0B2}" destId="{EF851183-83F7-4854-8B37-DE6C69F3E72F}" srcOrd="2" destOrd="0" presId="urn:microsoft.com/office/officeart/2018/2/layout/IconVerticalSolidList"/>
    <dgm:cxn modelId="{CA817844-ACB9-4B85-986C-76EC95BA3898}" type="presParOf" srcId="{21B3D7C8-78EC-48BD-B3A1-E766C8A4D0B2}" destId="{3D682CEC-6526-4956-81B0-4A5CFFF7C06A}" srcOrd="3" destOrd="0" presId="urn:microsoft.com/office/officeart/2018/2/layout/IconVerticalSolidList"/>
    <dgm:cxn modelId="{140B20FC-3F1E-4CB4-B628-753E503CE257}" type="presParOf" srcId="{69EA7C0A-8EE8-4779-989A-273BC4D38544}" destId="{DD0EF813-BF40-401F-9CED-4D33C031BDF5}" srcOrd="1" destOrd="0" presId="urn:microsoft.com/office/officeart/2018/2/layout/IconVerticalSolidList"/>
    <dgm:cxn modelId="{BBA3DE06-D3A3-4816-AEA8-C853ED7D0D1E}" type="presParOf" srcId="{69EA7C0A-8EE8-4779-989A-273BC4D38544}" destId="{861E6035-DCA0-4969-A8A4-0A4B72BED3D9}" srcOrd="2" destOrd="0" presId="urn:microsoft.com/office/officeart/2018/2/layout/IconVerticalSolidList"/>
    <dgm:cxn modelId="{E315D6BA-C5A2-4B56-8833-213C1A3973BD}" type="presParOf" srcId="{861E6035-DCA0-4969-A8A4-0A4B72BED3D9}" destId="{FAA3D13E-6FE6-46F0-AF2F-5212C30002A3}" srcOrd="0" destOrd="0" presId="urn:microsoft.com/office/officeart/2018/2/layout/IconVerticalSolidList"/>
    <dgm:cxn modelId="{0E612495-4012-42FC-95D7-DE6C4CB2DFBF}" type="presParOf" srcId="{861E6035-DCA0-4969-A8A4-0A4B72BED3D9}" destId="{29E47008-1FEA-4F58-9D26-786A2B922D4E}" srcOrd="1" destOrd="0" presId="urn:microsoft.com/office/officeart/2018/2/layout/IconVerticalSolidList"/>
    <dgm:cxn modelId="{72945A85-EF7A-41C9-9C85-317F1837C6C0}" type="presParOf" srcId="{861E6035-DCA0-4969-A8A4-0A4B72BED3D9}" destId="{F93AAB98-936D-4270-81E1-089364AC7F92}" srcOrd="2" destOrd="0" presId="urn:microsoft.com/office/officeart/2018/2/layout/IconVerticalSolidList"/>
    <dgm:cxn modelId="{F2AB3C95-F911-4E76-843B-B5DCD67B520D}" type="presParOf" srcId="{861E6035-DCA0-4969-A8A4-0A4B72BED3D9}" destId="{08415F79-2604-4736-910E-197D33D6AD07}" srcOrd="3" destOrd="0" presId="urn:microsoft.com/office/officeart/2018/2/layout/IconVerticalSolidList"/>
    <dgm:cxn modelId="{0F9A4EB6-D40B-4BB4-9E17-1057DB9FF01E}" type="presParOf" srcId="{69EA7C0A-8EE8-4779-989A-273BC4D38544}" destId="{074E7BEA-8078-4D80-A42E-26D722772A79}" srcOrd="3" destOrd="0" presId="urn:microsoft.com/office/officeart/2018/2/layout/IconVerticalSolidList"/>
    <dgm:cxn modelId="{EF562C0B-CC9A-4322-B261-AE3269603BAA}" type="presParOf" srcId="{69EA7C0A-8EE8-4779-989A-273BC4D38544}" destId="{B930FB36-685B-41FB-95C0-8C51B9AE7DF6}" srcOrd="4" destOrd="0" presId="urn:microsoft.com/office/officeart/2018/2/layout/IconVerticalSolidList"/>
    <dgm:cxn modelId="{3A39D68D-624A-4AEE-B9BB-97FDFD17227C}" type="presParOf" srcId="{B930FB36-685B-41FB-95C0-8C51B9AE7DF6}" destId="{2C8C9C59-20E7-45CE-8044-70910C3713E9}" srcOrd="0" destOrd="0" presId="urn:microsoft.com/office/officeart/2018/2/layout/IconVerticalSolidList"/>
    <dgm:cxn modelId="{D716EED7-E867-46BE-A250-96CB6A8747D3}" type="presParOf" srcId="{B930FB36-685B-41FB-95C0-8C51B9AE7DF6}" destId="{CB85215B-F5D3-48E9-B276-08B544D62EF0}" srcOrd="1" destOrd="0" presId="urn:microsoft.com/office/officeart/2018/2/layout/IconVerticalSolidList"/>
    <dgm:cxn modelId="{8D0B2A2F-A610-4F9E-8288-C4EAFC6881EB}" type="presParOf" srcId="{B930FB36-685B-41FB-95C0-8C51B9AE7DF6}" destId="{8AE3F27F-6999-4564-9316-E48158630843}" srcOrd="2" destOrd="0" presId="urn:microsoft.com/office/officeart/2018/2/layout/IconVerticalSolidList"/>
    <dgm:cxn modelId="{5A72D131-4E05-4F8E-B02F-DDADCE7573AD}" type="presParOf" srcId="{B930FB36-685B-41FB-95C0-8C51B9AE7DF6}" destId="{C183CA74-E64F-43D6-B63F-7AF012171431}" srcOrd="3" destOrd="0" presId="urn:microsoft.com/office/officeart/2018/2/layout/IconVerticalSolidList"/>
    <dgm:cxn modelId="{93D89D5F-5B1C-4595-856C-D9C5B47729AD}" type="presParOf" srcId="{69EA7C0A-8EE8-4779-989A-273BC4D38544}" destId="{9DE7E38D-CDD1-42B9-8288-0728DFCAECFF}" srcOrd="5" destOrd="0" presId="urn:microsoft.com/office/officeart/2018/2/layout/IconVerticalSolidList"/>
    <dgm:cxn modelId="{BB97359E-7334-4005-967E-D457CC990980}" type="presParOf" srcId="{69EA7C0A-8EE8-4779-989A-273BC4D38544}" destId="{0447793E-4B59-4862-BCA7-E0DC86CE7800}" srcOrd="6" destOrd="0" presId="urn:microsoft.com/office/officeart/2018/2/layout/IconVerticalSolidList"/>
    <dgm:cxn modelId="{7E6F6EDE-5A2E-4B69-B604-E2ECB52694D8}" type="presParOf" srcId="{0447793E-4B59-4862-BCA7-E0DC86CE7800}" destId="{804D08BB-53F3-4B28-9AD7-5C491CDEF9AF}" srcOrd="0" destOrd="0" presId="urn:microsoft.com/office/officeart/2018/2/layout/IconVerticalSolidList"/>
    <dgm:cxn modelId="{243662CD-139F-4532-BF57-2B922673AFE1}" type="presParOf" srcId="{0447793E-4B59-4862-BCA7-E0DC86CE7800}" destId="{1332047F-C0B4-4D16-A0D1-2890E3E8833E}" srcOrd="1" destOrd="0" presId="urn:microsoft.com/office/officeart/2018/2/layout/IconVerticalSolidList"/>
    <dgm:cxn modelId="{8C6031F8-3EB4-4D14-9017-B3835CA1933C}" type="presParOf" srcId="{0447793E-4B59-4862-BCA7-E0DC86CE7800}" destId="{B5BC0454-269B-4046-98C8-17CAB5FBF118}" srcOrd="2" destOrd="0" presId="urn:microsoft.com/office/officeart/2018/2/layout/IconVerticalSolidList"/>
    <dgm:cxn modelId="{CA6280EA-85D1-4B7E-9016-DD215BD2D5CE}" type="presParOf" srcId="{0447793E-4B59-4862-BCA7-E0DC86CE7800}" destId="{77DDE86D-E54A-497C-86DE-C89FEBB31BAC}"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96A306-6B01-4B6F-941F-55D36E66F6E2}">
      <dsp:nvSpPr>
        <dsp:cNvPr id="0" name=""/>
        <dsp:cNvSpPr/>
      </dsp:nvSpPr>
      <dsp:spPr>
        <a:xfrm>
          <a:off x="0" y="2319"/>
          <a:ext cx="6245265"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A1386E-21BF-4BD0-828D-0BC54A51EF63}">
      <dsp:nvSpPr>
        <dsp:cNvPr id="0" name=""/>
        <dsp:cNvSpPr/>
      </dsp:nvSpPr>
      <dsp:spPr>
        <a:xfrm>
          <a:off x="355657" y="266858"/>
          <a:ext cx="646650" cy="64665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D682CEC-6526-4956-81B0-4A5CFFF7C06A}">
      <dsp:nvSpPr>
        <dsp:cNvPr id="0" name=""/>
        <dsp:cNvSpPr/>
      </dsp:nvSpPr>
      <dsp:spPr>
        <a:xfrm>
          <a:off x="1357965" y="2319"/>
          <a:ext cx="4887299"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77900">
            <a:lnSpc>
              <a:spcPct val="90000"/>
            </a:lnSpc>
            <a:spcBef>
              <a:spcPct val="0"/>
            </a:spcBef>
            <a:spcAft>
              <a:spcPct val="35000"/>
            </a:spcAft>
            <a:buNone/>
          </a:pPr>
          <a:r>
            <a:rPr lang="en-US" sz="2200" kern="1200"/>
            <a:t>Federated learning enables collaborative AI without sharing raw data</a:t>
          </a:r>
        </a:p>
      </dsp:txBody>
      <dsp:txXfrm>
        <a:off x="1357965" y="2319"/>
        <a:ext cx="4887299" cy="1175727"/>
      </dsp:txXfrm>
    </dsp:sp>
    <dsp:sp modelId="{FAA3D13E-6FE6-46F0-AF2F-5212C30002A3}">
      <dsp:nvSpPr>
        <dsp:cNvPr id="0" name=""/>
        <dsp:cNvSpPr/>
      </dsp:nvSpPr>
      <dsp:spPr>
        <a:xfrm>
          <a:off x="0" y="1471979"/>
          <a:ext cx="6245265"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9E47008-1FEA-4F58-9D26-786A2B922D4E}">
      <dsp:nvSpPr>
        <dsp:cNvPr id="0" name=""/>
        <dsp:cNvSpPr/>
      </dsp:nvSpPr>
      <dsp:spPr>
        <a:xfrm>
          <a:off x="355657" y="1736518"/>
          <a:ext cx="646650" cy="64665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8415F79-2604-4736-910E-197D33D6AD07}">
      <dsp:nvSpPr>
        <dsp:cNvPr id="0" name=""/>
        <dsp:cNvSpPr/>
      </dsp:nvSpPr>
      <dsp:spPr>
        <a:xfrm>
          <a:off x="1357965" y="1471979"/>
          <a:ext cx="4887299"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77900">
            <a:lnSpc>
              <a:spcPct val="90000"/>
            </a:lnSpc>
            <a:spcBef>
              <a:spcPct val="0"/>
            </a:spcBef>
            <a:spcAft>
              <a:spcPct val="35000"/>
            </a:spcAft>
            <a:buNone/>
          </a:pPr>
          <a:r>
            <a:rPr lang="en-US" sz="2200" kern="1200"/>
            <a:t>Models are trained across distributed nodes</a:t>
          </a:r>
        </a:p>
      </dsp:txBody>
      <dsp:txXfrm>
        <a:off x="1357965" y="1471979"/>
        <a:ext cx="4887299" cy="1175727"/>
      </dsp:txXfrm>
    </dsp:sp>
    <dsp:sp modelId="{2C8C9C59-20E7-45CE-8044-70910C3713E9}">
      <dsp:nvSpPr>
        <dsp:cNvPr id="0" name=""/>
        <dsp:cNvSpPr/>
      </dsp:nvSpPr>
      <dsp:spPr>
        <a:xfrm>
          <a:off x="0" y="2941639"/>
          <a:ext cx="6245265"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85215B-F5D3-48E9-B276-08B544D62EF0}">
      <dsp:nvSpPr>
        <dsp:cNvPr id="0" name=""/>
        <dsp:cNvSpPr/>
      </dsp:nvSpPr>
      <dsp:spPr>
        <a:xfrm>
          <a:off x="355657" y="3206178"/>
          <a:ext cx="646650" cy="64665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183CA74-E64F-43D6-B63F-7AF012171431}">
      <dsp:nvSpPr>
        <dsp:cNvPr id="0" name=""/>
        <dsp:cNvSpPr/>
      </dsp:nvSpPr>
      <dsp:spPr>
        <a:xfrm>
          <a:off x="1357965" y="2941639"/>
          <a:ext cx="4887299"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77900">
            <a:lnSpc>
              <a:spcPct val="90000"/>
            </a:lnSpc>
            <a:spcBef>
              <a:spcPct val="0"/>
            </a:spcBef>
            <a:spcAft>
              <a:spcPct val="35000"/>
            </a:spcAft>
            <a:buNone/>
          </a:pPr>
          <a:r>
            <a:rPr lang="en-US" sz="2200" kern="1200"/>
            <a:t>Privacy and data ownership are preserved</a:t>
          </a:r>
        </a:p>
      </dsp:txBody>
      <dsp:txXfrm>
        <a:off x="1357965" y="2941639"/>
        <a:ext cx="4887299" cy="1175727"/>
      </dsp:txXfrm>
    </dsp:sp>
    <dsp:sp modelId="{804D08BB-53F3-4B28-9AD7-5C491CDEF9AF}">
      <dsp:nvSpPr>
        <dsp:cNvPr id="0" name=""/>
        <dsp:cNvSpPr/>
      </dsp:nvSpPr>
      <dsp:spPr>
        <a:xfrm>
          <a:off x="0" y="4411299"/>
          <a:ext cx="6245265"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32047F-C0B4-4D16-A0D1-2890E3E8833E}">
      <dsp:nvSpPr>
        <dsp:cNvPr id="0" name=""/>
        <dsp:cNvSpPr/>
      </dsp:nvSpPr>
      <dsp:spPr>
        <a:xfrm>
          <a:off x="355657" y="4675838"/>
          <a:ext cx="646650" cy="64665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7DDE86D-E54A-497C-86DE-C89FEBB31BAC}">
      <dsp:nvSpPr>
        <dsp:cNvPr id="0" name=""/>
        <dsp:cNvSpPr/>
      </dsp:nvSpPr>
      <dsp:spPr>
        <a:xfrm>
          <a:off x="1357965" y="4411299"/>
          <a:ext cx="4887299"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77900">
            <a:lnSpc>
              <a:spcPct val="90000"/>
            </a:lnSpc>
            <a:spcBef>
              <a:spcPct val="0"/>
            </a:spcBef>
            <a:spcAft>
              <a:spcPct val="35000"/>
            </a:spcAft>
            <a:buNone/>
          </a:pPr>
          <a:r>
            <a:rPr lang="en-US" sz="2200" kern="1200"/>
            <a:t>Institutions contribute knowledge rather than raw data</a:t>
          </a:r>
        </a:p>
      </dsp:txBody>
      <dsp:txXfrm>
        <a:off x="1357965" y="4411299"/>
        <a:ext cx="4887299" cy="117572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59742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dirty="0"/>
              <a:t>"Good afternoon, everyone. I am here today not just as an academic, but as an engineer of systems. As we celebrate International Women's Day, we often hear the phrase 'Give to Gain.' Today, I want to show you how this isn't just a social sentiment—it is a technical necessity for our future. Let’s talk about engineering a Federated Future."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Discuss how AI systems today rely on data, models, and knowledge from many contributors.</a:t>
            </a:r>
          </a:p>
          <a:p>
            <a:r>
              <a:t>Emphasize that collaborative ecosystems allow women researchers to grow faster through shared opportunities and visibility.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dirty="0"/>
              <a:t>"In my research at ARISG, we study </a:t>
            </a:r>
            <a:r>
              <a:rPr lang="en-GB" b="1" dirty="0"/>
              <a:t>Federated Learning</a:t>
            </a:r>
            <a:r>
              <a:rPr lang="en-GB" dirty="0"/>
              <a:t>. Traditionally, to train AI, you move all data to one central server. But that’s a 'winner-take-all' model. Federated Learning is different—it leaves the data where it belongs, in the hands of the local user, and only shares the 'intelligence' gained.</a:t>
            </a:r>
          </a:p>
          <a:p>
            <a:r>
              <a:rPr lang="en-GB" dirty="0"/>
              <a:t>This is my vision for women in Nigeria. We don't need to conform to Western standards to gain. We keep our local context, our unique perspectives, and our cultural nuances. We give our 'updates' to the global conversation to gain a world that finally recognizes us."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federated learning in simple terms.</a:t>
            </a:r>
          </a:p>
          <a:p>
            <a:r>
              <a:t>Instead of sending data to a central location, models travel to data.</a:t>
            </a:r>
          </a:p>
          <a:p>
            <a:r>
              <a:t>Each node learns locally and contributes model updates.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Connect the technical concept of federated intelligence with the human concept of giving.</a:t>
            </a:r>
          </a:p>
          <a:p>
            <a:r>
              <a:t>Explain that when researchers share knowledge and opportunities, everyone benefits.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B8CC1-BE21-567D-433B-FDD80B5295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12D537-64D4-40D6-A1C8-9BEB2560616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9CE6F28-F23F-3F1B-B17D-1B5E9A89CBE5}"/>
              </a:ext>
            </a:extLst>
          </p:cNvPr>
          <p:cNvSpPr>
            <a:spLocks noGrp="1"/>
          </p:cNvSpPr>
          <p:nvPr>
            <p:ph type="body" sz="quarter" idx="3"/>
          </p:nvPr>
        </p:nvSpPr>
        <p:spPr/>
        <p:txBody>
          <a:bodyPr/>
          <a:lstStyle/>
          <a:p>
            <a:r>
              <a:rPr lang="en-GB" dirty="0"/>
              <a:t>"In AI, garbage in means garbage out. If we don’t 'Give' our time to mentorship through initiatives like TRAIL and </a:t>
            </a:r>
            <a:r>
              <a:rPr lang="en-GB" dirty="0" err="1"/>
              <a:t>IndabaX</a:t>
            </a:r>
            <a:r>
              <a:rPr lang="en-GB" dirty="0"/>
              <a:t>, we cannot 'Gain' a resilient workforce. If we don't 'Give' our local data, the 'Gain' is a biased system that doesn't understand our names or our needs.</a:t>
            </a:r>
          </a:p>
          <a:p>
            <a:r>
              <a:rPr lang="en-GB" dirty="0"/>
              <a:t>We must treat our contributions as a high-value investment. When you mentor a young woman in NLP, you aren't just helping her; you are optimizing the entire network's output.“</a:t>
            </a:r>
          </a:p>
          <a:p>
            <a:endParaRPr lang="en-GB" dirty="0"/>
          </a:p>
          <a:p>
            <a:pPr>
              <a:buNone/>
            </a:pPr>
            <a:r>
              <a:rPr lang="en-GB" b="1" dirty="0"/>
              <a:t>The Give (Investment):</a:t>
            </a:r>
            <a:endParaRPr lang="en-GB" dirty="0"/>
          </a:p>
          <a:p>
            <a:pPr>
              <a:buFont typeface="Arial" panose="020B0604020202020204" pitchFamily="34" charset="0"/>
              <a:buChar char="•"/>
            </a:pPr>
            <a:r>
              <a:rPr lang="en-GB" dirty="0"/>
              <a:t>Mentorship (TRAIL &amp; </a:t>
            </a:r>
            <a:r>
              <a:rPr lang="en-GB" dirty="0" err="1"/>
              <a:t>IndabaX</a:t>
            </a:r>
            <a:r>
              <a:rPr lang="en-GB" dirty="0"/>
              <a:t>)</a:t>
            </a:r>
          </a:p>
          <a:p>
            <a:pPr>
              <a:buFont typeface="Arial" panose="020B0604020202020204" pitchFamily="34" charset="0"/>
              <a:buChar char="•"/>
            </a:pPr>
            <a:r>
              <a:rPr lang="en-GB" dirty="0"/>
              <a:t>Data Dignity (Contributing local Nigerian nuances)</a:t>
            </a:r>
          </a:p>
          <a:p>
            <a:pPr>
              <a:buFont typeface="Arial" panose="020B0604020202020204" pitchFamily="34" charset="0"/>
              <a:buChar char="•"/>
            </a:pPr>
            <a:r>
              <a:rPr lang="en-GB" dirty="0"/>
              <a:t>FAIR Data Principles implementation</a:t>
            </a:r>
          </a:p>
          <a:p>
            <a:pPr>
              <a:buFont typeface="Arial" panose="020B0604020202020204" pitchFamily="34" charset="0"/>
              <a:buChar char="•"/>
            </a:pPr>
            <a:endParaRPr lang="en-GB" dirty="0"/>
          </a:p>
          <a:p>
            <a:pPr>
              <a:buNone/>
            </a:pPr>
            <a:r>
              <a:rPr lang="en-GB" b="1" dirty="0"/>
              <a:t>The Gain (Return):</a:t>
            </a:r>
            <a:endParaRPr lang="en-GB" dirty="0"/>
          </a:p>
          <a:p>
            <a:pPr>
              <a:buFont typeface="Arial" panose="020B0604020202020204" pitchFamily="34" charset="0"/>
              <a:buChar char="•"/>
            </a:pPr>
            <a:r>
              <a:rPr lang="en-GB" dirty="0"/>
              <a:t>Resilient Talent Pipelines</a:t>
            </a:r>
          </a:p>
          <a:p>
            <a:pPr>
              <a:buFont typeface="Arial" panose="020B0604020202020204" pitchFamily="34" charset="0"/>
              <a:buChar char="•"/>
            </a:pPr>
            <a:r>
              <a:rPr lang="en-GB" dirty="0"/>
              <a:t>Bias-free, Culturally-aware Models</a:t>
            </a:r>
          </a:p>
          <a:p>
            <a:pPr>
              <a:buFont typeface="Arial" panose="020B0604020202020204" pitchFamily="34" charset="0"/>
              <a:buChar char="•"/>
            </a:pPr>
            <a:r>
              <a:rPr lang="en-GB" dirty="0"/>
              <a:t>Global Leadership in the "Creative AI" space</a:t>
            </a:r>
          </a:p>
          <a:p>
            <a:pPr>
              <a:buFont typeface="Arial" panose="020B0604020202020204" pitchFamily="34" charset="0"/>
              <a:buChar char="•"/>
            </a:pPr>
            <a:endParaRPr lang="en-GB" dirty="0"/>
          </a:p>
          <a:p>
            <a:endParaRPr lang="en-GB" dirty="0"/>
          </a:p>
        </p:txBody>
      </p:sp>
      <p:sp>
        <p:nvSpPr>
          <p:cNvPr id="4" name="Slide Number Placeholder 3">
            <a:extLst>
              <a:ext uri="{FF2B5EF4-FFF2-40B4-BE49-F238E27FC236}">
                <a16:creationId xmlns:a16="http://schemas.microsoft.com/office/drawing/2014/main" id="{6D09C4DA-88C6-5C09-1956-2370581CBD4C}"/>
              </a:ext>
            </a:extLst>
          </p:cNvPr>
          <p:cNvSpPr>
            <a:spLocks noGrp="1"/>
          </p:cNvSpPr>
          <p:nvPr>
            <p:ph type="sldNum" sz="quarter" idx="5"/>
          </p:nvPr>
        </p:nvSpPr>
        <p:spPr/>
      </p:sp>
    </p:spTree>
    <p:extLst>
      <p:ext uri="{BB962C8B-B14F-4D97-AF65-F5344CB8AC3E}">
        <p14:creationId xmlns:p14="http://schemas.microsoft.com/office/powerpoint/2010/main" val="6279055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dirty="0"/>
              <a:t>"Let’s look at my work on Nigerian lyrics. Global models often struggle with the depth of our linguistic creativity. By 'Giving' our context—our proverbs, our slang, our rhythm—we 'Gain' AI that can truly create and innovate alongside us. This is how we move from being consumers of AI to being the co-creators of its future."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defTabSz="914400" eaLnBrk="0" fontAlgn="base" hangingPunct="0">
              <a:spcBef>
                <a:spcPct val="0"/>
              </a:spcBef>
              <a:spcAft>
                <a:spcPct val="0"/>
              </a:spcAft>
              <a:buFontTx/>
              <a:buChar char="•"/>
            </a:pPr>
            <a:r>
              <a:rPr lang="en-GB" dirty="0"/>
              <a:t>"To make this gain sustainable, we must follow the </a:t>
            </a:r>
            <a:r>
              <a:rPr lang="en-GB" b="1" dirty="0"/>
              <a:t>FAIR</a:t>
            </a:r>
            <a:r>
              <a:rPr lang="en-GB" dirty="0"/>
              <a:t> principles. Our work at OOU focuses on making Nigerian data </a:t>
            </a:r>
            <a:r>
              <a:rPr lang="en-GB" b="1" dirty="0"/>
              <a:t>Findable</a:t>
            </a:r>
            <a:r>
              <a:rPr lang="en-GB" dirty="0"/>
              <a:t> and </a:t>
            </a:r>
            <a:r>
              <a:rPr lang="en-GB" b="1" dirty="0"/>
              <a:t>Accessible</a:t>
            </a:r>
            <a:r>
              <a:rPr lang="en-GB" dirty="0"/>
              <a:t>, but also </a:t>
            </a:r>
            <a:r>
              <a:rPr lang="en-GB" b="1" dirty="0"/>
              <a:t>Interoperable</a:t>
            </a:r>
            <a:r>
              <a:rPr lang="en-GB" dirty="0"/>
              <a:t> and </a:t>
            </a:r>
            <a:r>
              <a:rPr lang="en-GB" b="1" dirty="0"/>
              <a:t>Reusable</a:t>
            </a:r>
            <a:r>
              <a:rPr lang="en-GB" dirty="0"/>
              <a:t>. We aren't just building for today; we are building an infrastructure that allows the next generation of women to pick up exactly where we left off.“</a:t>
            </a:r>
            <a:r>
              <a:rPr lang="en-US" altLang="en-US" b="1" dirty="0">
                <a:latin typeface="Arial" panose="020B0604020202020204" pitchFamily="34" charset="0"/>
              </a:rPr>
              <a:t>Findable:</a:t>
            </a:r>
            <a:r>
              <a:rPr lang="en-US" altLang="en-US" dirty="0">
                <a:latin typeface="Arial" panose="020B0604020202020204" pitchFamily="34" charset="0"/>
              </a:rPr>
              <a:t> Making Nigerian women in tech visible globally.</a:t>
            </a:r>
          </a:p>
          <a:p>
            <a:pPr defTabSz="914400" eaLnBrk="0" fontAlgn="base" hangingPunct="0">
              <a:spcBef>
                <a:spcPct val="0"/>
              </a:spcBef>
              <a:spcAft>
                <a:spcPct val="0"/>
              </a:spcAft>
              <a:buFontTx/>
              <a:buChar char="•"/>
            </a:pPr>
            <a:r>
              <a:rPr lang="en-US" altLang="en-US" b="1" dirty="0">
                <a:latin typeface="Arial" panose="020B0604020202020204" pitchFamily="34" charset="0"/>
              </a:rPr>
              <a:t>Accessible:</a:t>
            </a:r>
            <a:r>
              <a:rPr lang="en-US" altLang="en-US" dirty="0">
                <a:latin typeface="Arial" panose="020B0604020202020204" pitchFamily="34" charset="0"/>
              </a:rPr>
              <a:t> Breaking barriers to AI education and resources.</a:t>
            </a:r>
          </a:p>
          <a:p>
            <a:pPr defTabSz="914400" eaLnBrk="0" fontAlgn="base" hangingPunct="0">
              <a:spcBef>
                <a:spcPct val="0"/>
              </a:spcBef>
              <a:spcAft>
                <a:spcPct val="0"/>
              </a:spcAft>
              <a:buFontTx/>
              <a:buChar char="•"/>
            </a:pPr>
            <a:r>
              <a:rPr lang="en-US" altLang="en-US" b="1" dirty="0">
                <a:latin typeface="Arial" panose="020B0604020202020204" pitchFamily="34" charset="0"/>
              </a:rPr>
              <a:t>Interoperable:</a:t>
            </a:r>
            <a:r>
              <a:rPr lang="en-US" altLang="en-US" dirty="0">
                <a:latin typeface="Arial" panose="020B0604020202020204" pitchFamily="34" charset="0"/>
              </a:rPr>
              <a:t> Connecting local research at </a:t>
            </a:r>
            <a:r>
              <a:rPr lang="en-US" altLang="en-US" b="1" dirty="0">
                <a:latin typeface="Arial" panose="020B0604020202020204" pitchFamily="34" charset="0"/>
              </a:rPr>
              <a:t>ARIG</a:t>
            </a:r>
            <a:r>
              <a:rPr lang="en-US" altLang="en-US" dirty="0">
                <a:latin typeface="Arial" panose="020B0604020202020204" pitchFamily="34" charset="0"/>
              </a:rPr>
              <a:t> with international standards.</a:t>
            </a:r>
          </a:p>
          <a:p>
            <a:pPr defTabSz="914400" eaLnBrk="0" fontAlgn="base" hangingPunct="0">
              <a:spcBef>
                <a:spcPct val="0"/>
              </a:spcBef>
              <a:spcAft>
                <a:spcPct val="0"/>
              </a:spcAft>
              <a:buFontTx/>
              <a:buChar char="•"/>
            </a:pPr>
            <a:r>
              <a:rPr lang="en-US" altLang="en-US" b="1" dirty="0">
                <a:latin typeface="Arial" panose="020B0604020202020204" pitchFamily="34" charset="0"/>
              </a:rPr>
              <a:t>Reusable:</a:t>
            </a:r>
            <a:r>
              <a:rPr lang="en-US" altLang="en-US" dirty="0">
                <a:latin typeface="Arial" panose="020B0604020202020204" pitchFamily="34" charset="0"/>
              </a:rPr>
              <a:t> Ensuring our gains today empower the students of tomorrow.</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Mention examples such as open science collaborations, shared datasets, and distributed computing environments.</a:t>
            </a:r>
          </a:p>
          <a:p>
            <a:r>
              <a:t>Emphasize the importance of FAIR data for inclusive research.</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dirty="0"/>
              <a:t>"Every one of you in this room is a node in this network. Your 'Give' is the input; the future of Nigerian AI is the 'Gain.' I challenge you today: what update will you share? Whether it’s through Women in AI Nigeria or </a:t>
            </a:r>
            <a:r>
              <a:rPr lang="en-GB" dirty="0" err="1"/>
              <a:t>IndabaX</a:t>
            </a:r>
            <a:r>
              <a:rPr lang="en-GB" dirty="0"/>
              <a:t>, your participation is what makes the global model work. Let’s engineer a future that belongs to all of us."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353DD-D714-AD4A-5BE8-2F13ED9C52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A41B85-B3FE-F710-982D-C7D40F51B1F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20CC1A0-47CF-340B-0526-10F61E0A2D60}"/>
              </a:ext>
            </a:extLst>
          </p:cNvPr>
          <p:cNvSpPr>
            <a:spLocks noGrp="1"/>
          </p:cNvSpPr>
          <p:nvPr>
            <p:ph type="body" sz="quarter" idx="3"/>
          </p:nvPr>
        </p:nvSpPr>
        <p:spPr/>
        <p:txBody>
          <a:bodyPr/>
          <a:lstStyle/>
          <a:p>
            <a:r>
              <a:rPr lang="en-GB" dirty="0"/>
              <a:t>"Every one of you in this room is a node in this network. Your 'Give' is the input; the future of Nigerian AI is the 'Gain.' I challenge you today: what update will you share? Whether it’s through Women in AI Nigeria or </a:t>
            </a:r>
            <a:r>
              <a:rPr lang="en-GB" dirty="0" err="1"/>
              <a:t>IndabaX</a:t>
            </a:r>
            <a:r>
              <a:rPr lang="en-GB" dirty="0"/>
              <a:t>, your participation is what makes the global model work. Let’s engineer a future that belongs to all of us."</a:t>
            </a:r>
          </a:p>
        </p:txBody>
      </p:sp>
      <p:sp>
        <p:nvSpPr>
          <p:cNvPr id="4" name="Slide Number Placeholder 3">
            <a:extLst>
              <a:ext uri="{FF2B5EF4-FFF2-40B4-BE49-F238E27FC236}">
                <a16:creationId xmlns:a16="http://schemas.microsoft.com/office/drawing/2014/main" id="{6023E2CE-B839-6B14-8AD3-D898209450FA}"/>
              </a:ext>
            </a:extLst>
          </p:cNvPr>
          <p:cNvSpPr>
            <a:spLocks noGrp="1"/>
          </p:cNvSpPr>
          <p:nvPr>
            <p:ph type="sldNum" sz="quarter" idx="5"/>
          </p:nvPr>
        </p:nvSpPr>
        <p:spPr/>
      </p:sp>
    </p:spTree>
    <p:extLst>
      <p:ext uri="{BB962C8B-B14F-4D97-AF65-F5344CB8AC3E}">
        <p14:creationId xmlns:p14="http://schemas.microsoft.com/office/powerpoint/2010/main" val="33574616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End with an inspirational message emphasizing collective progress.</a:t>
            </a:r>
          </a:p>
          <a:p>
            <a:r>
              <a:t>Highlight the importance of women’s leadership in shaping the next generation of AI innovation.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457189" lvl="0" indent="-342892">
              <a:spcBef>
                <a:spcPts val="0"/>
              </a:spcBef>
              <a:spcAft>
                <a:spcPts val="0"/>
              </a:spcAft>
              <a:buSzPts val="1800"/>
              <a:buChar char="●"/>
              <a:defRPr/>
            </a:lvl1pPr>
            <a:lvl2pPr marL="914378" lvl="1" indent="-317492">
              <a:spcBef>
                <a:spcPts val="0"/>
              </a:spcBef>
              <a:spcAft>
                <a:spcPts val="0"/>
              </a:spcAft>
              <a:buSzPts val="1400"/>
              <a:buChar char="○"/>
              <a:defRPr/>
            </a:lvl2pPr>
            <a:lvl3pPr marL="1371566" lvl="2" indent="-317492">
              <a:spcBef>
                <a:spcPts val="0"/>
              </a:spcBef>
              <a:spcAft>
                <a:spcPts val="0"/>
              </a:spcAft>
              <a:buSzPts val="1400"/>
              <a:buChar char="■"/>
              <a:defRPr/>
            </a:lvl3pPr>
            <a:lvl4pPr marL="1828754" lvl="3" indent="-317492">
              <a:spcBef>
                <a:spcPts val="0"/>
              </a:spcBef>
              <a:spcAft>
                <a:spcPts val="0"/>
              </a:spcAft>
              <a:buSzPts val="1400"/>
              <a:buChar char="●"/>
              <a:defRPr/>
            </a:lvl4pPr>
            <a:lvl5pPr marL="2285943" lvl="4" indent="-317492">
              <a:spcBef>
                <a:spcPts val="0"/>
              </a:spcBef>
              <a:spcAft>
                <a:spcPts val="0"/>
              </a:spcAft>
              <a:buSzPts val="1400"/>
              <a:buChar char="○"/>
              <a:defRPr/>
            </a:lvl5pPr>
            <a:lvl6pPr marL="2743132" lvl="5" indent="-317492">
              <a:spcBef>
                <a:spcPts val="0"/>
              </a:spcBef>
              <a:spcAft>
                <a:spcPts val="0"/>
              </a:spcAft>
              <a:buSzPts val="1400"/>
              <a:buChar char="■"/>
              <a:defRPr/>
            </a:lvl6pPr>
            <a:lvl7pPr marL="3200320" lvl="6" indent="-317492">
              <a:spcBef>
                <a:spcPts val="0"/>
              </a:spcBef>
              <a:spcAft>
                <a:spcPts val="0"/>
              </a:spcAft>
              <a:buSzPts val="1400"/>
              <a:buChar char="●"/>
              <a:defRPr/>
            </a:lvl7pPr>
            <a:lvl8pPr marL="3657509" lvl="7" indent="-317492">
              <a:spcBef>
                <a:spcPts val="0"/>
              </a:spcBef>
              <a:spcAft>
                <a:spcPts val="0"/>
              </a:spcAft>
              <a:buSzPts val="1400"/>
              <a:buChar char="○"/>
              <a:defRPr/>
            </a:lvl8pPr>
            <a:lvl9pPr marL="4114697" lvl="8" indent="-317492">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289791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3/6/2026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mailto:sakinat.folorunso@oouagoiwoye.edu.ng" TargetMode="Externa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41248" y="548640"/>
            <a:ext cx="3600860" cy="5431536"/>
          </a:xfrm>
        </p:spPr>
        <p:txBody>
          <a:bodyPr>
            <a:normAutofit/>
          </a:bodyPr>
          <a:lstStyle/>
          <a:p>
            <a:r>
              <a:rPr lang="en-GB" sz="5000"/>
              <a:t>The Power of Shared Intelligence: Engineering a Federated Future for Women in AI</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126418" y="76200"/>
            <a:ext cx="6989382" cy="6781799"/>
          </a:xfrm>
        </p:spPr>
        <p:txBody>
          <a:bodyPr anchor="ctr">
            <a:noAutofit/>
          </a:bodyPr>
          <a:lstStyle/>
          <a:p>
            <a:pPr marL="0" indent="0">
              <a:lnSpc>
                <a:spcPct val="90000"/>
              </a:lnSpc>
              <a:buNone/>
            </a:pPr>
            <a:r>
              <a:rPr lang="en-GB" dirty="0"/>
              <a:t>Theme is Give to Gain: Optimizing Nigeria’s AI Ecosystem through Collective Action</a:t>
            </a:r>
          </a:p>
          <a:p>
            <a:pPr marL="0" indent="0">
              <a:lnSpc>
                <a:spcPct val="90000"/>
              </a:lnSpc>
              <a:buNone/>
            </a:pPr>
            <a:endParaRPr lang="en-GB" dirty="0"/>
          </a:p>
          <a:p>
            <a:pPr marL="0" indent="0">
              <a:lnSpc>
                <a:spcPct val="90000"/>
              </a:lnSpc>
              <a:buNone/>
            </a:pPr>
            <a:endParaRPr lang="en-GB" sz="2000" dirty="0"/>
          </a:p>
          <a:p>
            <a:pPr marL="0" indent="0">
              <a:lnSpc>
                <a:spcPct val="90000"/>
              </a:lnSpc>
              <a:buNone/>
            </a:pPr>
            <a:endParaRPr lang="en-GB" sz="2000" dirty="0"/>
          </a:p>
          <a:p>
            <a:pPr marL="0" indent="0">
              <a:lnSpc>
                <a:spcPct val="90000"/>
              </a:lnSpc>
              <a:buNone/>
            </a:pPr>
            <a:endParaRPr lang="en-GB" sz="2000" dirty="0"/>
          </a:p>
          <a:p>
            <a:pPr marL="0" indent="0">
              <a:lnSpc>
                <a:spcPct val="90000"/>
              </a:lnSpc>
              <a:buNone/>
            </a:pPr>
            <a:endParaRPr lang="en-GB" sz="2000" dirty="0"/>
          </a:p>
          <a:p>
            <a:pPr marL="0" indent="0">
              <a:lnSpc>
                <a:spcPct val="90000"/>
              </a:lnSpc>
              <a:buNone/>
            </a:pPr>
            <a:endParaRPr lang="en-GB" sz="2000" dirty="0"/>
          </a:p>
          <a:p>
            <a:pPr marL="0" indent="0">
              <a:lnSpc>
                <a:spcPct val="90000"/>
              </a:lnSpc>
              <a:buNone/>
            </a:pPr>
            <a:r>
              <a:rPr lang="en-GB" sz="2000" dirty="0"/>
              <a:t>Dr. Sakinat </a:t>
            </a:r>
            <a:r>
              <a:rPr lang="en-GB" sz="2000" dirty="0" err="1"/>
              <a:t>Oluwabukonla</a:t>
            </a:r>
            <a:r>
              <a:rPr lang="en-GB" sz="2000" dirty="0"/>
              <a:t> Folorunso</a:t>
            </a:r>
          </a:p>
          <a:p>
            <a:pPr marL="0" indent="0">
              <a:lnSpc>
                <a:spcPct val="90000"/>
              </a:lnSpc>
              <a:buNone/>
            </a:pPr>
            <a:r>
              <a:rPr lang="en-GB" sz="2000" dirty="0"/>
              <a:t>Associate Professor of AI Systems &amp; FAIR Data (OOU)</a:t>
            </a:r>
          </a:p>
          <a:p>
            <a:pPr marL="0" indent="0">
              <a:lnSpc>
                <a:spcPct val="90000"/>
              </a:lnSpc>
              <a:buNone/>
            </a:pPr>
            <a:r>
              <a:rPr lang="en-GB" sz="2000" dirty="0"/>
              <a:t>Ambassador, Women in AI (WAI) Nigeria</a:t>
            </a:r>
          </a:p>
          <a:p>
            <a:pPr marL="0" indent="0">
              <a:lnSpc>
                <a:spcPct val="90000"/>
              </a:lnSpc>
              <a:buNone/>
            </a:pPr>
            <a:endParaRPr lang="en-GB" sz="2000" dirty="0"/>
          </a:p>
          <a:p>
            <a:pPr marL="0" indent="0" algn="r">
              <a:lnSpc>
                <a:spcPct val="90000"/>
              </a:lnSpc>
              <a:buNone/>
            </a:pPr>
            <a:r>
              <a:rPr lang="en-GB" sz="2000" dirty="0"/>
              <a:t>8/3/2026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61803" y="350196"/>
            <a:ext cx="4646904" cy="1624520"/>
          </a:xfrm>
        </p:spPr>
        <p:txBody>
          <a:bodyPr anchor="ctr">
            <a:normAutofit/>
          </a:bodyPr>
          <a:lstStyle/>
          <a:p>
            <a:r>
              <a:rPr lang="en-GB" sz="4000"/>
              <a:t>Why Shared Intelligence Matters</a:t>
            </a:r>
          </a:p>
        </p:txBody>
      </p:sp>
      <p:sp>
        <p:nvSpPr>
          <p:cNvPr id="3" name="Content Placeholder 2"/>
          <p:cNvSpPr>
            <a:spLocks noGrp="1"/>
          </p:cNvSpPr>
          <p:nvPr>
            <p:ph idx="1"/>
          </p:nvPr>
        </p:nvSpPr>
        <p:spPr>
          <a:xfrm>
            <a:off x="761802" y="2743200"/>
            <a:ext cx="4646905" cy="3613149"/>
          </a:xfrm>
        </p:spPr>
        <p:txBody>
          <a:bodyPr anchor="ctr">
            <a:normAutofit/>
          </a:bodyPr>
          <a:lstStyle/>
          <a:p>
            <a:r>
              <a:rPr lang="en-GB" sz="2000" dirty="0"/>
              <a:t>AI innovation thrives on collaboration</a:t>
            </a:r>
          </a:p>
          <a:p>
            <a:r>
              <a:rPr lang="en-GB" sz="2000" dirty="0"/>
              <a:t>Complex societal problems require collective expertise</a:t>
            </a:r>
          </a:p>
          <a:p>
            <a:r>
              <a:rPr lang="en-GB" sz="2000" dirty="0"/>
              <a:t>Diverse perspectives improve AI fairness and impact</a:t>
            </a:r>
          </a:p>
          <a:p>
            <a:r>
              <a:rPr lang="en-GB" sz="2000" dirty="0"/>
              <a:t>Women benefit strongly from collaborative networks</a:t>
            </a:r>
          </a:p>
        </p:txBody>
      </p:sp>
      <p:pic>
        <p:nvPicPr>
          <p:cNvPr id="5" name="Picture 4" descr="One in a crowd">
            <a:extLst>
              <a:ext uri="{FF2B5EF4-FFF2-40B4-BE49-F238E27FC236}">
                <a16:creationId xmlns:a16="http://schemas.microsoft.com/office/drawing/2014/main" id="{07C70933-92FE-15FB-0715-196E51267A10}"/>
              </a:ext>
            </a:extLst>
          </p:cNvPr>
          <p:cNvPicPr>
            <a:picLocks noChangeAspect="1"/>
          </p:cNvPicPr>
          <p:nvPr/>
        </p:nvPicPr>
        <p:blipFill>
          <a:blip r:embed="rId3"/>
          <a:srcRect l="20725" r="12534"/>
          <a:stretch>
            <a:fillRect/>
          </a:stretch>
        </p:blipFill>
        <p:spPr>
          <a:xfrm>
            <a:off x="6865748" y="1"/>
            <a:ext cx="5734373"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640080"/>
            <a:ext cx="4818888" cy="1481328"/>
          </a:xfrm>
        </p:spPr>
        <p:txBody>
          <a:bodyPr anchor="b">
            <a:normAutofit/>
          </a:bodyPr>
          <a:lstStyle/>
          <a:p>
            <a:r>
              <a:rPr lang="en-GB" sz="5400"/>
              <a:t>Why Federated?</a:t>
            </a:r>
          </a:p>
        </p:txBody>
      </p:sp>
      <p:sp>
        <p:nvSpPr>
          <p:cNvPr id="12"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30936" y="2660904"/>
            <a:ext cx="4818888" cy="3547872"/>
          </a:xfrm>
        </p:spPr>
        <p:txBody>
          <a:bodyPr anchor="t">
            <a:normAutofit/>
          </a:bodyPr>
          <a:lstStyle/>
          <a:p>
            <a:pPr marL="0" indent="0">
              <a:lnSpc>
                <a:spcPct val="90000"/>
              </a:lnSpc>
              <a:buNone/>
            </a:pPr>
            <a:r>
              <a:rPr lang="en-GB" sz="2000"/>
              <a:t>Federated Learning allows models to learn from decentralized data</a:t>
            </a:r>
          </a:p>
          <a:p>
            <a:pPr>
              <a:lnSpc>
                <a:spcPct val="90000"/>
              </a:lnSpc>
            </a:pPr>
            <a:r>
              <a:rPr lang="en-GB" sz="2000"/>
              <a:t>Data remains local while model knowledge is shared</a:t>
            </a:r>
          </a:p>
          <a:p>
            <a:pPr>
              <a:lnSpc>
                <a:spcPct val="90000"/>
              </a:lnSpc>
            </a:pPr>
            <a:r>
              <a:rPr lang="en-GB" sz="2000"/>
              <a:t>Local identity and context remain preserved</a:t>
            </a:r>
          </a:p>
          <a:p>
            <a:pPr>
              <a:lnSpc>
                <a:spcPct val="90000"/>
              </a:lnSpc>
            </a:pPr>
            <a:r>
              <a:rPr lang="en-GB" sz="2000"/>
              <a:t>Shift from centralized gatekeeping to decentralized empowerment</a:t>
            </a:r>
          </a:p>
          <a:p>
            <a:pPr>
              <a:lnSpc>
                <a:spcPct val="90000"/>
              </a:lnSpc>
            </a:pPr>
            <a:r>
              <a:rPr lang="en-GB" sz="2000"/>
              <a:t>We don't need to lose our unique cultural identity or local context to be part of the global AI story.</a:t>
            </a:r>
          </a:p>
        </p:txBody>
      </p:sp>
      <p:pic>
        <p:nvPicPr>
          <p:cNvPr id="5" name="Picture 4">
            <a:extLst>
              <a:ext uri="{FF2B5EF4-FFF2-40B4-BE49-F238E27FC236}">
                <a16:creationId xmlns:a16="http://schemas.microsoft.com/office/drawing/2014/main" id="{C343181A-B5A2-C6D5-9740-8BC0DD09CF48}"/>
              </a:ext>
            </a:extLst>
          </p:cNvPr>
          <p:cNvPicPr>
            <a:picLocks noChangeAspect="1"/>
          </p:cNvPicPr>
          <p:nvPr/>
        </p:nvPicPr>
        <p:blipFill>
          <a:blip r:embed="rId3"/>
          <a:stretch>
            <a:fillRect/>
          </a:stretch>
        </p:blipFill>
        <p:spPr>
          <a:xfrm>
            <a:off x="6571747" y="299477"/>
            <a:ext cx="5458968" cy="364386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p:cNvSpPr>
            <a:spLocks noGrp="1"/>
          </p:cNvSpPr>
          <p:nvPr>
            <p:ph type="title"/>
          </p:nvPr>
        </p:nvSpPr>
        <p:spPr>
          <a:xfrm>
            <a:off x="479394" y="1070800"/>
            <a:ext cx="3939688" cy="5583126"/>
          </a:xfrm>
        </p:spPr>
        <p:txBody>
          <a:bodyPr>
            <a:normAutofit/>
          </a:bodyPr>
          <a:lstStyle/>
          <a:p>
            <a:pPr algn="r">
              <a:lnSpc>
                <a:spcPct val="90000"/>
              </a:lnSpc>
            </a:pPr>
            <a:r>
              <a:rPr lang="en-GB" sz="5600"/>
              <a:t>Federated Intelligence: A New Paradigm</a:t>
            </a:r>
          </a:p>
        </p:txBody>
      </p:sp>
      <p:cxnSp>
        <p:nvCxnSpPr>
          <p:cNvPr id="11" name="Straight Connector 10">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C6E64A4F-47D9-B70F-23D6-D2558896175D}"/>
              </a:ext>
            </a:extLst>
          </p:cNvPr>
          <p:cNvGraphicFramePr>
            <a:graphicFrameLocks noGrp="1"/>
          </p:cNvGraphicFramePr>
          <p:nvPr>
            <p:ph idx="1"/>
            <p:extLst>
              <p:ext uri="{D42A27DB-BD31-4B8C-83A1-F6EECF244321}">
                <p14:modId xmlns:p14="http://schemas.microsoft.com/office/powerpoint/2010/main" val="1896186664"/>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Give to Gain: The Core Philosophy</a:t>
            </a:r>
          </a:p>
        </p:txBody>
      </p:sp>
      <p:sp>
        <p:nvSpPr>
          <p:cNvPr id="3" name="Content Placeholder 2"/>
          <p:cNvSpPr>
            <a:spLocks noGrp="1"/>
          </p:cNvSpPr>
          <p:nvPr>
            <p:ph idx="1"/>
          </p:nvPr>
        </p:nvSpPr>
        <p:spPr/>
        <p:txBody>
          <a:bodyPr/>
          <a:lstStyle/>
          <a:p>
            <a:r>
              <a:rPr dirty="0"/>
              <a:t>Sharing knowledge strengthens ecosystems</a:t>
            </a:r>
          </a:p>
          <a:p>
            <a:r>
              <a:rPr dirty="0"/>
              <a:t>Mentorship multiplies talent</a:t>
            </a:r>
          </a:p>
          <a:p>
            <a:r>
              <a:rPr dirty="0"/>
              <a:t>Collaboration accelerates innovation</a:t>
            </a:r>
          </a:p>
          <a:p>
            <a:r>
              <a:rPr dirty="0"/>
              <a:t>Inclusive AI benefits society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32A28-D70E-3B2E-38BF-E0999815CF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070EBF-08CB-83F1-ABA5-82A5EC068218}"/>
              </a:ext>
            </a:extLst>
          </p:cNvPr>
          <p:cNvSpPr>
            <a:spLocks noGrp="1"/>
          </p:cNvSpPr>
          <p:nvPr>
            <p:ph type="title"/>
          </p:nvPr>
        </p:nvSpPr>
        <p:spPr/>
        <p:txBody>
          <a:bodyPr/>
          <a:lstStyle/>
          <a:p>
            <a:r>
              <a:rPr dirty="0"/>
              <a:t>The 'Give to Gain' Feedback Loop</a:t>
            </a:r>
          </a:p>
        </p:txBody>
      </p:sp>
      <p:pic>
        <p:nvPicPr>
          <p:cNvPr id="3" name="Picture 2">
            <a:extLst>
              <a:ext uri="{FF2B5EF4-FFF2-40B4-BE49-F238E27FC236}">
                <a16:creationId xmlns:a16="http://schemas.microsoft.com/office/drawing/2014/main" id="{70408D1D-7977-CB93-792C-96829C38F445}"/>
              </a:ext>
            </a:extLst>
          </p:cNvPr>
          <p:cNvPicPr>
            <a:picLocks noChangeAspect="1"/>
          </p:cNvPicPr>
          <p:nvPr/>
        </p:nvPicPr>
        <p:blipFill>
          <a:blip r:embed="rId3"/>
          <a:stretch>
            <a:fillRect/>
          </a:stretch>
        </p:blipFill>
        <p:spPr>
          <a:xfrm>
            <a:off x="2199339" y="1174454"/>
            <a:ext cx="8113362" cy="5408908"/>
          </a:xfrm>
          <a:prstGeom prst="rect">
            <a:avLst/>
          </a:prstGeom>
        </p:spPr>
      </p:pic>
    </p:spTree>
    <p:extLst>
      <p:ext uri="{BB962C8B-B14F-4D97-AF65-F5344CB8AC3E}">
        <p14:creationId xmlns:p14="http://schemas.microsoft.com/office/powerpoint/2010/main" val="22034915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Case Study: Cultural &amp; Creative AI</a:t>
            </a:r>
          </a:p>
        </p:txBody>
      </p:sp>
      <p:sp>
        <p:nvSpPr>
          <p:cNvPr id="7" name="Rectangle 2">
            <a:extLst>
              <a:ext uri="{FF2B5EF4-FFF2-40B4-BE49-F238E27FC236}">
                <a16:creationId xmlns:a16="http://schemas.microsoft.com/office/drawing/2014/main" id="{D229EE99-68A0-6BBE-3EFD-396DED156FCE}"/>
              </a:ext>
            </a:extLst>
          </p:cNvPr>
          <p:cNvSpPr>
            <a:spLocks noChangeArrowheads="1"/>
          </p:cNvSpPr>
          <p:nvPr/>
        </p:nvSpPr>
        <p:spPr bwMode="auto">
          <a:xfrm>
            <a:off x="855682" y="4986223"/>
            <a:ext cx="90108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defTabSz="914400" eaLnBrk="0" fontAlgn="base" hangingPunct="0">
              <a:spcBef>
                <a:spcPct val="0"/>
              </a:spcBef>
              <a:spcAft>
                <a:spcPct val="0"/>
              </a:spcAft>
              <a:buFontTx/>
              <a:buChar char="•"/>
            </a:pPr>
            <a:r>
              <a:rPr lang="en-US" altLang="en-US" i="1" dirty="0">
                <a:latin typeface="Arial" panose="020B0604020202020204" pitchFamily="34" charset="0"/>
              </a:rPr>
              <a:t>Example:</a:t>
            </a:r>
            <a:r>
              <a:rPr lang="en-US" altLang="en-US" dirty="0">
                <a:latin typeface="Arial" panose="020B0604020202020204" pitchFamily="34" charset="0"/>
              </a:rPr>
              <a:t> Research on Nigerian Lyrics and NLP.</a:t>
            </a:r>
          </a:p>
          <a:p>
            <a:pPr defTabSz="914400" eaLnBrk="0" fontAlgn="base" hangingPunct="0">
              <a:spcBef>
                <a:spcPct val="0"/>
              </a:spcBef>
              <a:spcAft>
                <a:spcPct val="0"/>
              </a:spcAft>
              <a:buFontTx/>
              <a:buChar char="•"/>
            </a:pPr>
            <a:r>
              <a:rPr lang="en-US" altLang="en-US" b="1" dirty="0">
                <a:latin typeface="Arial" panose="020B0604020202020204" pitchFamily="34" charset="0"/>
              </a:rPr>
              <a:t>Problem:</a:t>
            </a:r>
            <a:r>
              <a:rPr lang="en-US" altLang="en-US" dirty="0">
                <a:latin typeface="Arial" panose="020B0604020202020204" pitchFamily="34" charset="0"/>
              </a:rPr>
              <a:t> Western-centric models </a:t>
            </a:r>
            <a:r>
              <a:rPr lang="en-US" altLang="en-US" dirty="0" err="1">
                <a:latin typeface="Arial" panose="020B0604020202020204" pitchFamily="34" charset="0"/>
              </a:rPr>
              <a:t>oftenfail</a:t>
            </a:r>
            <a:r>
              <a:rPr lang="en-US" altLang="en-US" dirty="0">
                <a:latin typeface="Arial" panose="020B0604020202020204" pitchFamily="34" charset="0"/>
              </a:rPr>
              <a:t> to capture African linguistic nuances.</a:t>
            </a:r>
          </a:p>
          <a:p>
            <a:pPr defTabSz="914400" eaLnBrk="0" fontAlgn="base" hangingPunct="0">
              <a:spcBef>
                <a:spcPct val="0"/>
              </a:spcBef>
              <a:spcAft>
                <a:spcPct val="0"/>
              </a:spcAft>
              <a:buFontTx/>
              <a:buChar char="•"/>
            </a:pPr>
            <a:r>
              <a:rPr lang="en-US" altLang="en-US" b="1" dirty="0">
                <a:latin typeface="Arial" panose="020B0604020202020204" pitchFamily="34" charset="0"/>
              </a:rPr>
              <a:t>Action:</a:t>
            </a:r>
            <a:r>
              <a:rPr lang="en-US" altLang="en-US" dirty="0">
                <a:latin typeface="Arial" panose="020B0604020202020204" pitchFamily="34" charset="0"/>
              </a:rPr>
              <a:t> When we </a:t>
            </a:r>
            <a:r>
              <a:rPr lang="en-US" altLang="en-US" i="1" dirty="0">
                <a:latin typeface="Arial" panose="020B0604020202020204" pitchFamily="34" charset="0"/>
              </a:rPr>
              <a:t>give</a:t>
            </a:r>
            <a:r>
              <a:rPr lang="en-US" altLang="en-US" dirty="0">
                <a:latin typeface="Arial" panose="020B0604020202020204" pitchFamily="34" charset="0"/>
              </a:rPr>
              <a:t> our cultural data, we </a:t>
            </a:r>
            <a:r>
              <a:rPr lang="en-US" altLang="en-US" i="1" dirty="0">
                <a:latin typeface="Arial" panose="020B0604020202020204" pitchFamily="34" charset="0"/>
              </a:rPr>
              <a:t>gain</a:t>
            </a:r>
            <a:r>
              <a:rPr lang="en-US" altLang="en-US" dirty="0">
                <a:latin typeface="Arial" panose="020B0604020202020204" pitchFamily="34" charset="0"/>
              </a:rPr>
              <a:t> systems that actually understand us.</a:t>
            </a:r>
          </a:p>
          <a:p>
            <a:pPr defTabSz="914400" eaLnBrk="0" fontAlgn="base" hangingPunct="0">
              <a:spcBef>
                <a:spcPct val="0"/>
              </a:spcBef>
              <a:spcAft>
                <a:spcPct val="0"/>
              </a:spcAft>
              <a:buFontTx/>
              <a:buChar char="•"/>
            </a:pPr>
            <a:r>
              <a:rPr lang="en-US" altLang="en-US" b="1" dirty="0">
                <a:latin typeface="Arial" panose="020B0604020202020204" pitchFamily="34" charset="0"/>
              </a:rPr>
              <a:t>Quote:</a:t>
            </a:r>
            <a:r>
              <a:rPr lang="en-US" altLang="en-US" dirty="0">
                <a:latin typeface="Arial" panose="020B0604020202020204" pitchFamily="34" charset="0"/>
              </a:rPr>
              <a:t> "If we are not in the training data, we do not exist in the future."</a:t>
            </a:r>
          </a:p>
        </p:txBody>
      </p:sp>
      <p:sp>
        <p:nvSpPr>
          <p:cNvPr id="9" name="TextBox 8">
            <a:extLst>
              <a:ext uri="{FF2B5EF4-FFF2-40B4-BE49-F238E27FC236}">
                <a16:creationId xmlns:a16="http://schemas.microsoft.com/office/drawing/2014/main" id="{375DB80D-AB91-D8FE-10AC-2F152D44064C}"/>
              </a:ext>
            </a:extLst>
          </p:cNvPr>
          <p:cNvSpPr txBox="1"/>
          <p:nvPr/>
        </p:nvSpPr>
        <p:spPr>
          <a:xfrm>
            <a:off x="767050" y="1548166"/>
            <a:ext cx="4594032" cy="369332"/>
          </a:xfrm>
          <a:prstGeom prst="rect">
            <a:avLst/>
          </a:prstGeom>
          <a:noFill/>
        </p:spPr>
        <p:txBody>
          <a:bodyPr wrap="square">
            <a:spAutoFit/>
          </a:bodyPr>
          <a:lstStyle/>
          <a:p>
            <a:r>
              <a:rPr lang="en-GB" dirty="0"/>
              <a:t>Giving Context to Gain Representation</a:t>
            </a:r>
          </a:p>
        </p:txBody>
      </p:sp>
      <p:pic>
        <p:nvPicPr>
          <p:cNvPr id="4" name="Picture 3">
            <a:extLst>
              <a:ext uri="{FF2B5EF4-FFF2-40B4-BE49-F238E27FC236}">
                <a16:creationId xmlns:a16="http://schemas.microsoft.com/office/drawing/2014/main" id="{6AB1B010-274C-9D0E-70CC-A766653830C5}"/>
              </a:ext>
            </a:extLst>
          </p:cNvPr>
          <p:cNvPicPr>
            <a:picLocks noChangeAspect="1"/>
          </p:cNvPicPr>
          <p:nvPr/>
        </p:nvPicPr>
        <p:blipFill>
          <a:blip r:embed="rId3"/>
          <a:stretch>
            <a:fillRect/>
          </a:stretch>
        </p:blipFill>
        <p:spPr>
          <a:xfrm>
            <a:off x="5113020" y="0"/>
            <a:ext cx="6126480" cy="40843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76693" y="741391"/>
            <a:ext cx="3455821" cy="1616203"/>
          </a:xfrm>
        </p:spPr>
        <p:txBody>
          <a:bodyPr anchor="b">
            <a:normAutofit/>
          </a:bodyPr>
          <a:lstStyle/>
          <a:p>
            <a:r>
              <a:rPr lang="en-GB" sz="3200"/>
              <a:t>Engineering a FAIR Future</a:t>
            </a:r>
          </a:p>
        </p:txBody>
      </p:sp>
      <p:sp>
        <p:nvSpPr>
          <p:cNvPr id="3" name="Content Placeholder 2"/>
          <p:cNvSpPr>
            <a:spLocks noGrp="1"/>
          </p:cNvSpPr>
          <p:nvPr>
            <p:ph idx="1"/>
          </p:nvPr>
        </p:nvSpPr>
        <p:spPr>
          <a:xfrm>
            <a:off x="876693" y="2533476"/>
            <a:ext cx="3455821" cy="3447832"/>
          </a:xfrm>
        </p:spPr>
        <p:txBody>
          <a:bodyPr anchor="t">
            <a:normAutofit/>
          </a:bodyPr>
          <a:lstStyle/>
          <a:p>
            <a:r>
              <a:rPr lang="en-GB" sz="2000" dirty="0"/>
              <a:t>Findable: Increase visibility of Nigerian women in AI</a:t>
            </a:r>
          </a:p>
          <a:p>
            <a:r>
              <a:rPr lang="en-GB" sz="2000" dirty="0"/>
              <a:t>Accessible: Expand access to AI education and tools</a:t>
            </a:r>
          </a:p>
          <a:p>
            <a:r>
              <a:rPr lang="en-GB" sz="2000" dirty="0"/>
              <a:t>Interoperable: Align local research with global standards</a:t>
            </a:r>
          </a:p>
          <a:p>
            <a:r>
              <a:rPr lang="en-GB" sz="2000" dirty="0"/>
              <a:t>Reusable: Ensure knowledge benefits future researchers</a:t>
            </a:r>
          </a:p>
        </p:txBody>
      </p:sp>
      <p:grpSp>
        <p:nvGrpSpPr>
          <p:cNvPr id="9" name="Group 8">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0" name="Rectangle 9">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a:extLst>
              <a:ext uri="{FF2B5EF4-FFF2-40B4-BE49-F238E27FC236}">
                <a16:creationId xmlns:a16="http://schemas.microsoft.com/office/drawing/2014/main" id="{24F3EFAF-6189-EC72-F25E-8F233AF756FC}"/>
              </a:ext>
            </a:extLst>
          </p:cNvPr>
          <p:cNvPicPr>
            <a:picLocks noChangeAspect="1"/>
          </p:cNvPicPr>
          <p:nvPr/>
        </p:nvPicPr>
        <p:blipFill>
          <a:blip r:embed="rId3"/>
          <a:stretch>
            <a:fillRect/>
          </a:stretch>
        </p:blipFill>
        <p:spPr>
          <a:xfrm>
            <a:off x="4512176" y="749011"/>
            <a:ext cx="7376799" cy="491380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Connected lines and dots to form a network">
            <a:extLst>
              <a:ext uri="{FF2B5EF4-FFF2-40B4-BE49-F238E27FC236}">
                <a16:creationId xmlns:a16="http://schemas.microsoft.com/office/drawing/2014/main" id="{247B15DF-2885-88B2-B35A-1EA3B31486DC}"/>
              </a:ext>
            </a:extLst>
          </p:cNvPr>
          <p:cNvPicPr>
            <a:picLocks noChangeAspect="1"/>
          </p:cNvPicPr>
          <p:nvPr/>
        </p:nvPicPr>
        <p:blipFill>
          <a:blip r:embed="rId3"/>
          <a:srcRect l="36482" r="19143"/>
          <a:stretch>
            <a:fillRect/>
          </a:stretch>
        </p:blipFill>
        <p:spPr>
          <a:xfrm>
            <a:off x="-1" y="-2"/>
            <a:ext cx="5410198" cy="6858002"/>
          </a:xfrm>
          <a:prstGeom prst="rect">
            <a:avLst/>
          </a:prstGeom>
        </p:spPr>
      </p:pic>
      <p:sp useBgFill="1">
        <p:nvSpPr>
          <p:cNvPr id="15" name="Rectangle 14">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115317" y="405685"/>
            <a:ext cx="5464968" cy="1559301"/>
          </a:xfrm>
        </p:spPr>
        <p:txBody>
          <a:bodyPr>
            <a:normAutofit/>
          </a:bodyPr>
          <a:lstStyle/>
          <a:p>
            <a:r>
              <a:rPr lang="en-GB" sz="4000"/>
              <a:t>Shared Intelligence in Practice</a:t>
            </a:r>
          </a:p>
        </p:txBody>
      </p:sp>
      <p:sp>
        <p:nvSpPr>
          <p:cNvPr id="3" name="Content Placeholder 2"/>
          <p:cNvSpPr>
            <a:spLocks noGrp="1"/>
          </p:cNvSpPr>
          <p:nvPr>
            <p:ph idx="1"/>
          </p:nvPr>
        </p:nvSpPr>
        <p:spPr>
          <a:xfrm>
            <a:off x="6115317" y="2743200"/>
            <a:ext cx="5247340" cy="3496878"/>
          </a:xfrm>
        </p:spPr>
        <p:txBody>
          <a:bodyPr anchor="ctr">
            <a:normAutofit/>
          </a:bodyPr>
          <a:lstStyle/>
          <a:p>
            <a:r>
              <a:rPr lang="en-GB" sz="2000"/>
              <a:t>Open datasets and FAIR data practices</a:t>
            </a:r>
          </a:p>
          <a:p>
            <a:r>
              <a:rPr lang="en-GB" sz="2000"/>
              <a:t>Collaborative AI research hubs</a:t>
            </a:r>
          </a:p>
          <a:p>
            <a:r>
              <a:rPr lang="en-GB" sz="2000"/>
              <a:t>Community-driven innovation</a:t>
            </a:r>
          </a:p>
          <a:p>
            <a:r>
              <a:rPr lang="en-GB" sz="2000"/>
              <a:t>Distributed AI labs across universities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Call to Action: Your Node in the Network</a:t>
            </a:r>
          </a:p>
        </p:txBody>
      </p:sp>
      <p:sp>
        <p:nvSpPr>
          <p:cNvPr id="3" name="Content Placeholder 2"/>
          <p:cNvSpPr>
            <a:spLocks noGrp="1"/>
          </p:cNvSpPr>
          <p:nvPr>
            <p:ph idx="1"/>
          </p:nvPr>
        </p:nvSpPr>
        <p:spPr/>
        <p:txBody>
          <a:bodyPr>
            <a:normAutofit fontScale="92500"/>
          </a:bodyPr>
          <a:lstStyle/>
          <a:p>
            <a:r>
              <a:rPr lang="en-US" altLang="en-US" dirty="0">
                <a:latin typeface="Arial" panose="020B0604020202020204" pitchFamily="34" charset="0"/>
              </a:rPr>
              <a:t>Join the Network: </a:t>
            </a:r>
            <a:r>
              <a:rPr dirty="0"/>
              <a:t>Engage with Women in AI Nigeria and </a:t>
            </a:r>
            <a:r>
              <a:rPr dirty="0" err="1"/>
              <a:t>IndabaX</a:t>
            </a:r>
            <a:endParaRPr dirty="0"/>
          </a:p>
          <a:p>
            <a:r>
              <a:rPr lang="en-US" altLang="en-US" dirty="0">
                <a:latin typeface="Arial" panose="020B0604020202020204" pitchFamily="34" charset="0"/>
              </a:rPr>
              <a:t>Share your "Update": </a:t>
            </a:r>
            <a:r>
              <a:rPr dirty="0"/>
              <a:t>Mentor at least one emerging researcher</a:t>
            </a:r>
          </a:p>
          <a:p>
            <a:r>
              <a:rPr lang="en-GB" dirty="0"/>
              <a:t>Publish/</a:t>
            </a:r>
            <a:r>
              <a:rPr dirty="0"/>
              <a:t>Share datasets or open research resources</a:t>
            </a:r>
          </a:p>
          <a:p>
            <a:r>
              <a:rPr dirty="0"/>
              <a:t>Advocate for ethical and inclusive AI policies</a:t>
            </a:r>
            <a:endParaRPr lang="en-GB" dirty="0"/>
          </a:p>
          <a:p>
            <a:pPr defTabSz="914400" eaLnBrk="0" fontAlgn="base" hangingPunct="0">
              <a:spcBef>
                <a:spcPct val="0"/>
              </a:spcBef>
              <a:spcAft>
                <a:spcPct val="0"/>
              </a:spcAft>
              <a:buFontTx/>
              <a:buChar char="•"/>
            </a:pPr>
            <a:r>
              <a:rPr lang="en-US" altLang="en-US" dirty="0">
                <a:latin typeface="Arial" panose="020B0604020202020204" pitchFamily="34" charset="0"/>
              </a:rPr>
              <a:t>Advocate: Push for data policies that protect and empower.</a:t>
            </a:r>
          </a:p>
          <a:p>
            <a:pPr defTabSz="914400" eaLnBrk="0" fontAlgn="base" hangingPunct="0">
              <a:spcBef>
                <a:spcPct val="0"/>
              </a:spcBef>
              <a:spcAft>
                <a:spcPct val="0"/>
              </a:spcAft>
              <a:buFontTx/>
              <a:buChar char="•"/>
            </a:pPr>
            <a:r>
              <a:rPr lang="en-US" altLang="en-US" dirty="0">
                <a:latin typeface="Arial" panose="020B0604020202020204" pitchFamily="34" charset="0"/>
              </a:rPr>
              <a:t>Closing Quote: "Our shared intelligence is our greatest asset. Let’s engineer the future together."</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380843A-8A22-9516-2AE0-A513EB9A26E3}"/>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71835AB4-8D8E-D051-4687-D4FDBD6F996B}"/>
              </a:ext>
            </a:extLst>
          </p:cNvPr>
          <p:cNvPicPr>
            <a:picLocks noChangeAspect="1"/>
          </p:cNvPicPr>
          <p:nvPr/>
        </p:nvPicPr>
        <p:blipFill>
          <a:blip r:embed="rId3"/>
          <a:srcRect b="15746"/>
          <a:stretch>
            <a:fillRect/>
          </a:stretch>
        </p:blipFill>
        <p:spPr>
          <a:xfrm>
            <a:off x="20" y="1282"/>
            <a:ext cx="12191980" cy="6856718"/>
          </a:xfrm>
          <a:prstGeom prst="rect">
            <a:avLst/>
          </a:prstGeom>
        </p:spPr>
      </p:pic>
    </p:spTree>
    <p:extLst>
      <p:ext uri="{BB962C8B-B14F-4D97-AF65-F5344CB8AC3E}">
        <p14:creationId xmlns:p14="http://schemas.microsoft.com/office/powerpoint/2010/main" val="42232372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robot with a face">
            <a:extLst>
              <a:ext uri="{FF2B5EF4-FFF2-40B4-BE49-F238E27FC236}">
                <a16:creationId xmlns:a16="http://schemas.microsoft.com/office/drawing/2014/main" id="{23FC71FB-3389-B73E-8297-0D5BBA905F8D}"/>
              </a:ext>
            </a:extLst>
          </p:cNvPr>
          <p:cNvPicPr>
            <a:picLocks noChangeAspect="1"/>
          </p:cNvPicPr>
          <p:nvPr/>
        </p:nvPicPr>
        <p:blipFill>
          <a:blip r:embed="rId3"/>
          <a:srcRect l="43827" r="951" b="1"/>
          <a:stretch>
            <a:fillRect/>
          </a:stretch>
        </p:blipFill>
        <p:spPr>
          <a:xfrm>
            <a:off x="-1" y="-2"/>
            <a:ext cx="5410198" cy="6858002"/>
          </a:xfrm>
          <a:prstGeom prst="rect">
            <a:avLst/>
          </a:prstGeom>
        </p:spPr>
      </p:pic>
      <p:sp useBgFill="1">
        <p:nvSpPr>
          <p:cNvPr id="11" name="Rectangle 1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115317" y="405685"/>
            <a:ext cx="5464968" cy="1559301"/>
          </a:xfrm>
        </p:spPr>
        <p:txBody>
          <a:bodyPr>
            <a:normAutofit/>
          </a:bodyPr>
          <a:lstStyle/>
          <a:p>
            <a:r>
              <a:rPr lang="en-GB" sz="4000"/>
              <a:t>Closing Thought</a:t>
            </a:r>
          </a:p>
        </p:txBody>
      </p:sp>
      <p:sp>
        <p:nvSpPr>
          <p:cNvPr id="3" name="Content Placeholder 2"/>
          <p:cNvSpPr>
            <a:spLocks noGrp="1"/>
          </p:cNvSpPr>
          <p:nvPr>
            <p:ph idx="1"/>
          </p:nvPr>
        </p:nvSpPr>
        <p:spPr>
          <a:xfrm>
            <a:off x="6115317" y="2743200"/>
            <a:ext cx="5247340" cy="3496878"/>
          </a:xfrm>
        </p:spPr>
        <p:txBody>
          <a:bodyPr anchor="ctr">
            <a:normAutofit/>
          </a:bodyPr>
          <a:lstStyle/>
          <a:p>
            <a:r>
              <a:rPr lang="en-GB" sz="2000" dirty="0"/>
              <a:t>The future of AI is not isolated intelligence</a:t>
            </a:r>
          </a:p>
          <a:p>
            <a:r>
              <a:rPr lang="en-GB" sz="2000" dirty="0"/>
              <a:t>It is shared intelligence</a:t>
            </a:r>
          </a:p>
          <a:p>
            <a:r>
              <a:rPr lang="en-GB" sz="2000" dirty="0"/>
              <a:t>It is collaborative innovation</a:t>
            </a:r>
          </a:p>
          <a:p>
            <a:r>
              <a:rPr lang="en-GB" sz="2000" dirty="0"/>
              <a:t>And it is women shaping the future of technology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BD61DF-6FF0-1FBE-719C-8CA19ED4D877}"/>
              </a:ext>
            </a:extLst>
          </p:cNvPr>
          <p:cNvSpPr>
            <a:spLocks noGrp="1"/>
          </p:cNvSpPr>
          <p:nvPr>
            <p:ph type="title"/>
          </p:nvPr>
        </p:nvSpPr>
        <p:spPr>
          <a:xfrm>
            <a:off x="640080" y="325369"/>
            <a:ext cx="4368602" cy="1956841"/>
          </a:xfrm>
        </p:spPr>
        <p:txBody>
          <a:bodyPr spcFirstLastPara="1" vert="horz" lIns="91440" tIns="45720" rIns="91440" bIns="45720" rtlCol="0" anchor="b" anchorCtr="0">
            <a:normAutofit/>
          </a:bodyPr>
          <a:lstStyle/>
          <a:p>
            <a:pPr algn="l" defTabSz="914400">
              <a:lnSpc>
                <a:spcPct val="90000"/>
              </a:lnSpc>
              <a:spcBef>
                <a:spcPct val="0"/>
              </a:spcBef>
            </a:pPr>
            <a:r>
              <a:rPr lang="en-US" sz="5400" dirty="0"/>
              <a:t>Let’s Collaborate!</a:t>
            </a:r>
          </a:p>
        </p:txBody>
      </p:sp>
      <p:sp>
        <p:nvSpPr>
          <p:cNvPr id="12"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43737FCD-99C4-CC7B-58BD-F5160558BCA1}"/>
              </a:ext>
            </a:extLst>
          </p:cNvPr>
          <p:cNvSpPr>
            <a:spLocks noGrp="1"/>
          </p:cNvSpPr>
          <p:nvPr>
            <p:ph type="body" idx="1"/>
          </p:nvPr>
        </p:nvSpPr>
        <p:spPr>
          <a:xfrm>
            <a:off x="83820" y="2872899"/>
            <a:ext cx="5844540" cy="3659732"/>
          </a:xfrm>
        </p:spPr>
        <p:txBody>
          <a:bodyPr spcFirstLastPara="1" vert="horz" lIns="91440" tIns="45720" rIns="91440" bIns="45720" rtlCol="0" anchorCtr="0">
            <a:normAutofit lnSpcReduction="10000"/>
          </a:bodyPr>
          <a:lstStyle/>
          <a:p>
            <a:pPr marL="0" indent="0" defTabSz="914400">
              <a:lnSpc>
                <a:spcPct val="200000"/>
              </a:lnSpc>
              <a:spcAft>
                <a:spcPts val="600"/>
              </a:spcAft>
              <a:buNone/>
            </a:pPr>
            <a:r>
              <a:rPr lang="en-US" sz="2200" i="1" dirty="0"/>
              <a:t> Dr. Sakinat Folorunso</a:t>
            </a:r>
          </a:p>
          <a:p>
            <a:pPr marL="0" indent="0" defTabSz="914400">
              <a:lnSpc>
                <a:spcPct val="200000"/>
              </a:lnSpc>
              <a:spcAft>
                <a:spcPts val="600"/>
              </a:spcAft>
              <a:buNone/>
            </a:pPr>
            <a:r>
              <a:rPr lang="en-US" sz="2200" i="1" dirty="0"/>
              <a:t>Associate Professor of AI Systems and FAIR Data</a:t>
            </a:r>
          </a:p>
          <a:p>
            <a:pPr marL="0" indent="0" defTabSz="914400">
              <a:lnSpc>
                <a:spcPct val="200000"/>
              </a:lnSpc>
              <a:spcAft>
                <a:spcPts val="600"/>
              </a:spcAft>
              <a:buNone/>
            </a:pPr>
            <a:r>
              <a:rPr lang="en-US" sz="2200" i="1" dirty="0"/>
              <a:t>Department of Computer Sciences</a:t>
            </a:r>
          </a:p>
          <a:p>
            <a:pPr marL="0" indent="0" defTabSz="914400">
              <a:lnSpc>
                <a:spcPct val="200000"/>
              </a:lnSpc>
              <a:spcAft>
                <a:spcPts val="600"/>
              </a:spcAft>
              <a:buNone/>
            </a:pPr>
            <a:r>
              <a:rPr lang="en-US" sz="2200" i="1" dirty="0"/>
              <a:t>Olabisi Onabanjo University, Nigeria</a:t>
            </a:r>
          </a:p>
          <a:p>
            <a:pPr marL="0" indent="0" defTabSz="914400">
              <a:lnSpc>
                <a:spcPct val="200000"/>
              </a:lnSpc>
              <a:spcAft>
                <a:spcPts val="600"/>
              </a:spcAft>
              <a:buNone/>
            </a:pPr>
            <a:r>
              <a:rPr lang="en-US" sz="2200" i="1" dirty="0">
                <a:hlinkClick r:id="rId2"/>
              </a:rPr>
              <a:t>sakinat.folorunso@oouagoiwoye.edu.ng</a:t>
            </a:r>
            <a:r>
              <a:rPr lang="en-US" sz="2200" i="1" dirty="0"/>
              <a:t> </a:t>
            </a:r>
          </a:p>
        </p:txBody>
      </p:sp>
      <p:pic>
        <p:nvPicPr>
          <p:cNvPr id="5" name="Picture 4" descr="A qr code with a white background&#10;&#10;Description automatically generated">
            <a:extLst>
              <a:ext uri="{FF2B5EF4-FFF2-40B4-BE49-F238E27FC236}">
                <a16:creationId xmlns:a16="http://schemas.microsoft.com/office/drawing/2014/main" id="{B9B94162-068D-DED8-9CE1-08E501ABE610}"/>
              </a:ext>
            </a:extLst>
          </p:cNvPr>
          <p:cNvPicPr>
            <a:picLocks noChangeAspect="1"/>
          </p:cNvPicPr>
          <p:nvPr/>
        </p:nvPicPr>
        <p:blipFill>
          <a:blip r:embed="rId3"/>
          <a:srcRect t="302" r="-1" b="-1"/>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4850784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1455</TotalTime>
  <Words>1241</Words>
  <Application>Microsoft Office PowerPoint</Application>
  <PresentationFormat>Widescreen</PresentationFormat>
  <Paragraphs>102</Paragraphs>
  <Slides>13</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The Power of Shared Intelligence: Engineering a Federated Future for Women in AI</vt:lpstr>
      <vt:lpstr>Why Shared Intelligence Matters</vt:lpstr>
      <vt:lpstr>Why Federated?</vt:lpstr>
      <vt:lpstr>Federated Intelligence: A New Paradigm</vt:lpstr>
      <vt:lpstr>Give to Gain: The Core Philosophy</vt:lpstr>
      <vt:lpstr>The 'Give to Gain' Feedback Loop</vt:lpstr>
      <vt:lpstr>Case Study: Cultural &amp; Creative AI</vt:lpstr>
      <vt:lpstr>Engineering a FAIR Future</vt:lpstr>
      <vt:lpstr>Shared Intelligence in Practice</vt:lpstr>
      <vt:lpstr>Call to Action: Your Node in the Network</vt:lpstr>
      <vt:lpstr>PowerPoint Presentation</vt:lpstr>
      <vt:lpstr>Closing Thought</vt:lpstr>
      <vt:lpstr>Let’s Collaborate!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Sakinat TijaniFolorunso</cp:lastModifiedBy>
  <cp:revision>4</cp:revision>
  <dcterms:created xsi:type="dcterms:W3CDTF">2013-01-27T09:14:16Z</dcterms:created>
  <dcterms:modified xsi:type="dcterms:W3CDTF">2026-03-07T14:21:22Z</dcterms:modified>
  <cp:category/>
</cp:coreProperties>
</file>