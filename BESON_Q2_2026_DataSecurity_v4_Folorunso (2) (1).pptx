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311" r:id="rId2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10"/>
  </p:normalViewPr>
  <p:slideViewPr>
    <p:cSldViewPr snapToGrid="0" snapToObjects="1">
      <p:cViewPr varScale="1">
        <p:scale>
          <a:sx n="120" d="100"/>
          <a:sy n="120" d="100"/>
        </p:scale>
        <p:origin x="820" y="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70316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BESON members, REC chairs, hospital data custodians, researchers, postgraduate students and administrators. This expanded talk covers the full pipeline: why data security matters, policy frameworks, FAIR principles, AI-assisted tools, data collection, dataset documentation, and a practical checklist. 25 minutes + Q&amp;A.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a navigation aid. Point participants to the agenda at the start. The talk moves from 'Why?' → 'What law says?' → 'How to implement practically?'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specific to BESON. Open with it to show the audience that this is not a generic IT security talk — it is a bioethics talk grounded in BESON's own mission and objectives. Every point you make today is in service of human dignity in Nigerian research. Say that out loud. Also explicitly state: 'BESON is positioned to become the national platform for capacity building on AI ethics, FAIR data, and responsible research governance in Nigeria — the IBEF and these webinars are exactly that platform.'</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examples should resonate with this audience. Use the Nigerian example to ground it locally. The four bioethical principles (Beauchamp &amp; Childress) map directly onto data security obligations — this is not separate from ethics, it IS ethics.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anchors the talk firmly in bioethics theory. For ethicists in the room, seeing Beauchamp &amp; Childress applied to data security validates the framing. For REC members and students, it provides a memorable framework: five principles, five obligations. Ask the audience: 'Which of these five principles is most frequently violated in Nigerian research?' The answer will vary and generate excellent discussion.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where the talk becomes distinctively African rather than a generic global data security seminar. The Ubuntu and Omoluabi framing will resonate strongly with Nigerian ethicists. The equity points — digital divide and algorithmic discrimination on African names specifically — are likely to generate strong audience reactions and follow-up discussion.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will generate the most discussion of any in the deck. Anticipated pushback: (1) 'We don't use AI at our REC' — ask them how they know a submitted protocol wasn't drafted by ChatGPT. (2) 'Participants don't need to know about our analysis tools' — under NDPA §6, data processing purposes must be disclosed. Discuss: Should BESON issue a formal position statement on AI in research ethics governance? This is an opportunity for BESON thought leadership.</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72% statistic is critical: the biggest threat is not hackers — it is the researcher who sends a dataset as an email attachment, or the student who stores participant data on a shared WhatsApp group drive.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the question: why should a Bioethics Society care about AI tools at all? Frame it as opportunity AND risk. RECs must evaluate AI tools just as they evaluate experimental procedures — with ethical scrutiny. An AI tool that processes participant data IS processing participant data, regardless of whether it is called an 'analysis tool'.</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scenario slowly. The audience may never have thought about 'what happens when an AI touches our research data'. Emphasise: the AI tool is a data processor under NDPA 2023, and if it is cloud-based, data transfer rules apply.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Nigerian researchers are NOT exempt from international law just because they work in Nigeria. If your multi-site study includes a hospital in London or a collaborator in Cape Town, GDPR or POPIA kicks in. Explain NDPA §43 on cross-border transfers.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FAIR is not just for open data scientists — it is the gold standard for any data that may be reused, audited, or shared. Emphasise: FAIR and SECURE are complementary, not competing. A dataset can be Findable but restricted. Push back on the myth that 'locking data away' is the safest approach — it creates data silos that are actually harder to audit and more likely to be lost.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the sceptical audience member who thinks locking data in a drawer is the most ethical option. Challenge that assumption directly. Audit trails, version control, and metadata documentation are better protections than hiding.</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datasheet is different from a README. It answers ethical questions, not just technical ones. For postgraduate students: your thesis dataset should have a datasheet. For RECs: start requiring datasheets as part of protocol submission for data-intensive studies.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tends to produce audible reactions. Most researchers in the room will have sent participant data via WhatsApp or email. Do not shame — explain the law and the risk, then show the alternatives. KoboToolbox and REDCap are available NOW and are free.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principle has a concrete Nigerian research example. Ask the audience: 'For your most recent dataset — can you demonstrate all six?' This is the conversation RECs should be having with PIs at clearance stage.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RECs are the institutional firewall for data security. If the REC does not ask these questions, no one will. A data breach that harms participants is not just a legal failure — it is a research ethics failure, and the REC bears institutional responsibility.</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a scenario: a PhD student collecting blood pressure data in 5 local government areas of Ogun State. At which step do most Nigerian researchers fall short? Usually Steps 2 (collection) and 5 (sharing datasets with supervisors). This is where practical training is most needed.</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Anticipate the 'we don't have the budget' objection before it is raised. Every tool on this slide is free. The barrier is knowledge and policy, not money.</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Federated Learning is the most important technical innovation for African health research data sovereignty. It directly solves the problem of 'I want to collaborate across hospitals but cannot share patient data legally'. Mention IRDIGEA as local, concrete proof that this work is happening in Nigeria.</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Distribute this checklist to participants as a handout. Suggest that every institution adopts this as the minimum standard for protocol submission. It covers DMP, FAIR, Datasheet, Collection tools, Storage, De-identification, Breach protocol, AI tools, and training.</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optimism. The tools, the knowledge, and the legal framework all exist. What changes today is the collective resolve to make data security, FAIR principles, and dataset documentation standard practice — not aspirational extras — in Nigerian and African research.</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slide for a BESON audience. Everything else — NDPA, FAIR, checklists, tools — is in service of this. Bring it back to the human being who signed the consent form. Ask the audience: 'If your own family member was a participant in a study, what would you want guaranteed?' That is the standard we must hold all research to.</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ANTICIPATED BESON MEMBER QUESTIONS — be ready for these:
LEGAL: (1) Does NDPA 2023 override institutional policies? No — NDPA sets minimum standards; institutions may be more restrictive but not less. (2) What happens when NDPA conflicts with funder requirements? The stricter standard applies. Document the conflict and seek legal advice. (3) Can informed consent override NDPA requirements? No — consent is a lawful basis, but it does not permit breaches of other NDPA obligations like data minimisation or security.
REC: (4) Should all protocols now require a DMP? Yes — this talk recommends it as a minimum standard. (5) Who reviews DPIAs? The DPO or an independent reviewer designated by the institution. (6) How should RECs assess AI tools? Require vendor DPA, confirm data residency, ask if the tool processes data locally or sends it to external servers.
AI: (7) Is ChatGPT permitted for qualitative data analysis? Only if: data is anonymised first, the ChatGPT Enterprise (privacy-preserving) version is used, and a DPA is in place. Never upload identifiable transcripts to free-tier ChatGPT. (8) Can researchers upload interview transcripts to AI tools? Only if fully de-identified and covered by a DPA. (9) How do we evaluate AI bias? Require bias audit reports from vendors; test tools on Nigerian-language names and local address formats.
FAIR: (10) Can sensitive health data ever be FAIR? Yes — FAIR does not require openness. Restricted access with documented procedures is fully FAIR-compliant. (11) How can FAIR coexist with confidentiality? Metadata is public; data access is controlled. This is the standard model used by all major health data repositories.
KEY DISCUSSION QUESTION FOR AUDIENCE: 'Should Nigerian research participants have the right to know when AI tools are used in processing their data?' This question has no settled answer — it is live bioethics. Frame it as an opportunity for BESON to develop a position statement.</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image" Target="../media/image19.png"/></Relationships>
</file>

<file path=ppt/slides/_rels/slide2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E4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7377"/>
          </a:solidFill>
          <a:ln w="12700">
            <a:solidFill>
              <a:srgbClr val="0D7377"/>
            </a:solidFill>
            <a:prstDash val="solid"/>
          </a:ln>
        </p:spPr>
        <p:txBody>
          <a:bodyPr/>
          <a:lstStyle/>
          <a:p>
            <a:endParaRPr lang="en-GB"/>
          </a:p>
        </p:txBody>
      </p:sp>
      <p:sp>
        <p:nvSpPr>
          <p:cNvPr id="3" name="Shape 1"/>
          <p:cNvSpPr/>
          <p:nvPr/>
        </p:nvSpPr>
        <p:spPr>
          <a:xfrm>
            <a:off x="0" y="5070348"/>
            <a:ext cx="9144000" cy="73152"/>
          </a:xfrm>
          <a:prstGeom prst="rect">
            <a:avLst/>
          </a:prstGeom>
          <a:solidFill>
            <a:srgbClr val="E8A020"/>
          </a:solidFill>
          <a:ln w="12700">
            <a:solidFill>
              <a:srgbClr val="E8A020"/>
            </a:solidFill>
            <a:prstDash val="solid"/>
          </a:ln>
        </p:spPr>
        <p:txBody>
          <a:bodyPr/>
          <a:lstStyle/>
          <a:p>
            <a:endParaRPr lang="en-GB"/>
          </a:p>
        </p:txBody>
      </p:sp>
      <p:pic>
        <p:nvPicPr>
          <p:cNvPr id="4" name="Image 0" descr="preencoded.png"/>
          <p:cNvPicPr>
            <a:picLocks noChangeAspect="1"/>
          </p:cNvPicPr>
          <p:nvPr/>
        </p:nvPicPr>
        <p:blipFill>
          <a:blip r:embed="rId3"/>
          <a:stretch>
            <a:fillRect/>
          </a:stretch>
        </p:blipFill>
        <p:spPr>
          <a:xfrm>
            <a:off x="365760" y="594360"/>
            <a:ext cx="1005840" cy="1005840"/>
          </a:xfrm>
          <a:prstGeom prst="rect">
            <a:avLst/>
          </a:prstGeom>
        </p:spPr>
      </p:pic>
      <p:sp>
        <p:nvSpPr>
          <p:cNvPr id="5" name="Shape 2"/>
          <p:cNvSpPr/>
          <p:nvPr/>
        </p:nvSpPr>
        <p:spPr>
          <a:xfrm>
            <a:off x="7040880" y="228600"/>
            <a:ext cx="1783080" cy="411480"/>
          </a:xfrm>
          <a:prstGeom prst="roundRect">
            <a:avLst>
              <a:gd name="adj" fmla="val 22222"/>
            </a:avLst>
          </a:prstGeom>
          <a:solidFill>
            <a:srgbClr val="0D7377"/>
          </a:solidFill>
          <a:ln w="12700">
            <a:solidFill>
              <a:srgbClr val="14ABAB"/>
            </a:solidFill>
            <a:prstDash val="solid"/>
          </a:ln>
        </p:spPr>
        <p:txBody>
          <a:bodyPr/>
          <a:lstStyle/>
          <a:p>
            <a:endParaRPr lang="en-GB"/>
          </a:p>
        </p:txBody>
      </p:sp>
      <p:sp>
        <p:nvSpPr>
          <p:cNvPr id="6" name="Text 3"/>
          <p:cNvSpPr/>
          <p:nvPr/>
        </p:nvSpPr>
        <p:spPr>
          <a:xfrm>
            <a:off x="7040880" y="228600"/>
            <a:ext cx="1783080" cy="411480"/>
          </a:xfrm>
          <a:prstGeom prst="rect">
            <a:avLst/>
          </a:prstGeom>
          <a:noFill/>
          <a:ln/>
        </p:spPr>
        <p:txBody>
          <a:bodyPr wrap="square" rtlCol="0" anchor="ctr"/>
          <a:lstStyle/>
          <a:p>
            <a:pPr marL="0" indent="0" algn="ctr">
              <a:buNone/>
            </a:pPr>
            <a:r>
              <a:rPr lang="en-US" sz="900" b="1" dirty="0">
                <a:solidFill>
                  <a:srgbClr val="FFFFFF"/>
                </a:solidFill>
              </a:rPr>
              <a:t>BESON Q2 2026</a:t>
            </a:r>
            <a:endParaRPr lang="en-US" sz="900" dirty="0"/>
          </a:p>
        </p:txBody>
      </p:sp>
      <p:sp>
        <p:nvSpPr>
          <p:cNvPr id="7" name="Text 4"/>
          <p:cNvSpPr/>
          <p:nvPr/>
        </p:nvSpPr>
        <p:spPr>
          <a:xfrm>
            <a:off x="1" y="1504188"/>
            <a:ext cx="9143999" cy="1051560"/>
          </a:xfrm>
          <a:prstGeom prst="rect">
            <a:avLst/>
          </a:prstGeom>
          <a:noFill/>
          <a:ln/>
        </p:spPr>
        <p:txBody>
          <a:bodyPr wrap="square"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The Challenge of Data Security in Research</a:t>
            </a:r>
            <a:endParaRPr lang="en-US" sz="3600" dirty="0"/>
          </a:p>
        </p:txBody>
      </p:sp>
      <p:sp>
        <p:nvSpPr>
          <p:cNvPr id="8" name="Text 5"/>
          <p:cNvSpPr/>
          <p:nvPr/>
        </p:nvSpPr>
        <p:spPr>
          <a:xfrm>
            <a:off x="365760" y="2514600"/>
            <a:ext cx="8412480" cy="384048"/>
          </a:xfrm>
          <a:prstGeom prst="rect">
            <a:avLst/>
          </a:prstGeom>
          <a:noFill/>
          <a:ln/>
        </p:spPr>
        <p:txBody>
          <a:bodyPr wrap="square" rtlCol="0" anchor="ctr"/>
          <a:lstStyle/>
          <a:p>
            <a:pPr marL="0" indent="0">
              <a:buNone/>
            </a:pPr>
            <a:r>
              <a:rPr lang="en-US" sz="1700" i="1" dirty="0">
                <a:solidFill>
                  <a:srgbClr val="14ABAB"/>
                </a:solidFill>
                <a:latin typeface="Calibri" pitchFamily="34" charset="0"/>
                <a:ea typeface="Calibri" pitchFamily="34" charset="-122"/>
                <a:cs typeface="Calibri" pitchFamily="34" charset="-120"/>
              </a:rPr>
              <a:t>Policy Frameworks · FAIR Data · AI Tools · Practical Implementation</a:t>
            </a:r>
            <a:endParaRPr lang="en-US" sz="1700" dirty="0"/>
          </a:p>
        </p:txBody>
      </p:sp>
      <p:sp>
        <p:nvSpPr>
          <p:cNvPr id="9" name="Text 6"/>
          <p:cNvSpPr/>
          <p:nvPr/>
        </p:nvSpPr>
        <p:spPr>
          <a:xfrm>
            <a:off x="365760" y="2898648"/>
            <a:ext cx="8412480" cy="274320"/>
          </a:xfrm>
          <a:prstGeom prst="rect">
            <a:avLst/>
          </a:prstGeom>
          <a:noFill/>
          <a:ln/>
        </p:spPr>
        <p:txBody>
          <a:bodyPr wrap="square" rtlCol="0" anchor="ctr"/>
          <a:lstStyle/>
          <a:p>
            <a:pPr marL="0" indent="0">
              <a:buNone/>
            </a:pPr>
            <a:r>
              <a:rPr lang="en-US" sz="1150" i="1" dirty="0">
                <a:solidFill>
                  <a:srgbClr val="E8A020"/>
                </a:solidFill>
                <a:latin typeface="Calibri" pitchFamily="34" charset="0"/>
                <a:ea typeface="Calibri" pitchFamily="34" charset="-122"/>
                <a:cs typeface="Calibri" pitchFamily="34" charset="-120"/>
              </a:rPr>
              <a:t>Advancing BESON's commitment to ethical governance, human dignity, and responsible innovation in Nigerian research.</a:t>
            </a:r>
            <a:endParaRPr lang="en-US" sz="1150" dirty="0"/>
          </a:p>
        </p:txBody>
      </p:sp>
      <p:sp>
        <p:nvSpPr>
          <p:cNvPr id="10" name="Shape 7"/>
          <p:cNvSpPr/>
          <p:nvPr/>
        </p:nvSpPr>
        <p:spPr>
          <a:xfrm>
            <a:off x="365760" y="3154680"/>
            <a:ext cx="8412480" cy="22860"/>
          </a:xfrm>
          <a:prstGeom prst="rect">
            <a:avLst/>
          </a:prstGeom>
          <a:solidFill>
            <a:srgbClr val="0D7377"/>
          </a:solidFill>
          <a:ln w="12700">
            <a:solidFill>
              <a:srgbClr val="0D7377"/>
            </a:solidFill>
            <a:prstDash val="solid"/>
          </a:ln>
        </p:spPr>
        <p:txBody>
          <a:bodyPr/>
          <a:lstStyle/>
          <a:p>
            <a:endParaRPr lang="en-GB"/>
          </a:p>
        </p:txBody>
      </p:sp>
      <p:sp>
        <p:nvSpPr>
          <p:cNvPr id="11" name="Text 8"/>
          <p:cNvSpPr/>
          <p:nvPr/>
        </p:nvSpPr>
        <p:spPr>
          <a:xfrm>
            <a:off x="365760" y="3291840"/>
            <a:ext cx="8412480" cy="91440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Dr. Sakinat Folorunso</a:t>
            </a:r>
            <a:endParaRPr lang="en-US" sz="1300" dirty="0"/>
          </a:p>
          <a:p>
            <a:pPr marL="0" indent="0">
              <a:buNone/>
            </a:pPr>
            <a:r>
              <a:rPr lang="en-US" sz="1300" dirty="0">
                <a:solidFill>
                  <a:srgbClr val="FFFFFF"/>
                </a:solidFill>
                <a:latin typeface="Calibri" pitchFamily="34" charset="0"/>
                <a:ea typeface="Calibri" pitchFamily="34" charset="-122"/>
                <a:cs typeface="Calibri" pitchFamily="34" charset="-120"/>
              </a:rPr>
              <a:t>Associate Professor of AI Systems  |  Olabisi Onabanjo University, Nigeria</a:t>
            </a:r>
            <a:endParaRPr lang="en-US" sz="1300" dirty="0"/>
          </a:p>
          <a:p>
            <a:pPr marL="0" indent="0">
              <a:buNone/>
            </a:pPr>
            <a:r>
              <a:rPr lang="en-US" sz="1300" i="1" dirty="0">
                <a:solidFill>
                  <a:srgbClr val="FFFFFF"/>
                </a:solidFill>
                <a:latin typeface="Calibri" pitchFamily="34" charset="0"/>
                <a:ea typeface="Calibri" pitchFamily="34" charset="-122"/>
                <a:cs typeface="Calibri" pitchFamily="34" charset="-120"/>
              </a:rPr>
              <a:t>Machine Learning . Federated Learning · FAIR Data · AI Ethics · Cultural AI  |  Founder, TRAIL, OOU</a:t>
            </a:r>
            <a:endParaRPr lang="en-US" sz="1300" dirty="0"/>
          </a:p>
        </p:txBody>
      </p:sp>
      <p:sp>
        <p:nvSpPr>
          <p:cNvPr id="12" name="Text 9"/>
          <p:cNvSpPr/>
          <p:nvPr/>
        </p:nvSpPr>
        <p:spPr>
          <a:xfrm>
            <a:off x="365760" y="4434840"/>
            <a:ext cx="8412480" cy="347472"/>
          </a:xfrm>
          <a:prstGeom prst="rect">
            <a:avLst/>
          </a:prstGeom>
          <a:noFill/>
          <a:ln/>
        </p:spPr>
        <p:txBody>
          <a:bodyPr wrap="square" rtlCol="0" anchor="ctr"/>
          <a:lstStyle/>
          <a:p>
            <a:pPr marL="0" indent="0">
              <a:buNone/>
            </a:pPr>
            <a:r>
              <a:rPr lang="en-US" sz="1100" b="1" dirty="0">
                <a:solidFill>
                  <a:srgbClr val="E8A020"/>
                </a:solidFill>
                <a:latin typeface="Calibri" pitchFamily="34" charset="0"/>
                <a:ea typeface="Calibri" pitchFamily="34" charset="-122"/>
                <a:cs typeface="Calibri" pitchFamily="34" charset="-120"/>
              </a:rPr>
              <a:t>24 June 2026  |  5 PM WAT  |  BESON Q2 Webinar</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7377"/>
          </a:solidFill>
          <a:ln w="12700">
            <a:solidFill>
              <a:srgbClr val="0D7377"/>
            </a:solidFill>
            <a:prstDash val="solid"/>
          </a:ln>
        </p:spPr>
        <p:txBody>
          <a:bodyPr/>
          <a:lstStyle/>
          <a:p>
            <a:endParaRPr lang="en-GB"/>
          </a:p>
        </p:txBody>
      </p:sp>
      <p:sp>
        <p:nvSpPr>
          <p:cNvPr id="3" name="Text 1"/>
          <p:cNvSpPr/>
          <p:nvPr/>
        </p:nvSpPr>
        <p:spPr>
          <a:xfrm>
            <a:off x="365760" y="0"/>
            <a:ext cx="8412480" cy="685800"/>
          </a:xfrm>
          <a:prstGeom prst="rect">
            <a:avLst/>
          </a:prstGeom>
          <a:noFill/>
          <a:ln/>
        </p:spPr>
        <p:txBody>
          <a:bodyPr wrap="square"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What We Will Cover Today</a:t>
            </a:r>
            <a:endParaRPr lang="en-US" sz="2200" dirty="0"/>
          </a:p>
        </p:txBody>
      </p:sp>
      <p:sp>
        <p:nvSpPr>
          <p:cNvPr id="4" name="Shape 2"/>
          <p:cNvSpPr/>
          <p:nvPr/>
        </p:nvSpPr>
        <p:spPr>
          <a:xfrm>
            <a:off x="274320" y="850392"/>
            <a:ext cx="402336" cy="402336"/>
          </a:xfrm>
          <a:prstGeom prst="ellipse">
            <a:avLst/>
          </a:prstGeom>
          <a:solidFill>
            <a:srgbClr val="8B0000"/>
          </a:solidFill>
          <a:ln w="12700">
            <a:solidFill>
              <a:srgbClr val="8B0000"/>
            </a:solidFill>
            <a:prstDash val="solid"/>
          </a:ln>
        </p:spPr>
        <p:txBody>
          <a:bodyPr/>
          <a:lstStyle/>
          <a:p>
            <a:endParaRPr lang="en-GB"/>
          </a:p>
        </p:txBody>
      </p:sp>
      <p:sp>
        <p:nvSpPr>
          <p:cNvPr id="5" name="Text 3"/>
          <p:cNvSpPr/>
          <p:nvPr/>
        </p:nvSpPr>
        <p:spPr>
          <a:xfrm>
            <a:off x="274320" y="850392"/>
            <a:ext cx="402336" cy="402336"/>
          </a:xfrm>
          <a:prstGeom prst="rect">
            <a:avLst/>
          </a:prstGeom>
          <a:noFill/>
          <a:ln/>
        </p:spPr>
        <p:txBody>
          <a:bodyPr wrap="square" rtlCol="0" anchor="ctr"/>
          <a:lstStyle/>
          <a:p>
            <a:pPr marL="0" indent="0" algn="ctr">
              <a:buNone/>
            </a:pPr>
            <a:r>
              <a:rPr lang="en-US" sz="1200" b="1" dirty="0">
                <a:solidFill>
                  <a:srgbClr val="FFFFFF"/>
                </a:solidFill>
              </a:rPr>
              <a:t>00</a:t>
            </a:r>
            <a:endParaRPr lang="en-US" sz="1200" dirty="0"/>
          </a:p>
        </p:txBody>
      </p:sp>
      <p:sp>
        <p:nvSpPr>
          <p:cNvPr id="6" name="Shape 4"/>
          <p:cNvSpPr/>
          <p:nvPr/>
        </p:nvSpPr>
        <p:spPr>
          <a:xfrm>
            <a:off x="804672" y="804672"/>
            <a:ext cx="8046720" cy="475488"/>
          </a:xfrm>
          <a:prstGeom prst="roundRect">
            <a:avLst>
              <a:gd name="adj" fmla="val 13462"/>
            </a:avLst>
          </a:prstGeom>
          <a:solidFill>
            <a:srgbClr val="FFFFFF"/>
          </a:solidFill>
          <a:ln w="12700">
            <a:solidFill>
              <a:srgbClr val="DDE6F0"/>
            </a:solidFill>
            <a:prstDash val="solid"/>
          </a:ln>
          <a:effectLst>
            <a:outerShdw blurRad="101600" dist="38100" dir="2700000" algn="bl" rotWithShape="0">
              <a:srgbClr val="000000">
                <a:alpha val="12000"/>
              </a:srgbClr>
            </a:outerShdw>
          </a:effectLst>
        </p:spPr>
        <p:txBody>
          <a:bodyPr/>
          <a:lstStyle/>
          <a:p>
            <a:endParaRPr lang="en-GB"/>
          </a:p>
        </p:txBody>
      </p:sp>
      <p:sp>
        <p:nvSpPr>
          <p:cNvPr id="7" name="Text 5"/>
          <p:cNvSpPr/>
          <p:nvPr/>
        </p:nvSpPr>
        <p:spPr>
          <a:xfrm>
            <a:off x="960120" y="804672"/>
            <a:ext cx="7818120" cy="475488"/>
          </a:xfrm>
          <a:prstGeom prst="rect">
            <a:avLst/>
          </a:prstGeom>
          <a:noFill/>
          <a:ln/>
        </p:spPr>
        <p:txBody>
          <a:bodyPr wrap="square" rtlCol="0" anchor="ctr"/>
          <a:lstStyle/>
          <a:p>
            <a:pPr marL="0" indent="0">
              <a:buNone/>
            </a:pPr>
            <a:r>
              <a:rPr lang="en-US" sz="1250" dirty="0">
                <a:solidFill>
                  <a:srgbClr val="1A2E4A"/>
                </a:solidFill>
                <a:latin typeface="Calibri" pitchFamily="34" charset="0"/>
                <a:ea typeface="Calibri" pitchFamily="34" charset="-122"/>
                <a:cs typeface="Calibri" pitchFamily="34" charset="-120"/>
              </a:rPr>
              <a:t>BESON Alignment: Human Dignity, Participant Rights &amp; Ethical Governance</a:t>
            </a:r>
            <a:endParaRPr lang="en-US" sz="1250" dirty="0"/>
          </a:p>
        </p:txBody>
      </p:sp>
      <p:sp>
        <p:nvSpPr>
          <p:cNvPr id="8" name="Shape 6"/>
          <p:cNvSpPr/>
          <p:nvPr/>
        </p:nvSpPr>
        <p:spPr>
          <a:xfrm>
            <a:off x="274320" y="1389888"/>
            <a:ext cx="402336" cy="402336"/>
          </a:xfrm>
          <a:prstGeom prst="ellipse">
            <a:avLst/>
          </a:prstGeom>
          <a:solidFill>
            <a:srgbClr val="1A2E4A"/>
          </a:solidFill>
          <a:ln w="12700">
            <a:solidFill>
              <a:srgbClr val="1A2E4A"/>
            </a:solidFill>
            <a:prstDash val="solid"/>
          </a:ln>
        </p:spPr>
        <p:txBody>
          <a:bodyPr/>
          <a:lstStyle/>
          <a:p>
            <a:endParaRPr lang="en-GB"/>
          </a:p>
        </p:txBody>
      </p:sp>
      <p:sp>
        <p:nvSpPr>
          <p:cNvPr id="9" name="Text 7"/>
          <p:cNvSpPr/>
          <p:nvPr/>
        </p:nvSpPr>
        <p:spPr>
          <a:xfrm>
            <a:off x="274320" y="1389888"/>
            <a:ext cx="402336" cy="402336"/>
          </a:xfrm>
          <a:prstGeom prst="rect">
            <a:avLst/>
          </a:prstGeom>
          <a:noFill/>
          <a:ln/>
        </p:spPr>
        <p:txBody>
          <a:bodyPr wrap="square" rtlCol="0" anchor="ctr"/>
          <a:lstStyle/>
          <a:p>
            <a:pPr marL="0" indent="0" algn="ctr">
              <a:buNone/>
            </a:pPr>
            <a:r>
              <a:rPr lang="en-US" sz="1200" b="1" dirty="0">
                <a:solidFill>
                  <a:srgbClr val="FFFFFF"/>
                </a:solidFill>
              </a:rPr>
              <a:t>01</a:t>
            </a:r>
            <a:endParaRPr lang="en-US" sz="1200" dirty="0"/>
          </a:p>
        </p:txBody>
      </p:sp>
      <p:sp>
        <p:nvSpPr>
          <p:cNvPr id="10" name="Shape 8"/>
          <p:cNvSpPr/>
          <p:nvPr/>
        </p:nvSpPr>
        <p:spPr>
          <a:xfrm>
            <a:off x="804672" y="1344168"/>
            <a:ext cx="8046720" cy="475488"/>
          </a:xfrm>
          <a:prstGeom prst="roundRect">
            <a:avLst>
              <a:gd name="adj" fmla="val 13462"/>
            </a:avLst>
          </a:prstGeom>
          <a:solidFill>
            <a:srgbClr val="FFFFFF"/>
          </a:solidFill>
          <a:ln w="12700">
            <a:solidFill>
              <a:srgbClr val="DDE6F0"/>
            </a:solidFill>
            <a:prstDash val="solid"/>
          </a:ln>
          <a:effectLst>
            <a:outerShdw blurRad="101600" dist="38100" dir="2700000" algn="bl" rotWithShape="0">
              <a:srgbClr val="000000">
                <a:alpha val="12000"/>
              </a:srgbClr>
            </a:outerShdw>
          </a:effectLst>
        </p:spPr>
        <p:txBody>
          <a:bodyPr/>
          <a:lstStyle/>
          <a:p>
            <a:endParaRPr lang="en-GB"/>
          </a:p>
        </p:txBody>
      </p:sp>
      <p:sp>
        <p:nvSpPr>
          <p:cNvPr id="11" name="Text 9"/>
          <p:cNvSpPr/>
          <p:nvPr/>
        </p:nvSpPr>
        <p:spPr>
          <a:xfrm>
            <a:off x="960120" y="1344168"/>
            <a:ext cx="7818120" cy="475488"/>
          </a:xfrm>
          <a:prstGeom prst="rect">
            <a:avLst/>
          </a:prstGeom>
          <a:noFill/>
          <a:ln/>
        </p:spPr>
        <p:txBody>
          <a:bodyPr wrap="square" rtlCol="0" anchor="ctr"/>
          <a:lstStyle/>
          <a:p>
            <a:pPr marL="0" indent="0">
              <a:buNone/>
            </a:pPr>
            <a:r>
              <a:rPr lang="en-US" sz="1250" dirty="0">
                <a:solidFill>
                  <a:srgbClr val="1A2E4A"/>
                </a:solidFill>
                <a:latin typeface="Calibri" pitchFamily="34" charset="0"/>
                <a:ea typeface="Calibri" pitchFamily="34" charset="-122"/>
                <a:cs typeface="Calibri" pitchFamily="34" charset="-120"/>
              </a:rPr>
              <a:t>Why Data Security is a Research Ethics Issue</a:t>
            </a:r>
            <a:endParaRPr lang="en-US" sz="1250" dirty="0"/>
          </a:p>
        </p:txBody>
      </p:sp>
      <p:sp>
        <p:nvSpPr>
          <p:cNvPr id="12" name="Shape 10"/>
          <p:cNvSpPr/>
          <p:nvPr/>
        </p:nvSpPr>
        <p:spPr>
          <a:xfrm>
            <a:off x="274320" y="1929384"/>
            <a:ext cx="402336" cy="402336"/>
          </a:xfrm>
          <a:prstGeom prst="ellipse">
            <a:avLst/>
          </a:prstGeom>
          <a:solidFill>
            <a:srgbClr val="0D7377"/>
          </a:solidFill>
          <a:ln w="12700">
            <a:solidFill>
              <a:srgbClr val="0D7377"/>
            </a:solidFill>
            <a:prstDash val="solid"/>
          </a:ln>
        </p:spPr>
        <p:txBody>
          <a:bodyPr/>
          <a:lstStyle/>
          <a:p>
            <a:endParaRPr lang="en-GB"/>
          </a:p>
        </p:txBody>
      </p:sp>
      <p:sp>
        <p:nvSpPr>
          <p:cNvPr id="13" name="Text 11"/>
          <p:cNvSpPr/>
          <p:nvPr/>
        </p:nvSpPr>
        <p:spPr>
          <a:xfrm>
            <a:off x="274320" y="1929384"/>
            <a:ext cx="402336" cy="402336"/>
          </a:xfrm>
          <a:prstGeom prst="rect">
            <a:avLst/>
          </a:prstGeom>
          <a:noFill/>
          <a:ln/>
        </p:spPr>
        <p:txBody>
          <a:bodyPr wrap="square" rtlCol="0" anchor="ctr"/>
          <a:lstStyle/>
          <a:p>
            <a:pPr marL="0" indent="0" algn="ctr">
              <a:buNone/>
            </a:pPr>
            <a:r>
              <a:rPr lang="en-US" sz="1200" b="1" dirty="0">
                <a:solidFill>
                  <a:srgbClr val="FFFFFF"/>
                </a:solidFill>
              </a:rPr>
              <a:t>02</a:t>
            </a:r>
            <a:endParaRPr lang="en-US" sz="1200" dirty="0"/>
          </a:p>
        </p:txBody>
      </p:sp>
      <p:sp>
        <p:nvSpPr>
          <p:cNvPr id="14" name="Shape 12"/>
          <p:cNvSpPr/>
          <p:nvPr/>
        </p:nvSpPr>
        <p:spPr>
          <a:xfrm>
            <a:off x="804672" y="1883664"/>
            <a:ext cx="8046720" cy="475488"/>
          </a:xfrm>
          <a:prstGeom prst="roundRect">
            <a:avLst>
              <a:gd name="adj" fmla="val 13462"/>
            </a:avLst>
          </a:prstGeom>
          <a:solidFill>
            <a:srgbClr val="FFFFFF"/>
          </a:solidFill>
          <a:ln w="12700">
            <a:solidFill>
              <a:srgbClr val="DDE6F0"/>
            </a:solidFill>
            <a:prstDash val="solid"/>
          </a:ln>
          <a:effectLst>
            <a:outerShdw blurRad="101600" dist="38100" dir="2700000" algn="bl" rotWithShape="0">
              <a:srgbClr val="000000">
                <a:alpha val="12000"/>
              </a:srgbClr>
            </a:outerShdw>
          </a:effectLst>
        </p:spPr>
        <p:txBody>
          <a:bodyPr/>
          <a:lstStyle/>
          <a:p>
            <a:endParaRPr lang="en-GB"/>
          </a:p>
        </p:txBody>
      </p:sp>
      <p:sp>
        <p:nvSpPr>
          <p:cNvPr id="15" name="Text 13"/>
          <p:cNvSpPr/>
          <p:nvPr/>
        </p:nvSpPr>
        <p:spPr>
          <a:xfrm>
            <a:off x="960120" y="1883664"/>
            <a:ext cx="7818120" cy="475488"/>
          </a:xfrm>
          <a:prstGeom prst="rect">
            <a:avLst/>
          </a:prstGeom>
          <a:noFill/>
          <a:ln/>
        </p:spPr>
        <p:txBody>
          <a:bodyPr wrap="square" rtlCol="0" anchor="ctr"/>
          <a:lstStyle/>
          <a:p>
            <a:pPr marL="0" indent="0">
              <a:buNone/>
            </a:pPr>
            <a:r>
              <a:rPr lang="en-US" sz="1250" dirty="0">
                <a:solidFill>
                  <a:srgbClr val="1A2E4A"/>
                </a:solidFill>
                <a:latin typeface="Calibri" pitchFamily="34" charset="0"/>
                <a:ea typeface="Calibri" pitchFamily="34" charset="-122"/>
                <a:cs typeface="Calibri" pitchFamily="34" charset="-120"/>
              </a:rPr>
              <a:t>Why Bioethics Needs AI Tools — and the Risks They Bring</a:t>
            </a:r>
            <a:endParaRPr lang="en-US" sz="1250" dirty="0"/>
          </a:p>
        </p:txBody>
      </p:sp>
      <p:sp>
        <p:nvSpPr>
          <p:cNvPr id="16" name="Shape 14"/>
          <p:cNvSpPr/>
          <p:nvPr/>
        </p:nvSpPr>
        <p:spPr>
          <a:xfrm>
            <a:off x="274320" y="2468880"/>
            <a:ext cx="402336" cy="402336"/>
          </a:xfrm>
          <a:prstGeom prst="ellipse">
            <a:avLst/>
          </a:prstGeom>
          <a:solidFill>
            <a:srgbClr val="1A2E4A"/>
          </a:solidFill>
          <a:ln w="12700">
            <a:solidFill>
              <a:srgbClr val="1A2E4A"/>
            </a:solidFill>
            <a:prstDash val="solid"/>
          </a:ln>
        </p:spPr>
        <p:txBody>
          <a:bodyPr/>
          <a:lstStyle/>
          <a:p>
            <a:endParaRPr lang="en-GB"/>
          </a:p>
        </p:txBody>
      </p:sp>
      <p:sp>
        <p:nvSpPr>
          <p:cNvPr id="17" name="Text 15"/>
          <p:cNvSpPr/>
          <p:nvPr/>
        </p:nvSpPr>
        <p:spPr>
          <a:xfrm>
            <a:off x="274320" y="2468880"/>
            <a:ext cx="402336" cy="402336"/>
          </a:xfrm>
          <a:prstGeom prst="rect">
            <a:avLst/>
          </a:prstGeom>
          <a:noFill/>
          <a:ln/>
        </p:spPr>
        <p:txBody>
          <a:bodyPr wrap="square" rtlCol="0" anchor="ctr"/>
          <a:lstStyle/>
          <a:p>
            <a:pPr marL="0" indent="0" algn="ctr">
              <a:buNone/>
            </a:pPr>
            <a:r>
              <a:rPr lang="en-US" sz="1200" b="1" dirty="0">
                <a:solidFill>
                  <a:srgbClr val="FFFFFF"/>
                </a:solidFill>
              </a:rPr>
              <a:t>03</a:t>
            </a:r>
            <a:endParaRPr lang="en-US" sz="1200" dirty="0"/>
          </a:p>
        </p:txBody>
      </p:sp>
      <p:sp>
        <p:nvSpPr>
          <p:cNvPr id="18" name="Shape 16"/>
          <p:cNvSpPr/>
          <p:nvPr/>
        </p:nvSpPr>
        <p:spPr>
          <a:xfrm>
            <a:off x="804672" y="2423160"/>
            <a:ext cx="8046720" cy="475488"/>
          </a:xfrm>
          <a:prstGeom prst="roundRect">
            <a:avLst>
              <a:gd name="adj" fmla="val 13462"/>
            </a:avLst>
          </a:prstGeom>
          <a:solidFill>
            <a:srgbClr val="FFFFFF"/>
          </a:solidFill>
          <a:ln w="12700">
            <a:solidFill>
              <a:srgbClr val="DDE6F0"/>
            </a:solidFill>
            <a:prstDash val="solid"/>
          </a:ln>
          <a:effectLst>
            <a:outerShdw blurRad="101600" dist="38100" dir="2700000" algn="bl" rotWithShape="0">
              <a:srgbClr val="000000">
                <a:alpha val="12000"/>
              </a:srgbClr>
            </a:outerShdw>
          </a:effectLst>
        </p:spPr>
        <p:txBody>
          <a:bodyPr/>
          <a:lstStyle/>
          <a:p>
            <a:endParaRPr lang="en-GB"/>
          </a:p>
        </p:txBody>
      </p:sp>
      <p:sp>
        <p:nvSpPr>
          <p:cNvPr id="19" name="Text 17"/>
          <p:cNvSpPr/>
          <p:nvPr/>
        </p:nvSpPr>
        <p:spPr>
          <a:xfrm>
            <a:off x="960120" y="2423160"/>
            <a:ext cx="7818120" cy="475488"/>
          </a:xfrm>
          <a:prstGeom prst="rect">
            <a:avLst/>
          </a:prstGeom>
          <a:noFill/>
          <a:ln/>
        </p:spPr>
        <p:txBody>
          <a:bodyPr wrap="square" rtlCol="0" anchor="ctr"/>
          <a:lstStyle/>
          <a:p>
            <a:pPr marL="0" indent="0">
              <a:buNone/>
            </a:pPr>
            <a:r>
              <a:rPr lang="en-US" sz="1250" dirty="0">
                <a:solidFill>
                  <a:srgbClr val="1A2E4A"/>
                </a:solidFill>
                <a:latin typeface="Calibri" pitchFamily="34" charset="0"/>
                <a:ea typeface="Calibri" pitchFamily="34" charset="-122"/>
                <a:cs typeface="Calibri" pitchFamily="34" charset="-120"/>
              </a:rPr>
              <a:t>Policy Frameworks: Nigeria (NDPA 2023), Africa &amp; International</a:t>
            </a:r>
            <a:endParaRPr lang="en-US" sz="1250" dirty="0"/>
          </a:p>
        </p:txBody>
      </p:sp>
      <p:sp>
        <p:nvSpPr>
          <p:cNvPr id="20" name="Shape 18"/>
          <p:cNvSpPr/>
          <p:nvPr/>
        </p:nvSpPr>
        <p:spPr>
          <a:xfrm>
            <a:off x="274320" y="3008376"/>
            <a:ext cx="402336" cy="402336"/>
          </a:xfrm>
          <a:prstGeom prst="ellipse">
            <a:avLst/>
          </a:prstGeom>
          <a:solidFill>
            <a:srgbClr val="0D7377"/>
          </a:solidFill>
          <a:ln w="12700">
            <a:solidFill>
              <a:srgbClr val="0D7377"/>
            </a:solidFill>
            <a:prstDash val="solid"/>
          </a:ln>
        </p:spPr>
        <p:txBody>
          <a:bodyPr/>
          <a:lstStyle/>
          <a:p>
            <a:endParaRPr lang="en-GB"/>
          </a:p>
        </p:txBody>
      </p:sp>
      <p:sp>
        <p:nvSpPr>
          <p:cNvPr id="21" name="Text 19"/>
          <p:cNvSpPr/>
          <p:nvPr/>
        </p:nvSpPr>
        <p:spPr>
          <a:xfrm>
            <a:off x="274320" y="3008376"/>
            <a:ext cx="402336" cy="402336"/>
          </a:xfrm>
          <a:prstGeom prst="rect">
            <a:avLst/>
          </a:prstGeom>
          <a:noFill/>
          <a:ln/>
        </p:spPr>
        <p:txBody>
          <a:bodyPr wrap="square" rtlCol="0" anchor="ctr"/>
          <a:lstStyle/>
          <a:p>
            <a:pPr marL="0" indent="0" algn="ctr">
              <a:buNone/>
            </a:pPr>
            <a:r>
              <a:rPr lang="en-US" sz="1200" b="1" dirty="0">
                <a:solidFill>
                  <a:srgbClr val="FFFFFF"/>
                </a:solidFill>
              </a:rPr>
              <a:t>04</a:t>
            </a:r>
            <a:endParaRPr lang="en-US" sz="1200" dirty="0"/>
          </a:p>
        </p:txBody>
      </p:sp>
      <p:sp>
        <p:nvSpPr>
          <p:cNvPr id="22" name="Shape 20"/>
          <p:cNvSpPr/>
          <p:nvPr/>
        </p:nvSpPr>
        <p:spPr>
          <a:xfrm>
            <a:off x="804672" y="2962656"/>
            <a:ext cx="8046720" cy="475488"/>
          </a:xfrm>
          <a:prstGeom prst="roundRect">
            <a:avLst>
              <a:gd name="adj" fmla="val 13462"/>
            </a:avLst>
          </a:prstGeom>
          <a:solidFill>
            <a:srgbClr val="FFFFFF"/>
          </a:solidFill>
          <a:ln w="12700">
            <a:solidFill>
              <a:srgbClr val="DDE6F0"/>
            </a:solidFill>
            <a:prstDash val="solid"/>
          </a:ln>
          <a:effectLst>
            <a:outerShdw blurRad="101600" dist="38100" dir="2700000" algn="bl" rotWithShape="0">
              <a:srgbClr val="000000">
                <a:alpha val="12000"/>
              </a:srgbClr>
            </a:outerShdw>
          </a:effectLst>
        </p:spPr>
        <p:txBody>
          <a:bodyPr/>
          <a:lstStyle/>
          <a:p>
            <a:endParaRPr lang="en-GB"/>
          </a:p>
        </p:txBody>
      </p:sp>
      <p:sp>
        <p:nvSpPr>
          <p:cNvPr id="23" name="Text 21"/>
          <p:cNvSpPr/>
          <p:nvPr/>
        </p:nvSpPr>
        <p:spPr>
          <a:xfrm>
            <a:off x="960120" y="2962656"/>
            <a:ext cx="7818120" cy="475488"/>
          </a:xfrm>
          <a:prstGeom prst="rect">
            <a:avLst/>
          </a:prstGeom>
          <a:noFill/>
          <a:ln/>
        </p:spPr>
        <p:txBody>
          <a:bodyPr wrap="square" rtlCol="0" anchor="ctr"/>
          <a:lstStyle/>
          <a:p>
            <a:pPr marL="0" indent="0">
              <a:buNone/>
            </a:pPr>
            <a:r>
              <a:rPr lang="en-US" sz="1250" dirty="0">
                <a:solidFill>
                  <a:srgbClr val="1A2E4A"/>
                </a:solidFill>
                <a:latin typeface="Calibri" pitchFamily="34" charset="0"/>
                <a:ea typeface="Calibri" pitchFamily="34" charset="-122"/>
                <a:cs typeface="Calibri" pitchFamily="34" charset="-120"/>
              </a:rPr>
              <a:t>FAIR Data Principles — Findable, Accessible, Interoperable, Reusable</a:t>
            </a:r>
            <a:endParaRPr lang="en-US" sz="1250" dirty="0"/>
          </a:p>
        </p:txBody>
      </p:sp>
      <p:sp>
        <p:nvSpPr>
          <p:cNvPr id="24" name="Shape 22"/>
          <p:cNvSpPr/>
          <p:nvPr/>
        </p:nvSpPr>
        <p:spPr>
          <a:xfrm>
            <a:off x="274320" y="3547872"/>
            <a:ext cx="402336" cy="402336"/>
          </a:xfrm>
          <a:prstGeom prst="ellipse">
            <a:avLst/>
          </a:prstGeom>
          <a:solidFill>
            <a:srgbClr val="1A2E4A"/>
          </a:solidFill>
          <a:ln w="12700">
            <a:solidFill>
              <a:srgbClr val="1A2E4A"/>
            </a:solidFill>
            <a:prstDash val="solid"/>
          </a:ln>
        </p:spPr>
        <p:txBody>
          <a:bodyPr/>
          <a:lstStyle/>
          <a:p>
            <a:endParaRPr lang="en-GB"/>
          </a:p>
        </p:txBody>
      </p:sp>
      <p:sp>
        <p:nvSpPr>
          <p:cNvPr id="25" name="Text 23"/>
          <p:cNvSpPr/>
          <p:nvPr/>
        </p:nvSpPr>
        <p:spPr>
          <a:xfrm>
            <a:off x="274320" y="3547872"/>
            <a:ext cx="402336" cy="402336"/>
          </a:xfrm>
          <a:prstGeom prst="rect">
            <a:avLst/>
          </a:prstGeom>
          <a:noFill/>
          <a:ln/>
        </p:spPr>
        <p:txBody>
          <a:bodyPr wrap="square" rtlCol="0" anchor="ctr"/>
          <a:lstStyle/>
          <a:p>
            <a:pPr marL="0" indent="0" algn="ctr">
              <a:buNone/>
            </a:pPr>
            <a:r>
              <a:rPr lang="en-US" sz="1200" b="1" dirty="0">
                <a:solidFill>
                  <a:srgbClr val="FFFFFF"/>
                </a:solidFill>
              </a:rPr>
              <a:t>05</a:t>
            </a:r>
            <a:endParaRPr lang="en-US" sz="1200" dirty="0"/>
          </a:p>
        </p:txBody>
      </p:sp>
      <p:sp>
        <p:nvSpPr>
          <p:cNvPr id="26" name="Shape 24"/>
          <p:cNvSpPr/>
          <p:nvPr/>
        </p:nvSpPr>
        <p:spPr>
          <a:xfrm>
            <a:off x="804672" y="3502152"/>
            <a:ext cx="8046720" cy="475488"/>
          </a:xfrm>
          <a:prstGeom prst="roundRect">
            <a:avLst>
              <a:gd name="adj" fmla="val 13462"/>
            </a:avLst>
          </a:prstGeom>
          <a:solidFill>
            <a:srgbClr val="FFFFFF"/>
          </a:solidFill>
          <a:ln w="12700">
            <a:solidFill>
              <a:srgbClr val="DDE6F0"/>
            </a:solidFill>
            <a:prstDash val="solid"/>
          </a:ln>
          <a:effectLst>
            <a:outerShdw blurRad="101600" dist="38100" dir="2700000" algn="bl" rotWithShape="0">
              <a:srgbClr val="000000">
                <a:alpha val="12000"/>
              </a:srgbClr>
            </a:outerShdw>
          </a:effectLst>
        </p:spPr>
        <p:txBody>
          <a:bodyPr/>
          <a:lstStyle/>
          <a:p>
            <a:endParaRPr lang="en-GB"/>
          </a:p>
        </p:txBody>
      </p:sp>
      <p:sp>
        <p:nvSpPr>
          <p:cNvPr id="27" name="Text 25"/>
          <p:cNvSpPr/>
          <p:nvPr/>
        </p:nvSpPr>
        <p:spPr>
          <a:xfrm>
            <a:off x="960120" y="3502152"/>
            <a:ext cx="7818120" cy="475488"/>
          </a:xfrm>
          <a:prstGeom prst="rect">
            <a:avLst/>
          </a:prstGeom>
          <a:noFill/>
          <a:ln/>
        </p:spPr>
        <p:txBody>
          <a:bodyPr wrap="square" rtlCol="0" anchor="ctr"/>
          <a:lstStyle/>
          <a:p>
            <a:pPr marL="0" indent="0">
              <a:buNone/>
            </a:pPr>
            <a:r>
              <a:rPr lang="en-US" sz="1250" dirty="0">
                <a:solidFill>
                  <a:srgbClr val="1A2E4A"/>
                </a:solidFill>
                <a:latin typeface="Calibri" pitchFamily="34" charset="0"/>
                <a:ea typeface="Calibri" pitchFamily="34" charset="-122"/>
                <a:cs typeface="Calibri" pitchFamily="34" charset="-120"/>
              </a:rPr>
              <a:t>Datasheets for Datasets — Documenting What You Collected</a:t>
            </a:r>
            <a:endParaRPr lang="en-US" sz="1250" dirty="0"/>
          </a:p>
        </p:txBody>
      </p:sp>
      <p:sp>
        <p:nvSpPr>
          <p:cNvPr id="28" name="Shape 26"/>
          <p:cNvSpPr/>
          <p:nvPr/>
        </p:nvSpPr>
        <p:spPr>
          <a:xfrm>
            <a:off x="274320" y="4087368"/>
            <a:ext cx="402336" cy="402336"/>
          </a:xfrm>
          <a:prstGeom prst="ellipse">
            <a:avLst/>
          </a:prstGeom>
          <a:solidFill>
            <a:srgbClr val="0D7377"/>
          </a:solidFill>
          <a:ln w="12700">
            <a:solidFill>
              <a:srgbClr val="0D7377"/>
            </a:solidFill>
            <a:prstDash val="solid"/>
          </a:ln>
        </p:spPr>
        <p:txBody>
          <a:bodyPr/>
          <a:lstStyle/>
          <a:p>
            <a:endParaRPr lang="en-GB"/>
          </a:p>
        </p:txBody>
      </p:sp>
      <p:sp>
        <p:nvSpPr>
          <p:cNvPr id="29" name="Text 27"/>
          <p:cNvSpPr/>
          <p:nvPr/>
        </p:nvSpPr>
        <p:spPr>
          <a:xfrm>
            <a:off x="274320" y="4087368"/>
            <a:ext cx="402336" cy="402336"/>
          </a:xfrm>
          <a:prstGeom prst="rect">
            <a:avLst/>
          </a:prstGeom>
          <a:noFill/>
          <a:ln/>
        </p:spPr>
        <p:txBody>
          <a:bodyPr wrap="square" rtlCol="0" anchor="ctr"/>
          <a:lstStyle/>
          <a:p>
            <a:pPr marL="0" indent="0" algn="ctr">
              <a:buNone/>
            </a:pPr>
            <a:r>
              <a:rPr lang="en-US" sz="1200" b="1" dirty="0">
                <a:solidFill>
                  <a:srgbClr val="FFFFFF"/>
                </a:solidFill>
              </a:rPr>
              <a:t>06</a:t>
            </a:r>
            <a:endParaRPr lang="en-US" sz="1200" dirty="0"/>
          </a:p>
        </p:txBody>
      </p:sp>
      <p:sp>
        <p:nvSpPr>
          <p:cNvPr id="30" name="Shape 28"/>
          <p:cNvSpPr/>
          <p:nvPr/>
        </p:nvSpPr>
        <p:spPr>
          <a:xfrm>
            <a:off x="804672" y="4041648"/>
            <a:ext cx="8046720" cy="475488"/>
          </a:xfrm>
          <a:prstGeom prst="roundRect">
            <a:avLst>
              <a:gd name="adj" fmla="val 13462"/>
            </a:avLst>
          </a:prstGeom>
          <a:solidFill>
            <a:srgbClr val="FFFFFF"/>
          </a:solidFill>
          <a:ln w="12700">
            <a:solidFill>
              <a:srgbClr val="DDE6F0"/>
            </a:solidFill>
            <a:prstDash val="solid"/>
          </a:ln>
          <a:effectLst>
            <a:outerShdw blurRad="101600" dist="38100" dir="2700000" algn="bl" rotWithShape="0">
              <a:srgbClr val="000000">
                <a:alpha val="12000"/>
              </a:srgbClr>
            </a:outerShdw>
          </a:effectLst>
        </p:spPr>
        <p:txBody>
          <a:bodyPr/>
          <a:lstStyle/>
          <a:p>
            <a:endParaRPr lang="en-GB"/>
          </a:p>
        </p:txBody>
      </p:sp>
      <p:sp>
        <p:nvSpPr>
          <p:cNvPr id="31" name="Text 29"/>
          <p:cNvSpPr/>
          <p:nvPr/>
        </p:nvSpPr>
        <p:spPr>
          <a:xfrm>
            <a:off x="960120" y="4041648"/>
            <a:ext cx="7818120" cy="475488"/>
          </a:xfrm>
          <a:prstGeom prst="rect">
            <a:avLst/>
          </a:prstGeom>
          <a:noFill/>
          <a:ln/>
        </p:spPr>
        <p:txBody>
          <a:bodyPr wrap="square" rtlCol="0" anchor="ctr"/>
          <a:lstStyle/>
          <a:p>
            <a:pPr marL="0" indent="0">
              <a:buNone/>
            </a:pPr>
            <a:r>
              <a:rPr lang="en-US" sz="1250" dirty="0">
                <a:solidFill>
                  <a:srgbClr val="1A2E4A"/>
                </a:solidFill>
                <a:latin typeface="Calibri" pitchFamily="34" charset="0"/>
                <a:ea typeface="Calibri" pitchFamily="34" charset="-122"/>
                <a:cs typeface="Calibri" pitchFamily="34" charset="-120"/>
              </a:rPr>
              <a:t>Data Collection Tools — Secure by Design</a:t>
            </a:r>
            <a:endParaRPr lang="en-US" sz="1250" dirty="0"/>
          </a:p>
        </p:txBody>
      </p:sp>
      <p:sp>
        <p:nvSpPr>
          <p:cNvPr id="32" name="Shape 30"/>
          <p:cNvSpPr/>
          <p:nvPr/>
        </p:nvSpPr>
        <p:spPr>
          <a:xfrm>
            <a:off x="274320" y="4626864"/>
            <a:ext cx="402336" cy="402336"/>
          </a:xfrm>
          <a:prstGeom prst="ellipse">
            <a:avLst/>
          </a:prstGeom>
          <a:solidFill>
            <a:srgbClr val="1A2E4A"/>
          </a:solidFill>
          <a:ln w="12700">
            <a:solidFill>
              <a:srgbClr val="1A2E4A"/>
            </a:solidFill>
            <a:prstDash val="solid"/>
          </a:ln>
        </p:spPr>
        <p:txBody>
          <a:bodyPr/>
          <a:lstStyle/>
          <a:p>
            <a:endParaRPr lang="en-GB"/>
          </a:p>
        </p:txBody>
      </p:sp>
      <p:sp>
        <p:nvSpPr>
          <p:cNvPr id="33" name="Text 31"/>
          <p:cNvSpPr/>
          <p:nvPr/>
        </p:nvSpPr>
        <p:spPr>
          <a:xfrm>
            <a:off x="274320" y="4626864"/>
            <a:ext cx="402336" cy="402336"/>
          </a:xfrm>
          <a:prstGeom prst="rect">
            <a:avLst/>
          </a:prstGeom>
          <a:noFill/>
          <a:ln/>
        </p:spPr>
        <p:txBody>
          <a:bodyPr wrap="square" rtlCol="0" anchor="ctr"/>
          <a:lstStyle/>
          <a:p>
            <a:pPr marL="0" indent="0" algn="ctr">
              <a:buNone/>
            </a:pPr>
            <a:r>
              <a:rPr lang="en-US" sz="1200" b="1" dirty="0">
                <a:solidFill>
                  <a:srgbClr val="FFFFFF"/>
                </a:solidFill>
              </a:rPr>
              <a:t>07</a:t>
            </a:r>
            <a:endParaRPr lang="en-US" sz="1200" dirty="0"/>
          </a:p>
        </p:txBody>
      </p:sp>
      <p:sp>
        <p:nvSpPr>
          <p:cNvPr id="34" name="Shape 32"/>
          <p:cNvSpPr/>
          <p:nvPr/>
        </p:nvSpPr>
        <p:spPr>
          <a:xfrm>
            <a:off x="804672" y="4581144"/>
            <a:ext cx="8046720" cy="475488"/>
          </a:xfrm>
          <a:prstGeom prst="roundRect">
            <a:avLst>
              <a:gd name="adj" fmla="val 13462"/>
            </a:avLst>
          </a:prstGeom>
          <a:solidFill>
            <a:srgbClr val="FFFFFF"/>
          </a:solidFill>
          <a:ln w="12700">
            <a:solidFill>
              <a:srgbClr val="DDE6F0"/>
            </a:solidFill>
            <a:prstDash val="solid"/>
          </a:ln>
          <a:effectLst>
            <a:outerShdw blurRad="101600" dist="38100" dir="2700000" algn="bl" rotWithShape="0">
              <a:srgbClr val="000000">
                <a:alpha val="12000"/>
              </a:srgbClr>
            </a:outerShdw>
          </a:effectLst>
        </p:spPr>
        <p:txBody>
          <a:bodyPr/>
          <a:lstStyle/>
          <a:p>
            <a:endParaRPr lang="en-GB"/>
          </a:p>
        </p:txBody>
      </p:sp>
      <p:sp>
        <p:nvSpPr>
          <p:cNvPr id="35" name="Text 33"/>
          <p:cNvSpPr/>
          <p:nvPr/>
        </p:nvSpPr>
        <p:spPr>
          <a:xfrm>
            <a:off x="960120" y="4581144"/>
            <a:ext cx="7818120" cy="475488"/>
          </a:xfrm>
          <a:prstGeom prst="rect">
            <a:avLst/>
          </a:prstGeom>
          <a:noFill/>
          <a:ln/>
        </p:spPr>
        <p:txBody>
          <a:bodyPr wrap="square" rtlCol="0" anchor="ctr"/>
          <a:lstStyle/>
          <a:p>
            <a:pPr marL="0" indent="0">
              <a:buNone/>
            </a:pPr>
            <a:r>
              <a:rPr lang="en-US" sz="1250" dirty="0">
                <a:solidFill>
                  <a:srgbClr val="1A2E4A"/>
                </a:solidFill>
                <a:latin typeface="Calibri" pitchFamily="34" charset="0"/>
                <a:ea typeface="Calibri" pitchFamily="34" charset="-122"/>
                <a:cs typeface="Calibri" pitchFamily="34" charset="-120"/>
              </a:rPr>
              <a:t>6-Step Implementation Plan + Checklist + What Participants Deserve</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2E4A"/>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8B0000"/>
          </a:solidFill>
          <a:ln w="12700">
            <a:solidFill>
              <a:srgbClr val="8B0000"/>
            </a:solidFill>
            <a:prstDash val="solid"/>
          </a:ln>
        </p:spPr>
        <p:txBody>
          <a:bodyPr/>
          <a:lstStyle/>
          <a:p>
            <a:endParaRPr lang="en-GB"/>
          </a:p>
        </p:txBody>
      </p:sp>
      <p:sp>
        <p:nvSpPr>
          <p:cNvPr id="3" name="Text 1"/>
          <p:cNvSpPr/>
          <p:nvPr/>
        </p:nvSpPr>
        <p:spPr>
          <a:xfrm>
            <a:off x="365760" y="0"/>
            <a:ext cx="8412480" cy="685800"/>
          </a:xfrm>
          <a:prstGeom prst="rect">
            <a:avLst/>
          </a:prstGeom>
          <a:noFill/>
          <a:ln/>
        </p:spPr>
        <p:txBody>
          <a:bodyPr wrap="square"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Data Security as an Expression of BESON's Core Values</a:t>
            </a:r>
            <a:endParaRPr lang="en-US" sz="2200" dirty="0"/>
          </a:p>
        </p:txBody>
      </p:sp>
      <p:sp>
        <p:nvSpPr>
          <p:cNvPr id="4" name="Shape 2"/>
          <p:cNvSpPr/>
          <p:nvPr/>
        </p:nvSpPr>
        <p:spPr>
          <a:xfrm>
            <a:off x="274320" y="804672"/>
            <a:ext cx="8595360" cy="658368"/>
          </a:xfrm>
          <a:prstGeom prst="roundRect">
            <a:avLst>
              <a:gd name="adj" fmla="val 11111"/>
            </a:avLst>
          </a:prstGeom>
          <a:solidFill>
            <a:srgbClr val="2A1010"/>
          </a:solidFill>
          <a:ln w="12700">
            <a:solidFill>
              <a:srgbClr val="E8A020"/>
            </a:solidFill>
            <a:prstDash val="solid"/>
          </a:ln>
        </p:spPr>
        <p:txBody>
          <a:bodyPr/>
          <a:lstStyle/>
          <a:p>
            <a:endParaRPr lang="en-GB"/>
          </a:p>
        </p:txBody>
      </p:sp>
      <p:sp>
        <p:nvSpPr>
          <p:cNvPr id="5" name="Text 3"/>
          <p:cNvSpPr/>
          <p:nvPr/>
        </p:nvSpPr>
        <p:spPr>
          <a:xfrm>
            <a:off x="457200" y="804672"/>
            <a:ext cx="8229600" cy="658368"/>
          </a:xfrm>
          <a:prstGeom prst="rect">
            <a:avLst/>
          </a:prstGeom>
          <a:noFill/>
          <a:ln/>
        </p:spPr>
        <p:txBody>
          <a:bodyPr wrap="square" rtlCol="0" anchor="ctr"/>
          <a:lstStyle/>
          <a:p>
            <a:pPr marL="0" indent="0">
              <a:buNone/>
            </a:pPr>
            <a:r>
              <a:rPr lang="en-US" sz="1400" i="1" dirty="0">
                <a:solidFill>
                  <a:srgbClr val="E8A020"/>
                </a:solidFill>
                <a:latin typeface="Cambria" pitchFamily="34" charset="0"/>
                <a:ea typeface="Cambria" pitchFamily="34" charset="-122"/>
                <a:cs typeface="Cambria" pitchFamily="34" charset="-120"/>
              </a:rPr>
              <a:t>"For Ethical Research. For Human Dignity." </a:t>
            </a:r>
            <a:r>
              <a:rPr lang="en-US" sz="1400" dirty="0">
                <a:solidFill>
                  <a:srgbClr val="DDCCAA"/>
                </a:solidFill>
                <a:latin typeface="Cambria" pitchFamily="34" charset="0"/>
                <a:ea typeface="Cambria" pitchFamily="34" charset="-122"/>
                <a:cs typeface="Cambria" pitchFamily="34" charset="-120"/>
              </a:rPr>
              <a:t>— BESON Mission Statement</a:t>
            </a:r>
            <a:endParaRPr lang="en-US" sz="1400" dirty="0"/>
          </a:p>
        </p:txBody>
      </p:sp>
      <p:sp>
        <p:nvSpPr>
          <p:cNvPr id="6" name="Shape 4"/>
          <p:cNvSpPr/>
          <p:nvPr/>
        </p:nvSpPr>
        <p:spPr>
          <a:xfrm>
            <a:off x="274320" y="1572768"/>
            <a:ext cx="4160520" cy="960120"/>
          </a:xfrm>
          <a:prstGeom prst="roundRect">
            <a:avLst>
              <a:gd name="adj" fmla="val 7619"/>
            </a:avLst>
          </a:prstGeom>
          <a:solidFill>
            <a:srgbClr val="1E3A56"/>
          </a:solidFill>
          <a:ln w="12700">
            <a:solidFill>
              <a:srgbClr val="14ABAB"/>
            </a:solidFill>
            <a:prstDash val="solid"/>
          </a:ln>
        </p:spPr>
        <p:txBody>
          <a:bodyPr/>
          <a:lstStyle/>
          <a:p>
            <a:endParaRPr lang="en-GB"/>
          </a:p>
        </p:txBody>
      </p:sp>
      <p:pic>
        <p:nvPicPr>
          <p:cNvPr id="7" name="Image 0" descr="preencoded.png"/>
          <p:cNvPicPr>
            <a:picLocks noChangeAspect="1"/>
          </p:cNvPicPr>
          <p:nvPr/>
        </p:nvPicPr>
        <p:blipFill>
          <a:blip r:embed="rId3"/>
          <a:stretch>
            <a:fillRect/>
          </a:stretch>
        </p:blipFill>
        <p:spPr>
          <a:xfrm>
            <a:off x="365760" y="1645920"/>
            <a:ext cx="320040" cy="320040"/>
          </a:xfrm>
          <a:prstGeom prst="rect">
            <a:avLst/>
          </a:prstGeom>
        </p:spPr>
      </p:pic>
      <p:sp>
        <p:nvSpPr>
          <p:cNvPr id="8" name="Text 5"/>
          <p:cNvSpPr/>
          <p:nvPr/>
        </p:nvSpPr>
        <p:spPr>
          <a:xfrm>
            <a:off x="749808" y="1645920"/>
            <a:ext cx="3584448" cy="320040"/>
          </a:xfrm>
          <a:prstGeom prst="rect">
            <a:avLst/>
          </a:prstGeom>
          <a:noFill/>
          <a:ln/>
        </p:spPr>
        <p:txBody>
          <a:bodyPr wrap="square" rtlCol="0" anchor="ctr"/>
          <a:lstStyle/>
          <a:p>
            <a:pPr marL="0" indent="0">
              <a:buNone/>
            </a:pPr>
            <a:r>
              <a:rPr lang="en-US" sz="1150" b="1" dirty="0">
                <a:solidFill>
                  <a:srgbClr val="14ABAB"/>
                </a:solidFill>
                <a:latin typeface="Cambria" pitchFamily="34" charset="0"/>
                <a:ea typeface="Cambria" pitchFamily="34" charset="-122"/>
                <a:cs typeface="Cambria" pitchFamily="34" charset="-120"/>
              </a:rPr>
              <a:t>Support Ethics Committees Nationwide</a:t>
            </a:r>
            <a:endParaRPr lang="en-US" sz="1150" dirty="0"/>
          </a:p>
        </p:txBody>
      </p:sp>
      <p:sp>
        <p:nvSpPr>
          <p:cNvPr id="9" name="Shape 6"/>
          <p:cNvSpPr/>
          <p:nvPr/>
        </p:nvSpPr>
        <p:spPr>
          <a:xfrm>
            <a:off x="365760" y="2011680"/>
            <a:ext cx="3913632" cy="13716"/>
          </a:xfrm>
          <a:prstGeom prst="rect">
            <a:avLst/>
          </a:prstGeom>
          <a:solidFill>
            <a:srgbClr val="2A4060"/>
          </a:solidFill>
          <a:ln w="12700">
            <a:solidFill>
              <a:srgbClr val="2A4060"/>
            </a:solidFill>
            <a:prstDash val="solid"/>
          </a:ln>
        </p:spPr>
        <p:txBody>
          <a:bodyPr/>
          <a:lstStyle/>
          <a:p>
            <a:endParaRPr lang="en-GB"/>
          </a:p>
        </p:txBody>
      </p:sp>
      <p:sp>
        <p:nvSpPr>
          <p:cNvPr id="10" name="Text 7"/>
          <p:cNvSpPr/>
          <p:nvPr/>
        </p:nvSpPr>
        <p:spPr>
          <a:xfrm>
            <a:off x="365760" y="2048256"/>
            <a:ext cx="3950208" cy="420624"/>
          </a:xfrm>
          <a:prstGeom prst="rect">
            <a:avLst/>
          </a:prstGeom>
          <a:noFill/>
          <a:ln/>
        </p:spPr>
        <p:txBody>
          <a:bodyPr wrap="square" rtlCol="0" anchor="ctr"/>
          <a:lstStyle/>
          <a:p>
            <a:pPr marL="0" indent="0">
              <a:buNone/>
            </a:pPr>
            <a:r>
              <a:rPr lang="en-US" sz="1050" dirty="0">
                <a:solidFill>
                  <a:srgbClr val="DDEEFF"/>
                </a:solidFill>
                <a:latin typeface="Calibri" pitchFamily="34" charset="0"/>
                <a:ea typeface="Calibri" pitchFamily="34" charset="-122"/>
                <a:cs typeface="Calibri" pitchFamily="34" charset="-120"/>
              </a:rPr>
              <a:t>This talk gives RECs practical tools, checklists, and legal grounding to make data security a condition of ethical approval — not a suggestion.</a:t>
            </a:r>
            <a:endParaRPr lang="en-US" sz="1050" dirty="0"/>
          </a:p>
        </p:txBody>
      </p:sp>
      <p:sp>
        <p:nvSpPr>
          <p:cNvPr id="11" name="Shape 8"/>
          <p:cNvSpPr/>
          <p:nvPr/>
        </p:nvSpPr>
        <p:spPr>
          <a:xfrm>
            <a:off x="4709160" y="1572768"/>
            <a:ext cx="4160520" cy="960120"/>
          </a:xfrm>
          <a:prstGeom prst="roundRect">
            <a:avLst>
              <a:gd name="adj" fmla="val 7619"/>
            </a:avLst>
          </a:prstGeom>
          <a:solidFill>
            <a:srgbClr val="1E3A56"/>
          </a:solidFill>
          <a:ln w="12700">
            <a:solidFill>
              <a:srgbClr val="E8A020"/>
            </a:solidFill>
            <a:prstDash val="solid"/>
          </a:ln>
        </p:spPr>
        <p:txBody>
          <a:bodyPr/>
          <a:lstStyle/>
          <a:p>
            <a:endParaRPr lang="en-GB"/>
          </a:p>
        </p:txBody>
      </p:sp>
      <p:pic>
        <p:nvPicPr>
          <p:cNvPr id="12" name="Image 1" descr="preencoded.png"/>
          <p:cNvPicPr>
            <a:picLocks noChangeAspect="1"/>
          </p:cNvPicPr>
          <p:nvPr/>
        </p:nvPicPr>
        <p:blipFill>
          <a:blip r:embed="rId4"/>
          <a:stretch>
            <a:fillRect/>
          </a:stretch>
        </p:blipFill>
        <p:spPr>
          <a:xfrm>
            <a:off x="4800600" y="1645920"/>
            <a:ext cx="320040" cy="320040"/>
          </a:xfrm>
          <a:prstGeom prst="rect">
            <a:avLst/>
          </a:prstGeom>
        </p:spPr>
      </p:pic>
      <p:sp>
        <p:nvSpPr>
          <p:cNvPr id="13" name="Text 9"/>
          <p:cNvSpPr/>
          <p:nvPr/>
        </p:nvSpPr>
        <p:spPr>
          <a:xfrm>
            <a:off x="5184648" y="1645920"/>
            <a:ext cx="3584448" cy="320040"/>
          </a:xfrm>
          <a:prstGeom prst="rect">
            <a:avLst/>
          </a:prstGeom>
          <a:noFill/>
          <a:ln/>
        </p:spPr>
        <p:txBody>
          <a:bodyPr wrap="square" rtlCol="0" anchor="ctr"/>
          <a:lstStyle/>
          <a:p>
            <a:pPr marL="0" indent="0">
              <a:buNone/>
            </a:pPr>
            <a:r>
              <a:rPr lang="en-US" sz="1150" b="1" dirty="0">
                <a:solidFill>
                  <a:srgbClr val="E8A020"/>
                </a:solidFill>
                <a:latin typeface="Cambria" pitchFamily="34" charset="0"/>
                <a:ea typeface="Cambria" pitchFamily="34" charset="-122"/>
                <a:cs typeface="Cambria" pitchFamily="34" charset="-120"/>
              </a:rPr>
              <a:t>Strengthen Ethical Awareness in Healthcare &amp; Society</a:t>
            </a:r>
            <a:endParaRPr lang="en-US" sz="1150" dirty="0"/>
          </a:p>
        </p:txBody>
      </p:sp>
      <p:sp>
        <p:nvSpPr>
          <p:cNvPr id="14" name="Shape 10"/>
          <p:cNvSpPr/>
          <p:nvPr/>
        </p:nvSpPr>
        <p:spPr>
          <a:xfrm>
            <a:off x="4800600" y="2011680"/>
            <a:ext cx="3913632" cy="13716"/>
          </a:xfrm>
          <a:prstGeom prst="rect">
            <a:avLst/>
          </a:prstGeom>
          <a:solidFill>
            <a:srgbClr val="2A4060"/>
          </a:solidFill>
          <a:ln w="12700">
            <a:solidFill>
              <a:srgbClr val="2A4060"/>
            </a:solidFill>
            <a:prstDash val="solid"/>
          </a:ln>
        </p:spPr>
        <p:txBody>
          <a:bodyPr/>
          <a:lstStyle/>
          <a:p>
            <a:endParaRPr lang="en-GB"/>
          </a:p>
        </p:txBody>
      </p:sp>
      <p:sp>
        <p:nvSpPr>
          <p:cNvPr id="15" name="Text 11"/>
          <p:cNvSpPr/>
          <p:nvPr/>
        </p:nvSpPr>
        <p:spPr>
          <a:xfrm>
            <a:off x="4800600" y="2048256"/>
            <a:ext cx="3950208" cy="420624"/>
          </a:xfrm>
          <a:prstGeom prst="rect">
            <a:avLst/>
          </a:prstGeom>
          <a:noFill/>
          <a:ln/>
        </p:spPr>
        <p:txBody>
          <a:bodyPr wrap="square" rtlCol="0" anchor="ctr"/>
          <a:lstStyle/>
          <a:p>
            <a:pPr marL="0" indent="0">
              <a:buNone/>
            </a:pPr>
            <a:r>
              <a:rPr lang="en-US" sz="1050" dirty="0">
                <a:solidFill>
                  <a:srgbClr val="DDEEFF"/>
                </a:solidFill>
                <a:latin typeface="Calibri" pitchFamily="34" charset="0"/>
                <a:ea typeface="Calibri" pitchFamily="34" charset="-122"/>
                <a:cs typeface="Calibri" pitchFamily="34" charset="-120"/>
              </a:rPr>
              <a:t>Participants and patients have a right to know how their data is collected, stored, shared, and destroyed. Data security literacy IS health literacy.</a:t>
            </a:r>
            <a:endParaRPr lang="en-US" sz="1050" dirty="0"/>
          </a:p>
        </p:txBody>
      </p:sp>
      <p:sp>
        <p:nvSpPr>
          <p:cNvPr id="16" name="Shape 12"/>
          <p:cNvSpPr/>
          <p:nvPr/>
        </p:nvSpPr>
        <p:spPr>
          <a:xfrm>
            <a:off x="274320" y="2651760"/>
            <a:ext cx="4160520" cy="960120"/>
          </a:xfrm>
          <a:prstGeom prst="roundRect">
            <a:avLst>
              <a:gd name="adj" fmla="val 7619"/>
            </a:avLst>
          </a:prstGeom>
          <a:solidFill>
            <a:srgbClr val="1E3A56"/>
          </a:solidFill>
          <a:ln w="12700">
            <a:solidFill>
              <a:srgbClr val="14ABAB"/>
            </a:solidFill>
            <a:prstDash val="solid"/>
          </a:ln>
        </p:spPr>
        <p:txBody>
          <a:bodyPr/>
          <a:lstStyle/>
          <a:p>
            <a:endParaRPr lang="en-GB"/>
          </a:p>
        </p:txBody>
      </p:sp>
      <p:pic>
        <p:nvPicPr>
          <p:cNvPr id="17" name="Image 2" descr="preencoded.png"/>
          <p:cNvPicPr>
            <a:picLocks noChangeAspect="1"/>
          </p:cNvPicPr>
          <p:nvPr/>
        </p:nvPicPr>
        <p:blipFill>
          <a:blip r:embed="rId5"/>
          <a:stretch>
            <a:fillRect/>
          </a:stretch>
        </p:blipFill>
        <p:spPr>
          <a:xfrm>
            <a:off x="365760" y="2724912"/>
            <a:ext cx="320040" cy="320040"/>
          </a:xfrm>
          <a:prstGeom prst="rect">
            <a:avLst/>
          </a:prstGeom>
        </p:spPr>
      </p:pic>
      <p:sp>
        <p:nvSpPr>
          <p:cNvPr id="18" name="Text 13"/>
          <p:cNvSpPr/>
          <p:nvPr/>
        </p:nvSpPr>
        <p:spPr>
          <a:xfrm>
            <a:off x="749808" y="2724912"/>
            <a:ext cx="3584448" cy="320040"/>
          </a:xfrm>
          <a:prstGeom prst="rect">
            <a:avLst/>
          </a:prstGeom>
          <a:noFill/>
          <a:ln/>
        </p:spPr>
        <p:txBody>
          <a:bodyPr wrap="square" rtlCol="0" anchor="ctr"/>
          <a:lstStyle/>
          <a:p>
            <a:pPr marL="0" indent="0">
              <a:buNone/>
            </a:pPr>
            <a:r>
              <a:rPr lang="en-US" sz="1150" b="1" dirty="0">
                <a:solidFill>
                  <a:srgbClr val="14ABAB"/>
                </a:solidFill>
                <a:latin typeface="Cambria" pitchFamily="34" charset="0"/>
                <a:ea typeface="Cambria" pitchFamily="34" charset="-122"/>
                <a:cs typeface="Cambria" pitchFamily="34" charset="-120"/>
              </a:rPr>
              <a:t>Advance National &amp; International Collaboration</a:t>
            </a:r>
            <a:endParaRPr lang="en-US" sz="1150" dirty="0"/>
          </a:p>
        </p:txBody>
      </p:sp>
      <p:sp>
        <p:nvSpPr>
          <p:cNvPr id="19" name="Shape 14"/>
          <p:cNvSpPr/>
          <p:nvPr/>
        </p:nvSpPr>
        <p:spPr>
          <a:xfrm>
            <a:off x="365760" y="3090672"/>
            <a:ext cx="3913632" cy="13716"/>
          </a:xfrm>
          <a:prstGeom prst="rect">
            <a:avLst/>
          </a:prstGeom>
          <a:solidFill>
            <a:srgbClr val="2A4060"/>
          </a:solidFill>
          <a:ln w="12700">
            <a:solidFill>
              <a:srgbClr val="2A4060"/>
            </a:solidFill>
            <a:prstDash val="solid"/>
          </a:ln>
        </p:spPr>
        <p:txBody>
          <a:bodyPr/>
          <a:lstStyle/>
          <a:p>
            <a:endParaRPr lang="en-GB"/>
          </a:p>
        </p:txBody>
      </p:sp>
      <p:sp>
        <p:nvSpPr>
          <p:cNvPr id="20" name="Text 15"/>
          <p:cNvSpPr/>
          <p:nvPr/>
        </p:nvSpPr>
        <p:spPr>
          <a:xfrm>
            <a:off x="365760" y="3127248"/>
            <a:ext cx="3950208" cy="420624"/>
          </a:xfrm>
          <a:prstGeom prst="rect">
            <a:avLst/>
          </a:prstGeom>
          <a:noFill/>
          <a:ln/>
        </p:spPr>
        <p:txBody>
          <a:bodyPr wrap="square" rtlCol="0" anchor="ctr"/>
          <a:lstStyle/>
          <a:p>
            <a:pPr marL="0" indent="0">
              <a:buNone/>
            </a:pPr>
            <a:r>
              <a:rPr lang="en-US" sz="1050" dirty="0">
                <a:solidFill>
                  <a:srgbClr val="DDEEFF"/>
                </a:solidFill>
                <a:latin typeface="Calibri" pitchFamily="34" charset="0"/>
                <a:ea typeface="Calibri" pitchFamily="34" charset="-122"/>
                <a:cs typeface="Calibri" pitchFamily="34" charset="-120"/>
              </a:rPr>
              <a:t>FAIR data principles and Federated Learning enable multi-site collaboration across Nigeria and with global partners — without compromising data sovereignty.</a:t>
            </a:r>
            <a:endParaRPr lang="en-US" sz="1050" dirty="0"/>
          </a:p>
        </p:txBody>
      </p:sp>
      <p:sp>
        <p:nvSpPr>
          <p:cNvPr id="21" name="Shape 16"/>
          <p:cNvSpPr/>
          <p:nvPr/>
        </p:nvSpPr>
        <p:spPr>
          <a:xfrm>
            <a:off x="4709160" y="2651760"/>
            <a:ext cx="4160520" cy="960120"/>
          </a:xfrm>
          <a:prstGeom prst="roundRect">
            <a:avLst>
              <a:gd name="adj" fmla="val 7619"/>
            </a:avLst>
          </a:prstGeom>
          <a:solidFill>
            <a:srgbClr val="1E3A56"/>
          </a:solidFill>
          <a:ln w="12700">
            <a:solidFill>
              <a:srgbClr val="E8A020"/>
            </a:solidFill>
            <a:prstDash val="solid"/>
          </a:ln>
        </p:spPr>
        <p:txBody>
          <a:bodyPr/>
          <a:lstStyle/>
          <a:p>
            <a:endParaRPr lang="en-GB"/>
          </a:p>
        </p:txBody>
      </p:sp>
      <p:pic>
        <p:nvPicPr>
          <p:cNvPr id="22" name="Image 3" descr="preencoded.png"/>
          <p:cNvPicPr>
            <a:picLocks noChangeAspect="1"/>
          </p:cNvPicPr>
          <p:nvPr/>
        </p:nvPicPr>
        <p:blipFill>
          <a:blip r:embed="rId6"/>
          <a:stretch>
            <a:fillRect/>
          </a:stretch>
        </p:blipFill>
        <p:spPr>
          <a:xfrm>
            <a:off x="4800600" y="2724912"/>
            <a:ext cx="320040" cy="320040"/>
          </a:xfrm>
          <a:prstGeom prst="rect">
            <a:avLst/>
          </a:prstGeom>
        </p:spPr>
      </p:pic>
      <p:sp>
        <p:nvSpPr>
          <p:cNvPr id="23" name="Text 17"/>
          <p:cNvSpPr/>
          <p:nvPr/>
        </p:nvSpPr>
        <p:spPr>
          <a:xfrm>
            <a:off x="5184648" y="2724912"/>
            <a:ext cx="3584448" cy="320040"/>
          </a:xfrm>
          <a:prstGeom prst="rect">
            <a:avLst/>
          </a:prstGeom>
          <a:noFill/>
          <a:ln/>
        </p:spPr>
        <p:txBody>
          <a:bodyPr wrap="square" rtlCol="0" anchor="ctr"/>
          <a:lstStyle/>
          <a:p>
            <a:pPr marL="0" indent="0">
              <a:buNone/>
            </a:pPr>
            <a:r>
              <a:rPr lang="en-US" sz="1150" b="1" dirty="0">
                <a:solidFill>
                  <a:srgbClr val="E8A020"/>
                </a:solidFill>
                <a:latin typeface="Cambria" pitchFamily="34" charset="0"/>
                <a:ea typeface="Cambria" pitchFamily="34" charset="-122"/>
                <a:cs typeface="Cambria" pitchFamily="34" charset="-120"/>
              </a:rPr>
              <a:t>Promote Research, Scholarship &amp; Education in Bioethics</a:t>
            </a:r>
            <a:endParaRPr lang="en-US" sz="1150" dirty="0"/>
          </a:p>
        </p:txBody>
      </p:sp>
      <p:sp>
        <p:nvSpPr>
          <p:cNvPr id="24" name="Shape 18"/>
          <p:cNvSpPr/>
          <p:nvPr/>
        </p:nvSpPr>
        <p:spPr>
          <a:xfrm>
            <a:off x="4800600" y="3090672"/>
            <a:ext cx="3913632" cy="13716"/>
          </a:xfrm>
          <a:prstGeom prst="rect">
            <a:avLst/>
          </a:prstGeom>
          <a:solidFill>
            <a:srgbClr val="2A4060"/>
          </a:solidFill>
          <a:ln w="12700">
            <a:solidFill>
              <a:srgbClr val="2A4060"/>
            </a:solidFill>
            <a:prstDash val="solid"/>
          </a:ln>
        </p:spPr>
        <p:txBody>
          <a:bodyPr/>
          <a:lstStyle/>
          <a:p>
            <a:endParaRPr lang="en-GB"/>
          </a:p>
        </p:txBody>
      </p:sp>
      <p:sp>
        <p:nvSpPr>
          <p:cNvPr id="25" name="Text 19"/>
          <p:cNvSpPr/>
          <p:nvPr/>
        </p:nvSpPr>
        <p:spPr>
          <a:xfrm>
            <a:off x="4800600" y="3127248"/>
            <a:ext cx="3950208" cy="420624"/>
          </a:xfrm>
          <a:prstGeom prst="rect">
            <a:avLst/>
          </a:prstGeom>
          <a:noFill/>
          <a:ln/>
        </p:spPr>
        <p:txBody>
          <a:bodyPr wrap="square" rtlCol="0" anchor="ctr"/>
          <a:lstStyle/>
          <a:p>
            <a:pPr marL="0" indent="0">
              <a:buNone/>
            </a:pPr>
            <a:r>
              <a:rPr lang="en-US" sz="1050" dirty="0">
                <a:solidFill>
                  <a:srgbClr val="DDEEFF"/>
                </a:solidFill>
                <a:latin typeface="Calibri" pitchFamily="34" charset="0"/>
                <a:ea typeface="Calibri" pitchFamily="34" charset="-122"/>
                <a:cs typeface="Calibri" pitchFamily="34" charset="-120"/>
              </a:rPr>
              <a:t>Datasheets for Datasets (Gebru et al.), FAIR principles, and AI ethics frameworks are emerging bioethics scholarship that should be taught in every Nigerian research training programme.</a:t>
            </a:r>
            <a:endParaRPr lang="en-US" sz="1050" dirty="0"/>
          </a:p>
        </p:txBody>
      </p:sp>
      <p:sp>
        <p:nvSpPr>
          <p:cNvPr id="26" name="Shape 20"/>
          <p:cNvSpPr/>
          <p:nvPr/>
        </p:nvSpPr>
        <p:spPr>
          <a:xfrm>
            <a:off x="274320" y="3730752"/>
            <a:ext cx="4160520" cy="960120"/>
          </a:xfrm>
          <a:prstGeom prst="roundRect">
            <a:avLst>
              <a:gd name="adj" fmla="val 7619"/>
            </a:avLst>
          </a:prstGeom>
          <a:solidFill>
            <a:srgbClr val="1E3A56"/>
          </a:solidFill>
          <a:ln w="12700">
            <a:solidFill>
              <a:srgbClr val="14ABAB"/>
            </a:solidFill>
            <a:prstDash val="solid"/>
          </a:ln>
        </p:spPr>
        <p:txBody>
          <a:bodyPr/>
          <a:lstStyle/>
          <a:p>
            <a:endParaRPr lang="en-GB"/>
          </a:p>
        </p:txBody>
      </p:sp>
      <p:pic>
        <p:nvPicPr>
          <p:cNvPr id="27" name="Image 4" descr="preencoded.png"/>
          <p:cNvPicPr>
            <a:picLocks noChangeAspect="1"/>
          </p:cNvPicPr>
          <p:nvPr/>
        </p:nvPicPr>
        <p:blipFill>
          <a:blip r:embed="rId7"/>
          <a:stretch>
            <a:fillRect/>
          </a:stretch>
        </p:blipFill>
        <p:spPr>
          <a:xfrm>
            <a:off x="365760" y="3803904"/>
            <a:ext cx="320040" cy="320040"/>
          </a:xfrm>
          <a:prstGeom prst="rect">
            <a:avLst/>
          </a:prstGeom>
        </p:spPr>
      </p:pic>
      <p:sp>
        <p:nvSpPr>
          <p:cNvPr id="28" name="Text 21"/>
          <p:cNvSpPr/>
          <p:nvPr/>
        </p:nvSpPr>
        <p:spPr>
          <a:xfrm>
            <a:off x="749808" y="3803904"/>
            <a:ext cx="3584448" cy="320040"/>
          </a:xfrm>
          <a:prstGeom prst="rect">
            <a:avLst/>
          </a:prstGeom>
          <a:noFill/>
          <a:ln/>
        </p:spPr>
        <p:txBody>
          <a:bodyPr wrap="square" rtlCol="0" anchor="ctr"/>
          <a:lstStyle/>
          <a:p>
            <a:pPr marL="0" indent="0">
              <a:buNone/>
            </a:pPr>
            <a:r>
              <a:rPr lang="en-US" sz="1150" b="1" dirty="0">
                <a:solidFill>
                  <a:srgbClr val="14ABAB"/>
                </a:solidFill>
                <a:latin typeface="Cambria" pitchFamily="34" charset="0"/>
                <a:ea typeface="Cambria" pitchFamily="34" charset="-122"/>
                <a:cs typeface="Cambria" pitchFamily="34" charset="-120"/>
              </a:rPr>
              <a:t>Foster Open and Informed Dialogue</a:t>
            </a:r>
            <a:endParaRPr lang="en-US" sz="1150" dirty="0"/>
          </a:p>
        </p:txBody>
      </p:sp>
      <p:sp>
        <p:nvSpPr>
          <p:cNvPr id="29" name="Shape 22"/>
          <p:cNvSpPr/>
          <p:nvPr/>
        </p:nvSpPr>
        <p:spPr>
          <a:xfrm>
            <a:off x="365760" y="4169664"/>
            <a:ext cx="3913632" cy="13716"/>
          </a:xfrm>
          <a:prstGeom prst="rect">
            <a:avLst/>
          </a:prstGeom>
          <a:solidFill>
            <a:srgbClr val="2A4060"/>
          </a:solidFill>
          <a:ln w="12700">
            <a:solidFill>
              <a:srgbClr val="2A4060"/>
            </a:solidFill>
            <a:prstDash val="solid"/>
          </a:ln>
        </p:spPr>
        <p:txBody>
          <a:bodyPr/>
          <a:lstStyle/>
          <a:p>
            <a:endParaRPr lang="en-GB"/>
          </a:p>
        </p:txBody>
      </p:sp>
      <p:sp>
        <p:nvSpPr>
          <p:cNvPr id="30" name="Text 23"/>
          <p:cNvSpPr/>
          <p:nvPr/>
        </p:nvSpPr>
        <p:spPr>
          <a:xfrm>
            <a:off x="365760" y="4206240"/>
            <a:ext cx="3950208" cy="420624"/>
          </a:xfrm>
          <a:prstGeom prst="rect">
            <a:avLst/>
          </a:prstGeom>
          <a:noFill/>
          <a:ln/>
        </p:spPr>
        <p:txBody>
          <a:bodyPr wrap="square" rtlCol="0" anchor="ctr"/>
          <a:lstStyle/>
          <a:p>
            <a:pPr marL="0" indent="0">
              <a:buNone/>
            </a:pPr>
            <a:r>
              <a:rPr lang="en-US" sz="1050" dirty="0">
                <a:solidFill>
                  <a:srgbClr val="DDEEFF"/>
                </a:solidFill>
                <a:latin typeface="Calibri" pitchFamily="34" charset="0"/>
                <a:ea typeface="Calibri" pitchFamily="34" charset="-122"/>
                <a:cs typeface="Calibri" pitchFamily="34" charset="-120"/>
              </a:rPr>
              <a:t>Transparency about data practices — who has access, how long data is kept, what AI tools processed it — is the operational form of the openness BESON champions.</a:t>
            </a:r>
            <a:endParaRPr lang="en-US" sz="1050" dirty="0"/>
          </a:p>
        </p:txBody>
      </p:sp>
      <p:sp>
        <p:nvSpPr>
          <p:cNvPr id="31" name="Shape 24"/>
          <p:cNvSpPr/>
          <p:nvPr/>
        </p:nvSpPr>
        <p:spPr>
          <a:xfrm>
            <a:off x="4709160" y="3730752"/>
            <a:ext cx="4160520" cy="960120"/>
          </a:xfrm>
          <a:prstGeom prst="roundRect">
            <a:avLst>
              <a:gd name="adj" fmla="val 7619"/>
            </a:avLst>
          </a:prstGeom>
          <a:solidFill>
            <a:srgbClr val="1E3A56"/>
          </a:solidFill>
          <a:ln w="12700">
            <a:solidFill>
              <a:srgbClr val="E8A020"/>
            </a:solidFill>
            <a:prstDash val="solid"/>
          </a:ln>
        </p:spPr>
        <p:txBody>
          <a:bodyPr/>
          <a:lstStyle/>
          <a:p>
            <a:endParaRPr lang="en-GB"/>
          </a:p>
        </p:txBody>
      </p:sp>
      <p:pic>
        <p:nvPicPr>
          <p:cNvPr id="32" name="Image 5" descr="preencoded.png"/>
          <p:cNvPicPr>
            <a:picLocks noChangeAspect="1"/>
          </p:cNvPicPr>
          <p:nvPr/>
        </p:nvPicPr>
        <p:blipFill>
          <a:blip r:embed="rId8"/>
          <a:stretch>
            <a:fillRect/>
          </a:stretch>
        </p:blipFill>
        <p:spPr>
          <a:xfrm>
            <a:off x="4800600" y="3803904"/>
            <a:ext cx="320040" cy="320040"/>
          </a:xfrm>
          <a:prstGeom prst="rect">
            <a:avLst/>
          </a:prstGeom>
        </p:spPr>
      </p:pic>
      <p:sp>
        <p:nvSpPr>
          <p:cNvPr id="33" name="Text 25"/>
          <p:cNvSpPr/>
          <p:nvPr/>
        </p:nvSpPr>
        <p:spPr>
          <a:xfrm>
            <a:off x="5184648" y="3803904"/>
            <a:ext cx="3584448" cy="320040"/>
          </a:xfrm>
          <a:prstGeom prst="rect">
            <a:avLst/>
          </a:prstGeom>
          <a:noFill/>
          <a:ln/>
        </p:spPr>
        <p:txBody>
          <a:bodyPr wrap="square" rtlCol="0" anchor="ctr"/>
          <a:lstStyle/>
          <a:p>
            <a:pPr marL="0" indent="0">
              <a:buNone/>
            </a:pPr>
            <a:r>
              <a:rPr lang="en-US" sz="1150" b="1" dirty="0">
                <a:solidFill>
                  <a:srgbClr val="E8A020"/>
                </a:solidFill>
                <a:latin typeface="Cambria" pitchFamily="34" charset="0"/>
                <a:ea typeface="Cambria" pitchFamily="34" charset="-122"/>
                <a:cs typeface="Cambria" pitchFamily="34" charset="-120"/>
              </a:rPr>
              <a:t>Host High-Impact Events (IBEF &amp; Webinars)</a:t>
            </a:r>
            <a:endParaRPr lang="en-US" sz="1150" dirty="0"/>
          </a:p>
        </p:txBody>
      </p:sp>
      <p:sp>
        <p:nvSpPr>
          <p:cNvPr id="34" name="Shape 26"/>
          <p:cNvSpPr/>
          <p:nvPr/>
        </p:nvSpPr>
        <p:spPr>
          <a:xfrm>
            <a:off x="4800600" y="4169664"/>
            <a:ext cx="3913632" cy="13716"/>
          </a:xfrm>
          <a:prstGeom prst="rect">
            <a:avLst/>
          </a:prstGeom>
          <a:solidFill>
            <a:srgbClr val="2A4060"/>
          </a:solidFill>
          <a:ln w="12700">
            <a:solidFill>
              <a:srgbClr val="2A4060"/>
            </a:solidFill>
            <a:prstDash val="solid"/>
          </a:ln>
        </p:spPr>
        <p:txBody>
          <a:bodyPr/>
          <a:lstStyle/>
          <a:p>
            <a:endParaRPr lang="en-GB"/>
          </a:p>
        </p:txBody>
      </p:sp>
      <p:sp>
        <p:nvSpPr>
          <p:cNvPr id="35" name="Text 27"/>
          <p:cNvSpPr/>
          <p:nvPr/>
        </p:nvSpPr>
        <p:spPr>
          <a:xfrm>
            <a:off x="4800600" y="4206240"/>
            <a:ext cx="3950208" cy="420624"/>
          </a:xfrm>
          <a:prstGeom prst="rect">
            <a:avLst/>
          </a:prstGeom>
          <a:noFill/>
          <a:ln/>
        </p:spPr>
        <p:txBody>
          <a:bodyPr wrap="square" rtlCol="0" anchor="ctr"/>
          <a:lstStyle/>
          <a:p>
            <a:pPr marL="0" indent="0">
              <a:buNone/>
            </a:pPr>
            <a:r>
              <a:rPr lang="en-US" sz="1050" dirty="0">
                <a:solidFill>
                  <a:srgbClr val="DDEEFF"/>
                </a:solidFill>
                <a:latin typeface="Calibri" pitchFamily="34" charset="0"/>
                <a:ea typeface="Calibri" pitchFamily="34" charset="-122"/>
                <a:cs typeface="Calibri" pitchFamily="34" charset="-120"/>
              </a:rPr>
              <a:t>Every research ethics event — including this webinar — must now address AI, data governance, and FAIR principles. These are no longer peripheral; they are central bioethics concerns.</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27432"/>
            <a:ext cx="9144000" cy="685800"/>
          </a:xfrm>
          <a:prstGeom prst="rect">
            <a:avLst/>
          </a:prstGeom>
          <a:solidFill>
            <a:srgbClr val="1A2E4A"/>
          </a:solidFill>
          <a:ln w="12700">
            <a:solidFill>
              <a:srgbClr val="1A2E4A"/>
            </a:solidFill>
            <a:prstDash val="solid"/>
          </a:ln>
        </p:spPr>
        <p:txBody>
          <a:bodyPr/>
          <a:lstStyle/>
          <a:p>
            <a:endParaRPr lang="en-GB"/>
          </a:p>
        </p:txBody>
      </p:sp>
      <p:sp>
        <p:nvSpPr>
          <p:cNvPr id="3" name="Text 1"/>
          <p:cNvSpPr/>
          <p:nvPr/>
        </p:nvSpPr>
        <p:spPr>
          <a:xfrm>
            <a:off x="52098" y="0"/>
            <a:ext cx="8751659" cy="685800"/>
          </a:xfrm>
          <a:prstGeom prst="rect">
            <a:avLst/>
          </a:prstGeom>
          <a:noFill/>
          <a:ln/>
        </p:spPr>
        <p:txBody>
          <a:bodyPr wrap="square"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Data Security is a Research Ethics Issue — Not Just an IT Problem</a:t>
            </a:r>
            <a:endParaRPr lang="en-US" sz="2200" dirty="0"/>
          </a:p>
        </p:txBody>
      </p:sp>
      <p:sp>
        <p:nvSpPr>
          <p:cNvPr id="4" name="Shape 2"/>
          <p:cNvSpPr/>
          <p:nvPr/>
        </p:nvSpPr>
        <p:spPr>
          <a:xfrm>
            <a:off x="274320" y="777240"/>
            <a:ext cx="4937760" cy="4114800"/>
          </a:xfrm>
          <a:prstGeom prst="roundRect">
            <a:avLst>
              <a:gd name="adj" fmla="val 2222"/>
            </a:avLst>
          </a:prstGeom>
          <a:solidFill>
            <a:srgbClr val="FFFFFF"/>
          </a:solidFill>
          <a:ln w="12700">
            <a:solidFill>
              <a:srgbClr val="DDE6F0"/>
            </a:solidFill>
            <a:prstDash val="solid"/>
          </a:ln>
          <a:effectLst>
            <a:outerShdw blurRad="101600" dist="38100" dir="2700000" algn="bl" rotWithShape="0">
              <a:srgbClr val="000000">
                <a:alpha val="12000"/>
              </a:srgbClr>
            </a:outerShdw>
          </a:effectLst>
        </p:spPr>
        <p:txBody>
          <a:bodyPr/>
          <a:lstStyle/>
          <a:p>
            <a:endParaRPr lang="en-GB"/>
          </a:p>
        </p:txBody>
      </p:sp>
      <p:sp>
        <p:nvSpPr>
          <p:cNvPr id="5" name="Text 3"/>
          <p:cNvSpPr/>
          <p:nvPr/>
        </p:nvSpPr>
        <p:spPr>
          <a:xfrm>
            <a:off x="411480" y="841248"/>
            <a:ext cx="4663440" cy="384048"/>
          </a:xfrm>
          <a:prstGeom prst="rect">
            <a:avLst/>
          </a:prstGeom>
          <a:noFill/>
          <a:ln/>
        </p:spPr>
        <p:txBody>
          <a:bodyPr wrap="square" rtlCol="0" anchor="ctr"/>
          <a:lstStyle/>
          <a:p>
            <a:pPr marL="0" indent="0">
              <a:buNone/>
            </a:pPr>
            <a:r>
              <a:rPr lang="en-US" sz="1300" b="1" dirty="0">
                <a:solidFill>
                  <a:srgbClr val="C0392B"/>
                </a:solidFill>
                <a:latin typeface="Cambria" pitchFamily="34" charset="0"/>
                <a:ea typeface="Cambria" pitchFamily="34" charset="-122"/>
                <a:cs typeface="Cambria" pitchFamily="34" charset="-120"/>
              </a:rPr>
              <a:t>Real-World Examples of Research Data Breaches</a:t>
            </a:r>
            <a:endParaRPr lang="en-US" sz="1300" dirty="0"/>
          </a:p>
        </p:txBody>
      </p:sp>
      <p:sp>
        <p:nvSpPr>
          <p:cNvPr id="6" name="Shape 4"/>
          <p:cNvSpPr/>
          <p:nvPr/>
        </p:nvSpPr>
        <p:spPr>
          <a:xfrm>
            <a:off x="384048" y="1298448"/>
            <a:ext cx="4663440" cy="1051560"/>
          </a:xfrm>
          <a:prstGeom prst="roundRect">
            <a:avLst>
              <a:gd name="adj" fmla="val 6087"/>
            </a:avLst>
          </a:prstGeom>
          <a:solidFill>
            <a:srgbClr val="FEF3F2"/>
          </a:solidFill>
          <a:ln w="12700">
            <a:solidFill>
              <a:srgbClr val="FECACA"/>
            </a:solidFill>
            <a:prstDash val="solid"/>
          </a:ln>
        </p:spPr>
        <p:txBody>
          <a:bodyPr/>
          <a:lstStyle/>
          <a:p>
            <a:endParaRPr lang="en-GB"/>
          </a:p>
        </p:txBody>
      </p:sp>
      <p:sp>
        <p:nvSpPr>
          <p:cNvPr id="7" name="Text 5"/>
          <p:cNvSpPr/>
          <p:nvPr/>
        </p:nvSpPr>
        <p:spPr>
          <a:xfrm>
            <a:off x="502920" y="1353312"/>
            <a:ext cx="4434840" cy="256032"/>
          </a:xfrm>
          <a:prstGeom prst="rect">
            <a:avLst/>
          </a:prstGeom>
          <a:noFill/>
          <a:ln/>
        </p:spPr>
        <p:txBody>
          <a:bodyPr wrap="square" rtlCol="0" anchor="ctr"/>
          <a:lstStyle/>
          <a:p>
            <a:pPr marL="0" indent="0">
              <a:buNone/>
            </a:pPr>
            <a:r>
              <a:rPr lang="en-US" sz="1100" b="1" dirty="0">
                <a:solidFill>
                  <a:srgbClr val="C0392B"/>
                </a:solidFill>
                <a:latin typeface="Cambria" pitchFamily="34" charset="0"/>
                <a:ea typeface="Cambria" pitchFamily="34" charset="-122"/>
                <a:cs typeface="Cambria" pitchFamily="34" charset="-120"/>
              </a:rPr>
              <a:t>University of Lagos (hypothetical)</a:t>
            </a:r>
            <a:endParaRPr lang="en-US" sz="1100" dirty="0"/>
          </a:p>
        </p:txBody>
      </p:sp>
      <p:sp>
        <p:nvSpPr>
          <p:cNvPr id="8" name="Text 6"/>
          <p:cNvSpPr/>
          <p:nvPr/>
        </p:nvSpPr>
        <p:spPr>
          <a:xfrm>
            <a:off x="502920" y="1609344"/>
            <a:ext cx="4434840" cy="658368"/>
          </a:xfrm>
          <a:prstGeom prst="rect">
            <a:avLst/>
          </a:prstGeom>
          <a:noFill/>
          <a:ln/>
        </p:spPr>
        <p:txBody>
          <a:bodyPr wrap="square" rtlCol="0" anchor="ctr"/>
          <a:lstStyle/>
          <a:p>
            <a:pPr marL="0" indent="0">
              <a:buNone/>
            </a:pPr>
            <a:r>
              <a:rPr lang="en-US" sz="1100" dirty="0">
                <a:solidFill>
                  <a:srgbClr val="1A2E4A"/>
                </a:solidFill>
                <a:latin typeface="Calibri" pitchFamily="34" charset="0"/>
                <a:ea typeface="Calibri" pitchFamily="34" charset="-122"/>
                <a:cs typeface="Calibri" pitchFamily="34" charset="-120"/>
              </a:rPr>
              <a:t>Survey dataset on HIV patients stored on a researcher's personal Gmail Drive, shared widely. Participants not notified. IRB withdrew approval.</a:t>
            </a:r>
            <a:endParaRPr lang="en-US" sz="1100" dirty="0"/>
          </a:p>
        </p:txBody>
      </p:sp>
      <p:sp>
        <p:nvSpPr>
          <p:cNvPr id="9" name="Shape 7"/>
          <p:cNvSpPr/>
          <p:nvPr/>
        </p:nvSpPr>
        <p:spPr>
          <a:xfrm>
            <a:off x="384048" y="2468880"/>
            <a:ext cx="4663440" cy="1051560"/>
          </a:xfrm>
          <a:prstGeom prst="roundRect">
            <a:avLst>
              <a:gd name="adj" fmla="val 6087"/>
            </a:avLst>
          </a:prstGeom>
          <a:solidFill>
            <a:srgbClr val="FEF3F2"/>
          </a:solidFill>
          <a:ln w="12700">
            <a:solidFill>
              <a:srgbClr val="FECACA"/>
            </a:solidFill>
            <a:prstDash val="solid"/>
          </a:ln>
        </p:spPr>
        <p:txBody>
          <a:bodyPr/>
          <a:lstStyle/>
          <a:p>
            <a:endParaRPr lang="en-GB"/>
          </a:p>
        </p:txBody>
      </p:sp>
      <p:sp>
        <p:nvSpPr>
          <p:cNvPr id="10" name="Text 8"/>
          <p:cNvSpPr/>
          <p:nvPr/>
        </p:nvSpPr>
        <p:spPr>
          <a:xfrm>
            <a:off x="502920" y="2523744"/>
            <a:ext cx="4434840" cy="256032"/>
          </a:xfrm>
          <a:prstGeom prst="rect">
            <a:avLst/>
          </a:prstGeom>
          <a:noFill/>
          <a:ln/>
        </p:spPr>
        <p:txBody>
          <a:bodyPr wrap="square" rtlCol="0" anchor="ctr"/>
          <a:lstStyle/>
          <a:p>
            <a:pPr marL="0" indent="0">
              <a:buNone/>
            </a:pPr>
            <a:r>
              <a:rPr lang="en-US" sz="1100" b="1" dirty="0">
                <a:solidFill>
                  <a:srgbClr val="C0392B"/>
                </a:solidFill>
                <a:latin typeface="Cambria" pitchFamily="34" charset="0"/>
                <a:ea typeface="Cambria" pitchFamily="34" charset="-122"/>
                <a:cs typeface="Cambria" pitchFamily="34" charset="-120"/>
              </a:rPr>
              <a:t>Kenya Medical Research (2022)</a:t>
            </a:r>
            <a:endParaRPr lang="en-US" sz="1100" dirty="0"/>
          </a:p>
        </p:txBody>
      </p:sp>
      <p:sp>
        <p:nvSpPr>
          <p:cNvPr id="11" name="Text 9"/>
          <p:cNvSpPr/>
          <p:nvPr/>
        </p:nvSpPr>
        <p:spPr>
          <a:xfrm>
            <a:off x="502920" y="2779776"/>
            <a:ext cx="4434840" cy="658368"/>
          </a:xfrm>
          <a:prstGeom prst="rect">
            <a:avLst/>
          </a:prstGeom>
          <a:noFill/>
          <a:ln/>
        </p:spPr>
        <p:txBody>
          <a:bodyPr wrap="square" rtlCol="0" anchor="ctr"/>
          <a:lstStyle/>
          <a:p>
            <a:pPr marL="0" indent="0">
              <a:buNone/>
            </a:pPr>
            <a:r>
              <a:rPr lang="en-US" sz="1100" dirty="0">
                <a:solidFill>
                  <a:srgbClr val="1A2E4A"/>
                </a:solidFill>
                <a:latin typeface="Calibri" pitchFamily="34" charset="0"/>
                <a:ea typeface="Calibri" pitchFamily="34" charset="-122"/>
                <a:cs typeface="Calibri" pitchFamily="34" charset="-120"/>
              </a:rPr>
              <a:t>Malaria trial data exposed on a public GitHub repo by a postgraduate student who didn't know the folder was public.</a:t>
            </a:r>
            <a:endParaRPr lang="en-US" sz="1100" dirty="0"/>
          </a:p>
        </p:txBody>
      </p:sp>
      <p:sp>
        <p:nvSpPr>
          <p:cNvPr id="12" name="Shape 10"/>
          <p:cNvSpPr/>
          <p:nvPr/>
        </p:nvSpPr>
        <p:spPr>
          <a:xfrm>
            <a:off x="384048" y="3639312"/>
            <a:ext cx="4663440" cy="1051560"/>
          </a:xfrm>
          <a:prstGeom prst="roundRect">
            <a:avLst>
              <a:gd name="adj" fmla="val 6087"/>
            </a:avLst>
          </a:prstGeom>
          <a:solidFill>
            <a:srgbClr val="FEF3F2"/>
          </a:solidFill>
          <a:ln w="12700">
            <a:solidFill>
              <a:srgbClr val="FECACA"/>
            </a:solidFill>
            <a:prstDash val="solid"/>
          </a:ln>
        </p:spPr>
        <p:txBody>
          <a:bodyPr/>
          <a:lstStyle/>
          <a:p>
            <a:endParaRPr lang="en-GB"/>
          </a:p>
        </p:txBody>
      </p:sp>
      <p:sp>
        <p:nvSpPr>
          <p:cNvPr id="13" name="Text 11"/>
          <p:cNvSpPr/>
          <p:nvPr/>
        </p:nvSpPr>
        <p:spPr>
          <a:xfrm>
            <a:off x="502920" y="3694176"/>
            <a:ext cx="4434840" cy="256032"/>
          </a:xfrm>
          <a:prstGeom prst="rect">
            <a:avLst/>
          </a:prstGeom>
          <a:noFill/>
          <a:ln/>
        </p:spPr>
        <p:txBody>
          <a:bodyPr wrap="square" rtlCol="0" anchor="ctr"/>
          <a:lstStyle/>
          <a:p>
            <a:pPr marL="0" indent="0">
              <a:buNone/>
            </a:pPr>
            <a:r>
              <a:rPr lang="en-US" sz="1100" b="1" dirty="0">
                <a:solidFill>
                  <a:srgbClr val="C0392B"/>
                </a:solidFill>
                <a:latin typeface="Cambria" pitchFamily="34" charset="0"/>
                <a:ea typeface="Cambria" pitchFamily="34" charset="-122"/>
                <a:cs typeface="Cambria" pitchFamily="34" charset="-120"/>
              </a:rPr>
              <a:t>Stanford Research (USA, 2021)</a:t>
            </a:r>
            <a:endParaRPr lang="en-US" sz="1100" dirty="0"/>
          </a:p>
        </p:txBody>
      </p:sp>
      <p:sp>
        <p:nvSpPr>
          <p:cNvPr id="14" name="Text 12"/>
          <p:cNvSpPr/>
          <p:nvPr/>
        </p:nvSpPr>
        <p:spPr>
          <a:xfrm>
            <a:off x="502920" y="3950208"/>
            <a:ext cx="4434840" cy="658368"/>
          </a:xfrm>
          <a:prstGeom prst="rect">
            <a:avLst/>
          </a:prstGeom>
          <a:noFill/>
          <a:ln/>
        </p:spPr>
        <p:txBody>
          <a:bodyPr wrap="square" rtlCol="0" anchor="ctr"/>
          <a:lstStyle/>
          <a:p>
            <a:pPr marL="0" indent="0">
              <a:buNone/>
            </a:pPr>
            <a:r>
              <a:rPr lang="en-US" sz="1100" dirty="0">
                <a:solidFill>
                  <a:srgbClr val="1A2E4A"/>
                </a:solidFill>
                <a:latin typeface="Calibri" pitchFamily="34" charset="0"/>
                <a:ea typeface="Calibri" pitchFamily="34" charset="-122"/>
                <a:cs typeface="Calibri" pitchFamily="34" charset="-120"/>
              </a:rPr>
              <a:t>COVID contact-tracing data of 2,700 participants leaked via a misconfigured cloud bucket. $1.25M penalty.</a:t>
            </a:r>
            <a:endParaRPr lang="en-US" sz="1100" dirty="0"/>
          </a:p>
        </p:txBody>
      </p:sp>
      <p:sp>
        <p:nvSpPr>
          <p:cNvPr id="15" name="Shape 13"/>
          <p:cNvSpPr/>
          <p:nvPr/>
        </p:nvSpPr>
        <p:spPr>
          <a:xfrm>
            <a:off x="5394960" y="777240"/>
            <a:ext cx="3474720" cy="4114800"/>
          </a:xfrm>
          <a:prstGeom prst="roundRect">
            <a:avLst>
              <a:gd name="adj" fmla="val 2632"/>
            </a:avLst>
          </a:prstGeom>
          <a:solidFill>
            <a:srgbClr val="1A2E4A"/>
          </a:solidFill>
          <a:ln w="12700">
            <a:solidFill>
              <a:srgbClr val="0D7377"/>
            </a:solidFill>
            <a:prstDash val="solid"/>
          </a:ln>
          <a:effectLst>
            <a:outerShdw blurRad="101600" dist="38100" dir="2700000" algn="bl" rotWithShape="0">
              <a:srgbClr val="000000">
                <a:alpha val="12000"/>
              </a:srgbClr>
            </a:outerShdw>
          </a:effectLst>
        </p:spPr>
        <p:txBody>
          <a:bodyPr/>
          <a:lstStyle/>
          <a:p>
            <a:endParaRPr lang="en-GB"/>
          </a:p>
        </p:txBody>
      </p:sp>
      <p:sp>
        <p:nvSpPr>
          <p:cNvPr id="16" name="Text 14"/>
          <p:cNvSpPr/>
          <p:nvPr/>
        </p:nvSpPr>
        <p:spPr>
          <a:xfrm>
            <a:off x="5532120" y="841248"/>
            <a:ext cx="3200400" cy="384048"/>
          </a:xfrm>
          <a:prstGeom prst="rect">
            <a:avLst/>
          </a:prstGeom>
          <a:noFill/>
          <a:ln/>
        </p:spPr>
        <p:txBody>
          <a:bodyPr wrap="square" rtlCol="0" anchor="ctr"/>
          <a:lstStyle/>
          <a:p>
            <a:pPr marL="0" indent="0">
              <a:buNone/>
            </a:pPr>
            <a:r>
              <a:rPr lang="en-US" sz="1300" b="1" dirty="0">
                <a:solidFill>
                  <a:srgbClr val="14ABAB"/>
                </a:solidFill>
                <a:latin typeface="Cambria" pitchFamily="34" charset="0"/>
                <a:ea typeface="Cambria" pitchFamily="34" charset="-122"/>
                <a:cs typeface="Cambria" pitchFamily="34" charset="-120"/>
              </a:rPr>
              <a:t>Why This Is an Ethics Issue</a:t>
            </a:r>
            <a:endParaRPr lang="en-US" sz="1300" dirty="0"/>
          </a:p>
        </p:txBody>
      </p:sp>
      <p:sp>
        <p:nvSpPr>
          <p:cNvPr id="17" name="Text 15"/>
          <p:cNvSpPr/>
          <p:nvPr/>
        </p:nvSpPr>
        <p:spPr>
          <a:xfrm>
            <a:off x="5532120" y="1298448"/>
            <a:ext cx="3200400" cy="274320"/>
          </a:xfrm>
          <a:prstGeom prst="rect">
            <a:avLst/>
          </a:prstGeom>
          <a:noFill/>
          <a:ln/>
        </p:spPr>
        <p:txBody>
          <a:bodyPr wrap="square" rtlCol="0" anchor="ctr"/>
          <a:lstStyle/>
          <a:p>
            <a:pPr marL="0" indent="0">
              <a:buNone/>
            </a:pPr>
            <a:r>
              <a:rPr lang="en-US" sz="1200" b="1" dirty="0">
                <a:solidFill>
                  <a:srgbClr val="E8A020"/>
                </a:solidFill>
                <a:latin typeface="Cambria" pitchFamily="34" charset="0"/>
                <a:ea typeface="Cambria" pitchFamily="34" charset="-122"/>
                <a:cs typeface="Cambria" pitchFamily="34" charset="-120"/>
              </a:rPr>
              <a:t>Autonomy</a:t>
            </a:r>
            <a:endParaRPr lang="en-US" sz="1200" dirty="0"/>
          </a:p>
        </p:txBody>
      </p:sp>
      <p:sp>
        <p:nvSpPr>
          <p:cNvPr id="18" name="Text 16"/>
          <p:cNvSpPr/>
          <p:nvPr/>
        </p:nvSpPr>
        <p:spPr>
          <a:xfrm>
            <a:off x="5532120" y="1572768"/>
            <a:ext cx="3200400" cy="457200"/>
          </a:xfrm>
          <a:prstGeom prst="rect">
            <a:avLst/>
          </a:prstGeom>
          <a:noFill/>
          <a:ln/>
        </p:spPr>
        <p:txBody>
          <a:bodyPr wrap="square" rtlCol="0" anchor="ctr"/>
          <a:lstStyle/>
          <a:p>
            <a:pPr marL="0" indent="0">
              <a:buNone/>
            </a:pPr>
            <a:r>
              <a:rPr lang="en-US" sz="1150" dirty="0">
                <a:solidFill>
                  <a:srgbClr val="FFFFFF"/>
                </a:solidFill>
                <a:latin typeface="Calibri" pitchFamily="34" charset="0"/>
                <a:ea typeface="Calibri" pitchFamily="34" charset="-122"/>
                <a:cs typeface="Calibri" pitchFamily="34" charset="-120"/>
              </a:rPr>
              <a:t>Participants consented to specific uses. A breach violates that agreement.</a:t>
            </a:r>
            <a:endParaRPr lang="en-US" sz="1150" dirty="0"/>
          </a:p>
        </p:txBody>
      </p:sp>
      <p:sp>
        <p:nvSpPr>
          <p:cNvPr id="19" name="Shape 17"/>
          <p:cNvSpPr/>
          <p:nvPr/>
        </p:nvSpPr>
        <p:spPr>
          <a:xfrm>
            <a:off x="5532120" y="2075688"/>
            <a:ext cx="3108960" cy="13716"/>
          </a:xfrm>
          <a:prstGeom prst="rect">
            <a:avLst/>
          </a:prstGeom>
          <a:solidFill>
            <a:srgbClr val="2A4060"/>
          </a:solidFill>
          <a:ln w="12700">
            <a:solidFill>
              <a:srgbClr val="2A4060"/>
            </a:solidFill>
            <a:prstDash val="solid"/>
          </a:ln>
        </p:spPr>
        <p:txBody>
          <a:bodyPr/>
          <a:lstStyle/>
          <a:p>
            <a:endParaRPr lang="en-GB"/>
          </a:p>
        </p:txBody>
      </p:sp>
      <p:sp>
        <p:nvSpPr>
          <p:cNvPr id="20" name="Text 18"/>
          <p:cNvSpPr/>
          <p:nvPr/>
        </p:nvSpPr>
        <p:spPr>
          <a:xfrm>
            <a:off x="5532120" y="2167128"/>
            <a:ext cx="3200400" cy="274320"/>
          </a:xfrm>
          <a:prstGeom prst="rect">
            <a:avLst/>
          </a:prstGeom>
          <a:noFill/>
          <a:ln/>
        </p:spPr>
        <p:txBody>
          <a:bodyPr wrap="square" rtlCol="0" anchor="ctr"/>
          <a:lstStyle/>
          <a:p>
            <a:pPr marL="0" indent="0">
              <a:buNone/>
            </a:pPr>
            <a:r>
              <a:rPr lang="en-US" sz="1200" b="1" dirty="0">
                <a:solidFill>
                  <a:srgbClr val="E8A020"/>
                </a:solidFill>
                <a:latin typeface="Cambria" pitchFamily="34" charset="0"/>
                <a:ea typeface="Cambria" pitchFamily="34" charset="-122"/>
                <a:cs typeface="Cambria" pitchFamily="34" charset="-120"/>
              </a:rPr>
              <a:t>Non-maleficence</a:t>
            </a:r>
            <a:endParaRPr lang="en-US" sz="1200" dirty="0"/>
          </a:p>
        </p:txBody>
      </p:sp>
      <p:sp>
        <p:nvSpPr>
          <p:cNvPr id="21" name="Text 19"/>
          <p:cNvSpPr/>
          <p:nvPr/>
        </p:nvSpPr>
        <p:spPr>
          <a:xfrm>
            <a:off x="5532120" y="2441448"/>
            <a:ext cx="3200400" cy="457200"/>
          </a:xfrm>
          <a:prstGeom prst="rect">
            <a:avLst/>
          </a:prstGeom>
          <a:noFill/>
          <a:ln/>
        </p:spPr>
        <p:txBody>
          <a:bodyPr wrap="square" rtlCol="0" anchor="ctr"/>
          <a:lstStyle/>
          <a:p>
            <a:pPr marL="0" indent="0">
              <a:buNone/>
            </a:pPr>
            <a:r>
              <a:rPr lang="en-US" sz="1150" dirty="0">
                <a:solidFill>
                  <a:srgbClr val="FFFFFF"/>
                </a:solidFill>
                <a:latin typeface="Calibri" pitchFamily="34" charset="0"/>
                <a:ea typeface="Calibri" pitchFamily="34" charset="-122"/>
                <a:cs typeface="Calibri" pitchFamily="34" charset="-120"/>
              </a:rPr>
              <a:t>Exposed health or social data can harm livelihoods, families, jobs.</a:t>
            </a:r>
            <a:endParaRPr lang="en-US" sz="1150" dirty="0"/>
          </a:p>
        </p:txBody>
      </p:sp>
      <p:sp>
        <p:nvSpPr>
          <p:cNvPr id="22" name="Shape 20"/>
          <p:cNvSpPr/>
          <p:nvPr/>
        </p:nvSpPr>
        <p:spPr>
          <a:xfrm>
            <a:off x="5532120" y="2944368"/>
            <a:ext cx="3108960" cy="13716"/>
          </a:xfrm>
          <a:prstGeom prst="rect">
            <a:avLst/>
          </a:prstGeom>
          <a:solidFill>
            <a:srgbClr val="2A4060"/>
          </a:solidFill>
          <a:ln w="12700">
            <a:solidFill>
              <a:srgbClr val="2A4060"/>
            </a:solidFill>
            <a:prstDash val="solid"/>
          </a:ln>
        </p:spPr>
        <p:txBody>
          <a:bodyPr/>
          <a:lstStyle/>
          <a:p>
            <a:endParaRPr lang="en-GB"/>
          </a:p>
        </p:txBody>
      </p:sp>
      <p:sp>
        <p:nvSpPr>
          <p:cNvPr id="23" name="Text 21"/>
          <p:cNvSpPr/>
          <p:nvPr/>
        </p:nvSpPr>
        <p:spPr>
          <a:xfrm>
            <a:off x="5532120" y="3035808"/>
            <a:ext cx="3200400" cy="274320"/>
          </a:xfrm>
          <a:prstGeom prst="rect">
            <a:avLst/>
          </a:prstGeom>
          <a:noFill/>
          <a:ln/>
        </p:spPr>
        <p:txBody>
          <a:bodyPr wrap="square" rtlCol="0" anchor="ctr"/>
          <a:lstStyle/>
          <a:p>
            <a:pPr marL="0" indent="0">
              <a:buNone/>
            </a:pPr>
            <a:r>
              <a:rPr lang="en-US" sz="1200" b="1" dirty="0">
                <a:solidFill>
                  <a:srgbClr val="E8A020"/>
                </a:solidFill>
                <a:latin typeface="Cambria" pitchFamily="34" charset="0"/>
                <a:ea typeface="Cambria" pitchFamily="34" charset="-122"/>
                <a:cs typeface="Cambria" pitchFamily="34" charset="-120"/>
              </a:rPr>
              <a:t>Justice</a:t>
            </a:r>
            <a:endParaRPr lang="en-US" sz="1200" dirty="0"/>
          </a:p>
        </p:txBody>
      </p:sp>
      <p:sp>
        <p:nvSpPr>
          <p:cNvPr id="24" name="Text 22"/>
          <p:cNvSpPr/>
          <p:nvPr/>
        </p:nvSpPr>
        <p:spPr>
          <a:xfrm>
            <a:off x="5532120" y="3310128"/>
            <a:ext cx="3200400" cy="457200"/>
          </a:xfrm>
          <a:prstGeom prst="rect">
            <a:avLst/>
          </a:prstGeom>
          <a:noFill/>
          <a:ln/>
        </p:spPr>
        <p:txBody>
          <a:bodyPr wrap="square" rtlCol="0" anchor="ctr"/>
          <a:lstStyle/>
          <a:p>
            <a:pPr marL="0" indent="0">
              <a:buNone/>
            </a:pPr>
            <a:r>
              <a:rPr lang="en-US" sz="1150" dirty="0">
                <a:solidFill>
                  <a:srgbClr val="FFFFFF"/>
                </a:solidFill>
                <a:latin typeface="Calibri" pitchFamily="34" charset="0"/>
                <a:ea typeface="Calibri" pitchFamily="34" charset="-122"/>
                <a:cs typeface="Calibri" pitchFamily="34" charset="-120"/>
              </a:rPr>
              <a:t>Vulnerable groups (HIV+ patients, minors, prisoners) face disproportionate harm.</a:t>
            </a:r>
            <a:endParaRPr lang="en-US" sz="1150" dirty="0"/>
          </a:p>
        </p:txBody>
      </p:sp>
      <p:sp>
        <p:nvSpPr>
          <p:cNvPr id="25" name="Shape 23"/>
          <p:cNvSpPr/>
          <p:nvPr/>
        </p:nvSpPr>
        <p:spPr>
          <a:xfrm>
            <a:off x="5532120" y="3813048"/>
            <a:ext cx="3108960" cy="13716"/>
          </a:xfrm>
          <a:prstGeom prst="rect">
            <a:avLst/>
          </a:prstGeom>
          <a:solidFill>
            <a:srgbClr val="2A4060"/>
          </a:solidFill>
          <a:ln w="12700">
            <a:solidFill>
              <a:srgbClr val="2A4060"/>
            </a:solidFill>
            <a:prstDash val="solid"/>
          </a:ln>
        </p:spPr>
        <p:txBody>
          <a:bodyPr/>
          <a:lstStyle/>
          <a:p>
            <a:endParaRPr lang="en-GB"/>
          </a:p>
        </p:txBody>
      </p:sp>
      <p:sp>
        <p:nvSpPr>
          <p:cNvPr id="26" name="Text 24"/>
          <p:cNvSpPr/>
          <p:nvPr/>
        </p:nvSpPr>
        <p:spPr>
          <a:xfrm>
            <a:off x="5532120" y="3904488"/>
            <a:ext cx="3200400" cy="274320"/>
          </a:xfrm>
          <a:prstGeom prst="rect">
            <a:avLst/>
          </a:prstGeom>
          <a:noFill/>
          <a:ln/>
        </p:spPr>
        <p:txBody>
          <a:bodyPr wrap="square" rtlCol="0" anchor="ctr"/>
          <a:lstStyle/>
          <a:p>
            <a:pPr marL="0" indent="0">
              <a:buNone/>
            </a:pPr>
            <a:r>
              <a:rPr lang="en-US" sz="1200" b="1" dirty="0">
                <a:solidFill>
                  <a:srgbClr val="E8A020"/>
                </a:solidFill>
                <a:latin typeface="Cambria" pitchFamily="34" charset="0"/>
                <a:ea typeface="Cambria" pitchFamily="34" charset="-122"/>
                <a:cs typeface="Cambria" pitchFamily="34" charset="-120"/>
              </a:rPr>
              <a:t>Trust</a:t>
            </a:r>
            <a:endParaRPr lang="en-US" sz="1200" dirty="0"/>
          </a:p>
        </p:txBody>
      </p:sp>
      <p:sp>
        <p:nvSpPr>
          <p:cNvPr id="27" name="Text 25"/>
          <p:cNvSpPr/>
          <p:nvPr/>
        </p:nvSpPr>
        <p:spPr>
          <a:xfrm>
            <a:off x="5532120" y="4178808"/>
            <a:ext cx="3200400" cy="457200"/>
          </a:xfrm>
          <a:prstGeom prst="rect">
            <a:avLst/>
          </a:prstGeom>
          <a:noFill/>
          <a:ln/>
        </p:spPr>
        <p:txBody>
          <a:bodyPr wrap="square" rtlCol="0" anchor="ctr"/>
          <a:lstStyle/>
          <a:p>
            <a:pPr marL="0" indent="0">
              <a:buNone/>
            </a:pPr>
            <a:r>
              <a:rPr lang="en-US" sz="1150" dirty="0">
                <a:solidFill>
                  <a:srgbClr val="FFFFFF"/>
                </a:solidFill>
                <a:latin typeface="Calibri" pitchFamily="34" charset="0"/>
                <a:ea typeface="Calibri" pitchFamily="34" charset="-122"/>
                <a:cs typeface="Calibri" pitchFamily="34" charset="-120"/>
              </a:rPr>
              <a:t>A breach in one study damages public trust in all research.</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8B0000"/>
          </a:solidFill>
          <a:ln w="12700">
            <a:solidFill>
              <a:srgbClr val="8B0000"/>
            </a:solidFill>
            <a:prstDash val="solid"/>
          </a:ln>
        </p:spPr>
        <p:txBody>
          <a:bodyPr/>
          <a:lstStyle/>
          <a:p>
            <a:endParaRPr lang="en-GB"/>
          </a:p>
        </p:txBody>
      </p:sp>
      <p:sp>
        <p:nvSpPr>
          <p:cNvPr id="3" name="Text 1"/>
          <p:cNvSpPr/>
          <p:nvPr/>
        </p:nvSpPr>
        <p:spPr>
          <a:xfrm>
            <a:off x="0" y="0"/>
            <a:ext cx="9595883" cy="685800"/>
          </a:xfrm>
          <a:prstGeom prst="rect">
            <a:avLst/>
          </a:prstGeom>
          <a:noFill/>
          <a:ln/>
        </p:spPr>
        <p:txBody>
          <a:bodyPr wrap="square"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Bioethical Foundations of Data Security: The Georgetown Principles Applied</a:t>
            </a:r>
            <a:endParaRPr lang="en-US" sz="2000" dirty="0"/>
          </a:p>
        </p:txBody>
      </p:sp>
      <p:sp>
        <p:nvSpPr>
          <p:cNvPr id="4" name="Text 2"/>
          <p:cNvSpPr/>
          <p:nvPr/>
        </p:nvSpPr>
        <p:spPr>
          <a:xfrm>
            <a:off x="365760" y="749808"/>
            <a:ext cx="8412480" cy="274320"/>
          </a:xfrm>
          <a:prstGeom prst="rect">
            <a:avLst/>
          </a:prstGeom>
          <a:noFill/>
          <a:ln/>
        </p:spPr>
        <p:txBody>
          <a:bodyPr wrap="square" rtlCol="0" anchor="ctr"/>
          <a:lstStyle/>
          <a:p>
            <a:pPr marL="0" indent="0">
              <a:buNone/>
            </a:pPr>
            <a:r>
              <a:rPr lang="en-US" sz="1050" i="1" dirty="0">
                <a:solidFill>
                  <a:srgbClr val="6B7A8D"/>
                </a:solidFill>
                <a:latin typeface="Calibri" pitchFamily="34" charset="0"/>
                <a:ea typeface="Calibri" pitchFamily="34" charset="-122"/>
                <a:cs typeface="Calibri" pitchFamily="34" charset="-120"/>
              </a:rPr>
              <a:t>Beauchamp &amp; Childress (2019). Principles of Biomedical Ethics, 8th Ed. These are not abstract principles — each one generates a concrete data security obligation.</a:t>
            </a:r>
            <a:endParaRPr lang="en-US" sz="1050" dirty="0"/>
          </a:p>
        </p:txBody>
      </p:sp>
      <p:sp>
        <p:nvSpPr>
          <p:cNvPr id="5" name="Shape 3"/>
          <p:cNvSpPr/>
          <p:nvPr/>
        </p:nvSpPr>
        <p:spPr>
          <a:xfrm>
            <a:off x="274320" y="1078992"/>
            <a:ext cx="8595360" cy="694944"/>
          </a:xfrm>
          <a:prstGeom prst="roundRect">
            <a:avLst>
              <a:gd name="adj" fmla="val 10526"/>
            </a:avLst>
          </a:prstGeom>
          <a:solidFill>
            <a:srgbClr val="FFFFFF"/>
          </a:solidFill>
          <a:ln w="12700">
            <a:solidFill>
              <a:srgbClr val="DDE6F0"/>
            </a:solidFill>
            <a:prstDash val="solid"/>
          </a:ln>
          <a:effectLst>
            <a:outerShdw blurRad="101600" dist="38100" dir="2700000" algn="bl" rotWithShape="0">
              <a:srgbClr val="000000">
                <a:alpha val="12000"/>
              </a:srgbClr>
            </a:outerShdw>
          </a:effectLst>
        </p:spPr>
        <p:txBody>
          <a:bodyPr/>
          <a:lstStyle/>
          <a:p>
            <a:endParaRPr lang="en-GB"/>
          </a:p>
        </p:txBody>
      </p:sp>
      <p:sp>
        <p:nvSpPr>
          <p:cNvPr id="6" name="Shape 4"/>
          <p:cNvSpPr/>
          <p:nvPr/>
        </p:nvSpPr>
        <p:spPr>
          <a:xfrm>
            <a:off x="77628" y="1121520"/>
            <a:ext cx="1417320" cy="694944"/>
          </a:xfrm>
          <a:prstGeom prst="roundRect">
            <a:avLst>
              <a:gd name="adj" fmla="val 10526"/>
            </a:avLst>
          </a:prstGeom>
          <a:solidFill>
            <a:srgbClr val="8B0000"/>
          </a:solidFill>
          <a:ln w="12700">
            <a:solidFill>
              <a:srgbClr val="8B0000"/>
            </a:solidFill>
            <a:prstDash val="solid"/>
          </a:ln>
        </p:spPr>
        <p:txBody>
          <a:bodyPr/>
          <a:lstStyle/>
          <a:p>
            <a:pPr algn="ctr"/>
            <a:endParaRPr lang="en-GB"/>
          </a:p>
        </p:txBody>
      </p:sp>
      <p:sp>
        <p:nvSpPr>
          <p:cNvPr id="7" name="Text 5"/>
          <p:cNvSpPr/>
          <p:nvPr/>
        </p:nvSpPr>
        <p:spPr>
          <a:xfrm>
            <a:off x="274320" y="1078992"/>
            <a:ext cx="1417320" cy="694944"/>
          </a:xfrm>
          <a:prstGeom prst="rect">
            <a:avLst/>
          </a:prstGeom>
          <a:noFill/>
          <a:ln/>
        </p:spPr>
        <p:txBody>
          <a:bodyPr wrap="square"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Respect</a:t>
            </a:r>
            <a:endParaRPr lang="en-US" sz="1100" dirty="0"/>
          </a:p>
          <a:p>
            <a:pPr marL="0" indent="0" algn="ctr">
              <a:buNone/>
            </a:pPr>
            <a:r>
              <a:rPr lang="en-US" sz="1100" b="1" dirty="0">
                <a:solidFill>
                  <a:srgbClr val="FFFFFF"/>
                </a:solidFill>
                <a:latin typeface="Cambria" pitchFamily="34" charset="0"/>
                <a:ea typeface="Cambria" pitchFamily="34" charset="-122"/>
                <a:cs typeface="Cambria" pitchFamily="34" charset="-120"/>
              </a:rPr>
              <a:t>for Persons</a:t>
            </a:r>
            <a:endParaRPr lang="en-US" sz="1100" dirty="0"/>
          </a:p>
        </p:txBody>
      </p:sp>
      <p:sp>
        <p:nvSpPr>
          <p:cNvPr id="8" name="Text 6"/>
          <p:cNvSpPr/>
          <p:nvPr/>
        </p:nvSpPr>
        <p:spPr>
          <a:xfrm>
            <a:off x="1572768" y="1133856"/>
            <a:ext cx="2651760" cy="585216"/>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Informed Consent &amp; Transparency</a:t>
            </a:r>
            <a:endParaRPr lang="en-US" sz="1050" dirty="0"/>
          </a:p>
        </p:txBody>
      </p:sp>
      <p:sp>
        <p:nvSpPr>
          <p:cNvPr id="9" name="Shape 7"/>
          <p:cNvSpPr/>
          <p:nvPr/>
        </p:nvSpPr>
        <p:spPr>
          <a:xfrm>
            <a:off x="4279392" y="1152144"/>
            <a:ext cx="13716" cy="548640"/>
          </a:xfrm>
          <a:prstGeom prst="rect">
            <a:avLst/>
          </a:prstGeom>
          <a:solidFill>
            <a:srgbClr val="DDE6F0"/>
          </a:solidFill>
          <a:ln w="12700">
            <a:solidFill>
              <a:srgbClr val="DDE6F0"/>
            </a:solidFill>
            <a:prstDash val="solid"/>
          </a:ln>
        </p:spPr>
        <p:txBody>
          <a:bodyPr/>
          <a:lstStyle/>
          <a:p>
            <a:endParaRPr lang="en-GB"/>
          </a:p>
        </p:txBody>
      </p:sp>
      <p:sp>
        <p:nvSpPr>
          <p:cNvPr id="10" name="Text 8"/>
          <p:cNvSpPr/>
          <p:nvPr/>
        </p:nvSpPr>
        <p:spPr>
          <a:xfrm>
            <a:off x="4352544" y="1133856"/>
            <a:ext cx="4407408" cy="585216"/>
          </a:xfrm>
          <a:prstGeom prst="rect">
            <a:avLst/>
          </a:prstGeom>
          <a:noFill/>
          <a:ln/>
        </p:spPr>
        <p:txBody>
          <a:bodyPr wrap="square" rtlCol="0" anchor="ctr"/>
          <a:lstStyle/>
          <a:p>
            <a:pPr marL="0" indent="0">
              <a:buNone/>
            </a:pPr>
            <a:r>
              <a:rPr lang="en-US" sz="1050" b="1" dirty="0">
                <a:solidFill>
                  <a:srgbClr val="C0392B"/>
                </a:solidFill>
                <a:latin typeface="Calibri" pitchFamily="34" charset="0"/>
                <a:ea typeface="Calibri" pitchFamily="34" charset="-122"/>
                <a:cs typeface="Calibri" pitchFamily="34" charset="-120"/>
              </a:rPr>
              <a:t>Real failure: </a:t>
            </a:r>
            <a:r>
              <a:rPr lang="en-US" sz="1050" dirty="0">
                <a:solidFill>
                  <a:srgbClr val="7B1A1A"/>
                </a:solidFill>
                <a:latin typeface="Calibri" pitchFamily="34" charset="0"/>
                <a:ea typeface="Calibri" pitchFamily="34" charset="-122"/>
                <a:cs typeface="Calibri" pitchFamily="34" charset="-120"/>
              </a:rPr>
              <a:t>A researcher collects phone numbers 'just in case' without disclosing this. Participant never agreed to be contactable.</a:t>
            </a:r>
            <a:endParaRPr lang="en-US" sz="1050" dirty="0"/>
          </a:p>
        </p:txBody>
      </p:sp>
      <p:sp>
        <p:nvSpPr>
          <p:cNvPr id="11" name="Shape 9"/>
          <p:cNvSpPr/>
          <p:nvPr/>
        </p:nvSpPr>
        <p:spPr>
          <a:xfrm>
            <a:off x="274320" y="1847088"/>
            <a:ext cx="8595360" cy="694944"/>
          </a:xfrm>
          <a:prstGeom prst="roundRect">
            <a:avLst>
              <a:gd name="adj" fmla="val 10526"/>
            </a:avLst>
          </a:prstGeom>
          <a:solidFill>
            <a:srgbClr val="FFFFFF"/>
          </a:solidFill>
          <a:ln w="12700">
            <a:solidFill>
              <a:srgbClr val="DDE6F0"/>
            </a:solidFill>
            <a:prstDash val="solid"/>
          </a:ln>
          <a:effectLst>
            <a:outerShdw blurRad="101600" dist="38100" dir="2700000" algn="bl" rotWithShape="0">
              <a:srgbClr val="000000">
                <a:alpha val="12000"/>
              </a:srgbClr>
            </a:outerShdw>
          </a:effectLst>
        </p:spPr>
        <p:txBody>
          <a:bodyPr/>
          <a:lstStyle/>
          <a:p>
            <a:endParaRPr lang="en-GB"/>
          </a:p>
        </p:txBody>
      </p:sp>
      <p:sp>
        <p:nvSpPr>
          <p:cNvPr id="12" name="Shape 10"/>
          <p:cNvSpPr/>
          <p:nvPr/>
        </p:nvSpPr>
        <p:spPr>
          <a:xfrm>
            <a:off x="77628" y="1889616"/>
            <a:ext cx="1417320" cy="694944"/>
          </a:xfrm>
          <a:prstGeom prst="roundRect">
            <a:avLst>
              <a:gd name="adj" fmla="val 10526"/>
            </a:avLst>
          </a:prstGeom>
          <a:solidFill>
            <a:srgbClr val="1A2E4A"/>
          </a:solidFill>
          <a:ln w="12700">
            <a:solidFill>
              <a:srgbClr val="1A2E4A"/>
            </a:solidFill>
            <a:prstDash val="solid"/>
          </a:ln>
        </p:spPr>
        <p:txBody>
          <a:bodyPr/>
          <a:lstStyle/>
          <a:p>
            <a:pPr algn="ctr"/>
            <a:endParaRPr lang="en-GB"/>
          </a:p>
        </p:txBody>
      </p:sp>
      <p:sp>
        <p:nvSpPr>
          <p:cNvPr id="13" name="Text 11"/>
          <p:cNvSpPr/>
          <p:nvPr/>
        </p:nvSpPr>
        <p:spPr>
          <a:xfrm>
            <a:off x="274320" y="1847088"/>
            <a:ext cx="1417320" cy="694944"/>
          </a:xfrm>
          <a:prstGeom prst="rect">
            <a:avLst/>
          </a:prstGeom>
          <a:noFill/>
          <a:ln/>
        </p:spPr>
        <p:txBody>
          <a:bodyPr wrap="square"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Autonomy</a:t>
            </a:r>
            <a:endParaRPr lang="en-US" sz="1100" dirty="0"/>
          </a:p>
        </p:txBody>
      </p:sp>
      <p:sp>
        <p:nvSpPr>
          <p:cNvPr id="14" name="Text 12"/>
          <p:cNvSpPr/>
          <p:nvPr/>
        </p:nvSpPr>
        <p:spPr>
          <a:xfrm>
            <a:off x="1572768" y="1901952"/>
            <a:ext cx="2651760" cy="585216"/>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Right to Withdraw &amp; Data Deletion — participant withdrawal must trigger record deletion, not just analysis exclusion.</a:t>
            </a:r>
            <a:endParaRPr lang="en-US" sz="1050" dirty="0"/>
          </a:p>
        </p:txBody>
      </p:sp>
      <p:sp>
        <p:nvSpPr>
          <p:cNvPr id="15" name="Shape 13"/>
          <p:cNvSpPr/>
          <p:nvPr/>
        </p:nvSpPr>
        <p:spPr>
          <a:xfrm>
            <a:off x="4279392" y="1920240"/>
            <a:ext cx="13716" cy="548640"/>
          </a:xfrm>
          <a:prstGeom prst="rect">
            <a:avLst/>
          </a:prstGeom>
          <a:solidFill>
            <a:srgbClr val="DDE6F0"/>
          </a:solidFill>
          <a:ln w="12700">
            <a:solidFill>
              <a:srgbClr val="DDE6F0"/>
            </a:solidFill>
            <a:prstDash val="solid"/>
          </a:ln>
        </p:spPr>
        <p:txBody>
          <a:bodyPr/>
          <a:lstStyle/>
          <a:p>
            <a:endParaRPr lang="en-GB"/>
          </a:p>
        </p:txBody>
      </p:sp>
      <p:sp>
        <p:nvSpPr>
          <p:cNvPr id="16" name="Text 14"/>
          <p:cNvSpPr/>
          <p:nvPr/>
        </p:nvSpPr>
        <p:spPr>
          <a:xfrm>
            <a:off x="4352544" y="1901952"/>
            <a:ext cx="4407408" cy="585216"/>
          </a:xfrm>
          <a:prstGeom prst="rect">
            <a:avLst/>
          </a:prstGeom>
          <a:noFill/>
          <a:ln/>
        </p:spPr>
        <p:txBody>
          <a:bodyPr wrap="square" rtlCol="0" anchor="ctr"/>
          <a:lstStyle/>
          <a:p>
            <a:pPr marL="0" indent="0">
              <a:buNone/>
            </a:pPr>
            <a:r>
              <a:rPr lang="en-US" sz="1050" b="1" dirty="0">
                <a:solidFill>
                  <a:srgbClr val="C0392B"/>
                </a:solidFill>
                <a:latin typeface="Calibri" pitchFamily="34" charset="0"/>
                <a:ea typeface="Calibri" pitchFamily="34" charset="-122"/>
                <a:cs typeface="Calibri" pitchFamily="34" charset="-120"/>
              </a:rPr>
              <a:t>Real failure: </a:t>
            </a:r>
            <a:r>
              <a:rPr lang="en-US" sz="1050" dirty="0">
                <a:solidFill>
                  <a:srgbClr val="7B1A1A"/>
                </a:solidFill>
                <a:latin typeface="Calibri" pitchFamily="34" charset="0"/>
                <a:ea typeface="Calibri" pitchFamily="34" charset="-122"/>
                <a:cs typeface="Calibri" pitchFamily="34" charset="-120"/>
              </a:rPr>
              <a:t>Participant withdraws. Researcher continues using their data because 'it was already in the model'.</a:t>
            </a:r>
            <a:endParaRPr lang="en-US" sz="1050" dirty="0"/>
          </a:p>
        </p:txBody>
      </p:sp>
      <p:sp>
        <p:nvSpPr>
          <p:cNvPr id="17" name="Shape 15"/>
          <p:cNvSpPr/>
          <p:nvPr/>
        </p:nvSpPr>
        <p:spPr>
          <a:xfrm>
            <a:off x="274320" y="2615184"/>
            <a:ext cx="8595360" cy="694944"/>
          </a:xfrm>
          <a:prstGeom prst="roundRect">
            <a:avLst>
              <a:gd name="adj" fmla="val 10526"/>
            </a:avLst>
          </a:prstGeom>
          <a:solidFill>
            <a:srgbClr val="FFFFFF"/>
          </a:solidFill>
          <a:ln w="12700">
            <a:solidFill>
              <a:srgbClr val="DDE6F0"/>
            </a:solidFill>
            <a:prstDash val="solid"/>
          </a:ln>
          <a:effectLst>
            <a:outerShdw blurRad="101600" dist="38100" dir="2700000" algn="bl" rotWithShape="0">
              <a:srgbClr val="000000">
                <a:alpha val="12000"/>
              </a:srgbClr>
            </a:outerShdw>
          </a:effectLst>
        </p:spPr>
        <p:txBody>
          <a:bodyPr/>
          <a:lstStyle/>
          <a:p>
            <a:endParaRPr lang="en-GB"/>
          </a:p>
        </p:txBody>
      </p:sp>
      <p:sp>
        <p:nvSpPr>
          <p:cNvPr id="18" name="Shape 16"/>
          <p:cNvSpPr/>
          <p:nvPr/>
        </p:nvSpPr>
        <p:spPr>
          <a:xfrm>
            <a:off x="77628" y="2657712"/>
            <a:ext cx="1417320" cy="694944"/>
          </a:xfrm>
          <a:prstGeom prst="roundRect">
            <a:avLst>
              <a:gd name="adj" fmla="val 10526"/>
            </a:avLst>
          </a:prstGeom>
          <a:solidFill>
            <a:srgbClr val="0D7377"/>
          </a:solidFill>
          <a:ln w="12700">
            <a:solidFill>
              <a:srgbClr val="0D7377"/>
            </a:solidFill>
            <a:prstDash val="solid"/>
          </a:ln>
        </p:spPr>
        <p:txBody>
          <a:bodyPr/>
          <a:lstStyle/>
          <a:p>
            <a:pPr algn="ctr"/>
            <a:endParaRPr lang="en-GB"/>
          </a:p>
        </p:txBody>
      </p:sp>
      <p:sp>
        <p:nvSpPr>
          <p:cNvPr id="19" name="Text 17"/>
          <p:cNvSpPr/>
          <p:nvPr/>
        </p:nvSpPr>
        <p:spPr>
          <a:xfrm>
            <a:off x="274320" y="2615184"/>
            <a:ext cx="1417320" cy="694944"/>
          </a:xfrm>
          <a:prstGeom prst="rect">
            <a:avLst/>
          </a:prstGeom>
          <a:noFill/>
          <a:ln/>
        </p:spPr>
        <p:txBody>
          <a:bodyPr wrap="square"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Beneficence</a:t>
            </a:r>
            <a:endParaRPr lang="en-US" sz="1100" dirty="0"/>
          </a:p>
        </p:txBody>
      </p:sp>
      <p:sp>
        <p:nvSpPr>
          <p:cNvPr id="20" name="Text 18"/>
          <p:cNvSpPr/>
          <p:nvPr/>
        </p:nvSpPr>
        <p:spPr>
          <a:xfrm>
            <a:off x="1572768" y="2670048"/>
            <a:ext cx="2651760" cy="585216"/>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Secure Storage &amp; Access Control — AES-256 encryption, RBAC, and audit logs are the operational expression of beneficence.</a:t>
            </a:r>
            <a:endParaRPr lang="en-US" sz="1050" dirty="0"/>
          </a:p>
        </p:txBody>
      </p:sp>
      <p:sp>
        <p:nvSpPr>
          <p:cNvPr id="21" name="Shape 19"/>
          <p:cNvSpPr/>
          <p:nvPr/>
        </p:nvSpPr>
        <p:spPr>
          <a:xfrm>
            <a:off x="4279392" y="2688336"/>
            <a:ext cx="13716" cy="548640"/>
          </a:xfrm>
          <a:prstGeom prst="rect">
            <a:avLst/>
          </a:prstGeom>
          <a:solidFill>
            <a:srgbClr val="DDE6F0"/>
          </a:solidFill>
          <a:ln w="12700">
            <a:solidFill>
              <a:srgbClr val="DDE6F0"/>
            </a:solidFill>
            <a:prstDash val="solid"/>
          </a:ln>
        </p:spPr>
        <p:txBody>
          <a:bodyPr/>
          <a:lstStyle/>
          <a:p>
            <a:endParaRPr lang="en-GB"/>
          </a:p>
        </p:txBody>
      </p:sp>
      <p:sp>
        <p:nvSpPr>
          <p:cNvPr id="22" name="Text 20"/>
          <p:cNvSpPr/>
          <p:nvPr/>
        </p:nvSpPr>
        <p:spPr>
          <a:xfrm>
            <a:off x="4352544" y="2670048"/>
            <a:ext cx="4407408" cy="585216"/>
          </a:xfrm>
          <a:prstGeom prst="rect">
            <a:avLst/>
          </a:prstGeom>
          <a:noFill/>
          <a:ln/>
        </p:spPr>
        <p:txBody>
          <a:bodyPr wrap="square" rtlCol="0" anchor="ctr"/>
          <a:lstStyle/>
          <a:p>
            <a:pPr marL="0" indent="0">
              <a:buNone/>
            </a:pPr>
            <a:r>
              <a:rPr lang="en-US" sz="1050" b="1" dirty="0">
                <a:solidFill>
                  <a:srgbClr val="C0392B"/>
                </a:solidFill>
                <a:latin typeface="Calibri" pitchFamily="34" charset="0"/>
                <a:ea typeface="Calibri" pitchFamily="34" charset="-122"/>
                <a:cs typeface="Calibri" pitchFamily="34" charset="-120"/>
              </a:rPr>
              <a:t>Real failure: </a:t>
            </a:r>
            <a:r>
              <a:rPr lang="en-US" sz="1050" dirty="0">
                <a:solidFill>
                  <a:srgbClr val="7B1A1A"/>
                </a:solidFill>
                <a:latin typeface="Calibri" pitchFamily="34" charset="0"/>
                <a:ea typeface="Calibri" pitchFamily="34" charset="-122"/>
                <a:cs typeface="Calibri" pitchFamily="34" charset="-120"/>
              </a:rPr>
              <a:t>Researcher stores clinical data on a personal laptop with no password. Laptop stolen. No backup exists.</a:t>
            </a:r>
            <a:endParaRPr lang="en-US" sz="1050" dirty="0"/>
          </a:p>
        </p:txBody>
      </p:sp>
      <p:sp>
        <p:nvSpPr>
          <p:cNvPr id="23" name="Shape 21"/>
          <p:cNvSpPr/>
          <p:nvPr/>
        </p:nvSpPr>
        <p:spPr>
          <a:xfrm>
            <a:off x="274320" y="3383280"/>
            <a:ext cx="8595360" cy="694944"/>
          </a:xfrm>
          <a:prstGeom prst="roundRect">
            <a:avLst>
              <a:gd name="adj" fmla="val 10526"/>
            </a:avLst>
          </a:prstGeom>
          <a:solidFill>
            <a:srgbClr val="FFFFFF"/>
          </a:solidFill>
          <a:ln w="12700">
            <a:solidFill>
              <a:srgbClr val="DDE6F0"/>
            </a:solidFill>
            <a:prstDash val="solid"/>
          </a:ln>
          <a:effectLst>
            <a:outerShdw blurRad="101600" dist="38100" dir="2700000" algn="bl" rotWithShape="0">
              <a:srgbClr val="000000">
                <a:alpha val="12000"/>
              </a:srgbClr>
            </a:outerShdw>
          </a:effectLst>
        </p:spPr>
        <p:txBody>
          <a:bodyPr/>
          <a:lstStyle/>
          <a:p>
            <a:endParaRPr lang="en-GB"/>
          </a:p>
        </p:txBody>
      </p:sp>
      <p:sp>
        <p:nvSpPr>
          <p:cNvPr id="24" name="Shape 22"/>
          <p:cNvSpPr/>
          <p:nvPr/>
        </p:nvSpPr>
        <p:spPr>
          <a:xfrm>
            <a:off x="77628" y="3425808"/>
            <a:ext cx="1417320" cy="694944"/>
          </a:xfrm>
          <a:prstGeom prst="roundRect">
            <a:avLst>
              <a:gd name="adj" fmla="val 10526"/>
            </a:avLst>
          </a:prstGeom>
          <a:solidFill>
            <a:srgbClr val="2E7D32"/>
          </a:solidFill>
          <a:ln w="12700">
            <a:solidFill>
              <a:srgbClr val="2E7D32"/>
            </a:solidFill>
            <a:prstDash val="solid"/>
          </a:ln>
        </p:spPr>
        <p:txBody>
          <a:bodyPr/>
          <a:lstStyle/>
          <a:p>
            <a:pPr algn="ctr"/>
            <a:endParaRPr lang="en-GB"/>
          </a:p>
        </p:txBody>
      </p:sp>
      <p:sp>
        <p:nvSpPr>
          <p:cNvPr id="25" name="Text 23"/>
          <p:cNvSpPr/>
          <p:nvPr/>
        </p:nvSpPr>
        <p:spPr>
          <a:xfrm>
            <a:off x="274320" y="3383280"/>
            <a:ext cx="1417320" cy="694944"/>
          </a:xfrm>
          <a:prstGeom prst="rect">
            <a:avLst/>
          </a:prstGeom>
          <a:noFill/>
          <a:ln/>
        </p:spPr>
        <p:txBody>
          <a:bodyPr wrap="square"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Non-</a:t>
            </a:r>
            <a:endParaRPr lang="en-US" sz="1100" dirty="0"/>
          </a:p>
          <a:p>
            <a:pPr marL="0" indent="0" algn="ctr">
              <a:buNone/>
            </a:pPr>
            <a:r>
              <a:rPr lang="en-US" sz="1100" b="1" dirty="0">
                <a:solidFill>
                  <a:srgbClr val="FFFFFF"/>
                </a:solidFill>
                <a:latin typeface="Cambria" pitchFamily="34" charset="0"/>
                <a:ea typeface="Cambria" pitchFamily="34" charset="-122"/>
                <a:cs typeface="Cambria" pitchFamily="34" charset="-120"/>
              </a:rPr>
              <a:t>Maleficence</a:t>
            </a:r>
            <a:endParaRPr lang="en-US" sz="1100" dirty="0"/>
          </a:p>
        </p:txBody>
      </p:sp>
      <p:sp>
        <p:nvSpPr>
          <p:cNvPr id="26" name="Text 24"/>
          <p:cNvSpPr/>
          <p:nvPr/>
        </p:nvSpPr>
        <p:spPr>
          <a:xfrm>
            <a:off x="1572768" y="3438144"/>
            <a:ext cx="2651760" cy="585216"/>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Breach Prevention &amp; Risk Minimisation — emailing unencrypted datasets or using misconfigured AI tools on participant data are acts of potential harm.</a:t>
            </a:r>
            <a:endParaRPr lang="en-US" sz="1050" dirty="0"/>
          </a:p>
        </p:txBody>
      </p:sp>
      <p:sp>
        <p:nvSpPr>
          <p:cNvPr id="27" name="Shape 25"/>
          <p:cNvSpPr/>
          <p:nvPr/>
        </p:nvSpPr>
        <p:spPr>
          <a:xfrm>
            <a:off x="4279392" y="3456432"/>
            <a:ext cx="13716" cy="548640"/>
          </a:xfrm>
          <a:prstGeom prst="rect">
            <a:avLst/>
          </a:prstGeom>
          <a:solidFill>
            <a:srgbClr val="DDE6F0"/>
          </a:solidFill>
          <a:ln w="12700">
            <a:solidFill>
              <a:srgbClr val="DDE6F0"/>
            </a:solidFill>
            <a:prstDash val="solid"/>
          </a:ln>
        </p:spPr>
        <p:txBody>
          <a:bodyPr/>
          <a:lstStyle/>
          <a:p>
            <a:endParaRPr lang="en-GB"/>
          </a:p>
        </p:txBody>
      </p:sp>
      <p:sp>
        <p:nvSpPr>
          <p:cNvPr id="28" name="Text 26"/>
          <p:cNvSpPr/>
          <p:nvPr/>
        </p:nvSpPr>
        <p:spPr>
          <a:xfrm>
            <a:off x="4352544" y="3438144"/>
            <a:ext cx="4407408" cy="585216"/>
          </a:xfrm>
          <a:prstGeom prst="rect">
            <a:avLst/>
          </a:prstGeom>
          <a:noFill/>
          <a:ln/>
        </p:spPr>
        <p:txBody>
          <a:bodyPr wrap="square" rtlCol="0" anchor="ctr"/>
          <a:lstStyle/>
          <a:p>
            <a:pPr marL="0" indent="0">
              <a:buNone/>
            </a:pPr>
            <a:r>
              <a:rPr lang="en-US" sz="1050" b="1" dirty="0">
                <a:solidFill>
                  <a:srgbClr val="C0392B"/>
                </a:solidFill>
                <a:latin typeface="Calibri" pitchFamily="34" charset="0"/>
                <a:ea typeface="Calibri" pitchFamily="34" charset="-122"/>
                <a:cs typeface="Calibri" pitchFamily="34" charset="-120"/>
              </a:rPr>
              <a:t>Real failure: </a:t>
            </a:r>
            <a:r>
              <a:rPr lang="en-US" sz="1050" dirty="0">
                <a:solidFill>
                  <a:srgbClr val="7B1A1A"/>
                </a:solidFill>
                <a:latin typeface="Calibri" pitchFamily="34" charset="0"/>
                <a:ea typeface="Calibri" pitchFamily="34" charset="-122"/>
                <a:cs typeface="Calibri" pitchFamily="34" charset="-120"/>
              </a:rPr>
              <a:t>PI emails a dataset with full participant names to a collaborator. Collaborator's email is compromised. 800 patients exposed.</a:t>
            </a:r>
            <a:endParaRPr lang="en-US" sz="1050" dirty="0"/>
          </a:p>
        </p:txBody>
      </p:sp>
      <p:sp>
        <p:nvSpPr>
          <p:cNvPr id="29" name="Shape 27"/>
          <p:cNvSpPr/>
          <p:nvPr/>
        </p:nvSpPr>
        <p:spPr>
          <a:xfrm>
            <a:off x="274320" y="4151376"/>
            <a:ext cx="8595360" cy="694944"/>
          </a:xfrm>
          <a:prstGeom prst="roundRect">
            <a:avLst>
              <a:gd name="adj" fmla="val 10526"/>
            </a:avLst>
          </a:prstGeom>
          <a:solidFill>
            <a:srgbClr val="FFFFFF"/>
          </a:solidFill>
          <a:ln w="12700">
            <a:solidFill>
              <a:srgbClr val="DDE6F0"/>
            </a:solidFill>
            <a:prstDash val="solid"/>
          </a:ln>
          <a:effectLst>
            <a:outerShdw blurRad="101600" dist="38100" dir="2700000" algn="bl" rotWithShape="0">
              <a:srgbClr val="000000">
                <a:alpha val="12000"/>
              </a:srgbClr>
            </a:outerShdw>
          </a:effectLst>
        </p:spPr>
        <p:txBody>
          <a:bodyPr/>
          <a:lstStyle/>
          <a:p>
            <a:endParaRPr lang="en-GB"/>
          </a:p>
        </p:txBody>
      </p:sp>
      <p:sp>
        <p:nvSpPr>
          <p:cNvPr id="30" name="Shape 28"/>
          <p:cNvSpPr/>
          <p:nvPr/>
        </p:nvSpPr>
        <p:spPr>
          <a:xfrm>
            <a:off x="77628" y="4193904"/>
            <a:ext cx="1417320" cy="694944"/>
          </a:xfrm>
          <a:prstGeom prst="roundRect">
            <a:avLst>
              <a:gd name="adj" fmla="val 10526"/>
            </a:avLst>
          </a:prstGeom>
          <a:solidFill>
            <a:srgbClr val="6A1B9A"/>
          </a:solidFill>
          <a:ln w="12700">
            <a:solidFill>
              <a:srgbClr val="6A1B9A"/>
            </a:solidFill>
            <a:prstDash val="solid"/>
          </a:ln>
        </p:spPr>
        <p:txBody>
          <a:bodyPr/>
          <a:lstStyle/>
          <a:p>
            <a:pPr algn="ctr"/>
            <a:endParaRPr lang="en-GB"/>
          </a:p>
        </p:txBody>
      </p:sp>
      <p:sp>
        <p:nvSpPr>
          <p:cNvPr id="31" name="Text 29"/>
          <p:cNvSpPr/>
          <p:nvPr/>
        </p:nvSpPr>
        <p:spPr>
          <a:xfrm>
            <a:off x="274320" y="4151376"/>
            <a:ext cx="1417320" cy="694944"/>
          </a:xfrm>
          <a:prstGeom prst="rect">
            <a:avLst/>
          </a:prstGeom>
          <a:noFill/>
          <a:ln/>
        </p:spPr>
        <p:txBody>
          <a:bodyPr wrap="square"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Justice</a:t>
            </a:r>
            <a:endParaRPr lang="en-US" sz="1100" dirty="0"/>
          </a:p>
        </p:txBody>
      </p:sp>
      <p:sp>
        <p:nvSpPr>
          <p:cNvPr id="32" name="Text 30"/>
          <p:cNvSpPr/>
          <p:nvPr/>
        </p:nvSpPr>
        <p:spPr>
          <a:xfrm>
            <a:off x="1572768" y="4206240"/>
            <a:ext cx="2651760" cy="585216"/>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Equity, FAIR Access &amp; Non-Discrimination — vulnerable groups deserve heightened protection; AI tools must work equally across all language groups.</a:t>
            </a:r>
            <a:endParaRPr lang="en-US" sz="1050" dirty="0"/>
          </a:p>
        </p:txBody>
      </p:sp>
      <p:sp>
        <p:nvSpPr>
          <p:cNvPr id="33" name="Shape 31"/>
          <p:cNvSpPr/>
          <p:nvPr/>
        </p:nvSpPr>
        <p:spPr>
          <a:xfrm>
            <a:off x="4279392" y="4224528"/>
            <a:ext cx="13716" cy="548640"/>
          </a:xfrm>
          <a:prstGeom prst="rect">
            <a:avLst/>
          </a:prstGeom>
          <a:solidFill>
            <a:srgbClr val="DDE6F0"/>
          </a:solidFill>
          <a:ln w="12700">
            <a:solidFill>
              <a:srgbClr val="DDE6F0"/>
            </a:solidFill>
            <a:prstDash val="solid"/>
          </a:ln>
        </p:spPr>
        <p:txBody>
          <a:bodyPr/>
          <a:lstStyle/>
          <a:p>
            <a:endParaRPr lang="en-GB"/>
          </a:p>
        </p:txBody>
      </p:sp>
      <p:sp>
        <p:nvSpPr>
          <p:cNvPr id="34" name="Text 32"/>
          <p:cNvSpPr/>
          <p:nvPr/>
        </p:nvSpPr>
        <p:spPr>
          <a:xfrm>
            <a:off x="4352544" y="4206240"/>
            <a:ext cx="4407408" cy="585216"/>
          </a:xfrm>
          <a:prstGeom prst="rect">
            <a:avLst/>
          </a:prstGeom>
          <a:noFill/>
          <a:ln/>
        </p:spPr>
        <p:txBody>
          <a:bodyPr wrap="square" rtlCol="0" anchor="ctr"/>
          <a:lstStyle/>
          <a:p>
            <a:pPr marL="0" indent="0">
              <a:buNone/>
            </a:pPr>
            <a:r>
              <a:rPr lang="en-US" sz="1050" b="1" dirty="0">
                <a:solidFill>
                  <a:srgbClr val="C0392B"/>
                </a:solidFill>
                <a:latin typeface="Calibri" pitchFamily="34" charset="0"/>
                <a:ea typeface="Calibri" pitchFamily="34" charset="-122"/>
                <a:cs typeface="Calibri" pitchFamily="34" charset="-120"/>
              </a:rPr>
              <a:t>Real failure: </a:t>
            </a:r>
            <a:r>
              <a:rPr lang="en-US" sz="1050" dirty="0">
                <a:solidFill>
                  <a:srgbClr val="7B1A1A"/>
                </a:solidFill>
                <a:latin typeface="Calibri" pitchFamily="34" charset="0"/>
                <a:ea typeface="Calibri" pitchFamily="34" charset="-122"/>
                <a:cs typeface="Calibri" pitchFamily="34" charset="-120"/>
              </a:rPr>
              <a:t>AI de-identification tool performs poorly on Yoruba names — non-English participants are re-identifiable while English-named participants are protected.</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2E4A"/>
          </a:solidFill>
          <a:ln w="12700">
            <a:solidFill>
              <a:srgbClr val="1A2E4A"/>
            </a:solidFill>
            <a:prstDash val="solid"/>
          </a:ln>
        </p:spPr>
        <p:txBody>
          <a:bodyPr/>
          <a:lstStyle/>
          <a:p>
            <a:endParaRPr lang="en-GB"/>
          </a:p>
        </p:txBody>
      </p:sp>
      <p:sp>
        <p:nvSpPr>
          <p:cNvPr id="3" name="Text 1"/>
          <p:cNvSpPr/>
          <p:nvPr/>
        </p:nvSpPr>
        <p:spPr>
          <a:xfrm>
            <a:off x="365760" y="0"/>
            <a:ext cx="8412480" cy="685800"/>
          </a:xfrm>
          <a:prstGeom prst="rect">
            <a:avLst/>
          </a:prstGeom>
          <a:noFill/>
          <a:ln/>
        </p:spPr>
        <p:txBody>
          <a:bodyPr wrap="square"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Community, Cultural &amp; Equity Dimensions: African Bioethics Perspectives on Data Security</a:t>
            </a:r>
            <a:endParaRPr lang="en-US" sz="1900" dirty="0"/>
          </a:p>
        </p:txBody>
      </p:sp>
      <p:sp>
        <p:nvSpPr>
          <p:cNvPr id="4" name="Text 2"/>
          <p:cNvSpPr/>
          <p:nvPr/>
        </p:nvSpPr>
        <p:spPr>
          <a:xfrm>
            <a:off x="365760" y="749808"/>
            <a:ext cx="8412480" cy="320040"/>
          </a:xfrm>
          <a:prstGeom prst="rect">
            <a:avLst/>
          </a:prstGeom>
          <a:noFill/>
          <a:ln/>
        </p:spPr>
        <p:txBody>
          <a:bodyPr wrap="square" rtlCol="0" anchor="ctr"/>
          <a:lstStyle/>
          <a:p>
            <a:pPr marL="0" indent="0">
              <a:buNone/>
            </a:pPr>
            <a:r>
              <a:rPr lang="en-US" sz="1150" i="1" dirty="0">
                <a:solidFill>
                  <a:srgbClr val="1A2E4A"/>
                </a:solidFill>
                <a:latin typeface="Calibri" pitchFamily="34" charset="0"/>
                <a:ea typeface="Calibri" pitchFamily="34" charset="-122"/>
                <a:cs typeface="Calibri" pitchFamily="34" charset="-120"/>
              </a:rPr>
              <a:t>Western bioethics is largely individual-centred. African bioethics — grounded in Ubuntu philosophy and Omoluabi ethics — emphasises communal identity, collective harm, and relational dignity.</a:t>
            </a:r>
            <a:endParaRPr lang="en-US" sz="1150" dirty="0"/>
          </a:p>
        </p:txBody>
      </p:sp>
      <p:sp>
        <p:nvSpPr>
          <p:cNvPr id="5" name="Shape 3"/>
          <p:cNvSpPr/>
          <p:nvPr/>
        </p:nvSpPr>
        <p:spPr>
          <a:xfrm>
            <a:off x="274320" y="1143000"/>
            <a:ext cx="4160520" cy="3767328"/>
          </a:xfrm>
          <a:prstGeom prst="roundRect">
            <a:avLst>
              <a:gd name="adj" fmla="val 2427"/>
            </a:avLst>
          </a:prstGeom>
          <a:solidFill>
            <a:srgbClr val="FFFFFF"/>
          </a:solidFill>
          <a:ln w="12700">
            <a:solidFill>
              <a:srgbClr val="DDE6F0"/>
            </a:solidFill>
            <a:prstDash val="solid"/>
          </a:ln>
          <a:effectLst>
            <a:outerShdw blurRad="101600" dist="38100" dir="2700000" algn="bl" rotWithShape="0">
              <a:srgbClr val="000000">
                <a:alpha val="12000"/>
              </a:srgbClr>
            </a:outerShdw>
          </a:effectLst>
        </p:spPr>
        <p:txBody>
          <a:bodyPr/>
          <a:lstStyle/>
          <a:p>
            <a:endParaRPr lang="en-GB"/>
          </a:p>
        </p:txBody>
      </p:sp>
      <p:sp>
        <p:nvSpPr>
          <p:cNvPr id="6" name="Text 4"/>
          <p:cNvSpPr/>
          <p:nvPr/>
        </p:nvSpPr>
        <p:spPr>
          <a:xfrm>
            <a:off x="438912" y="1207008"/>
            <a:ext cx="3840480" cy="411480"/>
          </a:xfrm>
          <a:prstGeom prst="rect">
            <a:avLst/>
          </a:prstGeom>
          <a:noFill/>
          <a:ln/>
        </p:spPr>
        <p:txBody>
          <a:bodyPr wrap="square" rtlCol="0" anchor="ctr"/>
          <a:lstStyle/>
          <a:p>
            <a:pPr marL="0" indent="0">
              <a:buNone/>
            </a:pPr>
            <a:r>
              <a:rPr lang="en-US" sz="1300" b="1" dirty="0">
                <a:solidFill>
                  <a:srgbClr val="1A2E4A"/>
                </a:solidFill>
                <a:latin typeface="Cambria" pitchFamily="34" charset="0"/>
                <a:ea typeface="Cambria" pitchFamily="34" charset="-122"/>
                <a:cs typeface="Cambria" pitchFamily="34" charset="-120"/>
              </a:rPr>
              <a:t>Ubuntu &amp; Omoluabi Ethics: Community as Data Stakeholder</a:t>
            </a:r>
            <a:endParaRPr lang="en-US" sz="1300" dirty="0"/>
          </a:p>
        </p:txBody>
      </p:sp>
      <p:sp>
        <p:nvSpPr>
          <p:cNvPr id="7" name="Text 5"/>
          <p:cNvSpPr/>
          <p:nvPr/>
        </p:nvSpPr>
        <p:spPr>
          <a:xfrm>
            <a:off x="438912" y="1664208"/>
            <a:ext cx="3840480" cy="256032"/>
          </a:xfrm>
          <a:prstGeom prst="rect">
            <a:avLst/>
          </a:prstGeom>
          <a:noFill/>
          <a:ln/>
        </p:spPr>
        <p:txBody>
          <a:bodyPr wrap="square" rtlCol="0" anchor="ctr"/>
          <a:lstStyle/>
          <a:p>
            <a:pPr marL="0" indent="0">
              <a:buNone/>
            </a:pPr>
            <a:r>
              <a:rPr lang="en-US" sz="1150" b="1" dirty="0">
                <a:solidFill>
                  <a:srgbClr val="1A2E4A"/>
                </a:solidFill>
                <a:latin typeface="Cambria" pitchFamily="34" charset="0"/>
                <a:ea typeface="Cambria" pitchFamily="34" charset="-122"/>
                <a:cs typeface="Cambria" pitchFamily="34" charset="-120"/>
              </a:rPr>
              <a:t>Ubuntu: 'I am because we are'</a:t>
            </a:r>
            <a:endParaRPr lang="en-US" sz="1150" dirty="0"/>
          </a:p>
        </p:txBody>
      </p:sp>
      <p:sp>
        <p:nvSpPr>
          <p:cNvPr id="8" name="Text 6"/>
          <p:cNvSpPr/>
          <p:nvPr/>
        </p:nvSpPr>
        <p:spPr>
          <a:xfrm>
            <a:off x="438912" y="1920240"/>
            <a:ext cx="3840480" cy="457200"/>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Data breaches do not only harm individuals — they harm families, communities, and lineages. A genomic data breach may stigmatise an entire family or ethnic group, not just the participant who consented.</a:t>
            </a:r>
            <a:endParaRPr lang="en-US" sz="1050" dirty="0"/>
          </a:p>
        </p:txBody>
      </p:sp>
      <p:sp>
        <p:nvSpPr>
          <p:cNvPr id="9" name="Text 7"/>
          <p:cNvSpPr/>
          <p:nvPr/>
        </p:nvSpPr>
        <p:spPr>
          <a:xfrm>
            <a:off x="438912" y="2441448"/>
            <a:ext cx="3840480" cy="256032"/>
          </a:xfrm>
          <a:prstGeom prst="rect">
            <a:avLst/>
          </a:prstGeom>
          <a:noFill/>
          <a:ln/>
        </p:spPr>
        <p:txBody>
          <a:bodyPr wrap="square" rtlCol="0" anchor="ctr"/>
          <a:lstStyle/>
          <a:p>
            <a:pPr marL="0" indent="0">
              <a:buNone/>
            </a:pPr>
            <a:r>
              <a:rPr lang="en-US" sz="1150" b="1" dirty="0">
                <a:solidFill>
                  <a:srgbClr val="1A2E4A"/>
                </a:solidFill>
                <a:latin typeface="Cambria" pitchFamily="34" charset="0"/>
                <a:ea typeface="Cambria" pitchFamily="34" charset="-122"/>
                <a:cs typeface="Cambria" pitchFamily="34" charset="-120"/>
              </a:rPr>
              <a:t>Omoluabi Ethics (Yoruba)</a:t>
            </a:r>
            <a:endParaRPr lang="en-US" sz="1150" dirty="0"/>
          </a:p>
        </p:txBody>
      </p:sp>
      <p:sp>
        <p:nvSpPr>
          <p:cNvPr id="10" name="Text 8"/>
          <p:cNvSpPr/>
          <p:nvPr/>
        </p:nvSpPr>
        <p:spPr>
          <a:xfrm>
            <a:off x="438912" y="2697480"/>
            <a:ext cx="3840480" cy="457200"/>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Character-based ethics demands that researchers act with ìwàpèlé (good character) and ojú inú (inner vision). A researcher who shares data carelessly lacks the moral character expected of a scholar.</a:t>
            </a:r>
            <a:endParaRPr lang="en-US" sz="1050" dirty="0"/>
          </a:p>
        </p:txBody>
      </p:sp>
      <p:sp>
        <p:nvSpPr>
          <p:cNvPr id="11" name="Text 9"/>
          <p:cNvSpPr/>
          <p:nvPr/>
        </p:nvSpPr>
        <p:spPr>
          <a:xfrm>
            <a:off x="438912" y="3218688"/>
            <a:ext cx="3840480" cy="256032"/>
          </a:xfrm>
          <a:prstGeom prst="rect">
            <a:avLst/>
          </a:prstGeom>
          <a:noFill/>
          <a:ln/>
        </p:spPr>
        <p:txBody>
          <a:bodyPr wrap="square" rtlCol="0" anchor="ctr"/>
          <a:lstStyle/>
          <a:p>
            <a:pPr marL="0" indent="0">
              <a:buNone/>
            </a:pPr>
            <a:r>
              <a:rPr lang="en-US" sz="1150" b="1" dirty="0">
                <a:solidFill>
                  <a:srgbClr val="1A2E4A"/>
                </a:solidFill>
                <a:latin typeface="Cambria" pitchFamily="34" charset="0"/>
                <a:ea typeface="Cambria" pitchFamily="34" charset="-122"/>
                <a:cs typeface="Cambria" pitchFamily="34" charset="-120"/>
              </a:rPr>
              <a:t>Community Consent</a:t>
            </a:r>
            <a:endParaRPr lang="en-US" sz="1150" dirty="0"/>
          </a:p>
        </p:txBody>
      </p:sp>
      <p:sp>
        <p:nvSpPr>
          <p:cNvPr id="12" name="Text 10"/>
          <p:cNvSpPr/>
          <p:nvPr/>
        </p:nvSpPr>
        <p:spPr>
          <a:xfrm>
            <a:off x="438912" y="3474720"/>
            <a:ext cx="3840480" cy="457200"/>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In many Nigerian communities, research affecting a group — genomics, village health studies, ethnic health patterns — requires community-level consent and engagement, not only individual consent.</a:t>
            </a:r>
            <a:endParaRPr lang="en-US" sz="1050" dirty="0"/>
          </a:p>
        </p:txBody>
      </p:sp>
      <p:sp>
        <p:nvSpPr>
          <p:cNvPr id="13" name="Text 11"/>
          <p:cNvSpPr/>
          <p:nvPr/>
        </p:nvSpPr>
        <p:spPr>
          <a:xfrm>
            <a:off x="438912" y="3995928"/>
            <a:ext cx="3840480" cy="256032"/>
          </a:xfrm>
          <a:prstGeom prst="rect">
            <a:avLst/>
          </a:prstGeom>
          <a:noFill/>
          <a:ln/>
        </p:spPr>
        <p:txBody>
          <a:bodyPr wrap="square" rtlCol="0" anchor="ctr"/>
          <a:lstStyle/>
          <a:p>
            <a:pPr marL="0" indent="0">
              <a:buNone/>
            </a:pPr>
            <a:r>
              <a:rPr lang="en-US" sz="1150" b="1" dirty="0">
                <a:solidFill>
                  <a:srgbClr val="1A2E4A"/>
                </a:solidFill>
                <a:latin typeface="Cambria" pitchFamily="34" charset="0"/>
                <a:ea typeface="Cambria" pitchFamily="34" charset="-122"/>
                <a:cs typeface="Cambria" pitchFamily="34" charset="-120"/>
              </a:rPr>
              <a:t>Collective Stigmatisation Risk</a:t>
            </a:r>
            <a:endParaRPr lang="en-US" sz="1150" dirty="0"/>
          </a:p>
        </p:txBody>
      </p:sp>
      <p:sp>
        <p:nvSpPr>
          <p:cNvPr id="14" name="Text 12"/>
          <p:cNvSpPr/>
          <p:nvPr/>
        </p:nvSpPr>
        <p:spPr>
          <a:xfrm>
            <a:off x="438912" y="4251960"/>
            <a:ext cx="3840480" cy="457200"/>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A dataset linking a specific ethnic group to disease risk, if breached or misused, can stigmatise an entire community. Group privacy is a bioethics concern in Africa in a way rarely recognised in Western frameworks.</a:t>
            </a:r>
            <a:endParaRPr lang="en-US" sz="1050" dirty="0"/>
          </a:p>
        </p:txBody>
      </p:sp>
      <p:sp>
        <p:nvSpPr>
          <p:cNvPr id="15" name="Shape 13"/>
          <p:cNvSpPr/>
          <p:nvPr/>
        </p:nvSpPr>
        <p:spPr>
          <a:xfrm>
            <a:off x="4709160" y="1143000"/>
            <a:ext cx="4160520" cy="3767328"/>
          </a:xfrm>
          <a:prstGeom prst="roundRect">
            <a:avLst>
              <a:gd name="adj" fmla="val 2427"/>
            </a:avLst>
          </a:prstGeom>
          <a:solidFill>
            <a:srgbClr val="1A2E4A"/>
          </a:solidFill>
          <a:ln w="12700">
            <a:solidFill>
              <a:srgbClr val="0D7377"/>
            </a:solidFill>
            <a:prstDash val="solid"/>
          </a:ln>
          <a:effectLst>
            <a:outerShdw blurRad="101600" dist="38100" dir="2700000" algn="bl" rotWithShape="0">
              <a:srgbClr val="000000">
                <a:alpha val="12000"/>
              </a:srgbClr>
            </a:outerShdw>
          </a:effectLst>
        </p:spPr>
        <p:txBody>
          <a:bodyPr/>
          <a:lstStyle/>
          <a:p>
            <a:endParaRPr lang="en-GB"/>
          </a:p>
        </p:txBody>
      </p:sp>
      <p:sp>
        <p:nvSpPr>
          <p:cNvPr id="16" name="Text 14"/>
          <p:cNvSpPr/>
          <p:nvPr/>
        </p:nvSpPr>
        <p:spPr>
          <a:xfrm>
            <a:off x="4873752" y="1207008"/>
            <a:ext cx="3840480" cy="411480"/>
          </a:xfrm>
          <a:prstGeom prst="rect">
            <a:avLst/>
          </a:prstGeom>
          <a:noFill/>
          <a:ln/>
        </p:spPr>
        <p:txBody>
          <a:bodyPr wrap="square" rtlCol="0" anchor="ctr"/>
          <a:lstStyle/>
          <a:p>
            <a:pPr marL="0" indent="0">
              <a:buNone/>
            </a:pPr>
            <a:r>
              <a:rPr lang="en-US" sz="1300" b="1" dirty="0">
                <a:solidFill>
                  <a:srgbClr val="14ABAB"/>
                </a:solidFill>
                <a:latin typeface="Cambria" pitchFamily="34" charset="0"/>
                <a:ea typeface="Cambria" pitchFamily="34" charset="-122"/>
                <a:cs typeface="Cambria" pitchFamily="34" charset="-120"/>
              </a:rPr>
              <a:t>Equity, Digital Divide &amp; Algorithmic Justice</a:t>
            </a:r>
            <a:endParaRPr lang="en-US" sz="1300" dirty="0"/>
          </a:p>
        </p:txBody>
      </p:sp>
      <p:sp>
        <p:nvSpPr>
          <p:cNvPr id="17" name="Text 15"/>
          <p:cNvSpPr/>
          <p:nvPr/>
        </p:nvSpPr>
        <p:spPr>
          <a:xfrm>
            <a:off x="4873752" y="1611048"/>
            <a:ext cx="3840480" cy="256032"/>
          </a:xfrm>
          <a:prstGeom prst="rect">
            <a:avLst/>
          </a:prstGeom>
          <a:noFill/>
          <a:ln/>
        </p:spPr>
        <p:txBody>
          <a:bodyPr wrap="square" rtlCol="0" anchor="ctr"/>
          <a:lstStyle/>
          <a:p>
            <a:pPr marL="0" indent="0">
              <a:buNone/>
            </a:pPr>
            <a:r>
              <a:rPr lang="en-US" sz="1150" b="1" dirty="0">
                <a:solidFill>
                  <a:srgbClr val="E8A020"/>
                </a:solidFill>
                <a:latin typeface="Cambria" pitchFamily="34" charset="0"/>
                <a:ea typeface="Cambria" pitchFamily="34" charset="-122"/>
                <a:cs typeface="Cambria" pitchFamily="34" charset="-120"/>
              </a:rPr>
              <a:t>Digital Divide</a:t>
            </a:r>
            <a:endParaRPr lang="en-US" sz="1150" dirty="0"/>
          </a:p>
        </p:txBody>
      </p:sp>
      <p:sp>
        <p:nvSpPr>
          <p:cNvPr id="18" name="Text 16"/>
          <p:cNvSpPr/>
          <p:nvPr/>
        </p:nvSpPr>
        <p:spPr>
          <a:xfrm>
            <a:off x="4873752" y="1920240"/>
            <a:ext cx="3840480" cy="457200"/>
          </a:xfrm>
          <a:prstGeom prst="rect">
            <a:avLst/>
          </a:prstGeom>
          <a:noFill/>
          <a:ln/>
        </p:spPr>
        <p:txBody>
          <a:bodyPr wrap="square" rtlCol="0" anchor="ctr"/>
          <a:lstStyle/>
          <a:p>
            <a:pPr marL="0" indent="0">
              <a:buNone/>
            </a:pPr>
            <a:r>
              <a:rPr lang="en-US" sz="1050" dirty="0">
                <a:solidFill>
                  <a:srgbClr val="DDEEFF"/>
                </a:solidFill>
                <a:latin typeface="Calibri" pitchFamily="34" charset="0"/>
                <a:ea typeface="Calibri" pitchFamily="34" charset="-122"/>
                <a:cs typeface="Calibri" pitchFamily="34" charset="-120"/>
              </a:rPr>
              <a:t>40% of Nigerians lack reliable internet access. Secure research tools (REDCap, encrypted KoboToolbox) may be inaccessible in rural settings, creating a two-tier system where rural participants receive less data protection than urban ones.</a:t>
            </a:r>
            <a:endParaRPr lang="en-US" sz="1050" dirty="0"/>
          </a:p>
        </p:txBody>
      </p:sp>
      <p:sp>
        <p:nvSpPr>
          <p:cNvPr id="19" name="Text 17"/>
          <p:cNvSpPr/>
          <p:nvPr/>
        </p:nvSpPr>
        <p:spPr>
          <a:xfrm>
            <a:off x="4873752" y="2441448"/>
            <a:ext cx="3840480" cy="256032"/>
          </a:xfrm>
          <a:prstGeom prst="rect">
            <a:avLst/>
          </a:prstGeom>
          <a:noFill/>
          <a:ln/>
        </p:spPr>
        <p:txBody>
          <a:bodyPr wrap="square" rtlCol="0" anchor="ctr"/>
          <a:lstStyle/>
          <a:p>
            <a:pPr marL="0" indent="0">
              <a:buNone/>
            </a:pPr>
            <a:r>
              <a:rPr lang="en-US" sz="1150" b="1" dirty="0">
                <a:solidFill>
                  <a:srgbClr val="E8A020"/>
                </a:solidFill>
                <a:latin typeface="Cambria" pitchFamily="34" charset="0"/>
                <a:ea typeface="Cambria" pitchFamily="34" charset="-122"/>
                <a:cs typeface="Cambria" pitchFamily="34" charset="-120"/>
              </a:rPr>
              <a:t>Algorithmic Discrimination</a:t>
            </a:r>
            <a:endParaRPr lang="en-US" sz="1150" dirty="0"/>
          </a:p>
        </p:txBody>
      </p:sp>
      <p:sp>
        <p:nvSpPr>
          <p:cNvPr id="20" name="Text 18"/>
          <p:cNvSpPr/>
          <p:nvPr/>
        </p:nvSpPr>
        <p:spPr>
          <a:xfrm>
            <a:off x="4873752" y="2697480"/>
            <a:ext cx="3840480" cy="457200"/>
          </a:xfrm>
          <a:prstGeom prst="rect">
            <a:avLst/>
          </a:prstGeom>
          <a:noFill/>
          <a:ln/>
        </p:spPr>
        <p:txBody>
          <a:bodyPr wrap="square" rtlCol="0" anchor="ctr"/>
          <a:lstStyle/>
          <a:p>
            <a:pPr marL="0" indent="0">
              <a:buNone/>
            </a:pPr>
            <a:r>
              <a:rPr lang="en-US" sz="1050" dirty="0">
                <a:solidFill>
                  <a:srgbClr val="DDEEFF"/>
                </a:solidFill>
                <a:latin typeface="Calibri" pitchFamily="34" charset="0"/>
                <a:ea typeface="Calibri" pitchFamily="34" charset="-122"/>
                <a:cs typeface="Calibri" pitchFamily="34" charset="-120"/>
              </a:rPr>
              <a:t>AI de-identification tools trained on Western datasets perform poorly on African names, dialects, and address formats — leaving non-English-language participants systematically more re-identifiable than others.</a:t>
            </a:r>
            <a:endParaRPr lang="en-US" sz="1050" dirty="0"/>
          </a:p>
        </p:txBody>
      </p:sp>
      <p:sp>
        <p:nvSpPr>
          <p:cNvPr id="21" name="Text 19"/>
          <p:cNvSpPr/>
          <p:nvPr/>
        </p:nvSpPr>
        <p:spPr>
          <a:xfrm>
            <a:off x="4873752" y="3218688"/>
            <a:ext cx="3840480" cy="256032"/>
          </a:xfrm>
          <a:prstGeom prst="rect">
            <a:avLst/>
          </a:prstGeom>
          <a:noFill/>
          <a:ln/>
        </p:spPr>
        <p:txBody>
          <a:bodyPr wrap="square" rtlCol="0" anchor="ctr"/>
          <a:lstStyle/>
          <a:p>
            <a:pPr marL="0" indent="0">
              <a:buNone/>
            </a:pPr>
            <a:r>
              <a:rPr lang="en-US" sz="1150" b="1" dirty="0">
                <a:solidFill>
                  <a:srgbClr val="E8A020"/>
                </a:solidFill>
                <a:latin typeface="Cambria" pitchFamily="34" charset="0"/>
                <a:ea typeface="Cambria" pitchFamily="34" charset="-122"/>
                <a:cs typeface="Cambria" pitchFamily="34" charset="-120"/>
              </a:rPr>
              <a:t>Marginalised Communities</a:t>
            </a:r>
            <a:endParaRPr lang="en-US" sz="1150" dirty="0"/>
          </a:p>
        </p:txBody>
      </p:sp>
      <p:sp>
        <p:nvSpPr>
          <p:cNvPr id="22" name="Text 20"/>
          <p:cNvSpPr/>
          <p:nvPr/>
        </p:nvSpPr>
        <p:spPr>
          <a:xfrm>
            <a:off x="4873752" y="3474720"/>
            <a:ext cx="3840480" cy="457200"/>
          </a:xfrm>
          <a:prstGeom prst="rect">
            <a:avLst/>
          </a:prstGeom>
          <a:noFill/>
          <a:ln/>
        </p:spPr>
        <p:txBody>
          <a:bodyPr wrap="square" rtlCol="0" anchor="ctr"/>
          <a:lstStyle/>
          <a:p>
            <a:pPr marL="0" indent="0">
              <a:buNone/>
            </a:pPr>
            <a:r>
              <a:rPr lang="en-US" sz="1050" dirty="0">
                <a:solidFill>
                  <a:srgbClr val="DDEEFF"/>
                </a:solidFill>
                <a:latin typeface="Calibri" pitchFamily="34" charset="0"/>
                <a:ea typeface="Calibri" pitchFamily="34" charset="-122"/>
                <a:cs typeface="Calibri" pitchFamily="34" charset="-120"/>
              </a:rPr>
              <a:t>Internally displaced persons, sex workers, persons with HIV, and prisoners in Nigerian research contexts face compounded vulnerability. Their data requires heightened protection under both NDPA and NHREC guidelines.</a:t>
            </a:r>
            <a:endParaRPr lang="en-US" sz="1050" dirty="0"/>
          </a:p>
        </p:txBody>
      </p:sp>
      <p:sp>
        <p:nvSpPr>
          <p:cNvPr id="23" name="Text 21"/>
          <p:cNvSpPr/>
          <p:nvPr/>
        </p:nvSpPr>
        <p:spPr>
          <a:xfrm>
            <a:off x="4873752" y="3995928"/>
            <a:ext cx="3840480" cy="256032"/>
          </a:xfrm>
          <a:prstGeom prst="rect">
            <a:avLst/>
          </a:prstGeom>
          <a:noFill/>
          <a:ln/>
        </p:spPr>
        <p:txBody>
          <a:bodyPr wrap="square" rtlCol="0" anchor="ctr"/>
          <a:lstStyle/>
          <a:p>
            <a:pPr marL="0" indent="0">
              <a:buNone/>
            </a:pPr>
            <a:r>
              <a:rPr lang="en-US" sz="1150" b="1" dirty="0">
                <a:solidFill>
                  <a:srgbClr val="E8A020"/>
                </a:solidFill>
                <a:latin typeface="Cambria" pitchFamily="34" charset="0"/>
                <a:ea typeface="Cambria" pitchFamily="34" charset="-122"/>
                <a:cs typeface="Cambria" pitchFamily="34" charset="-120"/>
              </a:rPr>
              <a:t>Underrepresented Populations in AI Training</a:t>
            </a:r>
            <a:endParaRPr lang="en-US" sz="1150" dirty="0"/>
          </a:p>
        </p:txBody>
      </p:sp>
      <p:sp>
        <p:nvSpPr>
          <p:cNvPr id="24" name="Text 22"/>
          <p:cNvSpPr/>
          <p:nvPr/>
        </p:nvSpPr>
        <p:spPr>
          <a:xfrm>
            <a:off x="4873752" y="4251960"/>
            <a:ext cx="3840480" cy="457200"/>
          </a:xfrm>
          <a:prstGeom prst="rect">
            <a:avLst/>
          </a:prstGeom>
          <a:noFill/>
          <a:ln/>
        </p:spPr>
        <p:txBody>
          <a:bodyPr wrap="square" rtlCol="0" anchor="ctr"/>
          <a:lstStyle/>
          <a:p>
            <a:pPr marL="0" indent="0">
              <a:buNone/>
            </a:pPr>
            <a:r>
              <a:rPr lang="en-US" sz="1050" dirty="0">
                <a:solidFill>
                  <a:srgbClr val="DDEEFF"/>
                </a:solidFill>
                <a:latin typeface="Calibri" pitchFamily="34" charset="0"/>
                <a:ea typeface="Calibri" pitchFamily="34" charset="-122"/>
                <a:cs typeface="Calibri" pitchFamily="34" charset="-120"/>
              </a:rPr>
              <a:t>AI tools used in research governance (screening tools, anomaly detection) reflect the biases of their training data. If Nigerian and African populations are underrepresented, these tools may systematically disadvantage African researchers and participants.</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7377"/>
          </a:solidFill>
          <a:ln w="12700">
            <a:solidFill>
              <a:srgbClr val="0D7377"/>
            </a:solidFill>
            <a:prstDash val="solid"/>
          </a:ln>
        </p:spPr>
        <p:txBody>
          <a:bodyPr/>
          <a:lstStyle/>
          <a:p>
            <a:endParaRPr lang="en-GB"/>
          </a:p>
        </p:txBody>
      </p:sp>
      <p:sp>
        <p:nvSpPr>
          <p:cNvPr id="3" name="Text 1"/>
          <p:cNvSpPr/>
          <p:nvPr/>
        </p:nvSpPr>
        <p:spPr>
          <a:xfrm>
            <a:off x="365760" y="0"/>
            <a:ext cx="8412480" cy="685800"/>
          </a:xfrm>
          <a:prstGeom prst="rect">
            <a:avLst/>
          </a:prstGeom>
          <a:noFill/>
          <a:ln/>
        </p:spPr>
        <p:txBody>
          <a:bodyPr wrap="square"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Ethical Governance of AI in Research Oversight: Questions RECs Must Now Answer</a:t>
            </a:r>
            <a:endParaRPr lang="en-US" sz="2000" dirty="0"/>
          </a:p>
        </p:txBody>
      </p:sp>
      <p:sp>
        <p:nvSpPr>
          <p:cNvPr id="4" name="Text 2"/>
          <p:cNvSpPr/>
          <p:nvPr/>
        </p:nvSpPr>
        <p:spPr>
          <a:xfrm>
            <a:off x="365760" y="749808"/>
            <a:ext cx="8412480" cy="274320"/>
          </a:xfrm>
          <a:prstGeom prst="rect">
            <a:avLst/>
          </a:prstGeom>
          <a:noFill/>
          <a:ln/>
        </p:spPr>
        <p:txBody>
          <a:bodyPr wrap="square" rtlCol="0" anchor="ctr"/>
          <a:lstStyle/>
          <a:p>
            <a:pPr marL="0" indent="0">
              <a:buNone/>
            </a:pPr>
            <a:r>
              <a:rPr lang="en-US" sz="1150" i="1" dirty="0">
                <a:solidFill>
                  <a:srgbClr val="1A2E4A"/>
                </a:solidFill>
                <a:latin typeface="Calibri" pitchFamily="34" charset="0"/>
                <a:ea typeface="Calibri" pitchFamily="34" charset="-122"/>
                <a:cs typeface="Calibri" pitchFamily="34" charset="-120"/>
              </a:rPr>
              <a:t>AI is entering research oversight itself — not just research processes. RECs, IRBs, and ethics boards must now govern AI, not merely use it.</a:t>
            </a:r>
            <a:endParaRPr lang="en-US" sz="1150" dirty="0"/>
          </a:p>
        </p:txBody>
      </p:sp>
      <p:sp>
        <p:nvSpPr>
          <p:cNvPr id="5" name="Shape 3"/>
          <p:cNvSpPr/>
          <p:nvPr/>
        </p:nvSpPr>
        <p:spPr>
          <a:xfrm>
            <a:off x="274320" y="1097280"/>
            <a:ext cx="4160520" cy="1783080"/>
          </a:xfrm>
          <a:prstGeom prst="roundRect">
            <a:avLst>
              <a:gd name="adj" fmla="val 5128"/>
            </a:avLst>
          </a:prstGeom>
          <a:solidFill>
            <a:srgbClr val="FFFFFF"/>
          </a:solidFill>
          <a:ln w="12700">
            <a:solidFill>
              <a:srgbClr val="DDE6F0"/>
            </a:solidFill>
            <a:prstDash val="solid"/>
          </a:ln>
          <a:effectLst>
            <a:outerShdw blurRad="101600" dist="38100" dir="2700000" algn="bl" rotWithShape="0">
              <a:srgbClr val="000000">
                <a:alpha val="12000"/>
              </a:srgbClr>
            </a:outerShdw>
          </a:effectLst>
        </p:spPr>
        <p:txBody>
          <a:bodyPr/>
          <a:lstStyle/>
          <a:p>
            <a:endParaRPr lang="en-GB"/>
          </a:p>
        </p:txBody>
      </p:sp>
      <p:sp>
        <p:nvSpPr>
          <p:cNvPr id="6" name="Shape 4"/>
          <p:cNvSpPr/>
          <p:nvPr/>
        </p:nvSpPr>
        <p:spPr>
          <a:xfrm>
            <a:off x="365760" y="1170432"/>
            <a:ext cx="3950208" cy="320040"/>
          </a:xfrm>
          <a:prstGeom prst="roundRect">
            <a:avLst>
              <a:gd name="adj" fmla="val 14286"/>
            </a:avLst>
          </a:prstGeom>
          <a:solidFill>
            <a:srgbClr val="0D7377"/>
          </a:solidFill>
          <a:ln w="12700">
            <a:solidFill>
              <a:srgbClr val="0D7377"/>
            </a:solidFill>
            <a:prstDash val="solid"/>
          </a:ln>
        </p:spPr>
        <p:txBody>
          <a:bodyPr/>
          <a:lstStyle/>
          <a:p>
            <a:endParaRPr lang="en-GB"/>
          </a:p>
        </p:txBody>
      </p:sp>
      <p:sp>
        <p:nvSpPr>
          <p:cNvPr id="7" name="Text 5"/>
          <p:cNvSpPr/>
          <p:nvPr/>
        </p:nvSpPr>
        <p:spPr>
          <a:xfrm>
            <a:off x="365760" y="1170432"/>
            <a:ext cx="3950208" cy="320040"/>
          </a:xfrm>
          <a:prstGeom prst="rect">
            <a:avLst/>
          </a:prstGeom>
          <a:noFill/>
          <a:ln/>
        </p:spPr>
        <p:txBody>
          <a:bodyPr wrap="square"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  Who is accountable when AI makes an error in research screening?</a:t>
            </a:r>
            <a:endParaRPr lang="en-US" sz="1050" dirty="0"/>
          </a:p>
        </p:txBody>
      </p:sp>
      <p:sp>
        <p:nvSpPr>
          <p:cNvPr id="8" name="Text 6"/>
          <p:cNvSpPr/>
          <p:nvPr/>
        </p:nvSpPr>
        <p:spPr>
          <a:xfrm>
            <a:off x="384048" y="1554480"/>
            <a:ext cx="3913632" cy="475488"/>
          </a:xfrm>
          <a:prstGeom prst="rect">
            <a:avLst/>
          </a:prstGeom>
          <a:noFill/>
          <a:ln/>
        </p:spPr>
        <p:txBody>
          <a:bodyPr wrap="square" rtlCol="0" anchor="ctr"/>
          <a:lstStyle/>
          <a:p>
            <a:pPr marL="0" indent="0">
              <a:buNone/>
            </a:pPr>
            <a:r>
              <a:rPr lang="en-US" sz="1000" i="1" dirty="0">
                <a:solidFill>
                  <a:srgbClr val="555555"/>
                </a:solidFill>
                <a:latin typeface="Calibri" pitchFamily="34" charset="0"/>
                <a:ea typeface="Calibri" pitchFamily="34" charset="-122"/>
                <a:cs typeface="Calibri" pitchFamily="34" charset="-120"/>
              </a:rPr>
              <a:t>If an AI protocol-screening tool incorrectly flags a valid protocol as non-compliant — or worse, approves an unethical one — who bears responsibility? The vendor? The REC chair? The PI?</a:t>
            </a:r>
            <a:endParaRPr lang="en-US" sz="1000" dirty="0"/>
          </a:p>
        </p:txBody>
      </p:sp>
      <p:sp>
        <p:nvSpPr>
          <p:cNvPr id="9" name="Shape 7"/>
          <p:cNvSpPr/>
          <p:nvPr/>
        </p:nvSpPr>
        <p:spPr>
          <a:xfrm>
            <a:off x="384048" y="2066544"/>
            <a:ext cx="3913632" cy="13716"/>
          </a:xfrm>
          <a:prstGeom prst="rect">
            <a:avLst/>
          </a:prstGeom>
          <a:solidFill>
            <a:srgbClr val="E0EAF4"/>
          </a:solidFill>
          <a:ln w="12700">
            <a:solidFill>
              <a:srgbClr val="E0EAF4"/>
            </a:solidFill>
            <a:prstDash val="solid"/>
          </a:ln>
        </p:spPr>
        <p:txBody>
          <a:bodyPr/>
          <a:lstStyle/>
          <a:p>
            <a:endParaRPr lang="en-GB"/>
          </a:p>
        </p:txBody>
      </p:sp>
      <p:sp>
        <p:nvSpPr>
          <p:cNvPr id="10" name="Text 8"/>
          <p:cNvSpPr/>
          <p:nvPr/>
        </p:nvSpPr>
        <p:spPr>
          <a:xfrm>
            <a:off x="384048" y="2103120"/>
            <a:ext cx="3913632" cy="713232"/>
          </a:xfrm>
          <a:prstGeom prst="rect">
            <a:avLst/>
          </a:prstGeom>
          <a:noFill/>
          <a:ln/>
        </p:spPr>
        <p:txBody>
          <a:bodyPr wrap="square" rtlCol="0" anchor="ctr"/>
          <a:lstStyle/>
          <a:p>
            <a:pPr marL="0" indent="0">
              <a:buNone/>
            </a:pPr>
            <a:r>
              <a:rPr lang="en-US" sz="1000" b="1" dirty="0">
                <a:solidFill>
                  <a:srgbClr val="0D7377"/>
                </a:solidFill>
                <a:latin typeface="Calibri" pitchFamily="34" charset="0"/>
                <a:ea typeface="Calibri" pitchFamily="34" charset="-122"/>
                <a:cs typeface="Calibri" pitchFamily="34" charset="-120"/>
              </a:rPr>
              <a:t>BESON Position: </a:t>
            </a:r>
            <a:r>
              <a:rPr lang="en-US" sz="1000" dirty="0">
                <a:solidFill>
                  <a:srgbClr val="1A2E4A"/>
                </a:solidFill>
                <a:latin typeface="Calibri" pitchFamily="34" charset="0"/>
                <a:ea typeface="Calibri" pitchFamily="34" charset="-122"/>
                <a:cs typeface="Calibri" pitchFamily="34" charset="-120"/>
              </a:rPr>
              <a:t>Accountability must remain with the human REC. AI is a decision-support tool, not a decision-maker. The REC chair who relies solely on an AI output without human review is professionally liable under NDPA 2023.</a:t>
            </a:r>
            <a:endParaRPr lang="en-US" sz="1000" dirty="0"/>
          </a:p>
        </p:txBody>
      </p:sp>
      <p:sp>
        <p:nvSpPr>
          <p:cNvPr id="11" name="Shape 9"/>
          <p:cNvSpPr/>
          <p:nvPr/>
        </p:nvSpPr>
        <p:spPr>
          <a:xfrm>
            <a:off x="4709160" y="1097280"/>
            <a:ext cx="4160520" cy="1783080"/>
          </a:xfrm>
          <a:prstGeom prst="roundRect">
            <a:avLst>
              <a:gd name="adj" fmla="val 5128"/>
            </a:avLst>
          </a:prstGeom>
          <a:solidFill>
            <a:srgbClr val="FFFFFF"/>
          </a:solidFill>
          <a:ln w="12700">
            <a:solidFill>
              <a:srgbClr val="DDE6F0"/>
            </a:solidFill>
            <a:prstDash val="solid"/>
          </a:ln>
          <a:effectLst>
            <a:outerShdw blurRad="101600" dist="38100" dir="2700000" algn="bl" rotWithShape="0">
              <a:srgbClr val="000000">
                <a:alpha val="12000"/>
              </a:srgbClr>
            </a:outerShdw>
          </a:effectLst>
        </p:spPr>
        <p:txBody>
          <a:bodyPr/>
          <a:lstStyle/>
          <a:p>
            <a:endParaRPr lang="en-GB"/>
          </a:p>
        </p:txBody>
      </p:sp>
      <p:sp>
        <p:nvSpPr>
          <p:cNvPr id="12" name="Shape 10"/>
          <p:cNvSpPr/>
          <p:nvPr/>
        </p:nvSpPr>
        <p:spPr>
          <a:xfrm>
            <a:off x="4800600" y="1170432"/>
            <a:ext cx="3950208" cy="320040"/>
          </a:xfrm>
          <a:prstGeom prst="roundRect">
            <a:avLst>
              <a:gd name="adj" fmla="val 14286"/>
            </a:avLst>
          </a:prstGeom>
          <a:solidFill>
            <a:srgbClr val="1A2E4A"/>
          </a:solidFill>
          <a:ln w="12700">
            <a:solidFill>
              <a:srgbClr val="1A2E4A"/>
            </a:solidFill>
            <a:prstDash val="solid"/>
          </a:ln>
        </p:spPr>
        <p:txBody>
          <a:bodyPr/>
          <a:lstStyle/>
          <a:p>
            <a:endParaRPr lang="en-GB"/>
          </a:p>
        </p:txBody>
      </p:sp>
      <p:sp>
        <p:nvSpPr>
          <p:cNvPr id="13" name="Text 11"/>
          <p:cNvSpPr/>
          <p:nvPr/>
        </p:nvSpPr>
        <p:spPr>
          <a:xfrm>
            <a:off x="4800600" y="1170432"/>
            <a:ext cx="3950208" cy="320040"/>
          </a:xfrm>
          <a:prstGeom prst="rect">
            <a:avLst/>
          </a:prstGeom>
          <a:noFill/>
          <a:ln/>
        </p:spPr>
        <p:txBody>
          <a:bodyPr wrap="square"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  Can AI replace REC review?</a:t>
            </a:r>
            <a:endParaRPr lang="en-US" sz="1050" dirty="0"/>
          </a:p>
        </p:txBody>
      </p:sp>
      <p:sp>
        <p:nvSpPr>
          <p:cNvPr id="14" name="Text 12"/>
          <p:cNvSpPr/>
          <p:nvPr/>
        </p:nvSpPr>
        <p:spPr>
          <a:xfrm>
            <a:off x="4818888" y="1554480"/>
            <a:ext cx="3913632" cy="475488"/>
          </a:xfrm>
          <a:prstGeom prst="rect">
            <a:avLst/>
          </a:prstGeom>
          <a:noFill/>
          <a:ln/>
        </p:spPr>
        <p:txBody>
          <a:bodyPr wrap="square" rtlCol="0" anchor="ctr"/>
          <a:lstStyle/>
          <a:p>
            <a:pPr marL="0" indent="0">
              <a:buNone/>
            </a:pPr>
            <a:r>
              <a:rPr lang="en-US" sz="1000" i="1" dirty="0">
                <a:solidFill>
                  <a:srgbClr val="555555"/>
                </a:solidFill>
                <a:latin typeface="Calibri" pitchFamily="34" charset="0"/>
                <a:ea typeface="Calibri" pitchFamily="34" charset="-122"/>
                <a:cs typeface="Calibri" pitchFamily="34" charset="-120"/>
              </a:rPr>
              <a:t>Some institutions are piloting AI tools to automate initial protocol screening for expedited review. This raises serious concerns: AI cannot assess cultural context, community impact, or contextual justice.</a:t>
            </a:r>
            <a:endParaRPr lang="en-US" sz="1000" dirty="0"/>
          </a:p>
        </p:txBody>
      </p:sp>
      <p:sp>
        <p:nvSpPr>
          <p:cNvPr id="15" name="Shape 13"/>
          <p:cNvSpPr/>
          <p:nvPr/>
        </p:nvSpPr>
        <p:spPr>
          <a:xfrm>
            <a:off x="4818888" y="2066544"/>
            <a:ext cx="3913632" cy="13716"/>
          </a:xfrm>
          <a:prstGeom prst="rect">
            <a:avLst/>
          </a:prstGeom>
          <a:solidFill>
            <a:srgbClr val="E0EAF4"/>
          </a:solidFill>
          <a:ln w="12700">
            <a:solidFill>
              <a:srgbClr val="E0EAF4"/>
            </a:solidFill>
            <a:prstDash val="solid"/>
          </a:ln>
        </p:spPr>
        <p:txBody>
          <a:bodyPr/>
          <a:lstStyle/>
          <a:p>
            <a:endParaRPr lang="en-GB"/>
          </a:p>
        </p:txBody>
      </p:sp>
      <p:sp>
        <p:nvSpPr>
          <p:cNvPr id="16" name="Text 14"/>
          <p:cNvSpPr/>
          <p:nvPr/>
        </p:nvSpPr>
        <p:spPr>
          <a:xfrm>
            <a:off x="4818888" y="2103120"/>
            <a:ext cx="3913632" cy="713232"/>
          </a:xfrm>
          <a:prstGeom prst="rect">
            <a:avLst/>
          </a:prstGeom>
          <a:noFill/>
          <a:ln/>
        </p:spPr>
        <p:txBody>
          <a:bodyPr wrap="square" rtlCol="0" anchor="ctr"/>
          <a:lstStyle/>
          <a:p>
            <a:pPr marL="0" indent="0">
              <a:buNone/>
            </a:pPr>
            <a:r>
              <a:rPr lang="en-US" sz="1000" b="1" dirty="0">
                <a:solidFill>
                  <a:srgbClr val="1A2E4A"/>
                </a:solidFill>
                <a:latin typeface="Calibri" pitchFamily="34" charset="0"/>
                <a:ea typeface="Calibri" pitchFamily="34" charset="-122"/>
                <a:cs typeface="Calibri" pitchFamily="34" charset="-120"/>
              </a:rPr>
              <a:t>BESON Position: </a:t>
            </a:r>
            <a:r>
              <a:rPr lang="en-US" sz="1000" dirty="0">
                <a:solidFill>
                  <a:srgbClr val="1A2E4A"/>
                </a:solidFill>
                <a:latin typeface="Calibri" pitchFamily="34" charset="0"/>
                <a:ea typeface="Calibri" pitchFamily="34" charset="-122"/>
                <a:cs typeface="Calibri" pitchFamily="34" charset="-120"/>
              </a:rPr>
              <a:t>No. AI can assist (flag missing DMPs, check consent clause completeness, screen for PII in uploaded files), but final ethical judgment requires trained human oversight. BESON should formally state this position.</a:t>
            </a:r>
            <a:endParaRPr lang="en-US" sz="1000" dirty="0"/>
          </a:p>
        </p:txBody>
      </p:sp>
      <p:sp>
        <p:nvSpPr>
          <p:cNvPr id="17" name="Shape 15"/>
          <p:cNvSpPr/>
          <p:nvPr/>
        </p:nvSpPr>
        <p:spPr>
          <a:xfrm>
            <a:off x="274320" y="3017520"/>
            <a:ext cx="4160520" cy="1783080"/>
          </a:xfrm>
          <a:prstGeom prst="roundRect">
            <a:avLst>
              <a:gd name="adj" fmla="val 5128"/>
            </a:avLst>
          </a:prstGeom>
          <a:solidFill>
            <a:srgbClr val="FFFFFF"/>
          </a:solidFill>
          <a:ln w="12700">
            <a:solidFill>
              <a:srgbClr val="DDE6F0"/>
            </a:solidFill>
            <a:prstDash val="solid"/>
          </a:ln>
          <a:effectLst>
            <a:outerShdw blurRad="101600" dist="38100" dir="2700000" algn="bl" rotWithShape="0">
              <a:srgbClr val="000000">
                <a:alpha val="12000"/>
              </a:srgbClr>
            </a:outerShdw>
          </a:effectLst>
        </p:spPr>
        <p:txBody>
          <a:bodyPr/>
          <a:lstStyle/>
          <a:p>
            <a:endParaRPr lang="en-GB"/>
          </a:p>
        </p:txBody>
      </p:sp>
      <p:sp>
        <p:nvSpPr>
          <p:cNvPr id="18" name="Shape 16"/>
          <p:cNvSpPr/>
          <p:nvPr/>
        </p:nvSpPr>
        <p:spPr>
          <a:xfrm>
            <a:off x="365760" y="3090672"/>
            <a:ext cx="3950208" cy="320040"/>
          </a:xfrm>
          <a:prstGeom prst="roundRect">
            <a:avLst>
              <a:gd name="adj" fmla="val 14286"/>
            </a:avLst>
          </a:prstGeom>
          <a:solidFill>
            <a:srgbClr val="0D7377"/>
          </a:solidFill>
          <a:ln w="12700">
            <a:solidFill>
              <a:srgbClr val="0D7377"/>
            </a:solidFill>
            <a:prstDash val="solid"/>
          </a:ln>
        </p:spPr>
        <p:txBody>
          <a:bodyPr/>
          <a:lstStyle/>
          <a:p>
            <a:endParaRPr lang="en-GB"/>
          </a:p>
        </p:txBody>
      </p:sp>
      <p:sp>
        <p:nvSpPr>
          <p:cNvPr id="19" name="Text 17"/>
          <p:cNvSpPr/>
          <p:nvPr/>
        </p:nvSpPr>
        <p:spPr>
          <a:xfrm>
            <a:off x="365760" y="3090672"/>
            <a:ext cx="3950208" cy="320040"/>
          </a:xfrm>
          <a:prstGeom prst="rect">
            <a:avLst/>
          </a:prstGeom>
          <a:noFill/>
          <a:ln/>
        </p:spPr>
        <p:txBody>
          <a:bodyPr wrap="square"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  Should AI-generated ethics summaries or reviews be accepted?</a:t>
            </a:r>
            <a:endParaRPr lang="en-US" sz="1050" dirty="0"/>
          </a:p>
        </p:txBody>
      </p:sp>
      <p:sp>
        <p:nvSpPr>
          <p:cNvPr id="20" name="Text 18"/>
          <p:cNvSpPr/>
          <p:nvPr/>
        </p:nvSpPr>
        <p:spPr>
          <a:xfrm>
            <a:off x="384048" y="3474720"/>
            <a:ext cx="3913632" cy="475488"/>
          </a:xfrm>
          <a:prstGeom prst="rect">
            <a:avLst/>
          </a:prstGeom>
          <a:noFill/>
          <a:ln/>
        </p:spPr>
        <p:txBody>
          <a:bodyPr wrap="square" rtlCol="0" anchor="ctr"/>
          <a:lstStyle/>
          <a:p>
            <a:pPr marL="0" indent="0">
              <a:buNone/>
            </a:pPr>
            <a:r>
              <a:rPr lang="en-US" sz="1000" i="1" dirty="0">
                <a:solidFill>
                  <a:srgbClr val="555555"/>
                </a:solidFill>
                <a:latin typeface="Calibri" pitchFamily="34" charset="0"/>
                <a:ea typeface="Calibri" pitchFamily="34" charset="-122"/>
                <a:cs typeface="Calibri" pitchFamily="34" charset="-120"/>
              </a:rPr>
              <a:t>Researchers are using ChatGPT to draft ethics sections of protocols, consent forms, and even REC responses. RECs are beginning to receive AI-generated documents without disclosure.</a:t>
            </a:r>
            <a:endParaRPr lang="en-US" sz="1000" dirty="0"/>
          </a:p>
        </p:txBody>
      </p:sp>
      <p:sp>
        <p:nvSpPr>
          <p:cNvPr id="21" name="Shape 19"/>
          <p:cNvSpPr/>
          <p:nvPr/>
        </p:nvSpPr>
        <p:spPr>
          <a:xfrm>
            <a:off x="384048" y="3986784"/>
            <a:ext cx="3913632" cy="13716"/>
          </a:xfrm>
          <a:prstGeom prst="rect">
            <a:avLst/>
          </a:prstGeom>
          <a:solidFill>
            <a:srgbClr val="E0EAF4"/>
          </a:solidFill>
          <a:ln w="12700">
            <a:solidFill>
              <a:srgbClr val="E0EAF4"/>
            </a:solidFill>
            <a:prstDash val="solid"/>
          </a:ln>
        </p:spPr>
        <p:txBody>
          <a:bodyPr/>
          <a:lstStyle/>
          <a:p>
            <a:endParaRPr lang="en-GB"/>
          </a:p>
        </p:txBody>
      </p:sp>
      <p:sp>
        <p:nvSpPr>
          <p:cNvPr id="22" name="Text 20"/>
          <p:cNvSpPr/>
          <p:nvPr/>
        </p:nvSpPr>
        <p:spPr>
          <a:xfrm>
            <a:off x="384048" y="4023360"/>
            <a:ext cx="3913632" cy="713232"/>
          </a:xfrm>
          <a:prstGeom prst="rect">
            <a:avLst/>
          </a:prstGeom>
          <a:noFill/>
          <a:ln/>
        </p:spPr>
        <p:txBody>
          <a:bodyPr wrap="square" rtlCol="0" anchor="ctr"/>
          <a:lstStyle/>
          <a:p>
            <a:pPr marL="0" indent="0">
              <a:buNone/>
            </a:pPr>
            <a:r>
              <a:rPr lang="en-US" sz="1000" b="1" dirty="0">
                <a:solidFill>
                  <a:srgbClr val="0D7377"/>
                </a:solidFill>
                <a:latin typeface="Calibri" pitchFamily="34" charset="0"/>
                <a:ea typeface="Calibri" pitchFamily="34" charset="-122"/>
                <a:cs typeface="Calibri" pitchFamily="34" charset="-120"/>
              </a:rPr>
              <a:t>BESON Position: </a:t>
            </a:r>
            <a:r>
              <a:rPr lang="en-US" sz="1000" dirty="0">
                <a:solidFill>
                  <a:srgbClr val="1A2E4A"/>
                </a:solidFill>
                <a:latin typeface="Calibri" pitchFamily="34" charset="0"/>
                <a:ea typeface="Calibri" pitchFamily="34" charset="-122"/>
                <a:cs typeface="Calibri" pitchFamily="34" charset="-120"/>
              </a:rPr>
              <a:t>RECs should require disclosure of AI use in protocol preparation. AI-assisted drafting is not inherently unethical, but non-disclosure is. A policy position from BESON is needed.</a:t>
            </a:r>
            <a:endParaRPr lang="en-US" sz="1000" dirty="0"/>
          </a:p>
        </p:txBody>
      </p:sp>
      <p:sp>
        <p:nvSpPr>
          <p:cNvPr id="23" name="Shape 21"/>
          <p:cNvSpPr/>
          <p:nvPr/>
        </p:nvSpPr>
        <p:spPr>
          <a:xfrm>
            <a:off x="4709160" y="3017520"/>
            <a:ext cx="4160520" cy="1783080"/>
          </a:xfrm>
          <a:prstGeom prst="roundRect">
            <a:avLst>
              <a:gd name="adj" fmla="val 5128"/>
            </a:avLst>
          </a:prstGeom>
          <a:solidFill>
            <a:srgbClr val="FFFFFF"/>
          </a:solidFill>
          <a:ln w="12700">
            <a:solidFill>
              <a:srgbClr val="DDE6F0"/>
            </a:solidFill>
            <a:prstDash val="solid"/>
          </a:ln>
          <a:effectLst>
            <a:outerShdw blurRad="101600" dist="38100" dir="2700000" algn="bl" rotWithShape="0">
              <a:srgbClr val="000000">
                <a:alpha val="12000"/>
              </a:srgbClr>
            </a:outerShdw>
          </a:effectLst>
        </p:spPr>
        <p:txBody>
          <a:bodyPr/>
          <a:lstStyle/>
          <a:p>
            <a:endParaRPr lang="en-GB"/>
          </a:p>
        </p:txBody>
      </p:sp>
      <p:sp>
        <p:nvSpPr>
          <p:cNvPr id="24" name="Shape 22"/>
          <p:cNvSpPr/>
          <p:nvPr/>
        </p:nvSpPr>
        <p:spPr>
          <a:xfrm>
            <a:off x="4800600" y="3090672"/>
            <a:ext cx="3950208" cy="320040"/>
          </a:xfrm>
          <a:prstGeom prst="roundRect">
            <a:avLst>
              <a:gd name="adj" fmla="val 14286"/>
            </a:avLst>
          </a:prstGeom>
          <a:solidFill>
            <a:srgbClr val="1A2E4A"/>
          </a:solidFill>
          <a:ln w="12700">
            <a:solidFill>
              <a:srgbClr val="1A2E4A"/>
            </a:solidFill>
            <a:prstDash val="solid"/>
          </a:ln>
        </p:spPr>
        <p:txBody>
          <a:bodyPr/>
          <a:lstStyle/>
          <a:p>
            <a:endParaRPr lang="en-GB"/>
          </a:p>
        </p:txBody>
      </p:sp>
      <p:sp>
        <p:nvSpPr>
          <p:cNvPr id="25" name="Text 23"/>
          <p:cNvSpPr/>
          <p:nvPr/>
        </p:nvSpPr>
        <p:spPr>
          <a:xfrm>
            <a:off x="4800600" y="3090672"/>
            <a:ext cx="3950208" cy="320040"/>
          </a:xfrm>
          <a:prstGeom prst="rect">
            <a:avLst/>
          </a:prstGeom>
          <a:noFill/>
          <a:ln/>
        </p:spPr>
        <p:txBody>
          <a:bodyPr wrap="square"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  Should participants be told when AI tools are used to process their data?</a:t>
            </a:r>
            <a:endParaRPr lang="en-US" sz="1050" dirty="0"/>
          </a:p>
        </p:txBody>
      </p:sp>
      <p:sp>
        <p:nvSpPr>
          <p:cNvPr id="26" name="Text 24"/>
          <p:cNvSpPr/>
          <p:nvPr/>
        </p:nvSpPr>
        <p:spPr>
          <a:xfrm>
            <a:off x="4818888" y="3474720"/>
            <a:ext cx="3913632" cy="475488"/>
          </a:xfrm>
          <a:prstGeom prst="rect">
            <a:avLst/>
          </a:prstGeom>
          <a:noFill/>
          <a:ln/>
        </p:spPr>
        <p:txBody>
          <a:bodyPr wrap="square" rtlCol="0" anchor="ctr"/>
          <a:lstStyle/>
          <a:p>
            <a:pPr marL="0" indent="0">
              <a:buNone/>
            </a:pPr>
            <a:r>
              <a:rPr lang="en-US" sz="1000" i="1" dirty="0">
                <a:solidFill>
                  <a:srgbClr val="555555"/>
                </a:solidFill>
                <a:latin typeface="Calibri" pitchFamily="34" charset="0"/>
                <a:ea typeface="Calibri" pitchFamily="34" charset="-122"/>
                <a:cs typeface="Calibri" pitchFamily="34" charset="-120"/>
              </a:rPr>
              <a:t>This is an emerging bioethics question. If a researcher uses an LLM to analyse interview transcripts or a computer vision tool on clinical images, the participant's data entered an AI system they never consented to.</a:t>
            </a:r>
            <a:endParaRPr lang="en-US" sz="1000" dirty="0"/>
          </a:p>
        </p:txBody>
      </p:sp>
      <p:sp>
        <p:nvSpPr>
          <p:cNvPr id="27" name="Shape 25"/>
          <p:cNvSpPr/>
          <p:nvPr/>
        </p:nvSpPr>
        <p:spPr>
          <a:xfrm>
            <a:off x="4818888" y="3986784"/>
            <a:ext cx="3913632" cy="13716"/>
          </a:xfrm>
          <a:prstGeom prst="rect">
            <a:avLst/>
          </a:prstGeom>
          <a:solidFill>
            <a:srgbClr val="E0EAF4"/>
          </a:solidFill>
          <a:ln w="12700">
            <a:solidFill>
              <a:srgbClr val="E0EAF4"/>
            </a:solidFill>
            <a:prstDash val="solid"/>
          </a:ln>
        </p:spPr>
        <p:txBody>
          <a:bodyPr/>
          <a:lstStyle/>
          <a:p>
            <a:endParaRPr lang="en-GB"/>
          </a:p>
        </p:txBody>
      </p:sp>
      <p:sp>
        <p:nvSpPr>
          <p:cNvPr id="28" name="Text 26"/>
          <p:cNvSpPr/>
          <p:nvPr/>
        </p:nvSpPr>
        <p:spPr>
          <a:xfrm>
            <a:off x="4818888" y="4023360"/>
            <a:ext cx="3913632" cy="713232"/>
          </a:xfrm>
          <a:prstGeom prst="rect">
            <a:avLst/>
          </a:prstGeom>
          <a:noFill/>
          <a:ln/>
        </p:spPr>
        <p:txBody>
          <a:bodyPr wrap="square" rtlCol="0" anchor="ctr"/>
          <a:lstStyle/>
          <a:p>
            <a:pPr marL="0" indent="0">
              <a:buNone/>
            </a:pPr>
            <a:r>
              <a:rPr lang="en-US" sz="1000" b="1" dirty="0">
                <a:solidFill>
                  <a:srgbClr val="1A2E4A"/>
                </a:solidFill>
                <a:latin typeface="Calibri" pitchFamily="34" charset="0"/>
                <a:ea typeface="Calibri" pitchFamily="34" charset="-122"/>
                <a:cs typeface="Calibri" pitchFamily="34" charset="-120"/>
              </a:rPr>
              <a:t>BESON Position: </a:t>
            </a:r>
            <a:r>
              <a:rPr lang="en-US" sz="1000" dirty="0">
                <a:solidFill>
                  <a:srgbClr val="1A2E4A"/>
                </a:solidFill>
                <a:latin typeface="Calibri" pitchFamily="34" charset="0"/>
                <a:ea typeface="Calibri" pitchFamily="34" charset="-122"/>
                <a:cs typeface="Calibri" pitchFamily="34" charset="-120"/>
              </a:rPr>
              <a:t>Yes. Consent forms must disclose AI tool use, name the tool, state where data is processed (cloud vs. local), and confirm a Data Processing Agreement exists. This is BESON's recommended position.</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7377"/>
          </a:solidFill>
          <a:ln w="12700">
            <a:solidFill>
              <a:srgbClr val="0D7377"/>
            </a:solidFill>
            <a:prstDash val="solid"/>
          </a:ln>
        </p:spPr>
        <p:txBody>
          <a:bodyPr/>
          <a:lstStyle/>
          <a:p>
            <a:endParaRPr lang="en-GB"/>
          </a:p>
        </p:txBody>
      </p:sp>
      <p:sp>
        <p:nvSpPr>
          <p:cNvPr id="3" name="Text 1"/>
          <p:cNvSpPr/>
          <p:nvPr/>
        </p:nvSpPr>
        <p:spPr>
          <a:xfrm>
            <a:off x="365760" y="0"/>
            <a:ext cx="8412480" cy="685800"/>
          </a:xfrm>
          <a:prstGeom prst="rect">
            <a:avLst/>
          </a:prstGeom>
          <a:noFill/>
          <a:ln/>
        </p:spPr>
        <p:txBody>
          <a:bodyPr wrap="square"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The Scale of the Problem: Data Breaches in Research &amp; Healthcare</a:t>
            </a:r>
            <a:endParaRPr lang="en-US" sz="2200" dirty="0"/>
          </a:p>
        </p:txBody>
      </p:sp>
      <p:sp>
        <p:nvSpPr>
          <p:cNvPr id="4" name="Shape 2"/>
          <p:cNvSpPr/>
          <p:nvPr/>
        </p:nvSpPr>
        <p:spPr>
          <a:xfrm>
            <a:off x="274320" y="868680"/>
            <a:ext cx="4114800" cy="1691640"/>
          </a:xfrm>
          <a:prstGeom prst="roundRect">
            <a:avLst>
              <a:gd name="adj" fmla="val 5405"/>
            </a:avLst>
          </a:prstGeom>
          <a:solidFill>
            <a:srgbClr val="FFFFFF"/>
          </a:solidFill>
          <a:ln w="12700">
            <a:solidFill>
              <a:srgbClr val="DDE6F0"/>
            </a:solidFill>
            <a:prstDash val="solid"/>
          </a:ln>
          <a:effectLst>
            <a:outerShdw blurRad="101600" dist="38100" dir="2700000" algn="bl" rotWithShape="0">
              <a:srgbClr val="000000">
                <a:alpha val="12000"/>
              </a:srgbClr>
            </a:outerShdw>
          </a:effectLst>
        </p:spPr>
        <p:txBody>
          <a:bodyPr/>
          <a:lstStyle/>
          <a:p>
            <a:endParaRPr lang="en-GB"/>
          </a:p>
        </p:txBody>
      </p:sp>
      <p:sp>
        <p:nvSpPr>
          <p:cNvPr id="5" name="Text 3"/>
          <p:cNvSpPr/>
          <p:nvPr/>
        </p:nvSpPr>
        <p:spPr>
          <a:xfrm>
            <a:off x="457200" y="960120"/>
            <a:ext cx="3749040" cy="685800"/>
          </a:xfrm>
          <a:prstGeom prst="rect">
            <a:avLst/>
          </a:prstGeom>
          <a:noFill/>
          <a:ln/>
        </p:spPr>
        <p:txBody>
          <a:bodyPr wrap="square" rtlCol="0" anchor="t"/>
          <a:lstStyle/>
          <a:p>
            <a:pPr marL="0" indent="0">
              <a:buNone/>
            </a:pPr>
            <a:r>
              <a:rPr lang="en-US" sz="3800" b="1" dirty="0">
                <a:solidFill>
                  <a:srgbClr val="0D7377"/>
                </a:solidFill>
                <a:latin typeface="Cambria" pitchFamily="34" charset="0"/>
                <a:ea typeface="Cambria" pitchFamily="34" charset="-122"/>
                <a:cs typeface="Cambria" pitchFamily="34" charset="-120"/>
              </a:rPr>
              <a:t>72%</a:t>
            </a:r>
            <a:endParaRPr lang="en-US" sz="3800" dirty="0"/>
          </a:p>
        </p:txBody>
      </p:sp>
      <p:sp>
        <p:nvSpPr>
          <p:cNvPr id="6" name="Text 4"/>
          <p:cNvSpPr/>
          <p:nvPr/>
        </p:nvSpPr>
        <p:spPr>
          <a:xfrm>
            <a:off x="457200" y="1691640"/>
            <a:ext cx="3749040" cy="777240"/>
          </a:xfrm>
          <a:prstGeom prst="rect">
            <a:avLst/>
          </a:prstGeom>
          <a:noFill/>
          <a:ln/>
        </p:spPr>
        <p:txBody>
          <a:bodyPr wrap="square" rtlCol="0" anchor="ctr"/>
          <a:lstStyle/>
          <a:p>
            <a:pPr marL="0" indent="0">
              <a:buNone/>
            </a:pPr>
            <a:r>
              <a:rPr lang="en-US" sz="1250" dirty="0">
                <a:solidFill>
                  <a:srgbClr val="1A2E4A"/>
                </a:solidFill>
                <a:latin typeface="Calibri" pitchFamily="34" charset="0"/>
                <a:ea typeface="Calibri" pitchFamily="34" charset="-122"/>
                <a:cs typeface="Calibri" pitchFamily="34" charset="-120"/>
              </a:rPr>
              <a:t>of research data breaches</a:t>
            </a:r>
            <a:endParaRPr lang="en-US" sz="1250" dirty="0"/>
          </a:p>
          <a:p>
            <a:pPr marL="0" indent="0">
              <a:buNone/>
            </a:pPr>
            <a:r>
              <a:rPr lang="en-US" sz="1250" dirty="0">
                <a:solidFill>
                  <a:srgbClr val="1A2E4A"/>
                </a:solidFill>
                <a:latin typeface="Calibri" pitchFamily="34" charset="0"/>
                <a:ea typeface="Calibri" pitchFamily="34" charset="-122"/>
                <a:cs typeface="Calibri" pitchFamily="34" charset="-120"/>
              </a:rPr>
              <a:t>involve human error or</a:t>
            </a:r>
            <a:endParaRPr lang="en-US" sz="1250" dirty="0"/>
          </a:p>
          <a:p>
            <a:pPr marL="0" indent="0">
              <a:buNone/>
            </a:pPr>
            <a:r>
              <a:rPr lang="en-US" sz="1250" dirty="0">
                <a:solidFill>
                  <a:srgbClr val="1A2E4A"/>
                </a:solidFill>
                <a:latin typeface="Calibri" pitchFamily="34" charset="0"/>
                <a:ea typeface="Calibri" pitchFamily="34" charset="-122"/>
                <a:cs typeface="Calibri" pitchFamily="34" charset="-120"/>
              </a:rPr>
              <a:t>misconfigured access</a:t>
            </a:r>
            <a:endParaRPr lang="en-US" sz="1250" dirty="0"/>
          </a:p>
        </p:txBody>
      </p:sp>
      <p:sp>
        <p:nvSpPr>
          <p:cNvPr id="7" name="Shape 5"/>
          <p:cNvSpPr/>
          <p:nvPr/>
        </p:nvSpPr>
        <p:spPr>
          <a:xfrm>
            <a:off x="4709160" y="868680"/>
            <a:ext cx="4114800" cy="1691640"/>
          </a:xfrm>
          <a:prstGeom prst="roundRect">
            <a:avLst>
              <a:gd name="adj" fmla="val 5405"/>
            </a:avLst>
          </a:prstGeom>
          <a:solidFill>
            <a:srgbClr val="FFFFFF"/>
          </a:solidFill>
          <a:ln w="12700">
            <a:solidFill>
              <a:srgbClr val="DDE6F0"/>
            </a:solidFill>
            <a:prstDash val="solid"/>
          </a:ln>
          <a:effectLst>
            <a:outerShdw blurRad="101600" dist="38100" dir="2700000" algn="bl" rotWithShape="0">
              <a:srgbClr val="000000">
                <a:alpha val="12000"/>
              </a:srgbClr>
            </a:outerShdw>
          </a:effectLst>
        </p:spPr>
        <p:txBody>
          <a:bodyPr/>
          <a:lstStyle/>
          <a:p>
            <a:endParaRPr lang="en-GB"/>
          </a:p>
        </p:txBody>
      </p:sp>
      <p:sp>
        <p:nvSpPr>
          <p:cNvPr id="8" name="Text 6"/>
          <p:cNvSpPr/>
          <p:nvPr/>
        </p:nvSpPr>
        <p:spPr>
          <a:xfrm>
            <a:off x="4892040" y="960120"/>
            <a:ext cx="3749040" cy="685800"/>
          </a:xfrm>
          <a:prstGeom prst="rect">
            <a:avLst/>
          </a:prstGeom>
          <a:noFill/>
          <a:ln/>
        </p:spPr>
        <p:txBody>
          <a:bodyPr wrap="square" rtlCol="0" anchor="t"/>
          <a:lstStyle/>
          <a:p>
            <a:pPr marL="0" indent="0">
              <a:buNone/>
            </a:pPr>
            <a:r>
              <a:rPr lang="en-US" sz="3800" b="1" dirty="0">
                <a:solidFill>
                  <a:srgbClr val="1A2E4A"/>
                </a:solidFill>
                <a:latin typeface="Cambria" pitchFamily="34" charset="0"/>
                <a:ea typeface="Cambria" pitchFamily="34" charset="-122"/>
                <a:cs typeface="Cambria" pitchFamily="34" charset="-120"/>
              </a:rPr>
              <a:t>$3.86M</a:t>
            </a:r>
            <a:endParaRPr lang="en-US" sz="3800" dirty="0"/>
          </a:p>
        </p:txBody>
      </p:sp>
      <p:sp>
        <p:nvSpPr>
          <p:cNvPr id="9" name="Text 7"/>
          <p:cNvSpPr/>
          <p:nvPr/>
        </p:nvSpPr>
        <p:spPr>
          <a:xfrm>
            <a:off x="4892040" y="1691640"/>
            <a:ext cx="3749040" cy="777240"/>
          </a:xfrm>
          <a:prstGeom prst="rect">
            <a:avLst/>
          </a:prstGeom>
          <a:noFill/>
          <a:ln/>
        </p:spPr>
        <p:txBody>
          <a:bodyPr wrap="square" rtlCol="0" anchor="ctr"/>
          <a:lstStyle/>
          <a:p>
            <a:pPr marL="0" indent="0">
              <a:buNone/>
            </a:pPr>
            <a:r>
              <a:rPr lang="en-US" sz="1250" dirty="0">
                <a:solidFill>
                  <a:srgbClr val="1A2E4A"/>
                </a:solidFill>
                <a:latin typeface="Calibri" pitchFamily="34" charset="0"/>
                <a:ea typeface="Calibri" pitchFamily="34" charset="-122"/>
                <a:cs typeface="Calibri" pitchFamily="34" charset="-120"/>
              </a:rPr>
              <a:t>average cost of a healthcare</a:t>
            </a:r>
            <a:endParaRPr lang="en-US" sz="1250" dirty="0"/>
          </a:p>
          <a:p>
            <a:pPr marL="0" indent="0">
              <a:buNone/>
            </a:pPr>
            <a:r>
              <a:rPr lang="en-US" sz="1250" dirty="0">
                <a:solidFill>
                  <a:srgbClr val="1A2E4A"/>
                </a:solidFill>
                <a:latin typeface="Calibri" pitchFamily="34" charset="0"/>
                <a:ea typeface="Calibri" pitchFamily="34" charset="-122"/>
                <a:cs typeface="Calibri" pitchFamily="34" charset="-120"/>
              </a:rPr>
              <a:t>data breach globally</a:t>
            </a:r>
            <a:endParaRPr lang="en-US" sz="1250" dirty="0"/>
          </a:p>
          <a:p>
            <a:pPr marL="0" indent="0">
              <a:buNone/>
            </a:pPr>
            <a:r>
              <a:rPr lang="en-US" sz="1250" dirty="0">
                <a:solidFill>
                  <a:srgbClr val="1A2E4A"/>
                </a:solidFill>
                <a:latin typeface="Calibri" pitchFamily="34" charset="0"/>
                <a:ea typeface="Calibri" pitchFamily="34" charset="-122"/>
                <a:cs typeface="Calibri" pitchFamily="34" charset="-120"/>
              </a:rPr>
              <a:t>(IBM Cost of Breach Report, 2023)</a:t>
            </a:r>
            <a:endParaRPr lang="en-US" sz="1250" dirty="0"/>
          </a:p>
        </p:txBody>
      </p:sp>
      <p:sp>
        <p:nvSpPr>
          <p:cNvPr id="10" name="Shape 8"/>
          <p:cNvSpPr/>
          <p:nvPr/>
        </p:nvSpPr>
        <p:spPr>
          <a:xfrm>
            <a:off x="274320" y="2834640"/>
            <a:ext cx="4114800" cy="1691640"/>
          </a:xfrm>
          <a:prstGeom prst="roundRect">
            <a:avLst>
              <a:gd name="adj" fmla="val 5405"/>
            </a:avLst>
          </a:prstGeom>
          <a:solidFill>
            <a:srgbClr val="FFFFFF"/>
          </a:solidFill>
          <a:ln w="12700">
            <a:solidFill>
              <a:srgbClr val="DDE6F0"/>
            </a:solidFill>
            <a:prstDash val="solid"/>
          </a:ln>
          <a:effectLst>
            <a:outerShdw blurRad="101600" dist="38100" dir="2700000" algn="bl" rotWithShape="0">
              <a:srgbClr val="000000">
                <a:alpha val="12000"/>
              </a:srgbClr>
            </a:outerShdw>
          </a:effectLst>
        </p:spPr>
        <p:txBody>
          <a:bodyPr/>
          <a:lstStyle/>
          <a:p>
            <a:endParaRPr lang="en-GB"/>
          </a:p>
        </p:txBody>
      </p:sp>
      <p:sp>
        <p:nvSpPr>
          <p:cNvPr id="11" name="Text 9"/>
          <p:cNvSpPr/>
          <p:nvPr/>
        </p:nvSpPr>
        <p:spPr>
          <a:xfrm>
            <a:off x="457200" y="2926080"/>
            <a:ext cx="3749040" cy="685800"/>
          </a:xfrm>
          <a:prstGeom prst="rect">
            <a:avLst/>
          </a:prstGeom>
          <a:noFill/>
          <a:ln/>
        </p:spPr>
        <p:txBody>
          <a:bodyPr wrap="square" rtlCol="0" anchor="t"/>
          <a:lstStyle/>
          <a:p>
            <a:pPr marL="0" indent="0">
              <a:buNone/>
            </a:pPr>
            <a:r>
              <a:rPr lang="en-US" sz="3800" b="1" dirty="0">
                <a:solidFill>
                  <a:srgbClr val="0D7377"/>
                </a:solidFill>
                <a:latin typeface="Cambria" pitchFamily="34" charset="0"/>
                <a:ea typeface="Cambria" pitchFamily="34" charset="-122"/>
                <a:cs typeface="Cambria" pitchFamily="34" charset="-120"/>
              </a:rPr>
              <a:t>28+</a:t>
            </a:r>
            <a:endParaRPr lang="en-US" sz="3800" dirty="0"/>
          </a:p>
        </p:txBody>
      </p:sp>
      <p:sp>
        <p:nvSpPr>
          <p:cNvPr id="12" name="Text 10"/>
          <p:cNvSpPr/>
          <p:nvPr/>
        </p:nvSpPr>
        <p:spPr>
          <a:xfrm>
            <a:off x="457200" y="3657600"/>
            <a:ext cx="3749040" cy="777240"/>
          </a:xfrm>
          <a:prstGeom prst="rect">
            <a:avLst/>
          </a:prstGeom>
          <a:noFill/>
          <a:ln/>
        </p:spPr>
        <p:txBody>
          <a:bodyPr wrap="square" rtlCol="0" anchor="ctr"/>
          <a:lstStyle/>
          <a:p>
            <a:pPr marL="0" indent="0">
              <a:buNone/>
            </a:pPr>
            <a:r>
              <a:rPr lang="en-US" sz="1250" dirty="0">
                <a:solidFill>
                  <a:srgbClr val="1A2E4A"/>
                </a:solidFill>
                <a:latin typeface="Calibri" pitchFamily="34" charset="0"/>
                <a:ea typeface="Calibri" pitchFamily="34" charset="-122"/>
                <a:cs typeface="Calibri" pitchFamily="34" charset="-120"/>
              </a:rPr>
              <a:t>African nations now have</a:t>
            </a:r>
            <a:endParaRPr lang="en-US" sz="1250" dirty="0"/>
          </a:p>
          <a:p>
            <a:pPr marL="0" indent="0">
              <a:buNone/>
            </a:pPr>
            <a:r>
              <a:rPr lang="en-US" sz="1250" dirty="0">
                <a:solidFill>
                  <a:srgbClr val="1A2E4A"/>
                </a:solidFill>
                <a:latin typeface="Calibri" pitchFamily="34" charset="0"/>
                <a:ea typeface="Calibri" pitchFamily="34" charset="-122"/>
                <a:cs typeface="Calibri" pitchFamily="34" charset="-120"/>
              </a:rPr>
              <a:t>data protection legislation</a:t>
            </a:r>
            <a:endParaRPr lang="en-US" sz="1250" dirty="0"/>
          </a:p>
          <a:p>
            <a:pPr marL="0" indent="0">
              <a:buNone/>
            </a:pPr>
            <a:r>
              <a:rPr lang="en-US" sz="1250" dirty="0">
                <a:solidFill>
                  <a:srgbClr val="1A2E4A"/>
                </a:solidFill>
                <a:latin typeface="Calibri" pitchFamily="34" charset="0"/>
                <a:ea typeface="Calibri" pitchFamily="34" charset="-122"/>
                <a:cs typeface="Calibri" pitchFamily="34" charset="-120"/>
              </a:rPr>
              <a:t>(CIPESA, 2024)</a:t>
            </a:r>
            <a:endParaRPr lang="en-US" sz="1250" dirty="0"/>
          </a:p>
        </p:txBody>
      </p:sp>
      <p:sp>
        <p:nvSpPr>
          <p:cNvPr id="13" name="Shape 11"/>
          <p:cNvSpPr/>
          <p:nvPr/>
        </p:nvSpPr>
        <p:spPr>
          <a:xfrm>
            <a:off x="4709160" y="2834640"/>
            <a:ext cx="4114800" cy="1691640"/>
          </a:xfrm>
          <a:prstGeom prst="roundRect">
            <a:avLst>
              <a:gd name="adj" fmla="val 5405"/>
            </a:avLst>
          </a:prstGeom>
          <a:solidFill>
            <a:srgbClr val="FFFFFF"/>
          </a:solidFill>
          <a:ln w="12700">
            <a:solidFill>
              <a:srgbClr val="DDE6F0"/>
            </a:solidFill>
            <a:prstDash val="solid"/>
          </a:ln>
          <a:effectLst>
            <a:outerShdw blurRad="101600" dist="38100" dir="2700000" algn="bl" rotWithShape="0">
              <a:srgbClr val="000000">
                <a:alpha val="12000"/>
              </a:srgbClr>
            </a:outerShdw>
          </a:effectLst>
        </p:spPr>
        <p:txBody>
          <a:bodyPr/>
          <a:lstStyle/>
          <a:p>
            <a:endParaRPr lang="en-GB"/>
          </a:p>
        </p:txBody>
      </p:sp>
      <p:sp>
        <p:nvSpPr>
          <p:cNvPr id="14" name="Text 12"/>
          <p:cNvSpPr/>
          <p:nvPr/>
        </p:nvSpPr>
        <p:spPr>
          <a:xfrm>
            <a:off x="4892040" y="2926080"/>
            <a:ext cx="3749040" cy="685800"/>
          </a:xfrm>
          <a:prstGeom prst="rect">
            <a:avLst/>
          </a:prstGeom>
          <a:noFill/>
          <a:ln/>
        </p:spPr>
        <p:txBody>
          <a:bodyPr wrap="square" rtlCol="0" anchor="t"/>
          <a:lstStyle/>
          <a:p>
            <a:pPr marL="0" indent="0">
              <a:buNone/>
            </a:pPr>
            <a:r>
              <a:rPr lang="en-US" sz="3800" b="1" dirty="0">
                <a:solidFill>
                  <a:srgbClr val="C0392B"/>
                </a:solidFill>
                <a:latin typeface="Cambria" pitchFamily="34" charset="0"/>
                <a:ea typeface="Cambria" pitchFamily="34" charset="-122"/>
                <a:cs typeface="Cambria" pitchFamily="34" charset="-120"/>
              </a:rPr>
              <a:t>0</a:t>
            </a:r>
            <a:endParaRPr lang="en-US" sz="3800" dirty="0"/>
          </a:p>
        </p:txBody>
      </p:sp>
      <p:sp>
        <p:nvSpPr>
          <p:cNvPr id="15" name="Text 13"/>
          <p:cNvSpPr/>
          <p:nvPr/>
        </p:nvSpPr>
        <p:spPr>
          <a:xfrm>
            <a:off x="4892040" y="3657600"/>
            <a:ext cx="3749040" cy="777240"/>
          </a:xfrm>
          <a:prstGeom prst="rect">
            <a:avLst/>
          </a:prstGeom>
          <a:noFill/>
          <a:ln/>
        </p:spPr>
        <p:txBody>
          <a:bodyPr wrap="square" rtlCol="0" anchor="ctr"/>
          <a:lstStyle/>
          <a:p>
            <a:pPr marL="0" indent="0">
              <a:buNone/>
            </a:pPr>
            <a:r>
              <a:rPr lang="en-US" sz="1250" dirty="0">
                <a:solidFill>
                  <a:srgbClr val="1A2E4A"/>
                </a:solidFill>
                <a:latin typeface="Calibri" pitchFamily="34" charset="0"/>
                <a:ea typeface="Calibri" pitchFamily="34" charset="-122"/>
                <a:cs typeface="Calibri" pitchFamily="34" charset="-120"/>
              </a:rPr>
              <a:t>research exemptions under</a:t>
            </a:r>
            <a:endParaRPr lang="en-US" sz="1250" dirty="0"/>
          </a:p>
          <a:p>
            <a:pPr marL="0" indent="0">
              <a:buNone/>
            </a:pPr>
            <a:r>
              <a:rPr lang="en-US" sz="1250" dirty="0">
                <a:solidFill>
                  <a:srgbClr val="1A2E4A"/>
                </a:solidFill>
                <a:latin typeface="Calibri" pitchFamily="34" charset="0"/>
                <a:ea typeface="Calibri" pitchFamily="34" charset="-122"/>
                <a:cs typeface="Calibri" pitchFamily="34" charset="-120"/>
              </a:rPr>
              <a:t>Nigeria's NDPA 2023 —</a:t>
            </a:r>
            <a:endParaRPr lang="en-US" sz="1250" dirty="0"/>
          </a:p>
          <a:p>
            <a:pPr marL="0" indent="0">
              <a:buNone/>
            </a:pPr>
            <a:r>
              <a:rPr lang="en-US" sz="1250" dirty="0">
                <a:solidFill>
                  <a:srgbClr val="1A2E4A"/>
                </a:solidFill>
                <a:latin typeface="Calibri" pitchFamily="34" charset="0"/>
                <a:ea typeface="Calibri" pitchFamily="34" charset="-122"/>
                <a:cs typeface="Calibri" pitchFamily="34" charset="-120"/>
              </a:rPr>
              <a:t>compliance is mandatory</a:t>
            </a:r>
            <a:endParaRPr lang="en-US" sz="1250" dirty="0"/>
          </a:p>
        </p:txBody>
      </p:sp>
      <p:sp>
        <p:nvSpPr>
          <p:cNvPr id="16" name="Text 14"/>
          <p:cNvSpPr/>
          <p:nvPr/>
        </p:nvSpPr>
        <p:spPr>
          <a:xfrm>
            <a:off x="274320" y="4681728"/>
            <a:ext cx="8595360" cy="274320"/>
          </a:xfrm>
          <a:prstGeom prst="rect">
            <a:avLst/>
          </a:prstGeom>
          <a:noFill/>
          <a:ln/>
        </p:spPr>
        <p:txBody>
          <a:bodyPr wrap="square" rtlCol="0" anchor="ctr"/>
          <a:lstStyle/>
          <a:p>
            <a:pPr marL="0" indent="0">
              <a:buNone/>
            </a:pPr>
            <a:r>
              <a:rPr lang="en-US" sz="900" i="1" dirty="0">
                <a:solidFill>
                  <a:srgbClr val="6B7A8D"/>
                </a:solidFill>
                <a:latin typeface="Calibri" pitchFamily="34" charset="0"/>
                <a:ea typeface="Calibri" pitchFamily="34" charset="-122"/>
                <a:cs typeface="Calibri" pitchFamily="34" charset="-120"/>
              </a:rPr>
              <a:t>Sources: IBM Cost of a Data Breach Report 2023; CIPESA African Internet Rights 2024; Nigeria NDPA 2023</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2E4A"/>
          </a:solidFill>
          <a:ln w="12700">
            <a:solidFill>
              <a:srgbClr val="1A2E4A"/>
            </a:solidFill>
            <a:prstDash val="solid"/>
          </a:ln>
        </p:spPr>
        <p:txBody>
          <a:bodyPr/>
          <a:lstStyle/>
          <a:p>
            <a:endParaRPr lang="en-GB"/>
          </a:p>
        </p:txBody>
      </p:sp>
      <p:sp>
        <p:nvSpPr>
          <p:cNvPr id="3" name="Text 1"/>
          <p:cNvSpPr/>
          <p:nvPr/>
        </p:nvSpPr>
        <p:spPr>
          <a:xfrm>
            <a:off x="365760" y="0"/>
            <a:ext cx="8412480" cy="685800"/>
          </a:xfrm>
          <a:prstGeom prst="rect">
            <a:avLst/>
          </a:prstGeom>
          <a:noFill/>
          <a:ln/>
        </p:spPr>
        <p:txBody>
          <a:bodyPr wrap="square"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Why Bioethics Needs AI Tools — and the Risks They Introduce</a:t>
            </a:r>
            <a:endParaRPr lang="en-US" sz="2200" dirty="0"/>
          </a:p>
        </p:txBody>
      </p:sp>
      <p:sp>
        <p:nvSpPr>
          <p:cNvPr id="4" name="Shape 2"/>
          <p:cNvSpPr/>
          <p:nvPr/>
        </p:nvSpPr>
        <p:spPr>
          <a:xfrm>
            <a:off x="274320" y="804672"/>
            <a:ext cx="8595360" cy="274320"/>
          </a:xfrm>
          <a:prstGeom prst="roundRect">
            <a:avLst>
              <a:gd name="adj" fmla="val 16667"/>
            </a:avLst>
          </a:prstGeom>
          <a:solidFill>
            <a:srgbClr val="EBF5FB"/>
          </a:solidFill>
          <a:ln w="12700">
            <a:solidFill>
              <a:srgbClr val="BDD7EE"/>
            </a:solidFill>
            <a:prstDash val="solid"/>
          </a:ln>
        </p:spPr>
        <p:txBody>
          <a:bodyPr/>
          <a:lstStyle/>
          <a:p>
            <a:endParaRPr lang="en-GB"/>
          </a:p>
        </p:txBody>
      </p:sp>
      <p:sp>
        <p:nvSpPr>
          <p:cNvPr id="5" name="Text 3"/>
          <p:cNvSpPr/>
          <p:nvPr/>
        </p:nvSpPr>
        <p:spPr>
          <a:xfrm>
            <a:off x="274320" y="804672"/>
            <a:ext cx="8595360" cy="274320"/>
          </a:xfrm>
          <a:prstGeom prst="rect">
            <a:avLst/>
          </a:prstGeom>
          <a:noFill/>
          <a:ln/>
        </p:spPr>
        <p:txBody>
          <a:bodyPr wrap="square" rtlCol="0" anchor="ctr"/>
          <a:lstStyle/>
          <a:p>
            <a:pPr marL="0" indent="0" algn="ctr">
              <a:buNone/>
            </a:pPr>
            <a:r>
              <a:rPr lang="en-US" sz="1000" b="1" dirty="0">
                <a:solidFill>
                  <a:srgbClr val="1A2E4A"/>
                </a:solidFill>
              </a:rPr>
              <a:t>WHY BIOETHICS AND RESEARCH ETHICS COMMITTEES NEED AI TOOLS</a:t>
            </a:r>
            <a:endParaRPr lang="en-US" sz="1000" dirty="0"/>
          </a:p>
        </p:txBody>
      </p:sp>
      <p:sp>
        <p:nvSpPr>
          <p:cNvPr id="6" name="Shape 4"/>
          <p:cNvSpPr/>
          <p:nvPr/>
        </p:nvSpPr>
        <p:spPr>
          <a:xfrm>
            <a:off x="274320" y="1170432"/>
            <a:ext cx="4160520" cy="1170432"/>
          </a:xfrm>
          <a:prstGeom prst="roundRect">
            <a:avLst>
              <a:gd name="adj" fmla="val 7813"/>
            </a:avLst>
          </a:prstGeom>
          <a:solidFill>
            <a:srgbClr val="FFFFFF"/>
          </a:solidFill>
          <a:ln w="12700">
            <a:solidFill>
              <a:srgbClr val="DDE6F0"/>
            </a:solidFill>
            <a:prstDash val="solid"/>
          </a:ln>
          <a:effectLst>
            <a:outerShdw blurRad="101600" dist="38100" dir="2700000" algn="bl" rotWithShape="0">
              <a:srgbClr val="000000">
                <a:alpha val="12000"/>
              </a:srgbClr>
            </a:outerShdw>
          </a:effectLst>
        </p:spPr>
        <p:txBody>
          <a:bodyPr/>
          <a:lstStyle/>
          <a:p>
            <a:endParaRPr lang="en-GB"/>
          </a:p>
        </p:txBody>
      </p:sp>
      <p:sp>
        <p:nvSpPr>
          <p:cNvPr id="7" name="Shape 5"/>
          <p:cNvSpPr/>
          <p:nvPr/>
        </p:nvSpPr>
        <p:spPr>
          <a:xfrm>
            <a:off x="4709160" y="1170432"/>
            <a:ext cx="4160520" cy="1170432"/>
          </a:xfrm>
          <a:prstGeom prst="roundRect">
            <a:avLst>
              <a:gd name="adj" fmla="val 7813"/>
            </a:avLst>
          </a:prstGeom>
          <a:solidFill>
            <a:srgbClr val="FFFFFF"/>
          </a:solidFill>
          <a:ln w="12700">
            <a:solidFill>
              <a:srgbClr val="DDE6F0"/>
            </a:solidFill>
            <a:prstDash val="solid"/>
          </a:ln>
          <a:effectLst>
            <a:outerShdw blurRad="101600" dist="38100" dir="2700000" algn="bl" rotWithShape="0">
              <a:srgbClr val="000000">
                <a:alpha val="12000"/>
              </a:srgbClr>
            </a:outerShdw>
          </a:effectLst>
        </p:spPr>
        <p:txBody>
          <a:bodyPr/>
          <a:lstStyle/>
          <a:p>
            <a:endParaRPr lang="en-GB"/>
          </a:p>
        </p:txBody>
      </p:sp>
      <p:sp>
        <p:nvSpPr>
          <p:cNvPr id="8" name="Shape 6"/>
          <p:cNvSpPr/>
          <p:nvPr/>
        </p:nvSpPr>
        <p:spPr>
          <a:xfrm>
            <a:off x="274320" y="2468880"/>
            <a:ext cx="4160520" cy="1170432"/>
          </a:xfrm>
          <a:prstGeom prst="roundRect">
            <a:avLst>
              <a:gd name="adj" fmla="val 7813"/>
            </a:avLst>
          </a:prstGeom>
          <a:solidFill>
            <a:srgbClr val="FFFFFF"/>
          </a:solidFill>
          <a:ln w="12700">
            <a:solidFill>
              <a:srgbClr val="DDE6F0"/>
            </a:solidFill>
            <a:prstDash val="solid"/>
          </a:ln>
          <a:effectLst>
            <a:outerShdw blurRad="101600" dist="38100" dir="2700000" algn="bl" rotWithShape="0">
              <a:srgbClr val="000000">
                <a:alpha val="12000"/>
              </a:srgbClr>
            </a:outerShdw>
          </a:effectLst>
        </p:spPr>
        <p:txBody>
          <a:bodyPr/>
          <a:lstStyle/>
          <a:p>
            <a:endParaRPr lang="en-GB"/>
          </a:p>
        </p:txBody>
      </p:sp>
      <p:sp>
        <p:nvSpPr>
          <p:cNvPr id="9" name="Shape 7"/>
          <p:cNvSpPr/>
          <p:nvPr/>
        </p:nvSpPr>
        <p:spPr>
          <a:xfrm>
            <a:off x="4709160" y="2468880"/>
            <a:ext cx="4160520" cy="1170432"/>
          </a:xfrm>
          <a:prstGeom prst="roundRect">
            <a:avLst>
              <a:gd name="adj" fmla="val 7813"/>
            </a:avLst>
          </a:prstGeom>
          <a:solidFill>
            <a:srgbClr val="FFFFFF"/>
          </a:solidFill>
          <a:ln w="12700">
            <a:solidFill>
              <a:srgbClr val="DDE6F0"/>
            </a:solidFill>
            <a:prstDash val="solid"/>
          </a:ln>
          <a:effectLst>
            <a:outerShdw blurRad="101600" dist="38100" dir="2700000" algn="bl" rotWithShape="0">
              <a:srgbClr val="000000">
                <a:alpha val="12000"/>
              </a:srgbClr>
            </a:outerShdw>
          </a:effectLst>
        </p:spPr>
        <p:txBody>
          <a:bodyPr/>
          <a:lstStyle/>
          <a:p>
            <a:endParaRPr lang="en-GB"/>
          </a:p>
        </p:txBody>
      </p:sp>
      <p:sp>
        <p:nvSpPr>
          <p:cNvPr id="10" name="Shape 8"/>
          <p:cNvSpPr/>
          <p:nvPr/>
        </p:nvSpPr>
        <p:spPr>
          <a:xfrm>
            <a:off x="274320" y="3767328"/>
            <a:ext cx="8595360" cy="1051560"/>
          </a:xfrm>
          <a:prstGeom prst="roundRect">
            <a:avLst>
              <a:gd name="adj" fmla="val 6957"/>
            </a:avLst>
          </a:prstGeom>
          <a:solidFill>
            <a:srgbClr val="1A2E4A"/>
          </a:solidFill>
          <a:ln w="12700">
            <a:solidFill>
              <a:srgbClr val="E8A020"/>
            </a:solidFill>
            <a:prstDash val="solid"/>
          </a:ln>
        </p:spPr>
        <p:txBody>
          <a:bodyPr/>
          <a:lstStyle/>
          <a:p>
            <a:endParaRPr lang="en-GB"/>
          </a:p>
        </p:txBody>
      </p:sp>
      <p:sp>
        <p:nvSpPr>
          <p:cNvPr id="11" name="Text 9"/>
          <p:cNvSpPr/>
          <p:nvPr/>
        </p:nvSpPr>
        <p:spPr>
          <a:xfrm>
            <a:off x="457200" y="3822192"/>
            <a:ext cx="8229600" cy="292608"/>
          </a:xfrm>
          <a:prstGeom prst="rect">
            <a:avLst/>
          </a:prstGeom>
          <a:noFill/>
          <a:ln/>
        </p:spPr>
        <p:txBody>
          <a:bodyPr wrap="square" rtlCol="0" anchor="ctr"/>
          <a:lstStyle/>
          <a:p>
            <a:pPr marL="0" indent="0">
              <a:buNone/>
            </a:pPr>
            <a:r>
              <a:rPr lang="en-US" sz="1200" b="1" dirty="0">
                <a:solidFill>
                  <a:srgbClr val="E8A020"/>
                </a:solidFill>
                <a:latin typeface="Cambria" pitchFamily="34" charset="0"/>
                <a:ea typeface="Cambria" pitchFamily="34" charset="-122"/>
                <a:cs typeface="Cambria" pitchFamily="34" charset="-120"/>
              </a:rPr>
              <a:t>⚠  But AI Tools Also Introduce New Security Risks</a:t>
            </a:r>
            <a:endParaRPr lang="en-US" sz="1200" dirty="0"/>
          </a:p>
        </p:txBody>
      </p:sp>
      <p:sp>
        <p:nvSpPr>
          <p:cNvPr id="12" name="Text 10"/>
          <p:cNvSpPr/>
          <p:nvPr/>
        </p:nvSpPr>
        <p:spPr>
          <a:xfrm>
            <a:off x="457200" y="4114800"/>
            <a:ext cx="8229600" cy="621792"/>
          </a:xfrm>
          <a:prstGeom prst="rect">
            <a:avLst/>
          </a:prstGeom>
          <a:noFill/>
          <a:ln/>
        </p:spPr>
        <p:txBody>
          <a:bodyPr wrap="square" rtlCol="0" anchor="ctr"/>
          <a:lstStyle/>
          <a:p>
            <a:pPr marL="0" indent="0">
              <a:buNone/>
            </a:pPr>
            <a:r>
              <a:rPr lang="en-US" sz="1100" dirty="0">
                <a:solidFill>
                  <a:srgbClr val="FFDDAA"/>
                </a:solidFill>
                <a:latin typeface="Calibri" pitchFamily="34" charset="0"/>
                <a:ea typeface="Calibri" pitchFamily="34" charset="-122"/>
                <a:cs typeface="Calibri" pitchFamily="34" charset="-120"/>
              </a:rPr>
              <a:t>LLMs trained on research data may memorise and expose PII  ·  AI-generated synthetic datasets can still re-identify participants  ·  Vendor cloud AI tools may violate data residency rules  ·  Algorithmic bias in automated screening tools can unfairly reject ethical protocols</a:t>
            </a:r>
            <a:endParaRPr lang="en-US" sz="1100" dirty="0"/>
          </a:p>
        </p:txBody>
      </p:sp>
      <p:pic>
        <p:nvPicPr>
          <p:cNvPr id="14" name="Image 0" descr="preencoded.png"/>
          <p:cNvPicPr>
            <a:picLocks noChangeAspect="1"/>
          </p:cNvPicPr>
          <p:nvPr/>
        </p:nvPicPr>
        <p:blipFill>
          <a:blip r:embed="rId3"/>
          <a:stretch>
            <a:fillRect/>
          </a:stretch>
        </p:blipFill>
        <p:spPr>
          <a:xfrm>
            <a:off x="365760" y="1280160"/>
            <a:ext cx="347472" cy="347472"/>
          </a:xfrm>
          <a:prstGeom prst="rect">
            <a:avLst/>
          </a:prstGeom>
        </p:spPr>
      </p:pic>
      <p:sp>
        <p:nvSpPr>
          <p:cNvPr id="15" name="Text 11"/>
          <p:cNvSpPr/>
          <p:nvPr/>
        </p:nvSpPr>
        <p:spPr>
          <a:xfrm>
            <a:off x="777240" y="1280160"/>
            <a:ext cx="3547872" cy="347472"/>
          </a:xfrm>
          <a:prstGeom prst="rect">
            <a:avLst/>
          </a:prstGeom>
          <a:noFill/>
          <a:ln/>
        </p:spPr>
        <p:txBody>
          <a:bodyPr wrap="square" rtlCol="0" anchor="ctr"/>
          <a:lstStyle/>
          <a:p>
            <a:pPr marL="0" indent="0">
              <a:buNone/>
            </a:pPr>
            <a:r>
              <a:rPr lang="en-US" sz="1250" b="1" dirty="0">
                <a:solidFill>
                  <a:srgbClr val="0D7377"/>
                </a:solidFill>
                <a:latin typeface="Cambria" pitchFamily="34" charset="0"/>
                <a:ea typeface="Cambria" pitchFamily="34" charset="-122"/>
                <a:cs typeface="Cambria" pitchFamily="34" charset="-120"/>
              </a:rPr>
              <a:t>Protocol Screening</a:t>
            </a:r>
            <a:endParaRPr lang="en-US" sz="1250" dirty="0"/>
          </a:p>
        </p:txBody>
      </p:sp>
      <p:sp>
        <p:nvSpPr>
          <p:cNvPr id="16" name="Text 12"/>
          <p:cNvSpPr/>
          <p:nvPr/>
        </p:nvSpPr>
        <p:spPr>
          <a:xfrm>
            <a:off x="384048" y="1700784"/>
            <a:ext cx="3931920" cy="566928"/>
          </a:xfrm>
          <a:prstGeom prst="rect">
            <a:avLst/>
          </a:prstGeom>
          <a:noFill/>
          <a:ln/>
        </p:spPr>
        <p:txBody>
          <a:bodyPr wrap="square" rtlCol="0" anchor="ctr"/>
          <a:lstStyle/>
          <a:p>
            <a:pPr marL="0" indent="0">
              <a:buNone/>
            </a:pPr>
            <a:r>
              <a:rPr lang="en-US" sz="1100" dirty="0">
                <a:solidFill>
                  <a:srgbClr val="1A2E4A"/>
                </a:solidFill>
                <a:latin typeface="Calibri" pitchFamily="34" charset="0"/>
                <a:ea typeface="Calibri" pitchFamily="34" charset="-122"/>
                <a:cs typeface="Calibri" pitchFamily="34" charset="-120"/>
              </a:rPr>
              <a:t>AI can pre-screen thousands of research protocol submissions for data security gaps before they reach REC review — flagging missing DMPs or consent clauses instantly.</a:t>
            </a:r>
            <a:endParaRPr lang="en-US" sz="1100" dirty="0"/>
          </a:p>
        </p:txBody>
      </p:sp>
      <p:pic>
        <p:nvPicPr>
          <p:cNvPr id="17" name="Image 1" descr="preencoded.png"/>
          <p:cNvPicPr>
            <a:picLocks noChangeAspect="1"/>
          </p:cNvPicPr>
          <p:nvPr/>
        </p:nvPicPr>
        <p:blipFill>
          <a:blip r:embed="rId4"/>
          <a:stretch>
            <a:fillRect/>
          </a:stretch>
        </p:blipFill>
        <p:spPr>
          <a:xfrm>
            <a:off x="4800600" y="1280160"/>
            <a:ext cx="347472" cy="347472"/>
          </a:xfrm>
          <a:prstGeom prst="rect">
            <a:avLst/>
          </a:prstGeom>
        </p:spPr>
      </p:pic>
      <p:sp>
        <p:nvSpPr>
          <p:cNvPr id="18" name="Text 13"/>
          <p:cNvSpPr/>
          <p:nvPr/>
        </p:nvSpPr>
        <p:spPr>
          <a:xfrm>
            <a:off x="5212080" y="1280160"/>
            <a:ext cx="3547872" cy="347472"/>
          </a:xfrm>
          <a:prstGeom prst="rect">
            <a:avLst/>
          </a:prstGeom>
          <a:noFill/>
          <a:ln/>
        </p:spPr>
        <p:txBody>
          <a:bodyPr wrap="square" rtlCol="0" anchor="ctr"/>
          <a:lstStyle/>
          <a:p>
            <a:pPr marL="0" indent="0">
              <a:buNone/>
            </a:pPr>
            <a:r>
              <a:rPr lang="en-US" sz="1250" b="1" dirty="0">
                <a:solidFill>
                  <a:srgbClr val="1A2E4A"/>
                </a:solidFill>
                <a:latin typeface="Cambria" pitchFamily="34" charset="0"/>
                <a:ea typeface="Cambria" pitchFamily="34" charset="-122"/>
                <a:cs typeface="Cambria" pitchFamily="34" charset="-120"/>
              </a:rPr>
              <a:t>Anomaly Detection</a:t>
            </a:r>
            <a:endParaRPr lang="en-US" sz="1250" dirty="0"/>
          </a:p>
        </p:txBody>
      </p:sp>
      <p:sp>
        <p:nvSpPr>
          <p:cNvPr id="19" name="Text 14"/>
          <p:cNvSpPr/>
          <p:nvPr/>
        </p:nvSpPr>
        <p:spPr>
          <a:xfrm>
            <a:off x="4818888" y="1700784"/>
            <a:ext cx="3931920" cy="566928"/>
          </a:xfrm>
          <a:prstGeom prst="rect">
            <a:avLst/>
          </a:prstGeom>
          <a:noFill/>
          <a:ln/>
        </p:spPr>
        <p:txBody>
          <a:bodyPr wrap="square" rtlCol="0" anchor="ctr"/>
          <a:lstStyle/>
          <a:p>
            <a:pPr marL="0" indent="0">
              <a:buNone/>
            </a:pPr>
            <a:r>
              <a:rPr lang="en-US" sz="1100" dirty="0">
                <a:solidFill>
                  <a:srgbClr val="1A2E4A"/>
                </a:solidFill>
                <a:latin typeface="Calibri" pitchFamily="34" charset="0"/>
                <a:ea typeface="Calibri" pitchFamily="34" charset="-122"/>
                <a:cs typeface="Calibri" pitchFamily="34" charset="-120"/>
              </a:rPr>
              <a:t>ML models can monitor data repositories in real time and alert custodians to unusual access patterns — e.g., bulk downloads at 2 AM by a student account.</a:t>
            </a:r>
            <a:endParaRPr lang="en-US" sz="1100" dirty="0"/>
          </a:p>
        </p:txBody>
      </p:sp>
      <p:pic>
        <p:nvPicPr>
          <p:cNvPr id="20" name="Image 2" descr="preencoded.png"/>
          <p:cNvPicPr>
            <a:picLocks noChangeAspect="1"/>
          </p:cNvPicPr>
          <p:nvPr/>
        </p:nvPicPr>
        <p:blipFill>
          <a:blip r:embed="rId5"/>
          <a:stretch>
            <a:fillRect/>
          </a:stretch>
        </p:blipFill>
        <p:spPr>
          <a:xfrm>
            <a:off x="4800600" y="2578608"/>
            <a:ext cx="347472" cy="347472"/>
          </a:xfrm>
          <a:prstGeom prst="rect">
            <a:avLst/>
          </a:prstGeom>
        </p:spPr>
      </p:pic>
      <p:sp>
        <p:nvSpPr>
          <p:cNvPr id="21" name="Text 15"/>
          <p:cNvSpPr/>
          <p:nvPr/>
        </p:nvSpPr>
        <p:spPr>
          <a:xfrm>
            <a:off x="5212080" y="2578608"/>
            <a:ext cx="3547872" cy="347472"/>
          </a:xfrm>
          <a:prstGeom prst="rect">
            <a:avLst/>
          </a:prstGeom>
          <a:noFill/>
          <a:ln/>
        </p:spPr>
        <p:txBody>
          <a:bodyPr wrap="square" rtlCol="0" anchor="ctr"/>
          <a:lstStyle/>
          <a:p>
            <a:pPr marL="0" indent="0">
              <a:buNone/>
            </a:pPr>
            <a:r>
              <a:rPr lang="en-US" sz="1250" b="1" dirty="0">
                <a:solidFill>
                  <a:srgbClr val="1A2E4A"/>
                </a:solidFill>
                <a:latin typeface="Cambria" pitchFamily="34" charset="0"/>
                <a:ea typeface="Cambria" pitchFamily="34" charset="-122"/>
                <a:cs typeface="Cambria" pitchFamily="34" charset="-120"/>
              </a:rPr>
              <a:t>Compliance Audit</a:t>
            </a:r>
            <a:endParaRPr lang="en-US" sz="1250" dirty="0"/>
          </a:p>
        </p:txBody>
      </p:sp>
      <p:sp>
        <p:nvSpPr>
          <p:cNvPr id="22" name="Text 16"/>
          <p:cNvSpPr/>
          <p:nvPr/>
        </p:nvSpPr>
        <p:spPr>
          <a:xfrm>
            <a:off x="4818888" y="2999232"/>
            <a:ext cx="3931920" cy="566928"/>
          </a:xfrm>
          <a:prstGeom prst="rect">
            <a:avLst/>
          </a:prstGeom>
          <a:noFill/>
          <a:ln/>
        </p:spPr>
        <p:txBody>
          <a:bodyPr wrap="square" rtlCol="0" anchor="ctr"/>
          <a:lstStyle/>
          <a:p>
            <a:pPr marL="0" indent="0">
              <a:buNone/>
            </a:pPr>
            <a:r>
              <a:rPr lang="en-US" sz="1100" dirty="0">
                <a:solidFill>
                  <a:srgbClr val="1A2E4A"/>
                </a:solidFill>
                <a:latin typeface="Calibri" pitchFamily="34" charset="0"/>
                <a:ea typeface="Calibri" pitchFamily="34" charset="-122"/>
                <a:cs typeface="Calibri" pitchFamily="34" charset="-120"/>
              </a:rPr>
              <a:t>AI-assisted auditing tools cross-check datasets against NDPA 2023, GDPR, and FAIR principles — generating compliance gap reports automatically.</a:t>
            </a:r>
            <a:endParaRPr lang="en-US" sz="1100" dirty="0"/>
          </a:p>
        </p:txBody>
      </p:sp>
      <p:pic>
        <p:nvPicPr>
          <p:cNvPr id="23" name="Image 3" descr="preencoded.png"/>
          <p:cNvPicPr>
            <a:picLocks noChangeAspect="1"/>
          </p:cNvPicPr>
          <p:nvPr/>
        </p:nvPicPr>
        <p:blipFill>
          <a:blip r:embed="rId6"/>
          <a:stretch>
            <a:fillRect/>
          </a:stretch>
        </p:blipFill>
        <p:spPr>
          <a:xfrm>
            <a:off x="365760" y="2578608"/>
            <a:ext cx="347472" cy="347472"/>
          </a:xfrm>
          <a:prstGeom prst="rect">
            <a:avLst/>
          </a:prstGeom>
        </p:spPr>
      </p:pic>
      <p:sp>
        <p:nvSpPr>
          <p:cNvPr id="24" name="Text 17"/>
          <p:cNvSpPr/>
          <p:nvPr/>
        </p:nvSpPr>
        <p:spPr>
          <a:xfrm>
            <a:off x="777240" y="2578608"/>
            <a:ext cx="3547872" cy="347472"/>
          </a:xfrm>
          <a:prstGeom prst="rect">
            <a:avLst/>
          </a:prstGeom>
          <a:noFill/>
          <a:ln/>
        </p:spPr>
        <p:txBody>
          <a:bodyPr wrap="square" rtlCol="0" anchor="ctr"/>
          <a:lstStyle/>
          <a:p>
            <a:pPr marL="0" indent="0">
              <a:buNone/>
            </a:pPr>
            <a:r>
              <a:rPr lang="en-US" sz="1250" b="1" dirty="0">
                <a:solidFill>
                  <a:srgbClr val="0D7377"/>
                </a:solidFill>
                <a:latin typeface="Cambria" pitchFamily="34" charset="0"/>
                <a:ea typeface="Cambria" pitchFamily="34" charset="-122"/>
                <a:cs typeface="Cambria" pitchFamily="34" charset="-120"/>
              </a:rPr>
              <a:t>De-identification</a:t>
            </a:r>
            <a:endParaRPr lang="en-US" sz="1250" dirty="0"/>
          </a:p>
        </p:txBody>
      </p:sp>
      <p:sp>
        <p:nvSpPr>
          <p:cNvPr id="25" name="Text 18"/>
          <p:cNvSpPr/>
          <p:nvPr/>
        </p:nvSpPr>
        <p:spPr>
          <a:xfrm>
            <a:off x="384048" y="2999232"/>
            <a:ext cx="3931920" cy="566928"/>
          </a:xfrm>
          <a:prstGeom prst="rect">
            <a:avLst/>
          </a:prstGeom>
          <a:noFill/>
          <a:ln/>
        </p:spPr>
        <p:txBody>
          <a:bodyPr wrap="square" rtlCol="0" anchor="ctr"/>
          <a:lstStyle/>
          <a:p>
            <a:pPr marL="0" indent="0">
              <a:buNone/>
            </a:pPr>
            <a:r>
              <a:rPr lang="en-US" sz="1100" dirty="0">
                <a:solidFill>
                  <a:srgbClr val="1A2E4A"/>
                </a:solidFill>
                <a:latin typeface="Calibri" pitchFamily="34" charset="0"/>
                <a:ea typeface="Calibri" pitchFamily="34" charset="-122"/>
                <a:cs typeface="Calibri" pitchFamily="34" charset="-120"/>
              </a:rPr>
              <a:t>NLP/AI tools like ARX and Microsoft Presidio automate the removal of PII from health records, interview transcripts, and survey data at scale.</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7377"/>
          </a:solidFill>
          <a:ln w="12700">
            <a:solidFill>
              <a:srgbClr val="0D7377"/>
            </a:solidFill>
            <a:prstDash val="solid"/>
          </a:ln>
        </p:spPr>
        <p:txBody>
          <a:bodyPr/>
          <a:lstStyle/>
          <a:p>
            <a:endParaRPr lang="en-GB"/>
          </a:p>
        </p:txBody>
      </p:sp>
      <p:sp>
        <p:nvSpPr>
          <p:cNvPr id="3" name="Text 1"/>
          <p:cNvSpPr/>
          <p:nvPr/>
        </p:nvSpPr>
        <p:spPr>
          <a:xfrm>
            <a:off x="365760" y="0"/>
            <a:ext cx="8412480" cy="685800"/>
          </a:xfrm>
          <a:prstGeom prst="rect">
            <a:avLst/>
          </a:prstGeom>
          <a:noFill/>
          <a:ln/>
        </p:spPr>
        <p:txBody>
          <a:bodyPr wrap="square"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AI Tools in Bioethics &amp; Health Research: Concrete Examples</a:t>
            </a:r>
            <a:endParaRPr lang="en-US" sz="2200" dirty="0"/>
          </a:p>
        </p:txBody>
      </p:sp>
      <p:sp>
        <p:nvSpPr>
          <p:cNvPr id="4" name="Text 2"/>
          <p:cNvSpPr/>
          <p:nvPr/>
        </p:nvSpPr>
        <p:spPr>
          <a:xfrm>
            <a:off x="365760" y="777240"/>
            <a:ext cx="8412480" cy="411480"/>
          </a:xfrm>
          <a:prstGeom prst="rect">
            <a:avLst/>
          </a:prstGeom>
          <a:noFill/>
          <a:ln/>
        </p:spPr>
        <p:txBody>
          <a:bodyPr wrap="square" rtlCol="0" anchor="ctr"/>
          <a:lstStyle/>
          <a:p>
            <a:pPr marL="0" indent="0">
              <a:buNone/>
            </a:pPr>
            <a:r>
              <a:rPr lang="en-US" sz="1250" i="1" dirty="0">
                <a:solidFill>
                  <a:srgbClr val="1A2E4A"/>
                </a:solidFill>
                <a:latin typeface="Calibri" pitchFamily="34" charset="0"/>
                <a:ea typeface="Calibri" pitchFamily="34" charset="-122"/>
                <a:cs typeface="Calibri" pitchFamily="34" charset="-120"/>
              </a:rPr>
              <a:t>Scenario: A researcher at a Nigerian teaching hospital wants to use AI to analyse patient records for a chronic disease study.</a:t>
            </a:r>
            <a:endParaRPr lang="en-US" sz="1250" dirty="0"/>
          </a:p>
        </p:txBody>
      </p:sp>
      <p:sp>
        <p:nvSpPr>
          <p:cNvPr id="5" name="Shape 3"/>
          <p:cNvSpPr/>
          <p:nvPr/>
        </p:nvSpPr>
        <p:spPr>
          <a:xfrm>
            <a:off x="274320" y="1280160"/>
            <a:ext cx="8595360" cy="1115568"/>
          </a:xfrm>
          <a:prstGeom prst="roundRect">
            <a:avLst>
              <a:gd name="adj" fmla="val 7377"/>
            </a:avLst>
          </a:prstGeom>
          <a:solidFill>
            <a:srgbClr val="FFFFFF"/>
          </a:solidFill>
          <a:ln w="12700">
            <a:solidFill>
              <a:srgbClr val="DDE6F0"/>
            </a:solidFill>
            <a:prstDash val="solid"/>
          </a:ln>
          <a:effectLst>
            <a:outerShdw blurRad="101600" dist="38100" dir="2700000" algn="bl" rotWithShape="0">
              <a:srgbClr val="000000">
                <a:alpha val="12000"/>
              </a:srgbClr>
            </a:outerShdw>
          </a:effectLst>
        </p:spPr>
        <p:txBody>
          <a:bodyPr/>
          <a:lstStyle/>
          <a:p>
            <a:endParaRPr lang="en-GB"/>
          </a:p>
        </p:txBody>
      </p:sp>
      <p:sp>
        <p:nvSpPr>
          <p:cNvPr id="6" name="Shape 4"/>
          <p:cNvSpPr/>
          <p:nvPr/>
        </p:nvSpPr>
        <p:spPr>
          <a:xfrm>
            <a:off x="274320" y="1280160"/>
            <a:ext cx="1417320" cy="1115568"/>
          </a:xfrm>
          <a:prstGeom prst="roundRect">
            <a:avLst>
              <a:gd name="adj" fmla="val 7377"/>
            </a:avLst>
          </a:prstGeom>
          <a:solidFill>
            <a:srgbClr val="0D7377"/>
          </a:solidFill>
          <a:ln w="12700">
            <a:solidFill>
              <a:srgbClr val="0D7377"/>
            </a:solidFill>
            <a:prstDash val="solid"/>
          </a:ln>
        </p:spPr>
        <p:txBody>
          <a:bodyPr/>
          <a:lstStyle/>
          <a:p>
            <a:endParaRPr lang="en-GB"/>
          </a:p>
        </p:txBody>
      </p:sp>
      <p:sp>
        <p:nvSpPr>
          <p:cNvPr id="7" name="Text 5"/>
          <p:cNvSpPr/>
          <p:nvPr/>
        </p:nvSpPr>
        <p:spPr>
          <a:xfrm>
            <a:off x="274320" y="1353312"/>
            <a:ext cx="1417320" cy="502920"/>
          </a:xfrm>
          <a:prstGeom prst="rect">
            <a:avLst/>
          </a:prstGeom>
          <a:noFill/>
          <a:ln/>
        </p:spPr>
        <p:txBody>
          <a:bodyPr wrap="square"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Step 1: Data Entry</a:t>
            </a:r>
            <a:endParaRPr lang="en-US" sz="1100" dirty="0"/>
          </a:p>
        </p:txBody>
      </p:sp>
      <p:sp>
        <p:nvSpPr>
          <p:cNvPr id="8" name="Text 6"/>
          <p:cNvSpPr/>
          <p:nvPr/>
        </p:nvSpPr>
        <p:spPr>
          <a:xfrm>
            <a:off x="274320" y="1874520"/>
            <a:ext cx="1417320" cy="411480"/>
          </a:xfrm>
          <a:prstGeom prst="rect">
            <a:avLst/>
          </a:prstGeom>
          <a:noFill/>
          <a:ln/>
        </p:spPr>
        <p:txBody>
          <a:bodyPr wrap="square" rtlCol="0" anchor="ctr"/>
          <a:lstStyle/>
          <a:p>
            <a:pPr marL="0" indent="0" algn="ctr">
              <a:buNone/>
            </a:pPr>
            <a:r>
              <a:rPr lang="en-US" sz="1000" i="1" dirty="0">
                <a:solidFill>
                  <a:srgbClr val="CCE8F0"/>
                </a:solidFill>
                <a:latin typeface="Calibri" pitchFamily="34" charset="0"/>
                <a:ea typeface="Calibri" pitchFamily="34" charset="-122"/>
                <a:cs typeface="Calibri" pitchFamily="34" charset="-120"/>
              </a:rPr>
              <a:t>REDCap + NLP auto-coding</a:t>
            </a:r>
            <a:endParaRPr lang="en-US" sz="1000" dirty="0"/>
          </a:p>
        </p:txBody>
      </p:sp>
      <p:sp>
        <p:nvSpPr>
          <p:cNvPr id="9" name="Text 7"/>
          <p:cNvSpPr/>
          <p:nvPr/>
        </p:nvSpPr>
        <p:spPr>
          <a:xfrm>
            <a:off x="1783080" y="1353312"/>
            <a:ext cx="6949440" cy="960120"/>
          </a:xfrm>
          <a:prstGeom prst="rect">
            <a:avLst/>
          </a:prstGeom>
          <a:noFill/>
          <a:ln/>
        </p:spPr>
        <p:txBody>
          <a:bodyPr wrap="square" rtlCol="0" anchor="t"/>
          <a:lstStyle/>
          <a:p>
            <a:pPr marL="0" indent="0">
              <a:lnSpc>
                <a:spcPct val="150000"/>
              </a:lnSpc>
              <a:buNone/>
            </a:pPr>
            <a:r>
              <a:rPr lang="en-US" sz="1100" b="1" dirty="0">
                <a:solidFill>
                  <a:srgbClr val="1E7D44"/>
                </a:solidFill>
                <a:latin typeface="Calibri" pitchFamily="34" charset="0"/>
                <a:ea typeface="Calibri" pitchFamily="34" charset="-122"/>
                <a:cs typeface="Calibri" pitchFamily="34" charset="-120"/>
              </a:rPr>
              <a:t>✓ Benefit: </a:t>
            </a:r>
            <a:r>
              <a:rPr lang="en-US" sz="1100" dirty="0">
                <a:solidFill>
                  <a:srgbClr val="1A2E4A"/>
                </a:solidFill>
                <a:latin typeface="Calibri" pitchFamily="34" charset="0"/>
                <a:ea typeface="Calibri" pitchFamily="34" charset="-122"/>
                <a:cs typeface="Calibri" pitchFamily="34" charset="-120"/>
              </a:rPr>
              <a:t>AI auto-classifies free-text clinical notes into ICD-10 codes, reducing manual entry errors by ~40%.  </a:t>
            </a:r>
          </a:p>
          <a:p>
            <a:pPr marL="0" indent="0">
              <a:lnSpc>
                <a:spcPct val="150000"/>
              </a:lnSpc>
              <a:buNone/>
            </a:pPr>
            <a:r>
              <a:rPr lang="en-US" sz="1100" b="1" dirty="0">
                <a:solidFill>
                  <a:srgbClr val="C0392B"/>
                </a:solidFill>
                <a:latin typeface="Calibri" pitchFamily="34" charset="0"/>
                <a:ea typeface="Calibri" pitchFamily="34" charset="-122"/>
                <a:cs typeface="Calibri" pitchFamily="34" charset="-120"/>
              </a:rPr>
              <a:t>✗ Risk: </a:t>
            </a:r>
            <a:r>
              <a:rPr lang="en-US" sz="1100" dirty="0">
                <a:solidFill>
                  <a:srgbClr val="1A2E4A"/>
                </a:solidFill>
                <a:latin typeface="Calibri" pitchFamily="34" charset="0"/>
                <a:ea typeface="Calibri" pitchFamily="34" charset="-122"/>
                <a:cs typeface="Calibri" pitchFamily="34" charset="-120"/>
              </a:rPr>
              <a:t>The NLP model was pre-trained on US data — Nigerian clinical language patterns may cause misclassification.  </a:t>
            </a:r>
            <a:r>
              <a:rPr lang="en-US" sz="1100" b="1" dirty="0">
                <a:solidFill>
                  <a:srgbClr val="0D7377"/>
                </a:solidFill>
                <a:latin typeface="Calibri" pitchFamily="34" charset="0"/>
                <a:ea typeface="Calibri" pitchFamily="34" charset="-122"/>
                <a:cs typeface="Calibri" pitchFamily="34" charset="-120"/>
              </a:rPr>
              <a:t>⚙ Safeguard: </a:t>
            </a:r>
            <a:r>
              <a:rPr lang="en-US" sz="1100" dirty="0">
                <a:solidFill>
                  <a:srgbClr val="1A2E4A"/>
                </a:solidFill>
                <a:latin typeface="Calibri" pitchFamily="34" charset="0"/>
                <a:ea typeface="Calibri" pitchFamily="34" charset="-122"/>
                <a:cs typeface="Calibri" pitchFamily="34" charset="-120"/>
              </a:rPr>
              <a:t>Use a locally fine-tuned model or validate output against a clinician-reviewed gold standard.</a:t>
            </a:r>
            <a:endParaRPr lang="en-US" sz="1100" dirty="0"/>
          </a:p>
        </p:txBody>
      </p:sp>
      <p:sp>
        <p:nvSpPr>
          <p:cNvPr id="10" name="Shape 8"/>
          <p:cNvSpPr/>
          <p:nvPr/>
        </p:nvSpPr>
        <p:spPr>
          <a:xfrm>
            <a:off x="274320" y="2514600"/>
            <a:ext cx="8595360" cy="1115568"/>
          </a:xfrm>
          <a:prstGeom prst="roundRect">
            <a:avLst>
              <a:gd name="adj" fmla="val 7377"/>
            </a:avLst>
          </a:prstGeom>
          <a:solidFill>
            <a:srgbClr val="FFFFFF"/>
          </a:solidFill>
          <a:ln w="12700">
            <a:solidFill>
              <a:srgbClr val="DDE6F0"/>
            </a:solidFill>
            <a:prstDash val="solid"/>
          </a:ln>
          <a:effectLst>
            <a:outerShdw blurRad="101600" dist="38100" dir="2700000" algn="bl" rotWithShape="0">
              <a:srgbClr val="000000">
                <a:alpha val="12000"/>
              </a:srgbClr>
            </a:outerShdw>
          </a:effectLst>
        </p:spPr>
        <p:txBody>
          <a:bodyPr/>
          <a:lstStyle/>
          <a:p>
            <a:endParaRPr lang="en-GB"/>
          </a:p>
        </p:txBody>
      </p:sp>
      <p:sp>
        <p:nvSpPr>
          <p:cNvPr id="11" name="Shape 9"/>
          <p:cNvSpPr/>
          <p:nvPr/>
        </p:nvSpPr>
        <p:spPr>
          <a:xfrm>
            <a:off x="274320" y="2514600"/>
            <a:ext cx="1417320" cy="1115568"/>
          </a:xfrm>
          <a:prstGeom prst="roundRect">
            <a:avLst>
              <a:gd name="adj" fmla="val 7377"/>
            </a:avLst>
          </a:prstGeom>
          <a:solidFill>
            <a:srgbClr val="1A2E4A"/>
          </a:solidFill>
          <a:ln w="12700">
            <a:solidFill>
              <a:srgbClr val="1A2E4A"/>
            </a:solidFill>
            <a:prstDash val="solid"/>
          </a:ln>
        </p:spPr>
        <p:txBody>
          <a:bodyPr/>
          <a:lstStyle/>
          <a:p>
            <a:endParaRPr lang="en-GB"/>
          </a:p>
        </p:txBody>
      </p:sp>
      <p:sp>
        <p:nvSpPr>
          <p:cNvPr id="12" name="Text 10"/>
          <p:cNvSpPr/>
          <p:nvPr/>
        </p:nvSpPr>
        <p:spPr>
          <a:xfrm>
            <a:off x="274320" y="2587752"/>
            <a:ext cx="1417320" cy="502920"/>
          </a:xfrm>
          <a:prstGeom prst="rect">
            <a:avLst/>
          </a:prstGeom>
          <a:noFill/>
          <a:ln/>
        </p:spPr>
        <p:txBody>
          <a:bodyPr wrap="square"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Step 2: De-identification</a:t>
            </a:r>
            <a:endParaRPr lang="en-US" sz="1100" dirty="0"/>
          </a:p>
        </p:txBody>
      </p:sp>
      <p:sp>
        <p:nvSpPr>
          <p:cNvPr id="13" name="Text 11"/>
          <p:cNvSpPr/>
          <p:nvPr/>
        </p:nvSpPr>
        <p:spPr>
          <a:xfrm>
            <a:off x="274320" y="3108960"/>
            <a:ext cx="1417320" cy="411480"/>
          </a:xfrm>
          <a:prstGeom prst="rect">
            <a:avLst/>
          </a:prstGeom>
          <a:noFill/>
          <a:ln/>
        </p:spPr>
        <p:txBody>
          <a:bodyPr wrap="square" rtlCol="0" anchor="ctr"/>
          <a:lstStyle/>
          <a:p>
            <a:pPr marL="0" indent="0" algn="ctr">
              <a:buNone/>
            </a:pPr>
            <a:r>
              <a:rPr lang="en-US" sz="1000" i="1" dirty="0">
                <a:solidFill>
                  <a:srgbClr val="CCE8F0"/>
                </a:solidFill>
                <a:latin typeface="Calibri" pitchFamily="34" charset="0"/>
                <a:ea typeface="Calibri" pitchFamily="34" charset="-122"/>
                <a:cs typeface="Calibri" pitchFamily="34" charset="-120"/>
              </a:rPr>
              <a:t>Microsoft Presidio / ARX</a:t>
            </a:r>
            <a:endParaRPr lang="en-US" sz="1000" dirty="0"/>
          </a:p>
        </p:txBody>
      </p:sp>
      <p:sp>
        <p:nvSpPr>
          <p:cNvPr id="14" name="Text 12"/>
          <p:cNvSpPr/>
          <p:nvPr/>
        </p:nvSpPr>
        <p:spPr>
          <a:xfrm>
            <a:off x="1783080" y="2587752"/>
            <a:ext cx="6949440" cy="960120"/>
          </a:xfrm>
          <a:prstGeom prst="rect">
            <a:avLst/>
          </a:prstGeom>
          <a:noFill/>
          <a:ln/>
        </p:spPr>
        <p:txBody>
          <a:bodyPr wrap="square" rtlCol="0" anchor="t"/>
          <a:lstStyle/>
          <a:p>
            <a:pPr marL="0" indent="0">
              <a:lnSpc>
                <a:spcPct val="150000"/>
              </a:lnSpc>
              <a:buNone/>
            </a:pPr>
            <a:r>
              <a:rPr lang="en-US" sz="1100" b="1" dirty="0">
                <a:solidFill>
                  <a:srgbClr val="1E7D44"/>
                </a:solidFill>
                <a:latin typeface="Calibri" pitchFamily="34" charset="0"/>
                <a:ea typeface="Calibri" pitchFamily="34" charset="-122"/>
                <a:cs typeface="Calibri" pitchFamily="34" charset="-120"/>
              </a:rPr>
              <a:t>✓ Benefit: </a:t>
            </a:r>
            <a:r>
              <a:rPr lang="en-US" sz="1100" dirty="0">
                <a:solidFill>
                  <a:srgbClr val="1A2E4A"/>
                </a:solidFill>
                <a:latin typeface="Calibri" pitchFamily="34" charset="0"/>
                <a:ea typeface="Calibri" pitchFamily="34" charset="-122"/>
                <a:cs typeface="Calibri" pitchFamily="34" charset="-120"/>
              </a:rPr>
              <a:t>Automatically strips names, phone numbers, addresses, facility codes from 10,000 records in minutes.  </a:t>
            </a:r>
          </a:p>
          <a:p>
            <a:pPr marL="0" indent="0">
              <a:lnSpc>
                <a:spcPct val="150000"/>
              </a:lnSpc>
              <a:buNone/>
            </a:pPr>
            <a:r>
              <a:rPr lang="en-US" sz="1100" b="1" dirty="0">
                <a:solidFill>
                  <a:srgbClr val="C0392B"/>
                </a:solidFill>
                <a:latin typeface="Calibri" pitchFamily="34" charset="0"/>
                <a:ea typeface="Calibri" pitchFamily="34" charset="-122"/>
                <a:cs typeface="Calibri" pitchFamily="34" charset="-120"/>
              </a:rPr>
              <a:t>✗ Risk: </a:t>
            </a:r>
            <a:r>
              <a:rPr lang="en-US" sz="1100" dirty="0">
                <a:solidFill>
                  <a:srgbClr val="1A2E4A"/>
                </a:solidFill>
                <a:latin typeface="Calibri" pitchFamily="34" charset="0"/>
                <a:ea typeface="Calibri" pitchFamily="34" charset="-122"/>
                <a:cs typeface="Calibri" pitchFamily="34" charset="-120"/>
              </a:rPr>
              <a:t>Does not catch indirect identifiers: a combination of age, village, and rare disease may still re-identify patients.  </a:t>
            </a:r>
            <a:r>
              <a:rPr lang="en-US" sz="1100" b="1" dirty="0">
                <a:solidFill>
                  <a:srgbClr val="0D7377"/>
                </a:solidFill>
                <a:latin typeface="Calibri" pitchFamily="34" charset="0"/>
                <a:ea typeface="Calibri" pitchFamily="34" charset="-122"/>
                <a:cs typeface="Calibri" pitchFamily="34" charset="-120"/>
              </a:rPr>
              <a:t>⚙ Safeguard: </a:t>
            </a:r>
            <a:r>
              <a:rPr lang="en-US" sz="1100" dirty="0">
                <a:solidFill>
                  <a:srgbClr val="1A2E4A"/>
                </a:solidFill>
                <a:latin typeface="Calibri" pitchFamily="34" charset="0"/>
                <a:ea typeface="Calibri" pitchFamily="34" charset="-122"/>
                <a:cs typeface="Calibri" pitchFamily="34" charset="-120"/>
              </a:rPr>
              <a:t>Apply k-anonymity (k≥5) after automatic de-identification. Verify with a human reviewer on a 10% sample.</a:t>
            </a:r>
            <a:endParaRPr lang="en-US" sz="1100" dirty="0"/>
          </a:p>
        </p:txBody>
      </p:sp>
      <p:sp>
        <p:nvSpPr>
          <p:cNvPr id="15" name="Shape 13"/>
          <p:cNvSpPr/>
          <p:nvPr/>
        </p:nvSpPr>
        <p:spPr>
          <a:xfrm>
            <a:off x="274320" y="3749040"/>
            <a:ext cx="8595360" cy="1115568"/>
          </a:xfrm>
          <a:prstGeom prst="roundRect">
            <a:avLst>
              <a:gd name="adj" fmla="val 7377"/>
            </a:avLst>
          </a:prstGeom>
          <a:solidFill>
            <a:srgbClr val="FFFFFF"/>
          </a:solidFill>
          <a:ln w="12700">
            <a:solidFill>
              <a:srgbClr val="DDE6F0"/>
            </a:solidFill>
            <a:prstDash val="solid"/>
          </a:ln>
          <a:effectLst>
            <a:outerShdw blurRad="101600" dist="38100" dir="2700000" algn="bl" rotWithShape="0">
              <a:srgbClr val="000000">
                <a:alpha val="12000"/>
              </a:srgbClr>
            </a:outerShdw>
          </a:effectLst>
        </p:spPr>
        <p:txBody>
          <a:bodyPr/>
          <a:lstStyle/>
          <a:p>
            <a:endParaRPr lang="en-GB"/>
          </a:p>
        </p:txBody>
      </p:sp>
      <p:sp>
        <p:nvSpPr>
          <p:cNvPr id="16" name="Shape 14"/>
          <p:cNvSpPr/>
          <p:nvPr/>
        </p:nvSpPr>
        <p:spPr>
          <a:xfrm>
            <a:off x="274320" y="3749040"/>
            <a:ext cx="1417320" cy="1115568"/>
          </a:xfrm>
          <a:prstGeom prst="roundRect">
            <a:avLst>
              <a:gd name="adj" fmla="val 7377"/>
            </a:avLst>
          </a:prstGeom>
          <a:solidFill>
            <a:srgbClr val="0D7377"/>
          </a:solidFill>
          <a:ln w="12700">
            <a:solidFill>
              <a:srgbClr val="0D7377"/>
            </a:solidFill>
            <a:prstDash val="solid"/>
          </a:ln>
        </p:spPr>
        <p:txBody>
          <a:bodyPr/>
          <a:lstStyle/>
          <a:p>
            <a:endParaRPr lang="en-GB"/>
          </a:p>
        </p:txBody>
      </p:sp>
      <p:sp>
        <p:nvSpPr>
          <p:cNvPr id="17" name="Text 15"/>
          <p:cNvSpPr/>
          <p:nvPr/>
        </p:nvSpPr>
        <p:spPr>
          <a:xfrm>
            <a:off x="274320" y="3822192"/>
            <a:ext cx="1417320" cy="502920"/>
          </a:xfrm>
          <a:prstGeom prst="rect">
            <a:avLst/>
          </a:prstGeom>
          <a:noFill/>
          <a:ln/>
        </p:spPr>
        <p:txBody>
          <a:bodyPr wrap="square"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Step 3: Analysis</a:t>
            </a:r>
            <a:endParaRPr lang="en-US" sz="1100" dirty="0"/>
          </a:p>
        </p:txBody>
      </p:sp>
      <p:sp>
        <p:nvSpPr>
          <p:cNvPr id="18" name="Text 16"/>
          <p:cNvSpPr/>
          <p:nvPr/>
        </p:nvSpPr>
        <p:spPr>
          <a:xfrm>
            <a:off x="274320" y="4343400"/>
            <a:ext cx="1417320" cy="411480"/>
          </a:xfrm>
          <a:prstGeom prst="rect">
            <a:avLst/>
          </a:prstGeom>
          <a:noFill/>
          <a:ln/>
        </p:spPr>
        <p:txBody>
          <a:bodyPr wrap="square" rtlCol="0" anchor="ctr"/>
          <a:lstStyle/>
          <a:p>
            <a:pPr marL="0" indent="0" algn="ctr">
              <a:buNone/>
            </a:pPr>
            <a:r>
              <a:rPr lang="en-US" sz="1000" i="1" dirty="0">
                <a:solidFill>
                  <a:srgbClr val="CCE8F0"/>
                </a:solidFill>
                <a:latin typeface="Calibri" pitchFamily="34" charset="0"/>
                <a:ea typeface="Calibri" pitchFamily="34" charset="-122"/>
                <a:cs typeface="Calibri" pitchFamily="34" charset="-120"/>
              </a:rPr>
              <a:t>Federated Learning (e.g., PySyft, Flower)</a:t>
            </a:r>
            <a:endParaRPr lang="en-US" sz="1000" dirty="0"/>
          </a:p>
        </p:txBody>
      </p:sp>
      <p:sp>
        <p:nvSpPr>
          <p:cNvPr id="19" name="Text 17"/>
          <p:cNvSpPr/>
          <p:nvPr/>
        </p:nvSpPr>
        <p:spPr>
          <a:xfrm>
            <a:off x="1783080" y="3822192"/>
            <a:ext cx="6949440" cy="960120"/>
          </a:xfrm>
          <a:prstGeom prst="rect">
            <a:avLst/>
          </a:prstGeom>
          <a:noFill/>
          <a:ln/>
        </p:spPr>
        <p:txBody>
          <a:bodyPr wrap="square" rtlCol="0" anchor="t"/>
          <a:lstStyle/>
          <a:p>
            <a:pPr marL="0" indent="0">
              <a:lnSpc>
                <a:spcPct val="150000"/>
              </a:lnSpc>
              <a:buNone/>
            </a:pPr>
            <a:r>
              <a:rPr lang="en-US" sz="1100" b="1" dirty="0">
                <a:solidFill>
                  <a:srgbClr val="1E7D44"/>
                </a:solidFill>
                <a:latin typeface="Calibri" pitchFamily="34" charset="0"/>
                <a:ea typeface="Calibri" pitchFamily="34" charset="-122"/>
                <a:cs typeface="Calibri" pitchFamily="34" charset="-120"/>
              </a:rPr>
              <a:t>✓ Benefit: </a:t>
            </a:r>
            <a:r>
              <a:rPr lang="en-US" sz="1100" dirty="0">
                <a:solidFill>
                  <a:srgbClr val="1A2E4A"/>
                </a:solidFill>
                <a:latin typeface="Calibri" pitchFamily="34" charset="0"/>
                <a:ea typeface="Calibri" pitchFamily="34" charset="-122"/>
                <a:cs typeface="Calibri" pitchFamily="34" charset="-120"/>
              </a:rPr>
              <a:t>Train a prediction model across three hospitals without any patient data leaving the institution.  </a:t>
            </a:r>
          </a:p>
          <a:p>
            <a:pPr marL="0" indent="0">
              <a:lnSpc>
                <a:spcPct val="150000"/>
              </a:lnSpc>
              <a:buNone/>
            </a:pPr>
            <a:r>
              <a:rPr lang="en-US" sz="1100" b="1" dirty="0">
                <a:solidFill>
                  <a:srgbClr val="C0392B"/>
                </a:solidFill>
                <a:latin typeface="Calibri" pitchFamily="34" charset="0"/>
                <a:ea typeface="Calibri" pitchFamily="34" charset="-122"/>
                <a:cs typeface="Calibri" pitchFamily="34" charset="-120"/>
              </a:rPr>
              <a:t>✗ Risk: </a:t>
            </a:r>
            <a:r>
              <a:rPr lang="en-US" sz="1100" dirty="0">
                <a:solidFill>
                  <a:srgbClr val="1A2E4A"/>
                </a:solidFill>
                <a:latin typeface="Calibri" pitchFamily="34" charset="0"/>
                <a:ea typeface="Calibri" pitchFamily="34" charset="-122"/>
                <a:cs typeface="Calibri" pitchFamily="34" charset="-120"/>
              </a:rPr>
              <a:t>Gradient leakage attacks can still infer training data from model updates.  </a:t>
            </a:r>
          </a:p>
          <a:p>
            <a:pPr marL="0" indent="0">
              <a:lnSpc>
                <a:spcPct val="150000"/>
              </a:lnSpc>
              <a:buNone/>
            </a:pPr>
            <a:r>
              <a:rPr lang="en-US" sz="1100" b="1" dirty="0">
                <a:solidFill>
                  <a:srgbClr val="0D7377"/>
                </a:solidFill>
                <a:latin typeface="Calibri" pitchFamily="34" charset="0"/>
                <a:ea typeface="Calibri" pitchFamily="34" charset="-122"/>
                <a:cs typeface="Calibri" pitchFamily="34" charset="-120"/>
              </a:rPr>
              <a:t>⚙ Safeguard: </a:t>
            </a:r>
            <a:r>
              <a:rPr lang="en-US" sz="1100" dirty="0">
                <a:solidFill>
                  <a:srgbClr val="1A2E4A"/>
                </a:solidFill>
                <a:latin typeface="Calibri" pitchFamily="34" charset="0"/>
                <a:ea typeface="Calibri" pitchFamily="34" charset="-122"/>
                <a:cs typeface="Calibri" pitchFamily="34" charset="-120"/>
              </a:rPr>
              <a:t>Add differential privacy (ε≤1.0) to model update aggregation. Document in your DMP.</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2E4A"/>
          </a:solidFill>
          <a:ln w="12700">
            <a:solidFill>
              <a:srgbClr val="1A2E4A"/>
            </a:solidFill>
            <a:prstDash val="solid"/>
          </a:ln>
        </p:spPr>
        <p:txBody>
          <a:bodyPr/>
          <a:lstStyle/>
          <a:p>
            <a:endParaRPr lang="en-GB"/>
          </a:p>
        </p:txBody>
      </p:sp>
      <p:sp>
        <p:nvSpPr>
          <p:cNvPr id="3" name="Text 1"/>
          <p:cNvSpPr/>
          <p:nvPr/>
        </p:nvSpPr>
        <p:spPr>
          <a:xfrm>
            <a:off x="365760" y="0"/>
            <a:ext cx="8412480" cy="685800"/>
          </a:xfrm>
          <a:prstGeom prst="rect">
            <a:avLst/>
          </a:prstGeom>
          <a:noFill/>
          <a:ln/>
        </p:spPr>
        <p:txBody>
          <a:bodyPr wrap="square"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Policy Framework Landscape: What the Law Says</a:t>
            </a:r>
            <a:endParaRPr lang="en-US" sz="2200" dirty="0"/>
          </a:p>
        </p:txBody>
      </p:sp>
      <p:sp>
        <p:nvSpPr>
          <p:cNvPr id="4" name="Shape 2"/>
          <p:cNvSpPr/>
          <p:nvPr/>
        </p:nvSpPr>
        <p:spPr>
          <a:xfrm>
            <a:off x="274320" y="804672"/>
            <a:ext cx="4160520" cy="4114800"/>
          </a:xfrm>
          <a:prstGeom prst="roundRect">
            <a:avLst>
              <a:gd name="adj" fmla="val 2222"/>
            </a:avLst>
          </a:prstGeom>
          <a:solidFill>
            <a:srgbClr val="FFFFFF"/>
          </a:solidFill>
          <a:ln w="12700">
            <a:solidFill>
              <a:srgbClr val="DDE6F0"/>
            </a:solidFill>
            <a:prstDash val="solid"/>
          </a:ln>
          <a:effectLst>
            <a:outerShdw blurRad="101600" dist="38100" dir="2700000" algn="bl" rotWithShape="0">
              <a:srgbClr val="000000">
                <a:alpha val="12000"/>
              </a:srgbClr>
            </a:outerShdw>
          </a:effectLst>
        </p:spPr>
        <p:txBody>
          <a:bodyPr/>
          <a:lstStyle/>
          <a:p>
            <a:endParaRPr lang="en-GB"/>
          </a:p>
        </p:txBody>
      </p:sp>
      <p:sp>
        <p:nvSpPr>
          <p:cNvPr id="5" name="Text 3"/>
          <p:cNvSpPr/>
          <p:nvPr/>
        </p:nvSpPr>
        <p:spPr>
          <a:xfrm>
            <a:off x="457200" y="868680"/>
            <a:ext cx="3794760" cy="384048"/>
          </a:xfrm>
          <a:prstGeom prst="rect">
            <a:avLst/>
          </a:prstGeom>
          <a:noFill/>
          <a:ln/>
        </p:spPr>
        <p:txBody>
          <a:bodyPr wrap="square" rtlCol="0" anchor="ctr"/>
          <a:lstStyle/>
          <a:p>
            <a:pPr marL="0" indent="0">
              <a:buNone/>
            </a:pPr>
            <a:r>
              <a:rPr lang="en-US" sz="1400" b="1" dirty="0">
                <a:solidFill>
                  <a:srgbClr val="1A2E4A"/>
                </a:solidFill>
                <a:latin typeface="Cambria" pitchFamily="34" charset="0"/>
                <a:ea typeface="Cambria" pitchFamily="34" charset="-122"/>
                <a:cs typeface="Cambria" pitchFamily="34" charset="-120"/>
              </a:rPr>
              <a:t>🇳🇬  Nigeria &amp; Africa</a:t>
            </a:r>
            <a:endParaRPr lang="en-US" sz="1400" dirty="0"/>
          </a:p>
        </p:txBody>
      </p:sp>
      <p:sp>
        <p:nvSpPr>
          <p:cNvPr id="6" name="Text 4"/>
          <p:cNvSpPr/>
          <p:nvPr/>
        </p:nvSpPr>
        <p:spPr>
          <a:xfrm>
            <a:off x="457200" y="1325880"/>
            <a:ext cx="3840480" cy="3383280"/>
          </a:xfrm>
          <a:prstGeom prst="rect">
            <a:avLst/>
          </a:prstGeom>
          <a:noFill/>
          <a:ln/>
        </p:spPr>
        <p:txBody>
          <a:bodyPr wrap="square" rtlCol="0" anchor="ctr"/>
          <a:lstStyle/>
          <a:p>
            <a:pPr marL="0" indent="0">
              <a:buNone/>
            </a:pPr>
            <a:r>
              <a:rPr lang="en-US" sz="1150" b="1" dirty="0">
                <a:solidFill>
                  <a:srgbClr val="1A2E4A"/>
                </a:solidFill>
                <a:latin typeface="Calibri" pitchFamily="34" charset="0"/>
                <a:ea typeface="Calibri" pitchFamily="34" charset="-122"/>
                <a:cs typeface="Calibri" pitchFamily="34" charset="-120"/>
              </a:rPr>
              <a:t>NDPA 2023 (Nigeria Data Protection Act)</a:t>
            </a:r>
            <a:endParaRPr lang="en-US" sz="1150" dirty="0"/>
          </a:p>
          <a:p>
            <a:pPr marL="0" indent="0">
              <a:buNone/>
            </a:pPr>
            <a:r>
              <a:rPr lang="en-US" sz="1150" dirty="0">
                <a:solidFill>
                  <a:srgbClr val="1A2E4A"/>
                </a:solidFill>
                <a:latin typeface="Calibri" pitchFamily="34" charset="0"/>
                <a:ea typeface="Calibri" pitchFamily="34" charset="-122"/>
                <a:cs typeface="Calibri" pitchFamily="34" charset="-120"/>
              </a:rPr>
              <a:t>Supersedes NDPR 2019. Applies to all research on Nigerian subjects. Requires DPO, DPIA, 72-hr breach notification, data minimisation, and lawful basis for processing.
</a:t>
            </a:r>
            <a:endParaRPr lang="en-US" sz="1150" dirty="0"/>
          </a:p>
          <a:p>
            <a:pPr marL="0" indent="0">
              <a:buNone/>
            </a:pPr>
            <a:r>
              <a:rPr lang="en-US" sz="1150" b="1" dirty="0">
                <a:solidFill>
                  <a:srgbClr val="1A2E4A"/>
                </a:solidFill>
                <a:latin typeface="Calibri" pitchFamily="34" charset="0"/>
                <a:ea typeface="Calibri" pitchFamily="34" charset="-122"/>
                <a:cs typeface="Calibri" pitchFamily="34" charset="-120"/>
              </a:rPr>
              <a:t>NITDA Guidelines</a:t>
            </a:r>
            <a:endParaRPr lang="en-US" sz="1150" dirty="0"/>
          </a:p>
          <a:p>
            <a:pPr marL="0" indent="0">
              <a:buNone/>
            </a:pPr>
            <a:r>
              <a:rPr lang="en-US" sz="1150" dirty="0">
                <a:solidFill>
                  <a:srgbClr val="1A2E4A"/>
                </a:solidFill>
                <a:latin typeface="Calibri" pitchFamily="34" charset="0"/>
                <a:ea typeface="Calibri" pitchFamily="34" charset="-122"/>
                <a:cs typeface="Calibri" pitchFamily="34" charset="-120"/>
              </a:rPr>
              <a:t>Compliance audits mandatory for data controllers. DPO appointment required for large-scale processing.
</a:t>
            </a:r>
            <a:endParaRPr lang="en-US" sz="1150" dirty="0"/>
          </a:p>
          <a:p>
            <a:pPr marL="0" indent="0">
              <a:buNone/>
            </a:pPr>
            <a:r>
              <a:rPr lang="en-US" sz="1150" b="1" dirty="0">
                <a:solidFill>
                  <a:srgbClr val="1A2E4A"/>
                </a:solidFill>
                <a:latin typeface="Calibri" pitchFamily="34" charset="0"/>
                <a:ea typeface="Calibri" pitchFamily="34" charset="-122"/>
                <a:cs typeface="Calibri" pitchFamily="34" charset="-120"/>
              </a:rPr>
              <a:t>NHREC Guidelines</a:t>
            </a:r>
            <a:endParaRPr lang="en-US" sz="1150" dirty="0"/>
          </a:p>
          <a:p>
            <a:pPr marL="0" indent="0">
              <a:buNone/>
            </a:pPr>
            <a:r>
              <a:rPr lang="en-US" sz="1150" dirty="0">
                <a:solidFill>
                  <a:srgbClr val="1A2E4A"/>
                </a:solidFill>
                <a:latin typeface="Calibri" pitchFamily="34" charset="0"/>
                <a:ea typeface="Calibri" pitchFamily="34" charset="-122"/>
                <a:cs typeface="Calibri" pitchFamily="34" charset="-120"/>
              </a:rPr>
              <a:t>National Health Research Ethics Committee: data security is a condition of ethical clearance.
</a:t>
            </a:r>
            <a:endParaRPr lang="en-US" sz="1150" dirty="0"/>
          </a:p>
          <a:p>
            <a:pPr marL="0" indent="0">
              <a:buNone/>
            </a:pPr>
            <a:r>
              <a:rPr lang="en-US" sz="1150" b="1" dirty="0">
                <a:solidFill>
                  <a:srgbClr val="1A2E4A"/>
                </a:solidFill>
                <a:latin typeface="Calibri" pitchFamily="34" charset="0"/>
                <a:ea typeface="Calibri" pitchFamily="34" charset="-122"/>
                <a:cs typeface="Calibri" pitchFamily="34" charset="-120"/>
              </a:rPr>
              <a:t>NCAIR AI Ethics Framework (2024 draft)</a:t>
            </a:r>
            <a:endParaRPr lang="en-US" sz="1150" dirty="0"/>
          </a:p>
          <a:p>
            <a:pPr marL="0" indent="0">
              <a:buNone/>
            </a:pPr>
            <a:r>
              <a:rPr lang="en-US" sz="1150" dirty="0">
                <a:solidFill>
                  <a:srgbClr val="1A2E4A"/>
                </a:solidFill>
                <a:latin typeface="Calibri" pitchFamily="34" charset="0"/>
                <a:ea typeface="Calibri" pitchFamily="34" charset="-122"/>
                <a:cs typeface="Calibri" pitchFamily="34" charset="-120"/>
              </a:rPr>
              <a:t>Data minimisation and bias audits required for AI-assisted health research.</a:t>
            </a:r>
            <a:endParaRPr lang="en-US" sz="1150" dirty="0"/>
          </a:p>
        </p:txBody>
      </p:sp>
      <p:sp>
        <p:nvSpPr>
          <p:cNvPr id="7" name="Shape 5"/>
          <p:cNvSpPr/>
          <p:nvPr/>
        </p:nvSpPr>
        <p:spPr>
          <a:xfrm>
            <a:off x="4709160" y="804672"/>
            <a:ext cx="4160520" cy="4114800"/>
          </a:xfrm>
          <a:prstGeom prst="roundRect">
            <a:avLst>
              <a:gd name="adj" fmla="val 2222"/>
            </a:avLst>
          </a:prstGeom>
          <a:solidFill>
            <a:srgbClr val="1A2E4A"/>
          </a:solidFill>
          <a:ln w="12700">
            <a:solidFill>
              <a:srgbClr val="0D7377"/>
            </a:solidFill>
            <a:prstDash val="solid"/>
          </a:ln>
          <a:effectLst>
            <a:outerShdw blurRad="101600" dist="38100" dir="2700000" algn="bl" rotWithShape="0">
              <a:srgbClr val="000000">
                <a:alpha val="12000"/>
              </a:srgbClr>
            </a:outerShdw>
          </a:effectLst>
        </p:spPr>
        <p:txBody>
          <a:bodyPr/>
          <a:lstStyle/>
          <a:p>
            <a:endParaRPr lang="en-GB"/>
          </a:p>
        </p:txBody>
      </p:sp>
      <p:sp>
        <p:nvSpPr>
          <p:cNvPr id="8" name="Text 6"/>
          <p:cNvSpPr/>
          <p:nvPr/>
        </p:nvSpPr>
        <p:spPr>
          <a:xfrm>
            <a:off x="4892040" y="868680"/>
            <a:ext cx="3794760" cy="384048"/>
          </a:xfrm>
          <a:prstGeom prst="rect">
            <a:avLst/>
          </a:prstGeom>
          <a:noFill/>
          <a:ln/>
        </p:spPr>
        <p:txBody>
          <a:bodyPr wrap="square" rtlCol="0" anchor="ctr"/>
          <a:lstStyle/>
          <a:p>
            <a:pPr marL="0" indent="0">
              <a:buNone/>
            </a:pPr>
            <a:r>
              <a:rPr lang="en-US" sz="1400" b="1" dirty="0">
                <a:solidFill>
                  <a:srgbClr val="14ABAB"/>
                </a:solidFill>
                <a:latin typeface="Cambria" pitchFamily="34" charset="0"/>
                <a:ea typeface="Cambria" pitchFamily="34" charset="-122"/>
                <a:cs typeface="Cambria" pitchFamily="34" charset="-120"/>
              </a:rPr>
              <a:t>🌍  International Frameworks</a:t>
            </a:r>
            <a:endParaRPr lang="en-US" sz="1400" dirty="0"/>
          </a:p>
        </p:txBody>
      </p:sp>
      <p:sp>
        <p:nvSpPr>
          <p:cNvPr id="9" name="Text 7"/>
          <p:cNvSpPr/>
          <p:nvPr/>
        </p:nvSpPr>
        <p:spPr>
          <a:xfrm>
            <a:off x="4892040" y="1325880"/>
            <a:ext cx="3840480" cy="3383280"/>
          </a:xfrm>
          <a:prstGeom prst="rect">
            <a:avLst/>
          </a:prstGeom>
          <a:noFill/>
          <a:ln/>
        </p:spPr>
        <p:txBody>
          <a:bodyPr wrap="square" rtlCol="0" anchor="ctr"/>
          <a:lstStyle/>
          <a:p>
            <a:pPr marL="0" indent="0">
              <a:buNone/>
            </a:pPr>
            <a:r>
              <a:rPr lang="en-US" sz="1150" b="1" dirty="0">
                <a:solidFill>
                  <a:srgbClr val="14ABAB"/>
                </a:solidFill>
                <a:latin typeface="Calibri" pitchFamily="34" charset="0"/>
                <a:ea typeface="Calibri" pitchFamily="34" charset="-122"/>
                <a:cs typeface="Calibri" pitchFamily="34" charset="-120"/>
              </a:rPr>
              <a:t>EU GDPR</a:t>
            </a:r>
            <a:endParaRPr lang="en-US" sz="1150" dirty="0"/>
          </a:p>
          <a:p>
            <a:pPr marL="0" indent="0">
              <a:buNone/>
            </a:pPr>
            <a:r>
              <a:rPr lang="en-US" sz="1150" dirty="0">
                <a:solidFill>
                  <a:srgbClr val="DDECF8"/>
                </a:solidFill>
                <a:latin typeface="Calibri" pitchFamily="34" charset="0"/>
                <a:ea typeface="Calibri" pitchFamily="34" charset="-122"/>
                <a:cs typeface="Calibri" pitchFamily="34" charset="-120"/>
              </a:rPr>
              <a:t>Applies when ANY participant is EU-based or data is transferred to EU servers. Right to erasure, data portability, lawful basis.
</a:t>
            </a:r>
            <a:endParaRPr lang="en-US" sz="1150" dirty="0"/>
          </a:p>
          <a:p>
            <a:pPr marL="0" indent="0">
              <a:buNone/>
            </a:pPr>
            <a:r>
              <a:rPr lang="en-US" sz="1150" b="1" dirty="0">
                <a:solidFill>
                  <a:srgbClr val="14ABAB"/>
                </a:solidFill>
                <a:latin typeface="Calibri" pitchFamily="34" charset="0"/>
                <a:ea typeface="Calibri" pitchFamily="34" charset="-122"/>
                <a:cs typeface="Calibri" pitchFamily="34" charset="-120"/>
              </a:rPr>
              <a:t>POPIA — South Africa</a:t>
            </a:r>
            <a:endParaRPr lang="en-US" sz="1150" dirty="0"/>
          </a:p>
          <a:p>
            <a:pPr marL="0" indent="0">
              <a:buNone/>
            </a:pPr>
            <a:r>
              <a:rPr lang="en-US" sz="1150" dirty="0">
                <a:solidFill>
                  <a:srgbClr val="DDECF8"/>
                </a:solidFill>
                <a:latin typeface="Calibri" pitchFamily="34" charset="0"/>
                <a:ea typeface="Calibri" pitchFamily="34" charset="-122"/>
                <a:cs typeface="Calibri" pitchFamily="34" charset="-120"/>
              </a:rPr>
              <a:t>Protection of Personal Information Act 2021. Cross-border data transfers require POPIA-compliant contracts.
</a:t>
            </a:r>
            <a:endParaRPr lang="en-US" sz="1150" dirty="0"/>
          </a:p>
          <a:p>
            <a:pPr marL="0" indent="0">
              <a:buNone/>
            </a:pPr>
            <a:r>
              <a:rPr lang="en-US" sz="1150" b="1" dirty="0">
                <a:solidFill>
                  <a:srgbClr val="14ABAB"/>
                </a:solidFill>
                <a:latin typeface="Calibri" pitchFamily="34" charset="0"/>
                <a:ea typeface="Calibri" pitchFamily="34" charset="-122"/>
                <a:cs typeface="Calibri" pitchFamily="34" charset="-120"/>
              </a:rPr>
              <a:t>WHO/CIOMS International Guidelines</a:t>
            </a:r>
            <a:endParaRPr lang="en-US" sz="1150" dirty="0"/>
          </a:p>
          <a:p>
            <a:pPr marL="0" indent="0">
              <a:buNone/>
            </a:pPr>
            <a:r>
              <a:rPr lang="en-US" sz="1150" dirty="0">
                <a:solidFill>
                  <a:srgbClr val="DDECF8"/>
                </a:solidFill>
                <a:latin typeface="Calibri" pitchFamily="34" charset="0"/>
                <a:ea typeface="Calibri" pitchFamily="34" charset="-122"/>
                <a:cs typeface="Calibri" pitchFamily="34" charset="-120"/>
              </a:rPr>
              <a:t>Standards for ethical health research involving human subjects — includes data security requirements.
</a:t>
            </a:r>
            <a:endParaRPr lang="en-US" sz="1150" dirty="0"/>
          </a:p>
          <a:p>
            <a:pPr marL="0" indent="0">
              <a:buNone/>
            </a:pPr>
            <a:r>
              <a:rPr lang="en-US" sz="1150" b="1" dirty="0">
                <a:solidFill>
                  <a:srgbClr val="14ABAB"/>
                </a:solidFill>
                <a:latin typeface="Calibri" pitchFamily="34" charset="0"/>
                <a:ea typeface="Calibri" pitchFamily="34" charset="-122"/>
                <a:cs typeface="Calibri" pitchFamily="34" charset="-120"/>
              </a:rPr>
              <a:t>ISO/IEC 27001 + NIST SP 800-53</a:t>
            </a:r>
            <a:endParaRPr lang="en-US" sz="1150" dirty="0"/>
          </a:p>
          <a:p>
            <a:pPr marL="0" indent="0">
              <a:buNone/>
            </a:pPr>
            <a:r>
              <a:rPr lang="en-US" sz="1150" dirty="0">
                <a:solidFill>
                  <a:srgbClr val="DDECF8"/>
                </a:solidFill>
                <a:latin typeface="Calibri" pitchFamily="34" charset="0"/>
                <a:ea typeface="Calibri" pitchFamily="34" charset="-122"/>
                <a:cs typeface="Calibri" pitchFamily="34" charset="-120"/>
              </a:rPr>
              <a:t>Information security management standards. Increasingly required by international research funders (Wellcome, NIH, MRC).</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7377"/>
          </a:solidFill>
          <a:ln w="12700">
            <a:solidFill>
              <a:srgbClr val="0D7377"/>
            </a:solidFill>
            <a:prstDash val="solid"/>
          </a:ln>
        </p:spPr>
        <p:txBody>
          <a:bodyPr/>
          <a:lstStyle/>
          <a:p>
            <a:endParaRPr lang="en-GB"/>
          </a:p>
        </p:txBody>
      </p:sp>
      <p:sp>
        <p:nvSpPr>
          <p:cNvPr id="3" name="Text 1"/>
          <p:cNvSpPr/>
          <p:nvPr/>
        </p:nvSpPr>
        <p:spPr>
          <a:xfrm>
            <a:off x="365760" y="0"/>
            <a:ext cx="8412480" cy="685800"/>
          </a:xfrm>
          <a:prstGeom prst="rect">
            <a:avLst/>
          </a:prstGeom>
          <a:noFill/>
          <a:ln/>
        </p:spPr>
        <p:txBody>
          <a:bodyPr wrap="square"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FAIR Data Principles — The Standard for Responsible Research Data</a:t>
            </a:r>
            <a:endParaRPr lang="en-US" sz="2200" dirty="0"/>
          </a:p>
        </p:txBody>
      </p:sp>
      <p:sp>
        <p:nvSpPr>
          <p:cNvPr id="4" name="Text 2"/>
          <p:cNvSpPr/>
          <p:nvPr/>
        </p:nvSpPr>
        <p:spPr>
          <a:xfrm>
            <a:off x="365760" y="749808"/>
            <a:ext cx="8412480" cy="292608"/>
          </a:xfrm>
          <a:prstGeom prst="rect">
            <a:avLst/>
          </a:prstGeom>
          <a:noFill/>
          <a:ln/>
        </p:spPr>
        <p:txBody>
          <a:bodyPr wrap="square" rtlCol="0" anchor="ctr"/>
          <a:lstStyle/>
          <a:p>
            <a:pPr marL="0" indent="0">
              <a:buNone/>
            </a:pPr>
            <a:r>
              <a:rPr lang="en-US" sz="1100" i="1" dirty="0">
                <a:solidFill>
                  <a:srgbClr val="6B7A8D"/>
                </a:solidFill>
                <a:latin typeface="Calibri" pitchFamily="34" charset="0"/>
                <a:ea typeface="Calibri" pitchFamily="34" charset="-122"/>
                <a:cs typeface="Calibri" pitchFamily="34" charset="-120"/>
              </a:rPr>
              <a:t>Wilkinson et al. (2016), Scientific Data. Adopted by Wellcome Trust, NIH, EU Horizon, and NDPA data governance frameworks.</a:t>
            </a:r>
            <a:endParaRPr lang="en-US" sz="1100" dirty="0"/>
          </a:p>
        </p:txBody>
      </p:sp>
      <p:sp>
        <p:nvSpPr>
          <p:cNvPr id="5" name="Shape 3"/>
          <p:cNvSpPr/>
          <p:nvPr/>
        </p:nvSpPr>
        <p:spPr>
          <a:xfrm>
            <a:off x="274320" y="1097280"/>
            <a:ext cx="4160520" cy="1737360"/>
          </a:xfrm>
          <a:prstGeom prst="roundRect">
            <a:avLst>
              <a:gd name="adj" fmla="val 5263"/>
            </a:avLst>
          </a:prstGeom>
          <a:solidFill>
            <a:srgbClr val="FFFFFF"/>
          </a:solidFill>
          <a:ln w="12700">
            <a:solidFill>
              <a:srgbClr val="DDE6F0"/>
            </a:solidFill>
            <a:prstDash val="solid"/>
          </a:ln>
          <a:effectLst>
            <a:outerShdw blurRad="101600" dist="38100" dir="2700000" algn="bl" rotWithShape="0">
              <a:srgbClr val="000000">
                <a:alpha val="12000"/>
              </a:srgbClr>
            </a:outerShdw>
          </a:effectLst>
        </p:spPr>
        <p:txBody>
          <a:bodyPr/>
          <a:lstStyle/>
          <a:p>
            <a:endParaRPr lang="en-GB"/>
          </a:p>
        </p:txBody>
      </p:sp>
      <p:sp>
        <p:nvSpPr>
          <p:cNvPr id="6" name="Shape 4"/>
          <p:cNvSpPr/>
          <p:nvPr/>
        </p:nvSpPr>
        <p:spPr>
          <a:xfrm>
            <a:off x="365760" y="1207008"/>
            <a:ext cx="530352" cy="530352"/>
          </a:xfrm>
          <a:prstGeom prst="ellipse">
            <a:avLst/>
          </a:prstGeom>
          <a:solidFill>
            <a:srgbClr val="0D7377"/>
          </a:solidFill>
          <a:ln w="12700">
            <a:solidFill>
              <a:srgbClr val="0D7377"/>
            </a:solidFill>
            <a:prstDash val="solid"/>
          </a:ln>
        </p:spPr>
        <p:txBody>
          <a:bodyPr/>
          <a:lstStyle/>
          <a:p>
            <a:endParaRPr lang="en-GB"/>
          </a:p>
        </p:txBody>
      </p:sp>
      <p:sp>
        <p:nvSpPr>
          <p:cNvPr id="7" name="Text 5"/>
          <p:cNvSpPr/>
          <p:nvPr/>
        </p:nvSpPr>
        <p:spPr>
          <a:xfrm>
            <a:off x="365760" y="1207008"/>
            <a:ext cx="530352" cy="530352"/>
          </a:xfrm>
          <a:prstGeom prst="rect">
            <a:avLst/>
          </a:prstGeom>
          <a:noFill/>
          <a:ln/>
        </p:spPr>
        <p:txBody>
          <a:bodyPr wrap="square" rtlCol="0" anchor="ctr"/>
          <a:lstStyle/>
          <a:p>
            <a:pPr marL="0" indent="0" algn="ctr">
              <a:buNone/>
            </a:pPr>
            <a:r>
              <a:rPr lang="en-US" sz="2000" b="1" dirty="0">
                <a:solidFill>
                  <a:srgbClr val="FFFFFF"/>
                </a:solidFill>
              </a:rPr>
              <a:t>F</a:t>
            </a:r>
            <a:endParaRPr lang="en-US" sz="2000" dirty="0"/>
          </a:p>
        </p:txBody>
      </p:sp>
      <p:sp>
        <p:nvSpPr>
          <p:cNvPr id="8" name="Text 6"/>
          <p:cNvSpPr/>
          <p:nvPr/>
        </p:nvSpPr>
        <p:spPr>
          <a:xfrm>
            <a:off x="960120" y="1207008"/>
            <a:ext cx="3364992" cy="274320"/>
          </a:xfrm>
          <a:prstGeom prst="rect">
            <a:avLst/>
          </a:prstGeom>
          <a:noFill/>
          <a:ln/>
        </p:spPr>
        <p:txBody>
          <a:bodyPr wrap="square" rtlCol="0" anchor="ctr"/>
          <a:lstStyle/>
          <a:p>
            <a:pPr marL="0" indent="0">
              <a:buNone/>
            </a:pPr>
            <a:r>
              <a:rPr lang="en-US" sz="1400" b="1" dirty="0">
                <a:solidFill>
                  <a:srgbClr val="0D7377"/>
                </a:solidFill>
                <a:latin typeface="Cambria" pitchFamily="34" charset="0"/>
                <a:ea typeface="Cambria" pitchFamily="34" charset="-122"/>
                <a:cs typeface="Cambria" pitchFamily="34" charset="-120"/>
              </a:rPr>
              <a:t>FINDABLE</a:t>
            </a:r>
            <a:endParaRPr lang="en-US" sz="1400" dirty="0"/>
          </a:p>
        </p:txBody>
      </p:sp>
      <p:sp>
        <p:nvSpPr>
          <p:cNvPr id="9" name="Text 7"/>
          <p:cNvSpPr/>
          <p:nvPr/>
        </p:nvSpPr>
        <p:spPr>
          <a:xfrm>
            <a:off x="960120" y="1481328"/>
            <a:ext cx="3364992" cy="256032"/>
          </a:xfrm>
          <a:prstGeom prst="rect">
            <a:avLst/>
          </a:prstGeom>
          <a:noFill/>
          <a:ln/>
        </p:spPr>
        <p:txBody>
          <a:bodyPr wrap="square" rtlCol="0" anchor="ctr"/>
          <a:lstStyle/>
          <a:p>
            <a:pPr marL="0" indent="0">
              <a:buNone/>
            </a:pPr>
            <a:r>
              <a:rPr lang="en-US" sz="1100" i="1" dirty="0">
                <a:solidFill>
                  <a:srgbClr val="1A2E4A"/>
                </a:solidFill>
                <a:latin typeface="Calibri" pitchFamily="34" charset="0"/>
                <a:ea typeface="Calibri" pitchFamily="34" charset="-122"/>
                <a:cs typeface="Calibri" pitchFamily="34" charset="-120"/>
              </a:rPr>
              <a:t>Data and metadata are easy to find for both humans and machines.</a:t>
            </a:r>
            <a:endParaRPr lang="en-US" sz="1100" dirty="0"/>
          </a:p>
        </p:txBody>
      </p:sp>
      <p:sp>
        <p:nvSpPr>
          <p:cNvPr id="10" name="Shape 8"/>
          <p:cNvSpPr/>
          <p:nvPr/>
        </p:nvSpPr>
        <p:spPr>
          <a:xfrm>
            <a:off x="384048" y="1792224"/>
            <a:ext cx="3913632" cy="13716"/>
          </a:xfrm>
          <a:prstGeom prst="rect">
            <a:avLst/>
          </a:prstGeom>
          <a:solidFill>
            <a:srgbClr val="E0EAF4"/>
          </a:solidFill>
          <a:ln w="12700">
            <a:solidFill>
              <a:srgbClr val="E0EAF4"/>
            </a:solidFill>
            <a:prstDash val="solid"/>
          </a:ln>
        </p:spPr>
        <p:txBody>
          <a:bodyPr/>
          <a:lstStyle/>
          <a:p>
            <a:endParaRPr lang="en-GB"/>
          </a:p>
        </p:txBody>
      </p:sp>
      <p:sp>
        <p:nvSpPr>
          <p:cNvPr id="11" name="Text 9"/>
          <p:cNvSpPr/>
          <p:nvPr/>
        </p:nvSpPr>
        <p:spPr>
          <a:xfrm>
            <a:off x="384048" y="1828800"/>
            <a:ext cx="3913632" cy="475488"/>
          </a:xfrm>
          <a:prstGeom prst="rect">
            <a:avLst/>
          </a:prstGeom>
          <a:noFill/>
          <a:ln/>
        </p:spPr>
        <p:txBody>
          <a:bodyPr wrap="square" rtlCol="0" anchor="ctr"/>
          <a:lstStyle/>
          <a:p>
            <a:pPr marL="0" indent="0">
              <a:buNone/>
            </a:pPr>
            <a:r>
              <a:rPr lang="en-US" sz="1050" b="1" dirty="0">
                <a:solidFill>
                  <a:srgbClr val="0D7377"/>
                </a:solidFill>
                <a:latin typeface="Calibri" pitchFamily="34" charset="0"/>
                <a:ea typeface="Calibri" pitchFamily="34" charset="-122"/>
                <a:cs typeface="Calibri" pitchFamily="34" charset="-120"/>
              </a:rPr>
              <a:t>How: </a:t>
            </a:r>
            <a:r>
              <a:rPr lang="en-US" sz="1050" dirty="0">
                <a:solidFill>
                  <a:srgbClr val="1A2E4A"/>
                </a:solidFill>
                <a:latin typeface="Calibri" pitchFamily="34" charset="0"/>
                <a:ea typeface="Calibri" pitchFamily="34" charset="-122"/>
                <a:cs typeface="Calibri" pitchFamily="34" charset="-120"/>
              </a:rPr>
              <a:t>Assign a persistent identifier (DOI or Handle). Write rich metadata using a standard schema (Dublin Core, DataCite). Register dataset in a searchable repository (Zenodo, Figshare, DANS).</a:t>
            </a:r>
            <a:endParaRPr lang="en-US" sz="1050" dirty="0"/>
          </a:p>
        </p:txBody>
      </p:sp>
      <p:sp>
        <p:nvSpPr>
          <p:cNvPr id="12" name="Shape 10"/>
          <p:cNvSpPr/>
          <p:nvPr/>
        </p:nvSpPr>
        <p:spPr>
          <a:xfrm>
            <a:off x="384048" y="2350008"/>
            <a:ext cx="3913632" cy="13716"/>
          </a:xfrm>
          <a:prstGeom prst="rect">
            <a:avLst/>
          </a:prstGeom>
          <a:solidFill>
            <a:srgbClr val="E0EAF4"/>
          </a:solidFill>
          <a:ln w="12700">
            <a:solidFill>
              <a:srgbClr val="E0EAF4"/>
            </a:solidFill>
            <a:prstDash val="solid"/>
          </a:ln>
        </p:spPr>
        <p:txBody>
          <a:bodyPr/>
          <a:lstStyle/>
          <a:p>
            <a:endParaRPr lang="en-GB"/>
          </a:p>
        </p:txBody>
      </p:sp>
      <p:sp>
        <p:nvSpPr>
          <p:cNvPr id="13" name="Text 11"/>
          <p:cNvSpPr/>
          <p:nvPr/>
        </p:nvSpPr>
        <p:spPr>
          <a:xfrm>
            <a:off x="384048" y="2395728"/>
            <a:ext cx="3913632" cy="347472"/>
          </a:xfrm>
          <a:prstGeom prst="rect">
            <a:avLst/>
          </a:prstGeom>
          <a:noFill/>
          <a:ln/>
        </p:spPr>
        <p:txBody>
          <a:bodyPr wrap="square"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 Security note: </a:t>
            </a:r>
            <a:r>
              <a:rPr lang="en-US" sz="1000" dirty="0">
                <a:solidFill>
                  <a:srgbClr val="1A2E4A"/>
                </a:solidFill>
                <a:latin typeface="Calibri" pitchFamily="34" charset="0"/>
                <a:ea typeface="Calibri" pitchFamily="34" charset="-122"/>
                <a:cs typeface="Calibri" pitchFamily="34" charset="-120"/>
              </a:rPr>
              <a:t>Metadata can be public even when data is restricted. Never hide a dataset's existence — hiding ≠ protecting.</a:t>
            </a:r>
            <a:endParaRPr lang="en-US" sz="1000" dirty="0"/>
          </a:p>
        </p:txBody>
      </p:sp>
      <p:sp>
        <p:nvSpPr>
          <p:cNvPr id="14" name="Shape 12"/>
          <p:cNvSpPr/>
          <p:nvPr/>
        </p:nvSpPr>
        <p:spPr>
          <a:xfrm>
            <a:off x="4663440" y="1097280"/>
            <a:ext cx="4160520" cy="1737360"/>
          </a:xfrm>
          <a:prstGeom prst="roundRect">
            <a:avLst>
              <a:gd name="adj" fmla="val 5263"/>
            </a:avLst>
          </a:prstGeom>
          <a:solidFill>
            <a:srgbClr val="FFFFFF"/>
          </a:solidFill>
          <a:ln w="12700">
            <a:solidFill>
              <a:srgbClr val="DDE6F0"/>
            </a:solidFill>
            <a:prstDash val="solid"/>
          </a:ln>
          <a:effectLst>
            <a:outerShdw blurRad="101600" dist="38100" dir="2700000" algn="bl" rotWithShape="0">
              <a:srgbClr val="000000">
                <a:alpha val="12000"/>
              </a:srgbClr>
            </a:outerShdw>
          </a:effectLst>
        </p:spPr>
        <p:txBody>
          <a:bodyPr/>
          <a:lstStyle/>
          <a:p>
            <a:endParaRPr lang="en-GB"/>
          </a:p>
        </p:txBody>
      </p:sp>
      <p:sp>
        <p:nvSpPr>
          <p:cNvPr id="15" name="Shape 13"/>
          <p:cNvSpPr/>
          <p:nvPr/>
        </p:nvSpPr>
        <p:spPr>
          <a:xfrm>
            <a:off x="4754880" y="1207008"/>
            <a:ext cx="530352" cy="530352"/>
          </a:xfrm>
          <a:prstGeom prst="ellipse">
            <a:avLst/>
          </a:prstGeom>
          <a:solidFill>
            <a:srgbClr val="1A2E4A"/>
          </a:solidFill>
          <a:ln w="12700">
            <a:solidFill>
              <a:srgbClr val="1A2E4A"/>
            </a:solidFill>
            <a:prstDash val="solid"/>
          </a:ln>
        </p:spPr>
        <p:txBody>
          <a:bodyPr/>
          <a:lstStyle/>
          <a:p>
            <a:endParaRPr lang="en-GB"/>
          </a:p>
        </p:txBody>
      </p:sp>
      <p:sp>
        <p:nvSpPr>
          <p:cNvPr id="16" name="Text 14"/>
          <p:cNvSpPr/>
          <p:nvPr/>
        </p:nvSpPr>
        <p:spPr>
          <a:xfrm>
            <a:off x="4754880" y="1207008"/>
            <a:ext cx="530352" cy="530352"/>
          </a:xfrm>
          <a:prstGeom prst="rect">
            <a:avLst/>
          </a:prstGeom>
          <a:noFill/>
          <a:ln/>
        </p:spPr>
        <p:txBody>
          <a:bodyPr wrap="square" rtlCol="0" anchor="ctr"/>
          <a:lstStyle/>
          <a:p>
            <a:pPr marL="0" indent="0" algn="ctr">
              <a:buNone/>
            </a:pPr>
            <a:r>
              <a:rPr lang="en-US" sz="2000" b="1" dirty="0">
                <a:solidFill>
                  <a:srgbClr val="FFFFFF"/>
                </a:solidFill>
              </a:rPr>
              <a:t>A</a:t>
            </a:r>
            <a:endParaRPr lang="en-US" sz="2000" dirty="0"/>
          </a:p>
        </p:txBody>
      </p:sp>
      <p:sp>
        <p:nvSpPr>
          <p:cNvPr id="17" name="Text 15"/>
          <p:cNvSpPr/>
          <p:nvPr/>
        </p:nvSpPr>
        <p:spPr>
          <a:xfrm>
            <a:off x="5349240" y="1207008"/>
            <a:ext cx="3364992" cy="274320"/>
          </a:xfrm>
          <a:prstGeom prst="rect">
            <a:avLst/>
          </a:prstGeom>
          <a:noFill/>
          <a:ln/>
        </p:spPr>
        <p:txBody>
          <a:bodyPr wrap="square" rtlCol="0" anchor="ctr"/>
          <a:lstStyle/>
          <a:p>
            <a:pPr marL="0" indent="0">
              <a:buNone/>
            </a:pPr>
            <a:r>
              <a:rPr lang="en-US" sz="1400" b="1" dirty="0">
                <a:solidFill>
                  <a:srgbClr val="1A2E4A"/>
                </a:solidFill>
                <a:latin typeface="Cambria" pitchFamily="34" charset="0"/>
                <a:ea typeface="Cambria" pitchFamily="34" charset="-122"/>
                <a:cs typeface="Cambria" pitchFamily="34" charset="-120"/>
              </a:rPr>
              <a:t>ACCESSIBLE</a:t>
            </a:r>
            <a:endParaRPr lang="en-US" sz="1400" dirty="0"/>
          </a:p>
        </p:txBody>
      </p:sp>
      <p:sp>
        <p:nvSpPr>
          <p:cNvPr id="18" name="Text 16"/>
          <p:cNvSpPr/>
          <p:nvPr/>
        </p:nvSpPr>
        <p:spPr>
          <a:xfrm>
            <a:off x="5349240" y="1481328"/>
            <a:ext cx="3364992" cy="256032"/>
          </a:xfrm>
          <a:prstGeom prst="rect">
            <a:avLst/>
          </a:prstGeom>
          <a:noFill/>
          <a:ln/>
        </p:spPr>
        <p:txBody>
          <a:bodyPr wrap="square" rtlCol="0" anchor="ctr"/>
          <a:lstStyle/>
          <a:p>
            <a:pPr marL="0" indent="0">
              <a:buNone/>
            </a:pPr>
            <a:r>
              <a:rPr lang="en-US" sz="1100" i="1" dirty="0">
                <a:solidFill>
                  <a:srgbClr val="1A2E4A"/>
                </a:solidFill>
                <a:latin typeface="Calibri" pitchFamily="34" charset="0"/>
                <a:ea typeface="Calibri" pitchFamily="34" charset="-122"/>
                <a:cs typeface="Calibri" pitchFamily="34" charset="-120"/>
              </a:rPr>
              <a:t>Data is retrievable via a standardised protocol with clear access conditions.</a:t>
            </a:r>
            <a:endParaRPr lang="en-US" sz="1100" dirty="0"/>
          </a:p>
        </p:txBody>
      </p:sp>
      <p:sp>
        <p:nvSpPr>
          <p:cNvPr id="19" name="Shape 17"/>
          <p:cNvSpPr/>
          <p:nvPr/>
        </p:nvSpPr>
        <p:spPr>
          <a:xfrm>
            <a:off x="4773168" y="1792224"/>
            <a:ext cx="3913632" cy="13716"/>
          </a:xfrm>
          <a:prstGeom prst="rect">
            <a:avLst/>
          </a:prstGeom>
          <a:solidFill>
            <a:srgbClr val="E0EAF4"/>
          </a:solidFill>
          <a:ln w="12700">
            <a:solidFill>
              <a:srgbClr val="E0EAF4"/>
            </a:solidFill>
            <a:prstDash val="solid"/>
          </a:ln>
        </p:spPr>
        <p:txBody>
          <a:bodyPr/>
          <a:lstStyle/>
          <a:p>
            <a:endParaRPr lang="en-GB"/>
          </a:p>
        </p:txBody>
      </p:sp>
      <p:sp>
        <p:nvSpPr>
          <p:cNvPr id="20" name="Text 18"/>
          <p:cNvSpPr/>
          <p:nvPr/>
        </p:nvSpPr>
        <p:spPr>
          <a:xfrm>
            <a:off x="4773168" y="1828800"/>
            <a:ext cx="3913632" cy="475488"/>
          </a:xfrm>
          <a:prstGeom prst="rect">
            <a:avLst/>
          </a:prstGeom>
          <a:noFill/>
          <a:ln/>
        </p:spPr>
        <p:txBody>
          <a:bodyPr wrap="square" rtlCol="0" anchor="ctr"/>
          <a:lstStyle/>
          <a:p>
            <a:pPr marL="0" indent="0">
              <a:buNone/>
            </a:pPr>
            <a:r>
              <a:rPr lang="en-US" sz="1050" b="1" dirty="0">
                <a:solidFill>
                  <a:srgbClr val="1A2E4A"/>
                </a:solidFill>
                <a:latin typeface="Calibri" pitchFamily="34" charset="0"/>
                <a:ea typeface="Calibri" pitchFamily="34" charset="-122"/>
                <a:cs typeface="Calibri" pitchFamily="34" charset="-120"/>
              </a:rPr>
              <a:t>How: </a:t>
            </a:r>
            <a:r>
              <a:rPr lang="en-US" sz="1050" dirty="0">
                <a:solidFill>
                  <a:srgbClr val="1A2E4A"/>
                </a:solidFill>
                <a:latin typeface="Calibri" pitchFamily="34" charset="0"/>
                <a:ea typeface="Calibri" pitchFamily="34" charset="-122"/>
                <a:cs typeface="Calibri" pitchFamily="34" charset="-120"/>
              </a:rPr>
              <a:t>Use open protocols (HTTP/HTTPS, OAI-PMH). Define access conditions explicitly in metadata. Embargoed or restricted data must still have documented access procedures.</a:t>
            </a:r>
            <a:endParaRPr lang="en-US" sz="1050" dirty="0"/>
          </a:p>
        </p:txBody>
      </p:sp>
      <p:sp>
        <p:nvSpPr>
          <p:cNvPr id="21" name="Shape 19"/>
          <p:cNvSpPr/>
          <p:nvPr/>
        </p:nvSpPr>
        <p:spPr>
          <a:xfrm>
            <a:off x="4773168" y="2350008"/>
            <a:ext cx="3913632" cy="13716"/>
          </a:xfrm>
          <a:prstGeom prst="rect">
            <a:avLst/>
          </a:prstGeom>
          <a:solidFill>
            <a:srgbClr val="E0EAF4"/>
          </a:solidFill>
          <a:ln w="12700">
            <a:solidFill>
              <a:srgbClr val="E0EAF4"/>
            </a:solidFill>
            <a:prstDash val="solid"/>
          </a:ln>
        </p:spPr>
        <p:txBody>
          <a:bodyPr/>
          <a:lstStyle/>
          <a:p>
            <a:endParaRPr lang="en-GB"/>
          </a:p>
        </p:txBody>
      </p:sp>
      <p:sp>
        <p:nvSpPr>
          <p:cNvPr id="22" name="Text 20"/>
          <p:cNvSpPr/>
          <p:nvPr/>
        </p:nvSpPr>
        <p:spPr>
          <a:xfrm>
            <a:off x="4773168" y="2395728"/>
            <a:ext cx="3913632" cy="347472"/>
          </a:xfrm>
          <a:prstGeom prst="rect">
            <a:avLst/>
          </a:prstGeom>
          <a:noFill/>
          <a:ln/>
        </p:spPr>
        <p:txBody>
          <a:bodyPr wrap="square"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 Security note: </a:t>
            </a:r>
            <a:r>
              <a:rPr lang="en-US" sz="1000" dirty="0">
                <a:solidFill>
                  <a:srgbClr val="1A2E4A"/>
                </a:solidFill>
                <a:latin typeface="Calibri" pitchFamily="34" charset="0"/>
                <a:ea typeface="Calibri" pitchFamily="34" charset="-122"/>
                <a:cs typeface="Calibri" pitchFamily="34" charset="-120"/>
              </a:rPr>
              <a:t>Accessibility ≠ openness. Health data can be FAIR with restricted access — but the restriction must be explicit, not silent.</a:t>
            </a:r>
            <a:endParaRPr lang="en-US" sz="1000" dirty="0"/>
          </a:p>
        </p:txBody>
      </p:sp>
      <p:sp>
        <p:nvSpPr>
          <p:cNvPr id="23" name="Shape 21"/>
          <p:cNvSpPr/>
          <p:nvPr/>
        </p:nvSpPr>
        <p:spPr>
          <a:xfrm>
            <a:off x="274320" y="2971800"/>
            <a:ext cx="4160520" cy="1737360"/>
          </a:xfrm>
          <a:prstGeom prst="roundRect">
            <a:avLst>
              <a:gd name="adj" fmla="val 5263"/>
            </a:avLst>
          </a:prstGeom>
          <a:solidFill>
            <a:srgbClr val="FFFFFF"/>
          </a:solidFill>
          <a:ln w="12700">
            <a:solidFill>
              <a:srgbClr val="DDE6F0"/>
            </a:solidFill>
            <a:prstDash val="solid"/>
          </a:ln>
          <a:effectLst>
            <a:outerShdw blurRad="101600" dist="38100" dir="2700000" algn="bl" rotWithShape="0">
              <a:srgbClr val="000000">
                <a:alpha val="12000"/>
              </a:srgbClr>
            </a:outerShdw>
          </a:effectLst>
        </p:spPr>
        <p:txBody>
          <a:bodyPr/>
          <a:lstStyle/>
          <a:p>
            <a:endParaRPr lang="en-GB"/>
          </a:p>
        </p:txBody>
      </p:sp>
      <p:sp>
        <p:nvSpPr>
          <p:cNvPr id="24" name="Shape 22"/>
          <p:cNvSpPr/>
          <p:nvPr/>
        </p:nvSpPr>
        <p:spPr>
          <a:xfrm>
            <a:off x="365760" y="3081528"/>
            <a:ext cx="530352" cy="530352"/>
          </a:xfrm>
          <a:prstGeom prst="ellipse">
            <a:avLst/>
          </a:prstGeom>
          <a:solidFill>
            <a:srgbClr val="0D7377"/>
          </a:solidFill>
          <a:ln w="12700">
            <a:solidFill>
              <a:srgbClr val="0D7377"/>
            </a:solidFill>
            <a:prstDash val="solid"/>
          </a:ln>
        </p:spPr>
        <p:txBody>
          <a:bodyPr/>
          <a:lstStyle/>
          <a:p>
            <a:endParaRPr lang="en-GB"/>
          </a:p>
        </p:txBody>
      </p:sp>
      <p:sp>
        <p:nvSpPr>
          <p:cNvPr id="25" name="Text 23"/>
          <p:cNvSpPr/>
          <p:nvPr/>
        </p:nvSpPr>
        <p:spPr>
          <a:xfrm>
            <a:off x="365760" y="3081528"/>
            <a:ext cx="530352" cy="530352"/>
          </a:xfrm>
          <a:prstGeom prst="rect">
            <a:avLst/>
          </a:prstGeom>
          <a:noFill/>
          <a:ln/>
        </p:spPr>
        <p:txBody>
          <a:bodyPr wrap="square" rtlCol="0" anchor="ctr"/>
          <a:lstStyle/>
          <a:p>
            <a:pPr marL="0" indent="0" algn="ctr">
              <a:buNone/>
            </a:pPr>
            <a:r>
              <a:rPr lang="en-US" sz="2000" b="1" dirty="0">
                <a:solidFill>
                  <a:srgbClr val="FFFFFF"/>
                </a:solidFill>
              </a:rPr>
              <a:t>I</a:t>
            </a:r>
            <a:endParaRPr lang="en-US" sz="2000" dirty="0"/>
          </a:p>
        </p:txBody>
      </p:sp>
      <p:sp>
        <p:nvSpPr>
          <p:cNvPr id="26" name="Text 24"/>
          <p:cNvSpPr/>
          <p:nvPr/>
        </p:nvSpPr>
        <p:spPr>
          <a:xfrm>
            <a:off x="960120" y="3081528"/>
            <a:ext cx="3364992" cy="274320"/>
          </a:xfrm>
          <a:prstGeom prst="rect">
            <a:avLst/>
          </a:prstGeom>
          <a:noFill/>
          <a:ln/>
        </p:spPr>
        <p:txBody>
          <a:bodyPr wrap="square" rtlCol="0" anchor="ctr"/>
          <a:lstStyle/>
          <a:p>
            <a:pPr marL="0" indent="0">
              <a:buNone/>
            </a:pPr>
            <a:r>
              <a:rPr lang="en-US" sz="1400" b="1" dirty="0">
                <a:solidFill>
                  <a:srgbClr val="0D7377"/>
                </a:solidFill>
                <a:latin typeface="Cambria" pitchFamily="34" charset="0"/>
                <a:ea typeface="Cambria" pitchFamily="34" charset="-122"/>
                <a:cs typeface="Cambria" pitchFamily="34" charset="-120"/>
              </a:rPr>
              <a:t>INTEROPERABLE</a:t>
            </a:r>
            <a:endParaRPr lang="en-US" sz="1400" dirty="0"/>
          </a:p>
        </p:txBody>
      </p:sp>
      <p:sp>
        <p:nvSpPr>
          <p:cNvPr id="27" name="Text 25"/>
          <p:cNvSpPr/>
          <p:nvPr/>
        </p:nvSpPr>
        <p:spPr>
          <a:xfrm>
            <a:off x="960120" y="3355848"/>
            <a:ext cx="3364992" cy="256032"/>
          </a:xfrm>
          <a:prstGeom prst="rect">
            <a:avLst/>
          </a:prstGeom>
          <a:noFill/>
          <a:ln/>
        </p:spPr>
        <p:txBody>
          <a:bodyPr wrap="square" rtlCol="0" anchor="ctr"/>
          <a:lstStyle/>
          <a:p>
            <a:pPr marL="0" indent="0">
              <a:buNone/>
            </a:pPr>
            <a:r>
              <a:rPr lang="en-US" sz="1100" i="1" dirty="0">
                <a:solidFill>
                  <a:srgbClr val="1A2E4A"/>
                </a:solidFill>
                <a:latin typeface="Calibri" pitchFamily="34" charset="0"/>
                <a:ea typeface="Calibri" pitchFamily="34" charset="-122"/>
                <a:cs typeface="Calibri" pitchFamily="34" charset="-120"/>
              </a:rPr>
              <a:t>Data uses standard formats and vocabularies that other systems can read.</a:t>
            </a:r>
            <a:endParaRPr lang="en-US" sz="1100" dirty="0"/>
          </a:p>
        </p:txBody>
      </p:sp>
      <p:sp>
        <p:nvSpPr>
          <p:cNvPr id="28" name="Shape 26"/>
          <p:cNvSpPr/>
          <p:nvPr/>
        </p:nvSpPr>
        <p:spPr>
          <a:xfrm>
            <a:off x="384048" y="3666744"/>
            <a:ext cx="3913632" cy="13716"/>
          </a:xfrm>
          <a:prstGeom prst="rect">
            <a:avLst/>
          </a:prstGeom>
          <a:solidFill>
            <a:srgbClr val="E0EAF4"/>
          </a:solidFill>
          <a:ln w="12700">
            <a:solidFill>
              <a:srgbClr val="E0EAF4"/>
            </a:solidFill>
            <a:prstDash val="solid"/>
          </a:ln>
        </p:spPr>
        <p:txBody>
          <a:bodyPr/>
          <a:lstStyle/>
          <a:p>
            <a:endParaRPr lang="en-GB"/>
          </a:p>
        </p:txBody>
      </p:sp>
      <p:sp>
        <p:nvSpPr>
          <p:cNvPr id="29" name="Text 27"/>
          <p:cNvSpPr/>
          <p:nvPr/>
        </p:nvSpPr>
        <p:spPr>
          <a:xfrm>
            <a:off x="384048" y="3703320"/>
            <a:ext cx="3913632" cy="475488"/>
          </a:xfrm>
          <a:prstGeom prst="rect">
            <a:avLst/>
          </a:prstGeom>
          <a:noFill/>
          <a:ln/>
        </p:spPr>
        <p:txBody>
          <a:bodyPr wrap="square" rtlCol="0" anchor="ctr"/>
          <a:lstStyle/>
          <a:p>
            <a:pPr marL="0" indent="0">
              <a:buNone/>
            </a:pPr>
            <a:r>
              <a:rPr lang="en-US" sz="1050" b="1" dirty="0">
                <a:solidFill>
                  <a:srgbClr val="0D7377"/>
                </a:solidFill>
                <a:latin typeface="Calibri" pitchFamily="34" charset="0"/>
                <a:ea typeface="Calibri" pitchFamily="34" charset="-122"/>
                <a:cs typeface="Calibri" pitchFamily="34" charset="-120"/>
              </a:rPr>
              <a:t>How: </a:t>
            </a:r>
            <a:r>
              <a:rPr lang="en-US" sz="1050" dirty="0">
                <a:solidFill>
                  <a:srgbClr val="1A2E4A"/>
                </a:solidFill>
                <a:latin typeface="Calibri" pitchFamily="34" charset="0"/>
                <a:ea typeface="Calibri" pitchFamily="34" charset="-122"/>
                <a:cs typeface="Calibri" pitchFamily="34" charset="-120"/>
              </a:rPr>
              <a:t>Use CSV, JSON-LD, or standard clinical formats (FHIR, OMOP). Apply controlled vocabularies: ICD-10 for diagnoses, SNOMED CT for clinical terms, ISO 3166 for country codes.</a:t>
            </a:r>
            <a:endParaRPr lang="en-US" sz="1050" dirty="0"/>
          </a:p>
        </p:txBody>
      </p:sp>
      <p:sp>
        <p:nvSpPr>
          <p:cNvPr id="30" name="Shape 28"/>
          <p:cNvSpPr/>
          <p:nvPr/>
        </p:nvSpPr>
        <p:spPr>
          <a:xfrm>
            <a:off x="384048" y="4224528"/>
            <a:ext cx="3913632" cy="13716"/>
          </a:xfrm>
          <a:prstGeom prst="rect">
            <a:avLst/>
          </a:prstGeom>
          <a:solidFill>
            <a:srgbClr val="E0EAF4"/>
          </a:solidFill>
          <a:ln w="12700">
            <a:solidFill>
              <a:srgbClr val="E0EAF4"/>
            </a:solidFill>
            <a:prstDash val="solid"/>
          </a:ln>
        </p:spPr>
        <p:txBody>
          <a:bodyPr/>
          <a:lstStyle/>
          <a:p>
            <a:endParaRPr lang="en-GB"/>
          </a:p>
        </p:txBody>
      </p:sp>
      <p:sp>
        <p:nvSpPr>
          <p:cNvPr id="31" name="Text 29"/>
          <p:cNvSpPr/>
          <p:nvPr/>
        </p:nvSpPr>
        <p:spPr>
          <a:xfrm>
            <a:off x="384048" y="4270248"/>
            <a:ext cx="3913632" cy="347472"/>
          </a:xfrm>
          <a:prstGeom prst="rect">
            <a:avLst/>
          </a:prstGeom>
          <a:noFill/>
          <a:ln/>
        </p:spPr>
        <p:txBody>
          <a:bodyPr wrap="square"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 Security note: </a:t>
            </a:r>
            <a:r>
              <a:rPr lang="en-US" sz="1000" dirty="0">
                <a:solidFill>
                  <a:srgbClr val="1A2E4A"/>
                </a:solidFill>
                <a:latin typeface="Calibri" pitchFamily="34" charset="0"/>
                <a:ea typeface="Calibri" pitchFamily="34" charset="-122"/>
                <a:cs typeface="Calibri" pitchFamily="34" charset="-120"/>
              </a:rPr>
              <a:t>Interoperability reduces risky format migrations. A dataset stuck in a proprietary .accdb file that only one researcher can open is both non-FAIR and a security risk.</a:t>
            </a:r>
            <a:endParaRPr lang="en-US" sz="1000" dirty="0"/>
          </a:p>
        </p:txBody>
      </p:sp>
      <p:sp>
        <p:nvSpPr>
          <p:cNvPr id="32" name="Shape 30"/>
          <p:cNvSpPr/>
          <p:nvPr/>
        </p:nvSpPr>
        <p:spPr>
          <a:xfrm>
            <a:off x="4663440" y="2971800"/>
            <a:ext cx="4160520" cy="1737360"/>
          </a:xfrm>
          <a:prstGeom prst="roundRect">
            <a:avLst>
              <a:gd name="adj" fmla="val 5263"/>
            </a:avLst>
          </a:prstGeom>
          <a:solidFill>
            <a:srgbClr val="FFFFFF"/>
          </a:solidFill>
          <a:ln w="12700">
            <a:solidFill>
              <a:srgbClr val="DDE6F0"/>
            </a:solidFill>
            <a:prstDash val="solid"/>
          </a:ln>
          <a:effectLst>
            <a:outerShdw blurRad="101600" dist="38100" dir="2700000" algn="bl" rotWithShape="0">
              <a:srgbClr val="000000">
                <a:alpha val="12000"/>
              </a:srgbClr>
            </a:outerShdw>
          </a:effectLst>
        </p:spPr>
        <p:txBody>
          <a:bodyPr/>
          <a:lstStyle/>
          <a:p>
            <a:endParaRPr lang="en-GB"/>
          </a:p>
        </p:txBody>
      </p:sp>
      <p:sp>
        <p:nvSpPr>
          <p:cNvPr id="33" name="Shape 31"/>
          <p:cNvSpPr/>
          <p:nvPr/>
        </p:nvSpPr>
        <p:spPr>
          <a:xfrm>
            <a:off x="4754880" y="3081528"/>
            <a:ext cx="530352" cy="530352"/>
          </a:xfrm>
          <a:prstGeom prst="ellipse">
            <a:avLst/>
          </a:prstGeom>
          <a:solidFill>
            <a:srgbClr val="1A2E4A"/>
          </a:solidFill>
          <a:ln w="12700">
            <a:solidFill>
              <a:srgbClr val="1A2E4A"/>
            </a:solidFill>
            <a:prstDash val="solid"/>
          </a:ln>
        </p:spPr>
        <p:txBody>
          <a:bodyPr/>
          <a:lstStyle/>
          <a:p>
            <a:endParaRPr lang="en-GB"/>
          </a:p>
        </p:txBody>
      </p:sp>
      <p:sp>
        <p:nvSpPr>
          <p:cNvPr id="34" name="Text 32"/>
          <p:cNvSpPr/>
          <p:nvPr/>
        </p:nvSpPr>
        <p:spPr>
          <a:xfrm>
            <a:off x="4754880" y="3081528"/>
            <a:ext cx="530352" cy="530352"/>
          </a:xfrm>
          <a:prstGeom prst="rect">
            <a:avLst/>
          </a:prstGeom>
          <a:noFill/>
          <a:ln/>
        </p:spPr>
        <p:txBody>
          <a:bodyPr wrap="square" rtlCol="0" anchor="ctr"/>
          <a:lstStyle/>
          <a:p>
            <a:pPr marL="0" indent="0" algn="ctr">
              <a:buNone/>
            </a:pPr>
            <a:r>
              <a:rPr lang="en-US" sz="2000" b="1" dirty="0">
                <a:solidFill>
                  <a:srgbClr val="FFFFFF"/>
                </a:solidFill>
              </a:rPr>
              <a:t>R</a:t>
            </a:r>
            <a:endParaRPr lang="en-US" sz="2000" dirty="0"/>
          </a:p>
        </p:txBody>
      </p:sp>
      <p:sp>
        <p:nvSpPr>
          <p:cNvPr id="35" name="Text 33"/>
          <p:cNvSpPr/>
          <p:nvPr/>
        </p:nvSpPr>
        <p:spPr>
          <a:xfrm>
            <a:off x="5349240" y="3081528"/>
            <a:ext cx="3364992" cy="274320"/>
          </a:xfrm>
          <a:prstGeom prst="rect">
            <a:avLst/>
          </a:prstGeom>
          <a:noFill/>
          <a:ln/>
        </p:spPr>
        <p:txBody>
          <a:bodyPr wrap="square" rtlCol="0" anchor="ctr"/>
          <a:lstStyle/>
          <a:p>
            <a:pPr marL="0" indent="0">
              <a:buNone/>
            </a:pPr>
            <a:r>
              <a:rPr lang="en-US" sz="1400" b="1" dirty="0">
                <a:solidFill>
                  <a:srgbClr val="1A2E4A"/>
                </a:solidFill>
                <a:latin typeface="Cambria" pitchFamily="34" charset="0"/>
                <a:ea typeface="Cambria" pitchFamily="34" charset="-122"/>
                <a:cs typeface="Cambria" pitchFamily="34" charset="-120"/>
              </a:rPr>
              <a:t>REUSABLE</a:t>
            </a:r>
            <a:endParaRPr lang="en-US" sz="1400" dirty="0"/>
          </a:p>
        </p:txBody>
      </p:sp>
      <p:sp>
        <p:nvSpPr>
          <p:cNvPr id="36" name="Text 34"/>
          <p:cNvSpPr/>
          <p:nvPr/>
        </p:nvSpPr>
        <p:spPr>
          <a:xfrm>
            <a:off x="5349240" y="3355848"/>
            <a:ext cx="3364992" cy="256032"/>
          </a:xfrm>
          <a:prstGeom prst="rect">
            <a:avLst/>
          </a:prstGeom>
          <a:noFill/>
          <a:ln/>
        </p:spPr>
        <p:txBody>
          <a:bodyPr wrap="square" rtlCol="0" anchor="ctr"/>
          <a:lstStyle/>
          <a:p>
            <a:pPr marL="0" indent="0">
              <a:buNone/>
            </a:pPr>
            <a:r>
              <a:rPr lang="en-US" sz="1100" i="1" dirty="0">
                <a:solidFill>
                  <a:srgbClr val="1A2E4A"/>
                </a:solidFill>
                <a:latin typeface="Calibri" pitchFamily="34" charset="0"/>
                <a:ea typeface="Calibri" pitchFamily="34" charset="-122"/>
                <a:cs typeface="Calibri" pitchFamily="34" charset="-120"/>
              </a:rPr>
              <a:t>Data is richly described so it can be reused and replicated by others.</a:t>
            </a:r>
            <a:endParaRPr lang="en-US" sz="1100" dirty="0"/>
          </a:p>
        </p:txBody>
      </p:sp>
      <p:sp>
        <p:nvSpPr>
          <p:cNvPr id="37" name="Shape 35"/>
          <p:cNvSpPr/>
          <p:nvPr/>
        </p:nvSpPr>
        <p:spPr>
          <a:xfrm>
            <a:off x="4773168" y="3666744"/>
            <a:ext cx="3913632" cy="13716"/>
          </a:xfrm>
          <a:prstGeom prst="rect">
            <a:avLst/>
          </a:prstGeom>
          <a:solidFill>
            <a:srgbClr val="E0EAF4"/>
          </a:solidFill>
          <a:ln w="12700">
            <a:solidFill>
              <a:srgbClr val="E0EAF4"/>
            </a:solidFill>
            <a:prstDash val="solid"/>
          </a:ln>
        </p:spPr>
        <p:txBody>
          <a:bodyPr/>
          <a:lstStyle/>
          <a:p>
            <a:endParaRPr lang="en-GB"/>
          </a:p>
        </p:txBody>
      </p:sp>
      <p:sp>
        <p:nvSpPr>
          <p:cNvPr id="38" name="Text 36"/>
          <p:cNvSpPr/>
          <p:nvPr/>
        </p:nvSpPr>
        <p:spPr>
          <a:xfrm>
            <a:off x="4773168" y="3703320"/>
            <a:ext cx="3913632" cy="475488"/>
          </a:xfrm>
          <a:prstGeom prst="rect">
            <a:avLst/>
          </a:prstGeom>
          <a:noFill/>
          <a:ln/>
        </p:spPr>
        <p:txBody>
          <a:bodyPr wrap="square" rtlCol="0" anchor="ctr"/>
          <a:lstStyle/>
          <a:p>
            <a:pPr marL="0" indent="0">
              <a:buNone/>
            </a:pPr>
            <a:r>
              <a:rPr lang="en-US" sz="1050" b="1" dirty="0">
                <a:solidFill>
                  <a:srgbClr val="1A2E4A"/>
                </a:solidFill>
                <a:latin typeface="Calibri" pitchFamily="34" charset="0"/>
                <a:ea typeface="Calibri" pitchFamily="34" charset="-122"/>
                <a:cs typeface="Calibri" pitchFamily="34" charset="-120"/>
              </a:rPr>
              <a:t>How: </a:t>
            </a:r>
            <a:r>
              <a:rPr lang="en-US" sz="1050" dirty="0">
                <a:solidFill>
                  <a:srgbClr val="1A2E4A"/>
                </a:solidFill>
                <a:latin typeface="Calibri" pitchFamily="34" charset="0"/>
                <a:ea typeface="Calibri" pitchFamily="34" charset="-122"/>
                <a:cs typeface="Calibri" pitchFamily="34" charset="-120"/>
              </a:rPr>
              <a:t>Include a datasheet (see next slide). Specify the licence (CC BY 4.0 for open; CC BY-NC for non-commercial). Describe provenance: who collected it, when, how, what quality checks were done.</a:t>
            </a:r>
            <a:endParaRPr lang="en-US" sz="1050" dirty="0"/>
          </a:p>
        </p:txBody>
      </p:sp>
      <p:sp>
        <p:nvSpPr>
          <p:cNvPr id="39" name="Shape 37"/>
          <p:cNvSpPr/>
          <p:nvPr/>
        </p:nvSpPr>
        <p:spPr>
          <a:xfrm>
            <a:off x="4773168" y="4224528"/>
            <a:ext cx="3913632" cy="13716"/>
          </a:xfrm>
          <a:prstGeom prst="rect">
            <a:avLst/>
          </a:prstGeom>
          <a:solidFill>
            <a:srgbClr val="E0EAF4"/>
          </a:solidFill>
          <a:ln w="12700">
            <a:solidFill>
              <a:srgbClr val="E0EAF4"/>
            </a:solidFill>
            <a:prstDash val="solid"/>
          </a:ln>
        </p:spPr>
        <p:txBody>
          <a:bodyPr/>
          <a:lstStyle/>
          <a:p>
            <a:endParaRPr lang="en-GB"/>
          </a:p>
        </p:txBody>
      </p:sp>
      <p:sp>
        <p:nvSpPr>
          <p:cNvPr id="40" name="Text 38"/>
          <p:cNvSpPr/>
          <p:nvPr/>
        </p:nvSpPr>
        <p:spPr>
          <a:xfrm>
            <a:off x="4773168" y="4270248"/>
            <a:ext cx="3913632" cy="347472"/>
          </a:xfrm>
          <a:prstGeom prst="rect">
            <a:avLst/>
          </a:prstGeom>
          <a:noFill/>
          <a:ln/>
        </p:spPr>
        <p:txBody>
          <a:bodyPr wrap="square"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 Security note: </a:t>
            </a:r>
            <a:r>
              <a:rPr lang="en-US" sz="1000" dirty="0">
                <a:solidFill>
                  <a:srgbClr val="1A2E4A"/>
                </a:solidFill>
                <a:latin typeface="Calibri" pitchFamily="34" charset="0"/>
                <a:ea typeface="Calibri" pitchFamily="34" charset="-122"/>
                <a:cs typeface="Calibri" pitchFamily="34" charset="-120"/>
              </a:rPr>
              <a:t>Reusability requires a data licence. Without a licence, all rights are reserved by default — meaning no one can legally reuse your data, defeating the purpose of open science.</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2E4A"/>
          </a:solidFill>
          <a:ln w="12700">
            <a:solidFill>
              <a:srgbClr val="1A2E4A"/>
            </a:solidFill>
            <a:prstDash val="solid"/>
          </a:ln>
        </p:spPr>
        <p:txBody>
          <a:bodyPr/>
          <a:lstStyle/>
          <a:p>
            <a:endParaRPr lang="en-GB"/>
          </a:p>
        </p:txBody>
      </p:sp>
      <p:sp>
        <p:nvSpPr>
          <p:cNvPr id="3" name="Text 1"/>
          <p:cNvSpPr/>
          <p:nvPr/>
        </p:nvSpPr>
        <p:spPr>
          <a:xfrm>
            <a:off x="365760" y="0"/>
            <a:ext cx="8412480" cy="685800"/>
          </a:xfrm>
          <a:prstGeom prst="rect">
            <a:avLst/>
          </a:prstGeom>
          <a:noFill/>
          <a:ln/>
        </p:spPr>
        <p:txBody>
          <a:bodyPr wrap="square"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FAIR Data + Security: They Work Together, Not Against Each Other</a:t>
            </a:r>
            <a:endParaRPr lang="en-US" sz="2200" dirty="0"/>
          </a:p>
        </p:txBody>
      </p:sp>
      <p:sp>
        <p:nvSpPr>
          <p:cNvPr id="4" name="Shape 2"/>
          <p:cNvSpPr/>
          <p:nvPr/>
        </p:nvSpPr>
        <p:spPr>
          <a:xfrm>
            <a:off x="274320" y="804672"/>
            <a:ext cx="4114800" cy="1170432"/>
          </a:xfrm>
          <a:prstGeom prst="roundRect">
            <a:avLst>
              <a:gd name="adj" fmla="val 7813"/>
            </a:avLst>
          </a:prstGeom>
          <a:solidFill>
            <a:srgbClr val="FEF3F2"/>
          </a:solidFill>
          <a:ln w="12700">
            <a:solidFill>
              <a:srgbClr val="FECACA"/>
            </a:solidFill>
            <a:prstDash val="solid"/>
          </a:ln>
          <a:effectLst>
            <a:outerShdw blurRad="101600" dist="38100" dir="2700000" algn="bl" rotWithShape="0">
              <a:srgbClr val="000000">
                <a:alpha val="12000"/>
              </a:srgbClr>
            </a:outerShdw>
          </a:effectLst>
        </p:spPr>
        <p:txBody>
          <a:bodyPr/>
          <a:lstStyle/>
          <a:p>
            <a:endParaRPr lang="en-GB"/>
          </a:p>
        </p:txBody>
      </p:sp>
      <p:sp>
        <p:nvSpPr>
          <p:cNvPr id="5" name="Text 3"/>
          <p:cNvSpPr/>
          <p:nvPr/>
        </p:nvSpPr>
        <p:spPr>
          <a:xfrm>
            <a:off x="411480" y="850392"/>
            <a:ext cx="3840480" cy="256032"/>
          </a:xfrm>
          <a:prstGeom prst="rect">
            <a:avLst/>
          </a:prstGeom>
          <a:noFill/>
          <a:ln/>
        </p:spPr>
        <p:txBody>
          <a:bodyPr wrap="square" rtlCol="0" anchor="ctr"/>
          <a:lstStyle/>
          <a:p>
            <a:pPr marL="0" indent="0">
              <a:buNone/>
            </a:pPr>
            <a:r>
              <a:rPr lang="en-US" sz="1050" b="1" dirty="0">
                <a:solidFill>
                  <a:srgbClr val="C0392B"/>
                </a:solidFill>
              </a:rPr>
              <a:t>✗  Common Myth</a:t>
            </a:r>
            <a:endParaRPr lang="en-US" sz="1050" dirty="0"/>
          </a:p>
        </p:txBody>
      </p:sp>
      <p:sp>
        <p:nvSpPr>
          <p:cNvPr id="6" name="Text 4"/>
          <p:cNvSpPr/>
          <p:nvPr/>
        </p:nvSpPr>
        <p:spPr>
          <a:xfrm>
            <a:off x="411480" y="1097280"/>
            <a:ext cx="3840480" cy="804672"/>
          </a:xfrm>
          <a:prstGeom prst="rect">
            <a:avLst/>
          </a:prstGeom>
          <a:noFill/>
          <a:ln/>
        </p:spPr>
        <p:txBody>
          <a:bodyPr wrap="square" rtlCol="0" anchor="ctr"/>
          <a:lstStyle/>
          <a:p>
            <a:pPr marL="0" indent="0">
              <a:buNone/>
            </a:pPr>
            <a:r>
              <a:rPr lang="en-US" sz="1150" i="1" dirty="0">
                <a:solidFill>
                  <a:srgbClr val="7B1A1A"/>
                </a:solidFill>
                <a:latin typeface="Calibri" pitchFamily="34" charset="0"/>
                <a:ea typeface="Calibri" pitchFamily="34" charset="-122"/>
                <a:cs typeface="Calibri" pitchFamily="34" charset="-120"/>
              </a:rPr>
              <a:t>"Locking data away in a folder no one can access is the safest thing."</a:t>
            </a:r>
            <a:endParaRPr lang="en-US" sz="1150" dirty="0"/>
          </a:p>
        </p:txBody>
      </p:sp>
      <p:sp>
        <p:nvSpPr>
          <p:cNvPr id="7" name="Text 5"/>
          <p:cNvSpPr/>
          <p:nvPr/>
        </p:nvSpPr>
        <p:spPr>
          <a:xfrm>
            <a:off x="4480560" y="1188720"/>
            <a:ext cx="548640" cy="411480"/>
          </a:xfrm>
          <a:prstGeom prst="rect">
            <a:avLst/>
          </a:prstGeom>
          <a:noFill/>
          <a:ln/>
        </p:spPr>
        <p:txBody>
          <a:bodyPr wrap="square" rtlCol="0" anchor="ctr"/>
          <a:lstStyle/>
          <a:p>
            <a:pPr marL="0" indent="0" algn="ctr">
              <a:buNone/>
            </a:pPr>
            <a:r>
              <a:rPr lang="en-US" sz="2400" b="1" dirty="0">
                <a:solidFill>
                  <a:srgbClr val="0D7377"/>
                </a:solidFill>
              </a:rPr>
              <a:t>→</a:t>
            </a:r>
            <a:endParaRPr lang="en-US" sz="2400" dirty="0"/>
          </a:p>
        </p:txBody>
      </p:sp>
      <p:sp>
        <p:nvSpPr>
          <p:cNvPr id="8" name="Shape 6"/>
          <p:cNvSpPr/>
          <p:nvPr/>
        </p:nvSpPr>
        <p:spPr>
          <a:xfrm>
            <a:off x="5120640" y="804672"/>
            <a:ext cx="3749040" cy="1170432"/>
          </a:xfrm>
          <a:prstGeom prst="roundRect">
            <a:avLst>
              <a:gd name="adj" fmla="val 7813"/>
            </a:avLst>
          </a:prstGeom>
          <a:solidFill>
            <a:srgbClr val="F0FBF8"/>
          </a:solidFill>
          <a:ln w="12700">
            <a:solidFill>
              <a:srgbClr val="A7D7C5"/>
            </a:solidFill>
            <a:prstDash val="solid"/>
          </a:ln>
          <a:effectLst>
            <a:outerShdw blurRad="101600" dist="38100" dir="2700000" algn="bl" rotWithShape="0">
              <a:srgbClr val="000000">
                <a:alpha val="12000"/>
              </a:srgbClr>
            </a:outerShdw>
          </a:effectLst>
        </p:spPr>
        <p:txBody>
          <a:bodyPr/>
          <a:lstStyle/>
          <a:p>
            <a:endParaRPr lang="en-GB"/>
          </a:p>
        </p:txBody>
      </p:sp>
      <p:sp>
        <p:nvSpPr>
          <p:cNvPr id="9" name="Text 7"/>
          <p:cNvSpPr/>
          <p:nvPr/>
        </p:nvSpPr>
        <p:spPr>
          <a:xfrm>
            <a:off x="5257800" y="850392"/>
            <a:ext cx="3474720" cy="256032"/>
          </a:xfrm>
          <a:prstGeom prst="rect">
            <a:avLst/>
          </a:prstGeom>
          <a:noFill/>
          <a:ln/>
        </p:spPr>
        <p:txBody>
          <a:bodyPr wrap="square" rtlCol="0" anchor="ctr"/>
          <a:lstStyle/>
          <a:p>
            <a:pPr marL="0" indent="0">
              <a:buNone/>
            </a:pPr>
            <a:r>
              <a:rPr lang="en-US" sz="1050" b="1" dirty="0">
                <a:solidFill>
                  <a:srgbClr val="1E7D44"/>
                </a:solidFill>
              </a:rPr>
              <a:t>✓  FAIR + Secure Reality</a:t>
            </a:r>
            <a:endParaRPr lang="en-US" sz="1050" dirty="0"/>
          </a:p>
        </p:txBody>
      </p:sp>
      <p:sp>
        <p:nvSpPr>
          <p:cNvPr id="10" name="Text 8"/>
          <p:cNvSpPr/>
          <p:nvPr/>
        </p:nvSpPr>
        <p:spPr>
          <a:xfrm>
            <a:off x="5257800" y="1097280"/>
            <a:ext cx="3474720" cy="804672"/>
          </a:xfrm>
          <a:prstGeom prst="rect">
            <a:avLst/>
          </a:prstGeom>
          <a:noFill/>
          <a:ln/>
        </p:spPr>
        <p:txBody>
          <a:bodyPr wrap="square" rtlCol="0" anchor="ctr"/>
          <a:lstStyle/>
          <a:p>
            <a:pPr marL="0" indent="0">
              <a:buNone/>
            </a:pPr>
            <a:r>
              <a:rPr lang="en-US" sz="1150" dirty="0">
                <a:solidFill>
                  <a:srgbClr val="1A4A35"/>
                </a:solidFill>
                <a:latin typeface="Calibri" pitchFamily="34" charset="0"/>
                <a:ea typeface="Calibri" pitchFamily="34" charset="-122"/>
                <a:cs typeface="Calibri" pitchFamily="34" charset="-120"/>
              </a:rPr>
              <a:t>No. Hidden data gets lost, corrupted, and cannot be audited. FAIR principles demand documented, controlled access — which is more secure than obscurity.</a:t>
            </a:r>
            <a:endParaRPr lang="en-US" sz="1150" dirty="0"/>
          </a:p>
        </p:txBody>
      </p:sp>
      <p:sp>
        <p:nvSpPr>
          <p:cNvPr id="11" name="Shape 9"/>
          <p:cNvSpPr/>
          <p:nvPr/>
        </p:nvSpPr>
        <p:spPr>
          <a:xfrm>
            <a:off x="274320" y="2103120"/>
            <a:ext cx="4114800" cy="1170432"/>
          </a:xfrm>
          <a:prstGeom prst="roundRect">
            <a:avLst>
              <a:gd name="adj" fmla="val 7813"/>
            </a:avLst>
          </a:prstGeom>
          <a:solidFill>
            <a:srgbClr val="FEF3F2"/>
          </a:solidFill>
          <a:ln w="12700">
            <a:solidFill>
              <a:srgbClr val="FECACA"/>
            </a:solidFill>
            <a:prstDash val="solid"/>
          </a:ln>
          <a:effectLst>
            <a:outerShdw blurRad="101600" dist="38100" dir="2700000" algn="bl" rotWithShape="0">
              <a:srgbClr val="000000">
                <a:alpha val="12000"/>
              </a:srgbClr>
            </a:outerShdw>
          </a:effectLst>
        </p:spPr>
        <p:txBody>
          <a:bodyPr/>
          <a:lstStyle/>
          <a:p>
            <a:endParaRPr lang="en-GB"/>
          </a:p>
        </p:txBody>
      </p:sp>
      <p:sp>
        <p:nvSpPr>
          <p:cNvPr id="12" name="Text 10"/>
          <p:cNvSpPr/>
          <p:nvPr/>
        </p:nvSpPr>
        <p:spPr>
          <a:xfrm>
            <a:off x="411480" y="2148840"/>
            <a:ext cx="3840480" cy="256032"/>
          </a:xfrm>
          <a:prstGeom prst="rect">
            <a:avLst/>
          </a:prstGeom>
          <a:noFill/>
          <a:ln/>
        </p:spPr>
        <p:txBody>
          <a:bodyPr wrap="square" rtlCol="0" anchor="ctr"/>
          <a:lstStyle/>
          <a:p>
            <a:pPr marL="0" indent="0">
              <a:buNone/>
            </a:pPr>
            <a:r>
              <a:rPr lang="en-US" sz="1050" b="1" dirty="0">
                <a:solidFill>
                  <a:srgbClr val="C0392B"/>
                </a:solidFill>
              </a:rPr>
              <a:t>✗  Common Myth</a:t>
            </a:r>
            <a:endParaRPr lang="en-US" sz="1050" dirty="0"/>
          </a:p>
        </p:txBody>
      </p:sp>
      <p:sp>
        <p:nvSpPr>
          <p:cNvPr id="13" name="Text 11"/>
          <p:cNvSpPr/>
          <p:nvPr/>
        </p:nvSpPr>
        <p:spPr>
          <a:xfrm>
            <a:off x="411480" y="2395728"/>
            <a:ext cx="3840480" cy="804672"/>
          </a:xfrm>
          <a:prstGeom prst="rect">
            <a:avLst/>
          </a:prstGeom>
          <a:noFill/>
          <a:ln/>
        </p:spPr>
        <p:txBody>
          <a:bodyPr wrap="square" rtlCol="0" anchor="ctr"/>
          <a:lstStyle/>
          <a:p>
            <a:pPr marL="0" indent="0">
              <a:buNone/>
            </a:pPr>
            <a:r>
              <a:rPr lang="en-US" sz="1150" i="1" dirty="0">
                <a:solidFill>
                  <a:srgbClr val="7B1A1A"/>
                </a:solidFill>
                <a:latin typeface="Calibri" pitchFamily="34" charset="0"/>
                <a:ea typeface="Calibri" pitchFamily="34" charset="-122"/>
                <a:cs typeface="Calibri" pitchFamily="34" charset="-120"/>
              </a:rPr>
              <a:t>"If my data is open access, I cannot protect my participants."</a:t>
            </a:r>
            <a:endParaRPr lang="en-US" sz="1150" dirty="0"/>
          </a:p>
        </p:txBody>
      </p:sp>
      <p:sp>
        <p:nvSpPr>
          <p:cNvPr id="14" name="Text 12"/>
          <p:cNvSpPr/>
          <p:nvPr/>
        </p:nvSpPr>
        <p:spPr>
          <a:xfrm>
            <a:off x="4480560" y="2487168"/>
            <a:ext cx="548640" cy="411480"/>
          </a:xfrm>
          <a:prstGeom prst="rect">
            <a:avLst/>
          </a:prstGeom>
          <a:noFill/>
          <a:ln/>
        </p:spPr>
        <p:txBody>
          <a:bodyPr wrap="square" rtlCol="0" anchor="ctr"/>
          <a:lstStyle/>
          <a:p>
            <a:pPr marL="0" indent="0" algn="ctr">
              <a:buNone/>
            </a:pPr>
            <a:r>
              <a:rPr lang="en-US" sz="2400" b="1" dirty="0">
                <a:solidFill>
                  <a:srgbClr val="1A2E4A"/>
                </a:solidFill>
              </a:rPr>
              <a:t>→</a:t>
            </a:r>
            <a:endParaRPr lang="en-US" sz="2400" dirty="0"/>
          </a:p>
        </p:txBody>
      </p:sp>
      <p:sp>
        <p:nvSpPr>
          <p:cNvPr id="15" name="Shape 13"/>
          <p:cNvSpPr/>
          <p:nvPr/>
        </p:nvSpPr>
        <p:spPr>
          <a:xfrm>
            <a:off x="5120640" y="2103120"/>
            <a:ext cx="3749040" cy="1170432"/>
          </a:xfrm>
          <a:prstGeom prst="roundRect">
            <a:avLst>
              <a:gd name="adj" fmla="val 7813"/>
            </a:avLst>
          </a:prstGeom>
          <a:solidFill>
            <a:srgbClr val="F0FBF8"/>
          </a:solidFill>
          <a:ln w="12700">
            <a:solidFill>
              <a:srgbClr val="A7D7C5"/>
            </a:solidFill>
            <a:prstDash val="solid"/>
          </a:ln>
          <a:effectLst>
            <a:outerShdw blurRad="101600" dist="38100" dir="2700000" algn="bl" rotWithShape="0">
              <a:srgbClr val="000000">
                <a:alpha val="12000"/>
              </a:srgbClr>
            </a:outerShdw>
          </a:effectLst>
        </p:spPr>
        <p:txBody>
          <a:bodyPr/>
          <a:lstStyle/>
          <a:p>
            <a:endParaRPr lang="en-GB"/>
          </a:p>
        </p:txBody>
      </p:sp>
      <p:sp>
        <p:nvSpPr>
          <p:cNvPr id="16" name="Text 14"/>
          <p:cNvSpPr/>
          <p:nvPr/>
        </p:nvSpPr>
        <p:spPr>
          <a:xfrm>
            <a:off x="5257800" y="2148840"/>
            <a:ext cx="3474720" cy="256032"/>
          </a:xfrm>
          <a:prstGeom prst="rect">
            <a:avLst/>
          </a:prstGeom>
          <a:noFill/>
          <a:ln/>
        </p:spPr>
        <p:txBody>
          <a:bodyPr wrap="square" rtlCol="0" anchor="ctr"/>
          <a:lstStyle/>
          <a:p>
            <a:pPr marL="0" indent="0">
              <a:buNone/>
            </a:pPr>
            <a:r>
              <a:rPr lang="en-US" sz="1050" b="1" dirty="0">
                <a:solidFill>
                  <a:srgbClr val="1E7D44"/>
                </a:solidFill>
              </a:rPr>
              <a:t>✓  FAIR + Secure Reality</a:t>
            </a:r>
            <a:endParaRPr lang="en-US" sz="1050" dirty="0"/>
          </a:p>
        </p:txBody>
      </p:sp>
      <p:sp>
        <p:nvSpPr>
          <p:cNvPr id="17" name="Text 15"/>
          <p:cNvSpPr/>
          <p:nvPr/>
        </p:nvSpPr>
        <p:spPr>
          <a:xfrm>
            <a:off x="5257800" y="2395728"/>
            <a:ext cx="3474720" cy="804672"/>
          </a:xfrm>
          <a:prstGeom prst="rect">
            <a:avLst/>
          </a:prstGeom>
          <a:noFill/>
          <a:ln/>
        </p:spPr>
        <p:txBody>
          <a:bodyPr wrap="square" rtlCol="0" anchor="ctr"/>
          <a:lstStyle/>
          <a:p>
            <a:pPr marL="0" indent="0">
              <a:buNone/>
            </a:pPr>
            <a:r>
              <a:rPr lang="en-US" sz="1150" dirty="0">
                <a:solidFill>
                  <a:srgbClr val="1A4A35"/>
                </a:solidFill>
                <a:latin typeface="Calibri" pitchFamily="34" charset="0"/>
                <a:ea typeface="Calibri" pitchFamily="34" charset="-122"/>
                <a:cs typeface="Calibri" pitchFamily="34" charset="-120"/>
              </a:rPr>
              <a:t>False. FAIR allows restricted access with documented conditions. Open metadata + controlled data access is the standard approach in clinical research repositories.</a:t>
            </a:r>
            <a:endParaRPr lang="en-US" sz="1150" dirty="0"/>
          </a:p>
        </p:txBody>
      </p:sp>
      <p:sp>
        <p:nvSpPr>
          <p:cNvPr id="18" name="Shape 16"/>
          <p:cNvSpPr/>
          <p:nvPr/>
        </p:nvSpPr>
        <p:spPr>
          <a:xfrm>
            <a:off x="274320" y="3401568"/>
            <a:ext cx="4114800" cy="1170432"/>
          </a:xfrm>
          <a:prstGeom prst="roundRect">
            <a:avLst>
              <a:gd name="adj" fmla="val 7813"/>
            </a:avLst>
          </a:prstGeom>
          <a:solidFill>
            <a:srgbClr val="FEF3F2"/>
          </a:solidFill>
          <a:ln w="12700">
            <a:solidFill>
              <a:srgbClr val="FECACA"/>
            </a:solidFill>
            <a:prstDash val="solid"/>
          </a:ln>
          <a:effectLst>
            <a:outerShdw blurRad="101600" dist="38100" dir="2700000" algn="bl" rotWithShape="0">
              <a:srgbClr val="000000">
                <a:alpha val="12000"/>
              </a:srgbClr>
            </a:outerShdw>
          </a:effectLst>
        </p:spPr>
        <p:txBody>
          <a:bodyPr/>
          <a:lstStyle/>
          <a:p>
            <a:endParaRPr lang="en-GB"/>
          </a:p>
        </p:txBody>
      </p:sp>
      <p:sp>
        <p:nvSpPr>
          <p:cNvPr id="19" name="Text 17"/>
          <p:cNvSpPr/>
          <p:nvPr/>
        </p:nvSpPr>
        <p:spPr>
          <a:xfrm>
            <a:off x="411480" y="3447288"/>
            <a:ext cx="3840480" cy="256032"/>
          </a:xfrm>
          <a:prstGeom prst="rect">
            <a:avLst/>
          </a:prstGeom>
          <a:noFill/>
          <a:ln/>
        </p:spPr>
        <p:txBody>
          <a:bodyPr wrap="square" rtlCol="0" anchor="ctr"/>
          <a:lstStyle/>
          <a:p>
            <a:pPr marL="0" indent="0">
              <a:buNone/>
            </a:pPr>
            <a:r>
              <a:rPr lang="en-US" sz="1050" b="1" dirty="0">
                <a:solidFill>
                  <a:srgbClr val="C0392B"/>
                </a:solidFill>
              </a:rPr>
              <a:t>✗  Common Myth</a:t>
            </a:r>
            <a:endParaRPr lang="en-US" sz="1050" dirty="0"/>
          </a:p>
        </p:txBody>
      </p:sp>
      <p:sp>
        <p:nvSpPr>
          <p:cNvPr id="20" name="Text 18"/>
          <p:cNvSpPr/>
          <p:nvPr/>
        </p:nvSpPr>
        <p:spPr>
          <a:xfrm>
            <a:off x="411480" y="3694176"/>
            <a:ext cx="3840480" cy="804672"/>
          </a:xfrm>
          <a:prstGeom prst="rect">
            <a:avLst/>
          </a:prstGeom>
          <a:noFill/>
          <a:ln/>
        </p:spPr>
        <p:txBody>
          <a:bodyPr wrap="square" rtlCol="0" anchor="ctr"/>
          <a:lstStyle/>
          <a:p>
            <a:pPr marL="0" indent="0">
              <a:buNone/>
            </a:pPr>
            <a:r>
              <a:rPr lang="en-US" sz="1150" i="1" dirty="0">
                <a:solidFill>
                  <a:srgbClr val="7B1A1A"/>
                </a:solidFill>
                <a:latin typeface="Calibri" pitchFamily="34" charset="0"/>
                <a:ea typeface="Calibri" pitchFamily="34" charset="-122"/>
                <a:cs typeface="Calibri" pitchFamily="34" charset="-120"/>
              </a:rPr>
              <a:t>"My data is in Excel on my laptop — it is secure because no one else knows about it."</a:t>
            </a:r>
            <a:endParaRPr lang="en-US" sz="1150" dirty="0"/>
          </a:p>
        </p:txBody>
      </p:sp>
      <p:sp>
        <p:nvSpPr>
          <p:cNvPr id="21" name="Text 19"/>
          <p:cNvSpPr/>
          <p:nvPr/>
        </p:nvSpPr>
        <p:spPr>
          <a:xfrm>
            <a:off x="4480560" y="3785616"/>
            <a:ext cx="548640" cy="411480"/>
          </a:xfrm>
          <a:prstGeom prst="rect">
            <a:avLst/>
          </a:prstGeom>
          <a:noFill/>
          <a:ln/>
        </p:spPr>
        <p:txBody>
          <a:bodyPr wrap="square" rtlCol="0" anchor="ctr"/>
          <a:lstStyle/>
          <a:p>
            <a:pPr marL="0" indent="0" algn="ctr">
              <a:buNone/>
            </a:pPr>
            <a:r>
              <a:rPr lang="en-US" sz="2400" b="1" dirty="0">
                <a:solidFill>
                  <a:srgbClr val="C0392B"/>
                </a:solidFill>
              </a:rPr>
              <a:t>→</a:t>
            </a:r>
            <a:endParaRPr lang="en-US" sz="2400" dirty="0"/>
          </a:p>
        </p:txBody>
      </p:sp>
      <p:sp>
        <p:nvSpPr>
          <p:cNvPr id="22" name="Shape 20"/>
          <p:cNvSpPr/>
          <p:nvPr/>
        </p:nvSpPr>
        <p:spPr>
          <a:xfrm>
            <a:off x="5120640" y="3401568"/>
            <a:ext cx="3749040" cy="1170432"/>
          </a:xfrm>
          <a:prstGeom prst="roundRect">
            <a:avLst>
              <a:gd name="adj" fmla="val 7813"/>
            </a:avLst>
          </a:prstGeom>
          <a:solidFill>
            <a:srgbClr val="F0FBF8"/>
          </a:solidFill>
          <a:ln w="12700">
            <a:solidFill>
              <a:srgbClr val="A7D7C5"/>
            </a:solidFill>
            <a:prstDash val="solid"/>
          </a:ln>
          <a:effectLst>
            <a:outerShdw blurRad="101600" dist="38100" dir="2700000" algn="bl" rotWithShape="0">
              <a:srgbClr val="000000">
                <a:alpha val="12000"/>
              </a:srgbClr>
            </a:outerShdw>
          </a:effectLst>
        </p:spPr>
        <p:txBody>
          <a:bodyPr/>
          <a:lstStyle/>
          <a:p>
            <a:endParaRPr lang="en-GB"/>
          </a:p>
        </p:txBody>
      </p:sp>
      <p:sp>
        <p:nvSpPr>
          <p:cNvPr id="23" name="Text 21"/>
          <p:cNvSpPr/>
          <p:nvPr/>
        </p:nvSpPr>
        <p:spPr>
          <a:xfrm>
            <a:off x="5257800" y="3447288"/>
            <a:ext cx="3474720" cy="256032"/>
          </a:xfrm>
          <a:prstGeom prst="rect">
            <a:avLst/>
          </a:prstGeom>
          <a:noFill/>
          <a:ln/>
        </p:spPr>
        <p:txBody>
          <a:bodyPr wrap="square" rtlCol="0" anchor="ctr"/>
          <a:lstStyle/>
          <a:p>
            <a:pPr marL="0" indent="0">
              <a:buNone/>
            </a:pPr>
            <a:r>
              <a:rPr lang="en-US" sz="1050" b="1" dirty="0">
                <a:solidFill>
                  <a:srgbClr val="1E7D44"/>
                </a:solidFill>
              </a:rPr>
              <a:t>✓  FAIR + Secure Reality</a:t>
            </a:r>
            <a:endParaRPr lang="en-US" sz="1050" dirty="0"/>
          </a:p>
        </p:txBody>
      </p:sp>
      <p:sp>
        <p:nvSpPr>
          <p:cNvPr id="24" name="Text 22"/>
          <p:cNvSpPr/>
          <p:nvPr/>
        </p:nvSpPr>
        <p:spPr>
          <a:xfrm>
            <a:off x="5257800" y="3694176"/>
            <a:ext cx="3474720" cy="804672"/>
          </a:xfrm>
          <a:prstGeom prst="rect">
            <a:avLst/>
          </a:prstGeom>
          <a:noFill/>
          <a:ln/>
        </p:spPr>
        <p:txBody>
          <a:bodyPr wrap="square" rtlCol="0" anchor="ctr"/>
          <a:lstStyle/>
          <a:p>
            <a:pPr marL="0" indent="0">
              <a:buNone/>
            </a:pPr>
            <a:r>
              <a:rPr lang="en-US" sz="1150" dirty="0">
                <a:solidFill>
                  <a:srgbClr val="1A4A35"/>
                </a:solidFill>
                <a:latin typeface="Calibri" pitchFamily="34" charset="0"/>
                <a:ea typeface="Calibri" pitchFamily="34" charset="-122"/>
                <a:cs typeface="Calibri" pitchFamily="34" charset="-120"/>
              </a:rPr>
              <a:t>This violates FAIR (not findable, not backed up) and NDPA (no audit trail, no documented retention). If your laptop is stolen, data is gone.</a:t>
            </a:r>
            <a:endParaRPr lang="en-US" sz="1150" dirty="0"/>
          </a:p>
        </p:txBody>
      </p:sp>
      <p:sp>
        <p:nvSpPr>
          <p:cNvPr id="25" name="Text 23"/>
          <p:cNvSpPr/>
          <p:nvPr/>
        </p:nvSpPr>
        <p:spPr>
          <a:xfrm>
            <a:off x="274320" y="4663440"/>
            <a:ext cx="8595360" cy="320040"/>
          </a:xfrm>
          <a:prstGeom prst="rect">
            <a:avLst/>
          </a:prstGeom>
          <a:noFill/>
          <a:ln/>
        </p:spPr>
        <p:txBody>
          <a:bodyPr wrap="square" rtlCol="0" anchor="ctr"/>
          <a:lstStyle/>
          <a:p>
            <a:pPr marL="0" indent="0">
              <a:buNone/>
            </a:pPr>
            <a:r>
              <a:rPr lang="en-US" sz="1050" b="1" i="1" dirty="0">
                <a:solidFill>
                  <a:srgbClr val="0D7377"/>
                </a:solidFill>
                <a:latin typeface="Calibri" pitchFamily="34" charset="0"/>
                <a:ea typeface="Calibri" pitchFamily="34" charset="-122"/>
                <a:cs typeface="Calibri" pitchFamily="34" charset="-120"/>
              </a:rPr>
              <a:t>Take-home: FAIR data is more auditable, more recoverable, and more trustworthy than hidden data. Security by design, not security by obscurity.</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7377"/>
          </a:solidFill>
          <a:ln w="12700">
            <a:solidFill>
              <a:srgbClr val="0D7377"/>
            </a:solidFill>
            <a:prstDash val="solid"/>
          </a:ln>
        </p:spPr>
        <p:txBody>
          <a:bodyPr/>
          <a:lstStyle/>
          <a:p>
            <a:endParaRPr lang="en-GB"/>
          </a:p>
        </p:txBody>
      </p:sp>
      <p:sp>
        <p:nvSpPr>
          <p:cNvPr id="3" name="Text 1"/>
          <p:cNvSpPr/>
          <p:nvPr/>
        </p:nvSpPr>
        <p:spPr>
          <a:xfrm>
            <a:off x="365760" y="0"/>
            <a:ext cx="8412480" cy="685800"/>
          </a:xfrm>
          <a:prstGeom prst="rect">
            <a:avLst/>
          </a:prstGeom>
          <a:noFill/>
          <a:ln/>
        </p:spPr>
        <p:txBody>
          <a:bodyPr wrap="square"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Datasheets for Datasets — Documenting What You Collected and Why</a:t>
            </a:r>
            <a:endParaRPr lang="en-US" sz="2200" dirty="0"/>
          </a:p>
        </p:txBody>
      </p:sp>
      <p:sp>
        <p:nvSpPr>
          <p:cNvPr id="4" name="Text 2"/>
          <p:cNvSpPr/>
          <p:nvPr/>
        </p:nvSpPr>
        <p:spPr>
          <a:xfrm>
            <a:off x="365760" y="749808"/>
            <a:ext cx="8412480" cy="292608"/>
          </a:xfrm>
          <a:prstGeom prst="rect">
            <a:avLst/>
          </a:prstGeom>
          <a:noFill/>
          <a:ln/>
        </p:spPr>
        <p:txBody>
          <a:bodyPr wrap="square" rtlCol="0" anchor="ctr"/>
          <a:lstStyle/>
          <a:p>
            <a:pPr marL="0" indent="0">
              <a:buNone/>
            </a:pPr>
            <a:r>
              <a:rPr lang="en-US" sz="1050" i="1" dirty="0">
                <a:solidFill>
                  <a:srgbClr val="6B7A8D"/>
                </a:solidFill>
                <a:latin typeface="Calibri" pitchFamily="34" charset="0"/>
                <a:ea typeface="Calibri" pitchFamily="34" charset="-122"/>
                <a:cs typeface="Calibri" pitchFamily="34" charset="-120"/>
              </a:rPr>
              <a:t>Gebru et al. (2021) "Datasheets for Datasets" — Communications of the ACM. Now a standard requirement by NeurIPS, ICML, and major health data repositories.</a:t>
            </a:r>
            <a:endParaRPr lang="en-US" sz="1050" dirty="0"/>
          </a:p>
        </p:txBody>
      </p:sp>
      <p:sp>
        <p:nvSpPr>
          <p:cNvPr id="5" name="Shape 3"/>
          <p:cNvSpPr/>
          <p:nvPr/>
        </p:nvSpPr>
        <p:spPr>
          <a:xfrm>
            <a:off x="274320" y="1097280"/>
            <a:ext cx="4389120" cy="3794760"/>
          </a:xfrm>
          <a:prstGeom prst="roundRect">
            <a:avLst>
              <a:gd name="adj" fmla="val 2410"/>
            </a:avLst>
          </a:prstGeom>
          <a:solidFill>
            <a:srgbClr val="FFFFFF"/>
          </a:solidFill>
          <a:ln w="12700">
            <a:solidFill>
              <a:srgbClr val="DDE6F0"/>
            </a:solidFill>
            <a:prstDash val="solid"/>
          </a:ln>
          <a:effectLst>
            <a:outerShdw blurRad="101600" dist="38100" dir="2700000" algn="bl" rotWithShape="0">
              <a:srgbClr val="000000">
                <a:alpha val="12000"/>
              </a:srgbClr>
            </a:outerShdw>
          </a:effectLst>
        </p:spPr>
        <p:txBody>
          <a:bodyPr/>
          <a:lstStyle/>
          <a:p>
            <a:endParaRPr lang="en-GB"/>
          </a:p>
        </p:txBody>
      </p:sp>
      <p:sp>
        <p:nvSpPr>
          <p:cNvPr id="6" name="Text 4"/>
          <p:cNvSpPr/>
          <p:nvPr/>
        </p:nvSpPr>
        <p:spPr>
          <a:xfrm>
            <a:off x="411480" y="1161288"/>
            <a:ext cx="4114800" cy="365760"/>
          </a:xfrm>
          <a:prstGeom prst="rect">
            <a:avLst/>
          </a:prstGeom>
          <a:noFill/>
          <a:ln/>
        </p:spPr>
        <p:txBody>
          <a:bodyPr wrap="square" rtlCol="0" anchor="ctr"/>
          <a:lstStyle/>
          <a:p>
            <a:pPr marL="0" indent="0">
              <a:buNone/>
            </a:pPr>
            <a:r>
              <a:rPr lang="en-US" sz="1300" b="1" dirty="0">
                <a:solidFill>
                  <a:srgbClr val="0D7377"/>
                </a:solidFill>
                <a:latin typeface="Cambria" pitchFamily="34" charset="0"/>
                <a:ea typeface="Cambria" pitchFamily="34" charset="-122"/>
                <a:cs typeface="Cambria" pitchFamily="34" charset="-120"/>
              </a:rPr>
              <a:t>The 7 Sections Every Dataset Must Document</a:t>
            </a:r>
            <a:endParaRPr lang="en-US" sz="1300" dirty="0"/>
          </a:p>
        </p:txBody>
      </p:sp>
      <p:sp>
        <p:nvSpPr>
          <p:cNvPr id="7" name="Shape 5"/>
          <p:cNvSpPr/>
          <p:nvPr/>
        </p:nvSpPr>
        <p:spPr>
          <a:xfrm>
            <a:off x="384048" y="1627632"/>
            <a:ext cx="292608" cy="292608"/>
          </a:xfrm>
          <a:prstGeom prst="ellipse">
            <a:avLst/>
          </a:prstGeom>
          <a:solidFill>
            <a:srgbClr val="0D7377"/>
          </a:solidFill>
          <a:ln w="12700">
            <a:solidFill>
              <a:srgbClr val="0D7377"/>
            </a:solidFill>
            <a:prstDash val="solid"/>
          </a:ln>
        </p:spPr>
        <p:txBody>
          <a:bodyPr/>
          <a:lstStyle/>
          <a:p>
            <a:endParaRPr lang="en-GB"/>
          </a:p>
        </p:txBody>
      </p:sp>
      <p:sp>
        <p:nvSpPr>
          <p:cNvPr id="8" name="Text 6"/>
          <p:cNvSpPr/>
          <p:nvPr/>
        </p:nvSpPr>
        <p:spPr>
          <a:xfrm>
            <a:off x="384048" y="1627632"/>
            <a:ext cx="292608" cy="292608"/>
          </a:xfrm>
          <a:prstGeom prst="rect">
            <a:avLst/>
          </a:prstGeom>
          <a:noFill/>
          <a:ln/>
        </p:spPr>
        <p:txBody>
          <a:bodyPr wrap="square" rtlCol="0" anchor="ctr"/>
          <a:lstStyle/>
          <a:p>
            <a:pPr marL="0" indent="0" algn="ctr">
              <a:buNone/>
            </a:pPr>
            <a:r>
              <a:rPr lang="en-US" sz="1100" b="1" dirty="0">
                <a:solidFill>
                  <a:srgbClr val="FFFFFF"/>
                </a:solidFill>
              </a:rPr>
              <a:t>1</a:t>
            </a:r>
            <a:endParaRPr lang="en-US" sz="1100" dirty="0"/>
          </a:p>
        </p:txBody>
      </p:sp>
      <p:sp>
        <p:nvSpPr>
          <p:cNvPr id="9" name="Text 7"/>
          <p:cNvSpPr/>
          <p:nvPr/>
        </p:nvSpPr>
        <p:spPr>
          <a:xfrm>
            <a:off x="749808" y="1572768"/>
            <a:ext cx="3794760" cy="411480"/>
          </a:xfrm>
          <a:prstGeom prst="rect">
            <a:avLst/>
          </a:prstGeom>
          <a:noFill/>
          <a:ln/>
        </p:spPr>
        <p:txBody>
          <a:bodyPr wrap="square" rtlCol="0" anchor="ctr"/>
          <a:lstStyle/>
          <a:p>
            <a:pPr marL="0" indent="0">
              <a:buNone/>
            </a:pPr>
            <a:r>
              <a:rPr lang="en-US" sz="1100" b="1" dirty="0">
                <a:solidFill>
                  <a:srgbClr val="1A2E4A"/>
                </a:solidFill>
                <a:latin typeface="Calibri" pitchFamily="34" charset="0"/>
                <a:ea typeface="Calibri" pitchFamily="34" charset="-122"/>
                <a:cs typeface="Calibri" pitchFamily="34" charset="-120"/>
              </a:rPr>
              <a:t>Motivation: </a:t>
            </a:r>
            <a:r>
              <a:rPr lang="en-US" sz="1100" dirty="0">
                <a:solidFill>
                  <a:srgbClr val="1A2E4A"/>
                </a:solidFill>
                <a:latin typeface="Calibri" pitchFamily="34" charset="0"/>
                <a:ea typeface="Calibri" pitchFamily="34" charset="-122"/>
                <a:cs typeface="Calibri" pitchFamily="34" charset="-120"/>
              </a:rPr>
              <a:t>Why was this dataset created? Who funded it? For what task?</a:t>
            </a:r>
            <a:endParaRPr lang="en-US" sz="1100" dirty="0"/>
          </a:p>
        </p:txBody>
      </p:sp>
      <p:sp>
        <p:nvSpPr>
          <p:cNvPr id="10" name="Shape 8"/>
          <p:cNvSpPr/>
          <p:nvPr/>
        </p:nvSpPr>
        <p:spPr>
          <a:xfrm>
            <a:off x="384048" y="2084832"/>
            <a:ext cx="292608" cy="292608"/>
          </a:xfrm>
          <a:prstGeom prst="ellipse">
            <a:avLst/>
          </a:prstGeom>
          <a:solidFill>
            <a:srgbClr val="0D7377"/>
          </a:solidFill>
          <a:ln w="12700">
            <a:solidFill>
              <a:srgbClr val="0D7377"/>
            </a:solidFill>
            <a:prstDash val="solid"/>
          </a:ln>
        </p:spPr>
        <p:txBody>
          <a:bodyPr/>
          <a:lstStyle/>
          <a:p>
            <a:endParaRPr lang="en-GB"/>
          </a:p>
        </p:txBody>
      </p:sp>
      <p:sp>
        <p:nvSpPr>
          <p:cNvPr id="11" name="Text 9"/>
          <p:cNvSpPr/>
          <p:nvPr/>
        </p:nvSpPr>
        <p:spPr>
          <a:xfrm>
            <a:off x="384048" y="2084832"/>
            <a:ext cx="292608" cy="292608"/>
          </a:xfrm>
          <a:prstGeom prst="rect">
            <a:avLst/>
          </a:prstGeom>
          <a:noFill/>
          <a:ln/>
        </p:spPr>
        <p:txBody>
          <a:bodyPr wrap="square" rtlCol="0" anchor="ctr"/>
          <a:lstStyle/>
          <a:p>
            <a:pPr marL="0" indent="0" algn="ctr">
              <a:buNone/>
            </a:pPr>
            <a:r>
              <a:rPr lang="en-US" sz="1100" b="1" dirty="0">
                <a:solidFill>
                  <a:srgbClr val="FFFFFF"/>
                </a:solidFill>
              </a:rPr>
              <a:t>2</a:t>
            </a:r>
            <a:endParaRPr lang="en-US" sz="1100" dirty="0"/>
          </a:p>
        </p:txBody>
      </p:sp>
      <p:sp>
        <p:nvSpPr>
          <p:cNvPr id="12" name="Text 10"/>
          <p:cNvSpPr/>
          <p:nvPr/>
        </p:nvSpPr>
        <p:spPr>
          <a:xfrm>
            <a:off x="749808" y="2029968"/>
            <a:ext cx="3794760" cy="411480"/>
          </a:xfrm>
          <a:prstGeom prst="rect">
            <a:avLst/>
          </a:prstGeom>
          <a:noFill/>
          <a:ln/>
        </p:spPr>
        <p:txBody>
          <a:bodyPr wrap="square" rtlCol="0" anchor="ctr"/>
          <a:lstStyle/>
          <a:p>
            <a:pPr marL="0" indent="0">
              <a:buNone/>
            </a:pPr>
            <a:r>
              <a:rPr lang="en-US" sz="1100" b="1" dirty="0">
                <a:solidFill>
                  <a:srgbClr val="1A2E4A"/>
                </a:solidFill>
                <a:latin typeface="Calibri" pitchFamily="34" charset="0"/>
                <a:ea typeface="Calibri" pitchFamily="34" charset="-122"/>
                <a:cs typeface="Calibri" pitchFamily="34" charset="-120"/>
              </a:rPr>
              <a:t>Composition: </a:t>
            </a:r>
            <a:r>
              <a:rPr lang="en-US" sz="1100" dirty="0">
                <a:solidFill>
                  <a:srgbClr val="1A2E4A"/>
                </a:solidFill>
                <a:latin typeface="Calibri" pitchFamily="34" charset="0"/>
                <a:ea typeface="Calibri" pitchFamily="34" charset="-122"/>
                <a:cs typeface="Calibri" pitchFamily="34" charset="-120"/>
              </a:rPr>
              <a:t>What types of data? How many instances? Any missing data?</a:t>
            </a:r>
            <a:endParaRPr lang="en-US" sz="1100" dirty="0"/>
          </a:p>
        </p:txBody>
      </p:sp>
      <p:sp>
        <p:nvSpPr>
          <p:cNvPr id="13" name="Shape 11"/>
          <p:cNvSpPr/>
          <p:nvPr/>
        </p:nvSpPr>
        <p:spPr>
          <a:xfrm>
            <a:off x="384048" y="2542032"/>
            <a:ext cx="292608" cy="292608"/>
          </a:xfrm>
          <a:prstGeom prst="ellipse">
            <a:avLst/>
          </a:prstGeom>
          <a:solidFill>
            <a:srgbClr val="0D7377"/>
          </a:solidFill>
          <a:ln w="12700">
            <a:solidFill>
              <a:srgbClr val="0D7377"/>
            </a:solidFill>
            <a:prstDash val="solid"/>
          </a:ln>
        </p:spPr>
        <p:txBody>
          <a:bodyPr/>
          <a:lstStyle/>
          <a:p>
            <a:endParaRPr lang="en-GB"/>
          </a:p>
        </p:txBody>
      </p:sp>
      <p:sp>
        <p:nvSpPr>
          <p:cNvPr id="14" name="Text 12"/>
          <p:cNvSpPr/>
          <p:nvPr/>
        </p:nvSpPr>
        <p:spPr>
          <a:xfrm>
            <a:off x="384048" y="2542032"/>
            <a:ext cx="292608" cy="292608"/>
          </a:xfrm>
          <a:prstGeom prst="rect">
            <a:avLst/>
          </a:prstGeom>
          <a:noFill/>
          <a:ln/>
        </p:spPr>
        <p:txBody>
          <a:bodyPr wrap="square" rtlCol="0" anchor="ctr"/>
          <a:lstStyle/>
          <a:p>
            <a:pPr marL="0" indent="0" algn="ctr">
              <a:buNone/>
            </a:pPr>
            <a:r>
              <a:rPr lang="en-US" sz="1100" b="1" dirty="0">
                <a:solidFill>
                  <a:srgbClr val="FFFFFF"/>
                </a:solidFill>
              </a:rPr>
              <a:t>3</a:t>
            </a:r>
            <a:endParaRPr lang="en-US" sz="1100" dirty="0"/>
          </a:p>
        </p:txBody>
      </p:sp>
      <p:sp>
        <p:nvSpPr>
          <p:cNvPr id="15" name="Text 13"/>
          <p:cNvSpPr/>
          <p:nvPr/>
        </p:nvSpPr>
        <p:spPr>
          <a:xfrm>
            <a:off x="749808" y="2487168"/>
            <a:ext cx="3794760" cy="411480"/>
          </a:xfrm>
          <a:prstGeom prst="rect">
            <a:avLst/>
          </a:prstGeom>
          <a:noFill/>
          <a:ln/>
        </p:spPr>
        <p:txBody>
          <a:bodyPr wrap="square" rtlCol="0" anchor="ctr"/>
          <a:lstStyle/>
          <a:p>
            <a:pPr marL="0" indent="0">
              <a:buNone/>
            </a:pPr>
            <a:r>
              <a:rPr lang="en-US" sz="1100" b="1" dirty="0">
                <a:solidFill>
                  <a:srgbClr val="1A2E4A"/>
                </a:solidFill>
                <a:latin typeface="Calibri" pitchFamily="34" charset="0"/>
                <a:ea typeface="Calibri" pitchFamily="34" charset="-122"/>
                <a:cs typeface="Calibri" pitchFamily="34" charset="-120"/>
              </a:rPr>
              <a:t>Collection Process: </a:t>
            </a:r>
            <a:r>
              <a:rPr lang="en-US" sz="1100" dirty="0">
                <a:solidFill>
                  <a:srgbClr val="1A2E4A"/>
                </a:solidFill>
                <a:latin typeface="Calibri" pitchFamily="34" charset="0"/>
                <a:ea typeface="Calibri" pitchFamily="34" charset="-122"/>
                <a:cs typeface="Calibri" pitchFamily="34" charset="-120"/>
              </a:rPr>
              <a:t>How was data collected? Who? What consent was obtained?</a:t>
            </a:r>
            <a:endParaRPr lang="en-US" sz="1100" dirty="0"/>
          </a:p>
        </p:txBody>
      </p:sp>
      <p:sp>
        <p:nvSpPr>
          <p:cNvPr id="16" name="Shape 14"/>
          <p:cNvSpPr/>
          <p:nvPr/>
        </p:nvSpPr>
        <p:spPr>
          <a:xfrm>
            <a:off x="384048" y="2999232"/>
            <a:ext cx="292608" cy="292608"/>
          </a:xfrm>
          <a:prstGeom prst="ellipse">
            <a:avLst/>
          </a:prstGeom>
          <a:solidFill>
            <a:srgbClr val="0D7377"/>
          </a:solidFill>
          <a:ln w="12700">
            <a:solidFill>
              <a:srgbClr val="0D7377"/>
            </a:solidFill>
            <a:prstDash val="solid"/>
          </a:ln>
        </p:spPr>
        <p:txBody>
          <a:bodyPr/>
          <a:lstStyle/>
          <a:p>
            <a:endParaRPr lang="en-GB"/>
          </a:p>
        </p:txBody>
      </p:sp>
      <p:sp>
        <p:nvSpPr>
          <p:cNvPr id="17" name="Text 15"/>
          <p:cNvSpPr/>
          <p:nvPr/>
        </p:nvSpPr>
        <p:spPr>
          <a:xfrm>
            <a:off x="384048" y="2999232"/>
            <a:ext cx="292608" cy="292608"/>
          </a:xfrm>
          <a:prstGeom prst="rect">
            <a:avLst/>
          </a:prstGeom>
          <a:noFill/>
          <a:ln/>
        </p:spPr>
        <p:txBody>
          <a:bodyPr wrap="square" rtlCol="0" anchor="ctr"/>
          <a:lstStyle/>
          <a:p>
            <a:pPr marL="0" indent="0" algn="ctr">
              <a:buNone/>
            </a:pPr>
            <a:r>
              <a:rPr lang="en-US" sz="1100" b="1" dirty="0">
                <a:solidFill>
                  <a:srgbClr val="FFFFFF"/>
                </a:solidFill>
              </a:rPr>
              <a:t>4</a:t>
            </a:r>
            <a:endParaRPr lang="en-US" sz="1100" dirty="0"/>
          </a:p>
        </p:txBody>
      </p:sp>
      <p:sp>
        <p:nvSpPr>
          <p:cNvPr id="18" name="Text 16"/>
          <p:cNvSpPr/>
          <p:nvPr/>
        </p:nvSpPr>
        <p:spPr>
          <a:xfrm>
            <a:off x="749808" y="2944368"/>
            <a:ext cx="3794760" cy="411480"/>
          </a:xfrm>
          <a:prstGeom prst="rect">
            <a:avLst/>
          </a:prstGeom>
          <a:noFill/>
          <a:ln/>
        </p:spPr>
        <p:txBody>
          <a:bodyPr wrap="square" rtlCol="0" anchor="ctr"/>
          <a:lstStyle/>
          <a:p>
            <a:pPr marL="0" indent="0">
              <a:buNone/>
            </a:pPr>
            <a:r>
              <a:rPr lang="en-US" sz="1100" b="1" dirty="0">
                <a:solidFill>
                  <a:srgbClr val="1A2E4A"/>
                </a:solidFill>
                <a:latin typeface="Calibri" pitchFamily="34" charset="0"/>
                <a:ea typeface="Calibri" pitchFamily="34" charset="-122"/>
                <a:cs typeface="Calibri" pitchFamily="34" charset="-120"/>
              </a:rPr>
              <a:t>Preprocessing: </a:t>
            </a:r>
            <a:r>
              <a:rPr lang="en-US" sz="1100" dirty="0">
                <a:solidFill>
                  <a:srgbClr val="1A2E4A"/>
                </a:solidFill>
                <a:latin typeface="Calibri" pitchFamily="34" charset="0"/>
                <a:ea typeface="Calibri" pitchFamily="34" charset="-122"/>
                <a:cs typeface="Calibri" pitchFamily="34" charset="-120"/>
              </a:rPr>
              <a:t>Was data cleaned, filtered, or transformed? How?</a:t>
            </a:r>
            <a:endParaRPr lang="en-US" sz="1100" dirty="0"/>
          </a:p>
        </p:txBody>
      </p:sp>
      <p:sp>
        <p:nvSpPr>
          <p:cNvPr id="19" name="Shape 17"/>
          <p:cNvSpPr/>
          <p:nvPr/>
        </p:nvSpPr>
        <p:spPr>
          <a:xfrm>
            <a:off x="384048" y="3456432"/>
            <a:ext cx="292608" cy="292608"/>
          </a:xfrm>
          <a:prstGeom prst="ellipse">
            <a:avLst/>
          </a:prstGeom>
          <a:solidFill>
            <a:srgbClr val="0D7377"/>
          </a:solidFill>
          <a:ln w="12700">
            <a:solidFill>
              <a:srgbClr val="0D7377"/>
            </a:solidFill>
            <a:prstDash val="solid"/>
          </a:ln>
        </p:spPr>
        <p:txBody>
          <a:bodyPr/>
          <a:lstStyle/>
          <a:p>
            <a:endParaRPr lang="en-GB"/>
          </a:p>
        </p:txBody>
      </p:sp>
      <p:sp>
        <p:nvSpPr>
          <p:cNvPr id="20" name="Text 18"/>
          <p:cNvSpPr/>
          <p:nvPr/>
        </p:nvSpPr>
        <p:spPr>
          <a:xfrm>
            <a:off x="384048" y="3456432"/>
            <a:ext cx="292608" cy="292608"/>
          </a:xfrm>
          <a:prstGeom prst="rect">
            <a:avLst/>
          </a:prstGeom>
          <a:noFill/>
          <a:ln/>
        </p:spPr>
        <p:txBody>
          <a:bodyPr wrap="square" rtlCol="0" anchor="ctr"/>
          <a:lstStyle/>
          <a:p>
            <a:pPr marL="0" indent="0" algn="ctr">
              <a:buNone/>
            </a:pPr>
            <a:r>
              <a:rPr lang="en-US" sz="1100" b="1" dirty="0">
                <a:solidFill>
                  <a:srgbClr val="FFFFFF"/>
                </a:solidFill>
              </a:rPr>
              <a:t>5</a:t>
            </a:r>
            <a:endParaRPr lang="en-US" sz="1100" dirty="0"/>
          </a:p>
        </p:txBody>
      </p:sp>
      <p:sp>
        <p:nvSpPr>
          <p:cNvPr id="21" name="Text 19"/>
          <p:cNvSpPr/>
          <p:nvPr/>
        </p:nvSpPr>
        <p:spPr>
          <a:xfrm>
            <a:off x="749808" y="3401568"/>
            <a:ext cx="3794760" cy="411480"/>
          </a:xfrm>
          <a:prstGeom prst="rect">
            <a:avLst/>
          </a:prstGeom>
          <a:noFill/>
          <a:ln/>
        </p:spPr>
        <p:txBody>
          <a:bodyPr wrap="square" rtlCol="0" anchor="ctr"/>
          <a:lstStyle/>
          <a:p>
            <a:pPr marL="0" indent="0">
              <a:buNone/>
            </a:pPr>
            <a:r>
              <a:rPr lang="en-US" sz="1100" b="1" dirty="0">
                <a:solidFill>
                  <a:srgbClr val="1A2E4A"/>
                </a:solidFill>
                <a:latin typeface="Calibri" pitchFamily="34" charset="0"/>
                <a:ea typeface="Calibri" pitchFamily="34" charset="-122"/>
                <a:cs typeface="Calibri" pitchFamily="34" charset="-120"/>
              </a:rPr>
              <a:t>Uses: </a:t>
            </a:r>
            <a:r>
              <a:rPr lang="en-US" sz="1100" dirty="0">
                <a:solidFill>
                  <a:srgbClr val="1A2E4A"/>
                </a:solidFill>
                <a:latin typeface="Calibri" pitchFamily="34" charset="0"/>
                <a:ea typeface="Calibri" pitchFamily="34" charset="-122"/>
                <a:cs typeface="Calibri" pitchFamily="34" charset="-120"/>
              </a:rPr>
              <a:t>What tasks is this dataset appropriate for? What tasks should it NOT be used for?</a:t>
            </a:r>
            <a:endParaRPr lang="en-US" sz="1100" dirty="0"/>
          </a:p>
        </p:txBody>
      </p:sp>
      <p:sp>
        <p:nvSpPr>
          <p:cNvPr id="22" name="Shape 20"/>
          <p:cNvSpPr/>
          <p:nvPr/>
        </p:nvSpPr>
        <p:spPr>
          <a:xfrm>
            <a:off x="384048" y="3913632"/>
            <a:ext cx="292608" cy="292608"/>
          </a:xfrm>
          <a:prstGeom prst="ellipse">
            <a:avLst/>
          </a:prstGeom>
          <a:solidFill>
            <a:srgbClr val="0D7377"/>
          </a:solidFill>
          <a:ln w="12700">
            <a:solidFill>
              <a:srgbClr val="0D7377"/>
            </a:solidFill>
            <a:prstDash val="solid"/>
          </a:ln>
        </p:spPr>
        <p:txBody>
          <a:bodyPr/>
          <a:lstStyle/>
          <a:p>
            <a:endParaRPr lang="en-GB"/>
          </a:p>
        </p:txBody>
      </p:sp>
      <p:sp>
        <p:nvSpPr>
          <p:cNvPr id="23" name="Text 21"/>
          <p:cNvSpPr/>
          <p:nvPr/>
        </p:nvSpPr>
        <p:spPr>
          <a:xfrm>
            <a:off x="384048" y="3913632"/>
            <a:ext cx="292608" cy="292608"/>
          </a:xfrm>
          <a:prstGeom prst="rect">
            <a:avLst/>
          </a:prstGeom>
          <a:noFill/>
          <a:ln/>
        </p:spPr>
        <p:txBody>
          <a:bodyPr wrap="square" rtlCol="0" anchor="ctr"/>
          <a:lstStyle/>
          <a:p>
            <a:pPr marL="0" indent="0" algn="ctr">
              <a:buNone/>
            </a:pPr>
            <a:r>
              <a:rPr lang="en-US" sz="1100" b="1" dirty="0">
                <a:solidFill>
                  <a:srgbClr val="FFFFFF"/>
                </a:solidFill>
              </a:rPr>
              <a:t>6</a:t>
            </a:r>
            <a:endParaRPr lang="en-US" sz="1100" dirty="0"/>
          </a:p>
        </p:txBody>
      </p:sp>
      <p:sp>
        <p:nvSpPr>
          <p:cNvPr id="24" name="Text 22"/>
          <p:cNvSpPr/>
          <p:nvPr/>
        </p:nvSpPr>
        <p:spPr>
          <a:xfrm>
            <a:off x="749808" y="3858768"/>
            <a:ext cx="3794760" cy="411480"/>
          </a:xfrm>
          <a:prstGeom prst="rect">
            <a:avLst/>
          </a:prstGeom>
          <a:noFill/>
          <a:ln/>
        </p:spPr>
        <p:txBody>
          <a:bodyPr wrap="square" rtlCol="0" anchor="ctr"/>
          <a:lstStyle/>
          <a:p>
            <a:pPr marL="0" indent="0">
              <a:buNone/>
            </a:pPr>
            <a:r>
              <a:rPr lang="en-US" sz="1100" b="1" dirty="0">
                <a:solidFill>
                  <a:srgbClr val="1A2E4A"/>
                </a:solidFill>
                <a:latin typeface="Calibri" pitchFamily="34" charset="0"/>
                <a:ea typeface="Calibri" pitchFamily="34" charset="-122"/>
                <a:cs typeface="Calibri" pitchFamily="34" charset="-120"/>
              </a:rPr>
              <a:t>Distribution: </a:t>
            </a:r>
            <a:r>
              <a:rPr lang="en-US" sz="1100" dirty="0">
                <a:solidFill>
                  <a:srgbClr val="1A2E4A"/>
                </a:solidFill>
                <a:latin typeface="Calibri" pitchFamily="34" charset="0"/>
                <a:ea typeface="Calibri" pitchFamily="34" charset="-122"/>
                <a:cs typeface="Calibri" pitchFamily="34" charset="-120"/>
              </a:rPr>
              <a:t>How will the dataset be distributed? Any legal/ethical restrictions?</a:t>
            </a:r>
            <a:endParaRPr lang="en-US" sz="1100" dirty="0"/>
          </a:p>
        </p:txBody>
      </p:sp>
      <p:sp>
        <p:nvSpPr>
          <p:cNvPr id="25" name="Shape 23"/>
          <p:cNvSpPr/>
          <p:nvPr/>
        </p:nvSpPr>
        <p:spPr>
          <a:xfrm>
            <a:off x="384048" y="4370832"/>
            <a:ext cx="292608" cy="292608"/>
          </a:xfrm>
          <a:prstGeom prst="ellipse">
            <a:avLst/>
          </a:prstGeom>
          <a:solidFill>
            <a:srgbClr val="0D7377"/>
          </a:solidFill>
          <a:ln w="12700">
            <a:solidFill>
              <a:srgbClr val="0D7377"/>
            </a:solidFill>
            <a:prstDash val="solid"/>
          </a:ln>
        </p:spPr>
        <p:txBody>
          <a:bodyPr/>
          <a:lstStyle/>
          <a:p>
            <a:endParaRPr lang="en-GB"/>
          </a:p>
        </p:txBody>
      </p:sp>
      <p:sp>
        <p:nvSpPr>
          <p:cNvPr id="26" name="Text 24"/>
          <p:cNvSpPr/>
          <p:nvPr/>
        </p:nvSpPr>
        <p:spPr>
          <a:xfrm>
            <a:off x="384048" y="4370832"/>
            <a:ext cx="292608" cy="292608"/>
          </a:xfrm>
          <a:prstGeom prst="rect">
            <a:avLst/>
          </a:prstGeom>
          <a:noFill/>
          <a:ln/>
        </p:spPr>
        <p:txBody>
          <a:bodyPr wrap="square" rtlCol="0" anchor="ctr"/>
          <a:lstStyle/>
          <a:p>
            <a:pPr marL="0" indent="0" algn="ctr">
              <a:buNone/>
            </a:pPr>
            <a:r>
              <a:rPr lang="en-US" sz="1100" b="1" dirty="0">
                <a:solidFill>
                  <a:srgbClr val="FFFFFF"/>
                </a:solidFill>
              </a:rPr>
              <a:t>7</a:t>
            </a:r>
            <a:endParaRPr lang="en-US" sz="1100" dirty="0"/>
          </a:p>
        </p:txBody>
      </p:sp>
      <p:sp>
        <p:nvSpPr>
          <p:cNvPr id="27" name="Text 25"/>
          <p:cNvSpPr/>
          <p:nvPr/>
        </p:nvSpPr>
        <p:spPr>
          <a:xfrm>
            <a:off x="749808" y="4315968"/>
            <a:ext cx="3794760" cy="411480"/>
          </a:xfrm>
          <a:prstGeom prst="rect">
            <a:avLst/>
          </a:prstGeom>
          <a:noFill/>
          <a:ln/>
        </p:spPr>
        <p:txBody>
          <a:bodyPr wrap="square" rtlCol="0" anchor="ctr"/>
          <a:lstStyle/>
          <a:p>
            <a:pPr marL="0" indent="0">
              <a:buNone/>
            </a:pPr>
            <a:r>
              <a:rPr lang="en-US" sz="1100" b="1" dirty="0">
                <a:solidFill>
                  <a:srgbClr val="1A2E4A"/>
                </a:solidFill>
                <a:latin typeface="Calibri" pitchFamily="34" charset="0"/>
                <a:ea typeface="Calibri" pitchFamily="34" charset="-122"/>
                <a:cs typeface="Calibri" pitchFamily="34" charset="-120"/>
              </a:rPr>
              <a:t>Maintenance: </a:t>
            </a:r>
            <a:r>
              <a:rPr lang="en-US" sz="1100" dirty="0">
                <a:solidFill>
                  <a:srgbClr val="1A2E4A"/>
                </a:solidFill>
                <a:latin typeface="Calibri" pitchFamily="34" charset="0"/>
                <a:ea typeface="Calibri" pitchFamily="34" charset="-122"/>
                <a:cs typeface="Calibri" pitchFamily="34" charset="-120"/>
              </a:rPr>
              <a:t>Who will maintain it? How will errors be corrected?</a:t>
            </a:r>
            <a:endParaRPr lang="en-US" sz="1100" dirty="0"/>
          </a:p>
        </p:txBody>
      </p:sp>
      <p:sp>
        <p:nvSpPr>
          <p:cNvPr id="28" name="Shape 26"/>
          <p:cNvSpPr/>
          <p:nvPr/>
        </p:nvSpPr>
        <p:spPr>
          <a:xfrm>
            <a:off x="4892040" y="1097280"/>
            <a:ext cx="3977640" cy="3794760"/>
          </a:xfrm>
          <a:prstGeom prst="roundRect">
            <a:avLst>
              <a:gd name="adj" fmla="val 2410"/>
            </a:avLst>
          </a:prstGeom>
          <a:solidFill>
            <a:srgbClr val="1A2E4A"/>
          </a:solidFill>
          <a:ln w="12700">
            <a:solidFill>
              <a:srgbClr val="0D7377"/>
            </a:solidFill>
            <a:prstDash val="solid"/>
          </a:ln>
          <a:effectLst>
            <a:outerShdw blurRad="101600" dist="38100" dir="2700000" algn="bl" rotWithShape="0">
              <a:srgbClr val="000000">
                <a:alpha val="12000"/>
              </a:srgbClr>
            </a:outerShdw>
          </a:effectLst>
        </p:spPr>
        <p:txBody>
          <a:bodyPr/>
          <a:lstStyle/>
          <a:p>
            <a:endParaRPr lang="en-GB"/>
          </a:p>
        </p:txBody>
      </p:sp>
      <p:sp>
        <p:nvSpPr>
          <p:cNvPr id="29" name="Text 27"/>
          <p:cNvSpPr/>
          <p:nvPr/>
        </p:nvSpPr>
        <p:spPr>
          <a:xfrm>
            <a:off x="5029200" y="1161288"/>
            <a:ext cx="3703320" cy="384048"/>
          </a:xfrm>
          <a:prstGeom prst="rect">
            <a:avLst/>
          </a:prstGeom>
          <a:noFill/>
          <a:ln/>
        </p:spPr>
        <p:txBody>
          <a:bodyPr wrap="square" rtlCol="0" anchor="ctr"/>
          <a:lstStyle/>
          <a:p>
            <a:pPr marL="0" indent="0">
              <a:buNone/>
            </a:pPr>
            <a:r>
              <a:rPr lang="en-US" sz="1250" b="1" dirty="0">
                <a:solidFill>
                  <a:srgbClr val="14ABAB"/>
                </a:solidFill>
                <a:latin typeface="Cambria" pitchFamily="34" charset="0"/>
                <a:ea typeface="Cambria" pitchFamily="34" charset="-122"/>
                <a:cs typeface="Cambria" pitchFamily="34" charset="-120"/>
              </a:rPr>
              <a:t>📋  Example: Nigerian Diabetes Survey Dataset</a:t>
            </a:r>
            <a:endParaRPr lang="en-US" sz="1250" dirty="0"/>
          </a:p>
        </p:txBody>
      </p:sp>
      <p:sp>
        <p:nvSpPr>
          <p:cNvPr id="30" name="Text 28"/>
          <p:cNvSpPr/>
          <p:nvPr/>
        </p:nvSpPr>
        <p:spPr>
          <a:xfrm>
            <a:off x="5029200" y="1572768"/>
            <a:ext cx="3703320" cy="402336"/>
          </a:xfrm>
          <a:prstGeom prst="rect">
            <a:avLst/>
          </a:prstGeom>
          <a:noFill/>
          <a:ln/>
        </p:spPr>
        <p:txBody>
          <a:bodyPr wrap="square" rtlCol="0" anchor="ctr"/>
          <a:lstStyle/>
          <a:p>
            <a:pPr marL="0" indent="0">
              <a:buNone/>
            </a:pPr>
            <a:r>
              <a:rPr lang="en-US" sz="1050" b="1" dirty="0">
                <a:solidFill>
                  <a:srgbClr val="E8A020"/>
                </a:solidFill>
                <a:latin typeface="Calibri" pitchFamily="34" charset="0"/>
                <a:ea typeface="Calibri" pitchFamily="34" charset="-122"/>
                <a:cs typeface="Calibri" pitchFamily="34" charset="-120"/>
              </a:rPr>
              <a:t>Motivation: </a:t>
            </a:r>
            <a:r>
              <a:rPr lang="en-US" sz="1050" dirty="0">
                <a:solidFill>
                  <a:srgbClr val="DDEEFF"/>
                </a:solidFill>
                <a:latin typeface="Calibri" pitchFamily="34" charset="0"/>
                <a:ea typeface="Calibri" pitchFamily="34" charset="-122"/>
                <a:cs typeface="Calibri" pitchFamily="34" charset="-120"/>
              </a:rPr>
              <a:t>Predict T2 diabetes risk in Lagos adults. Funded by TETFUND 2024. Not for insurance use.</a:t>
            </a:r>
            <a:endParaRPr lang="en-US" sz="1050" dirty="0"/>
          </a:p>
        </p:txBody>
      </p:sp>
      <p:sp>
        <p:nvSpPr>
          <p:cNvPr id="31" name="Text 29"/>
          <p:cNvSpPr/>
          <p:nvPr/>
        </p:nvSpPr>
        <p:spPr>
          <a:xfrm>
            <a:off x="5029200" y="2011680"/>
            <a:ext cx="3703320" cy="402336"/>
          </a:xfrm>
          <a:prstGeom prst="rect">
            <a:avLst/>
          </a:prstGeom>
          <a:noFill/>
          <a:ln/>
        </p:spPr>
        <p:txBody>
          <a:bodyPr wrap="square" rtlCol="0" anchor="ctr"/>
          <a:lstStyle/>
          <a:p>
            <a:pPr marL="0" indent="0">
              <a:buNone/>
            </a:pPr>
            <a:r>
              <a:rPr lang="en-US" sz="1050" b="1" dirty="0">
                <a:solidFill>
                  <a:srgbClr val="E8A020"/>
                </a:solidFill>
                <a:latin typeface="Calibri" pitchFamily="34" charset="0"/>
                <a:ea typeface="Calibri" pitchFamily="34" charset="-122"/>
                <a:cs typeface="Calibri" pitchFamily="34" charset="-120"/>
              </a:rPr>
              <a:t>Composition: </a:t>
            </a:r>
            <a:r>
              <a:rPr lang="en-US" sz="1050" dirty="0">
                <a:solidFill>
                  <a:srgbClr val="DDEEFF"/>
                </a:solidFill>
                <a:latin typeface="Calibri" pitchFamily="34" charset="0"/>
                <a:ea typeface="Calibri" pitchFamily="34" charset="-122"/>
                <a:cs typeface="Calibri" pitchFamily="34" charset="-120"/>
              </a:rPr>
              <a:t>2,400 adult participants. 18 variables. 7% missing BMI data. Sensitive: blood glucose, family history.</a:t>
            </a:r>
            <a:endParaRPr lang="en-US" sz="1050" dirty="0"/>
          </a:p>
        </p:txBody>
      </p:sp>
      <p:sp>
        <p:nvSpPr>
          <p:cNvPr id="32" name="Text 30"/>
          <p:cNvSpPr/>
          <p:nvPr/>
        </p:nvSpPr>
        <p:spPr>
          <a:xfrm>
            <a:off x="5029200" y="2450592"/>
            <a:ext cx="3703320" cy="402336"/>
          </a:xfrm>
          <a:prstGeom prst="rect">
            <a:avLst/>
          </a:prstGeom>
          <a:noFill/>
          <a:ln/>
        </p:spPr>
        <p:txBody>
          <a:bodyPr wrap="square" rtlCol="0" anchor="ctr"/>
          <a:lstStyle/>
          <a:p>
            <a:pPr marL="0" indent="0">
              <a:buNone/>
            </a:pPr>
            <a:r>
              <a:rPr lang="en-US" sz="1050" b="1" dirty="0">
                <a:solidFill>
                  <a:srgbClr val="E8A020"/>
                </a:solidFill>
                <a:latin typeface="Calibri" pitchFamily="34" charset="0"/>
                <a:ea typeface="Calibri" pitchFamily="34" charset="-122"/>
                <a:cs typeface="Calibri" pitchFamily="34" charset="-120"/>
              </a:rPr>
              <a:t>Collection: </a:t>
            </a:r>
            <a:r>
              <a:rPr lang="en-US" sz="1050" dirty="0">
                <a:solidFill>
                  <a:srgbClr val="DDEEFF"/>
                </a:solidFill>
                <a:latin typeface="Calibri" pitchFamily="34" charset="0"/>
                <a:ea typeface="Calibri" pitchFamily="34" charset="-122"/>
                <a:cs typeface="Calibri" pitchFamily="34" charset="-120"/>
              </a:rPr>
              <a:t>REDCap at 3 LUTH clinics. Written informed consent. REC approval: LUTH/REC/2024/017.</a:t>
            </a:r>
            <a:endParaRPr lang="en-US" sz="1050" dirty="0"/>
          </a:p>
        </p:txBody>
      </p:sp>
      <p:sp>
        <p:nvSpPr>
          <p:cNvPr id="33" name="Text 31"/>
          <p:cNvSpPr/>
          <p:nvPr/>
        </p:nvSpPr>
        <p:spPr>
          <a:xfrm>
            <a:off x="5029200" y="2889504"/>
            <a:ext cx="3703320" cy="402336"/>
          </a:xfrm>
          <a:prstGeom prst="rect">
            <a:avLst/>
          </a:prstGeom>
          <a:noFill/>
          <a:ln/>
        </p:spPr>
        <p:txBody>
          <a:bodyPr wrap="square" rtlCol="0" anchor="ctr"/>
          <a:lstStyle/>
          <a:p>
            <a:pPr marL="0" indent="0">
              <a:buNone/>
            </a:pPr>
            <a:r>
              <a:rPr lang="en-US" sz="1050" b="1" dirty="0">
                <a:solidFill>
                  <a:srgbClr val="E8A020"/>
                </a:solidFill>
                <a:latin typeface="Calibri" pitchFamily="34" charset="0"/>
                <a:ea typeface="Calibri" pitchFamily="34" charset="-122"/>
                <a:cs typeface="Calibri" pitchFamily="34" charset="-120"/>
              </a:rPr>
              <a:t>Preprocessing: </a:t>
            </a:r>
            <a:r>
              <a:rPr lang="en-US" sz="1050" dirty="0">
                <a:solidFill>
                  <a:srgbClr val="DDEEFF"/>
                </a:solidFill>
                <a:latin typeface="Calibri" pitchFamily="34" charset="0"/>
                <a:ea typeface="Calibri" pitchFamily="34" charset="-122"/>
                <a:cs typeface="Calibri" pitchFamily="34" charset="-120"/>
              </a:rPr>
              <a:t>Outliers removed (z&gt;3.5). BMI imputed via MICE. Age grouped into 5-year bands.</a:t>
            </a:r>
            <a:endParaRPr lang="en-US" sz="1050" dirty="0"/>
          </a:p>
        </p:txBody>
      </p:sp>
      <p:sp>
        <p:nvSpPr>
          <p:cNvPr id="34" name="Text 32"/>
          <p:cNvSpPr/>
          <p:nvPr/>
        </p:nvSpPr>
        <p:spPr>
          <a:xfrm>
            <a:off x="5029200" y="3328416"/>
            <a:ext cx="3703320" cy="402336"/>
          </a:xfrm>
          <a:prstGeom prst="rect">
            <a:avLst/>
          </a:prstGeom>
          <a:noFill/>
          <a:ln/>
        </p:spPr>
        <p:txBody>
          <a:bodyPr wrap="square" rtlCol="0" anchor="ctr"/>
          <a:lstStyle/>
          <a:p>
            <a:pPr marL="0" indent="0">
              <a:buNone/>
            </a:pPr>
            <a:r>
              <a:rPr lang="en-US" sz="1050" b="1" dirty="0">
                <a:solidFill>
                  <a:srgbClr val="E8A020"/>
                </a:solidFill>
                <a:latin typeface="Calibri" pitchFamily="34" charset="0"/>
                <a:ea typeface="Calibri" pitchFamily="34" charset="-122"/>
                <a:cs typeface="Calibri" pitchFamily="34" charset="-120"/>
              </a:rPr>
              <a:t>Uses: </a:t>
            </a:r>
            <a:r>
              <a:rPr lang="en-US" sz="1050" dirty="0">
                <a:solidFill>
                  <a:srgbClr val="DDEEFF"/>
                </a:solidFill>
                <a:latin typeface="Calibri" pitchFamily="34" charset="0"/>
                <a:ea typeface="Calibri" pitchFamily="34" charset="-122"/>
                <a:cs typeface="Calibri" pitchFamily="34" charset="-120"/>
              </a:rPr>
              <a:t>Appropriate for: risk prediction, health policy. NOT for: identifying individuals or life insurance.</a:t>
            </a:r>
            <a:endParaRPr lang="en-US" sz="1050" dirty="0"/>
          </a:p>
        </p:txBody>
      </p:sp>
      <p:sp>
        <p:nvSpPr>
          <p:cNvPr id="35" name="Text 33"/>
          <p:cNvSpPr/>
          <p:nvPr/>
        </p:nvSpPr>
        <p:spPr>
          <a:xfrm>
            <a:off x="5029200" y="3767328"/>
            <a:ext cx="3703320" cy="402336"/>
          </a:xfrm>
          <a:prstGeom prst="rect">
            <a:avLst/>
          </a:prstGeom>
          <a:noFill/>
          <a:ln/>
        </p:spPr>
        <p:txBody>
          <a:bodyPr wrap="square" rtlCol="0" anchor="ctr"/>
          <a:lstStyle/>
          <a:p>
            <a:pPr marL="0" indent="0">
              <a:buNone/>
            </a:pPr>
            <a:r>
              <a:rPr lang="en-US" sz="1050" b="1" dirty="0">
                <a:solidFill>
                  <a:srgbClr val="E8A020"/>
                </a:solidFill>
                <a:latin typeface="Calibri" pitchFamily="34" charset="0"/>
                <a:ea typeface="Calibri" pitchFamily="34" charset="-122"/>
                <a:cs typeface="Calibri" pitchFamily="34" charset="-120"/>
              </a:rPr>
              <a:t>Distribution: </a:t>
            </a:r>
            <a:r>
              <a:rPr lang="en-US" sz="1050" dirty="0">
                <a:solidFill>
                  <a:srgbClr val="DDEEFF"/>
                </a:solidFill>
                <a:latin typeface="Calibri" pitchFamily="34" charset="0"/>
                <a:ea typeface="Calibri" pitchFamily="34" charset="-122"/>
                <a:cs typeface="Calibri" pitchFamily="34" charset="-120"/>
              </a:rPr>
              <a:t>Restricted. Available to researchers with IRB approval. DOI: 10.5281/zenodo.XXXXXX.</a:t>
            </a:r>
            <a:endParaRPr lang="en-US" sz="1050" dirty="0"/>
          </a:p>
        </p:txBody>
      </p:sp>
      <p:sp>
        <p:nvSpPr>
          <p:cNvPr id="36" name="Text 34"/>
          <p:cNvSpPr/>
          <p:nvPr/>
        </p:nvSpPr>
        <p:spPr>
          <a:xfrm>
            <a:off x="5029200" y="4206240"/>
            <a:ext cx="3703320" cy="402336"/>
          </a:xfrm>
          <a:prstGeom prst="rect">
            <a:avLst/>
          </a:prstGeom>
          <a:noFill/>
          <a:ln/>
        </p:spPr>
        <p:txBody>
          <a:bodyPr wrap="square" rtlCol="0" anchor="ctr"/>
          <a:lstStyle/>
          <a:p>
            <a:pPr marL="0" indent="0">
              <a:buNone/>
            </a:pPr>
            <a:r>
              <a:rPr lang="en-US" sz="1050" b="1" dirty="0">
                <a:solidFill>
                  <a:srgbClr val="E8A020"/>
                </a:solidFill>
                <a:latin typeface="Calibri" pitchFamily="34" charset="0"/>
                <a:ea typeface="Calibri" pitchFamily="34" charset="-122"/>
                <a:cs typeface="Calibri" pitchFamily="34" charset="-120"/>
              </a:rPr>
              <a:t>Maintenance: </a:t>
            </a:r>
            <a:r>
              <a:rPr lang="en-US" sz="1050" dirty="0">
                <a:solidFill>
                  <a:srgbClr val="DDEEFF"/>
                </a:solidFill>
                <a:latin typeface="Calibri" pitchFamily="34" charset="0"/>
                <a:ea typeface="Calibri" pitchFamily="34" charset="-122"/>
                <a:cs typeface="Calibri" pitchFamily="34" charset="-120"/>
              </a:rPr>
              <a:t>PI responsible until 2029. Errors reported to pi@oou.edu.ng within 30 days.</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2E4A"/>
          </a:solidFill>
          <a:ln w="12700">
            <a:solidFill>
              <a:srgbClr val="1A2E4A"/>
            </a:solidFill>
            <a:prstDash val="solid"/>
          </a:ln>
        </p:spPr>
        <p:txBody>
          <a:bodyPr/>
          <a:lstStyle/>
          <a:p>
            <a:endParaRPr lang="en-GB"/>
          </a:p>
        </p:txBody>
      </p:sp>
      <p:sp>
        <p:nvSpPr>
          <p:cNvPr id="3" name="Text 1"/>
          <p:cNvSpPr/>
          <p:nvPr/>
        </p:nvSpPr>
        <p:spPr>
          <a:xfrm>
            <a:off x="365760" y="0"/>
            <a:ext cx="8412480" cy="685800"/>
          </a:xfrm>
          <a:prstGeom prst="rect">
            <a:avLst/>
          </a:prstGeom>
          <a:noFill/>
          <a:ln/>
        </p:spPr>
        <p:txBody>
          <a:bodyPr wrap="square"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Data Collection Tools: Choosing Secure Options</a:t>
            </a:r>
            <a:endParaRPr lang="en-US" sz="2200" dirty="0"/>
          </a:p>
        </p:txBody>
      </p:sp>
      <p:sp>
        <p:nvSpPr>
          <p:cNvPr id="4" name="Text 2"/>
          <p:cNvSpPr/>
          <p:nvPr/>
        </p:nvSpPr>
        <p:spPr>
          <a:xfrm>
            <a:off x="365760" y="749808"/>
            <a:ext cx="8412480" cy="292608"/>
          </a:xfrm>
          <a:prstGeom prst="rect">
            <a:avLst/>
          </a:prstGeom>
          <a:noFill/>
          <a:ln/>
        </p:spPr>
        <p:txBody>
          <a:bodyPr wrap="square" rtlCol="0" anchor="ctr"/>
          <a:lstStyle/>
          <a:p>
            <a:pPr marL="0" indent="0">
              <a:buNone/>
            </a:pPr>
            <a:r>
              <a:rPr lang="en-US" sz="1200" i="1" dirty="0">
                <a:solidFill>
                  <a:srgbClr val="1A2E4A"/>
                </a:solidFill>
                <a:latin typeface="Calibri" pitchFamily="34" charset="0"/>
                <a:ea typeface="Calibri" pitchFamily="34" charset="-122"/>
                <a:cs typeface="Calibri" pitchFamily="34" charset="-120"/>
              </a:rPr>
              <a:t>The tool you use to collect data IS a security decision. Here is how to choose right:</a:t>
            </a:r>
            <a:endParaRPr lang="en-US" sz="1200" dirty="0"/>
          </a:p>
        </p:txBody>
      </p:sp>
      <p:sp>
        <p:nvSpPr>
          <p:cNvPr id="5" name="Shape 3"/>
          <p:cNvSpPr/>
          <p:nvPr/>
        </p:nvSpPr>
        <p:spPr>
          <a:xfrm>
            <a:off x="201168" y="1115568"/>
            <a:ext cx="2788920" cy="1783080"/>
          </a:xfrm>
          <a:prstGeom prst="roundRect">
            <a:avLst>
              <a:gd name="adj" fmla="val 4615"/>
            </a:avLst>
          </a:prstGeom>
          <a:solidFill>
            <a:srgbClr val="FFFFFF"/>
          </a:solidFill>
          <a:ln w="12700">
            <a:solidFill>
              <a:srgbClr val="DDE6F0"/>
            </a:solidFill>
            <a:prstDash val="solid"/>
          </a:ln>
          <a:effectLst>
            <a:outerShdw blurRad="101600" dist="38100" dir="2700000" algn="bl" rotWithShape="0">
              <a:srgbClr val="000000">
                <a:alpha val="12000"/>
              </a:srgbClr>
            </a:outerShdw>
          </a:effectLst>
        </p:spPr>
        <p:txBody>
          <a:bodyPr/>
          <a:lstStyle/>
          <a:p>
            <a:endParaRPr lang="en-GB"/>
          </a:p>
        </p:txBody>
      </p:sp>
      <p:sp>
        <p:nvSpPr>
          <p:cNvPr id="6" name="Shape 4"/>
          <p:cNvSpPr/>
          <p:nvPr/>
        </p:nvSpPr>
        <p:spPr>
          <a:xfrm>
            <a:off x="274320" y="1188720"/>
            <a:ext cx="2642616" cy="274320"/>
          </a:xfrm>
          <a:prstGeom prst="roundRect">
            <a:avLst>
              <a:gd name="adj" fmla="val 16667"/>
            </a:avLst>
          </a:prstGeom>
          <a:solidFill>
            <a:srgbClr val="0D7377"/>
          </a:solidFill>
          <a:ln w="12700">
            <a:solidFill>
              <a:srgbClr val="0D7377"/>
            </a:solidFill>
            <a:prstDash val="solid"/>
          </a:ln>
        </p:spPr>
        <p:txBody>
          <a:bodyPr/>
          <a:lstStyle/>
          <a:p>
            <a:endParaRPr lang="en-GB"/>
          </a:p>
        </p:txBody>
      </p:sp>
      <p:sp>
        <p:nvSpPr>
          <p:cNvPr id="7" name="Text 5"/>
          <p:cNvSpPr/>
          <p:nvPr/>
        </p:nvSpPr>
        <p:spPr>
          <a:xfrm>
            <a:off x="274320" y="1188720"/>
            <a:ext cx="2642616" cy="274320"/>
          </a:xfrm>
          <a:prstGeom prst="rect">
            <a:avLst/>
          </a:prstGeom>
          <a:noFill/>
          <a:ln/>
        </p:spPr>
        <p:txBody>
          <a:bodyPr wrap="square" rtlCol="0" anchor="ctr"/>
          <a:lstStyle/>
          <a:p>
            <a:pPr marL="0" indent="0" algn="ctr">
              <a:buNone/>
            </a:pPr>
            <a:r>
              <a:rPr lang="en-US" sz="1050" b="1" dirty="0">
                <a:solidFill>
                  <a:srgbClr val="FFFFFF"/>
                </a:solidFill>
              </a:rPr>
              <a:t>REDCap — Clinical &amp; Survey</a:t>
            </a:r>
            <a:endParaRPr lang="en-US" sz="1050" dirty="0"/>
          </a:p>
        </p:txBody>
      </p:sp>
      <p:sp>
        <p:nvSpPr>
          <p:cNvPr id="8" name="Text 6"/>
          <p:cNvSpPr/>
          <p:nvPr/>
        </p:nvSpPr>
        <p:spPr>
          <a:xfrm>
            <a:off x="292608" y="1517904"/>
            <a:ext cx="2606040" cy="1307592"/>
          </a:xfrm>
          <a:prstGeom prst="rect">
            <a:avLst/>
          </a:prstGeom>
          <a:noFill/>
          <a:ln/>
        </p:spPr>
        <p:txBody>
          <a:bodyPr wrap="square" rtlCol="0" anchor="t"/>
          <a:lstStyle/>
          <a:p>
            <a:pPr marL="0" indent="0">
              <a:buNone/>
            </a:pPr>
            <a:r>
              <a:rPr lang="en-US" sz="1000" b="1" dirty="0">
                <a:solidFill>
                  <a:srgbClr val="1E7D44"/>
                </a:solidFill>
                <a:latin typeface="Calibri" pitchFamily="34" charset="0"/>
                <a:ea typeface="Calibri" pitchFamily="34" charset="-122"/>
                <a:cs typeface="Calibri" pitchFamily="34" charset="-120"/>
              </a:rPr>
              <a:t>✓ </a:t>
            </a:r>
            <a:r>
              <a:rPr lang="en-US" sz="1000" dirty="0">
                <a:solidFill>
                  <a:srgbClr val="1A2E4A"/>
                </a:solidFill>
                <a:latin typeface="Calibri" pitchFamily="34" charset="0"/>
                <a:ea typeface="Calibri" pitchFamily="34" charset="-122"/>
                <a:cs typeface="Calibri" pitchFamily="34" charset="-120"/>
              </a:rPr>
              <a:t>Audit logs · role-based access · HIPAA/GDPR-ready · hosted on your institution server · offline mode</a:t>
            </a:r>
            <a:endParaRPr lang="en-US" sz="1000" dirty="0"/>
          </a:p>
          <a:p>
            <a:pPr marL="0" indent="0">
              <a:buNone/>
            </a:pPr>
            <a:r>
              <a:rPr lang="en-US" sz="1000" b="1" dirty="0">
                <a:solidFill>
                  <a:srgbClr val="0D7377"/>
                </a:solidFill>
                <a:latin typeface="Calibri" pitchFamily="34" charset="0"/>
                <a:ea typeface="Calibri" pitchFamily="34" charset="-122"/>
                <a:cs typeface="Calibri" pitchFamily="34" charset="-120"/>
              </a:rPr>
              <a:t>Best for: </a:t>
            </a:r>
            <a:r>
              <a:rPr lang="en-US" sz="1000" dirty="0">
                <a:solidFill>
                  <a:srgbClr val="1A2E4A"/>
                </a:solidFill>
                <a:latin typeface="Calibri" pitchFamily="34" charset="0"/>
                <a:ea typeface="Calibri" pitchFamily="34" charset="-122"/>
                <a:cs typeface="Calibri" pitchFamily="34" charset="-120"/>
              </a:rPr>
              <a:t>Hospital-based studies, clinical trials, longitudinal health surveys</a:t>
            </a:r>
            <a:endParaRPr lang="en-US" sz="1000" dirty="0"/>
          </a:p>
          <a:p>
            <a:pPr marL="0" indent="0">
              <a:buNone/>
            </a:pPr>
            <a:r>
              <a:rPr lang="en-US" sz="1000" b="1" dirty="0">
                <a:solidFill>
                  <a:srgbClr val="C0392B"/>
                </a:solidFill>
                <a:latin typeface="Calibri" pitchFamily="34" charset="0"/>
                <a:ea typeface="Calibri" pitchFamily="34" charset="-122"/>
                <a:cs typeface="Calibri" pitchFamily="34" charset="-120"/>
              </a:rPr>
              <a:t>⚠ </a:t>
            </a:r>
            <a:r>
              <a:rPr lang="en-US" sz="1000" dirty="0">
                <a:solidFill>
                  <a:srgbClr val="C0392B"/>
                </a:solidFill>
                <a:latin typeface="Calibri" pitchFamily="34" charset="0"/>
                <a:ea typeface="Calibri" pitchFamily="34" charset="-122"/>
                <a:cs typeface="Calibri" pitchFamily="34" charset="-120"/>
              </a:rPr>
              <a:t>Do NOT use the public cloud version for identifiable health data without a Data Processing Agreement</a:t>
            </a:r>
            <a:endParaRPr lang="en-US" sz="1000" dirty="0"/>
          </a:p>
        </p:txBody>
      </p:sp>
      <p:sp>
        <p:nvSpPr>
          <p:cNvPr id="9" name="Shape 7"/>
          <p:cNvSpPr/>
          <p:nvPr/>
        </p:nvSpPr>
        <p:spPr>
          <a:xfrm>
            <a:off x="3145536" y="1115568"/>
            <a:ext cx="2788920" cy="1783080"/>
          </a:xfrm>
          <a:prstGeom prst="roundRect">
            <a:avLst>
              <a:gd name="adj" fmla="val 4615"/>
            </a:avLst>
          </a:prstGeom>
          <a:solidFill>
            <a:srgbClr val="FFFFFF"/>
          </a:solidFill>
          <a:ln w="12700">
            <a:solidFill>
              <a:srgbClr val="DDE6F0"/>
            </a:solidFill>
            <a:prstDash val="solid"/>
          </a:ln>
          <a:effectLst>
            <a:outerShdw blurRad="101600" dist="38100" dir="2700000" algn="bl" rotWithShape="0">
              <a:srgbClr val="000000">
                <a:alpha val="12000"/>
              </a:srgbClr>
            </a:outerShdw>
          </a:effectLst>
        </p:spPr>
        <p:txBody>
          <a:bodyPr/>
          <a:lstStyle/>
          <a:p>
            <a:endParaRPr lang="en-GB"/>
          </a:p>
        </p:txBody>
      </p:sp>
      <p:sp>
        <p:nvSpPr>
          <p:cNvPr id="10" name="Shape 8"/>
          <p:cNvSpPr/>
          <p:nvPr/>
        </p:nvSpPr>
        <p:spPr>
          <a:xfrm>
            <a:off x="3218688" y="1188720"/>
            <a:ext cx="2642616" cy="274320"/>
          </a:xfrm>
          <a:prstGeom prst="roundRect">
            <a:avLst>
              <a:gd name="adj" fmla="val 16667"/>
            </a:avLst>
          </a:prstGeom>
          <a:solidFill>
            <a:srgbClr val="1A2E4A"/>
          </a:solidFill>
          <a:ln w="12700">
            <a:solidFill>
              <a:srgbClr val="1A2E4A"/>
            </a:solidFill>
            <a:prstDash val="solid"/>
          </a:ln>
        </p:spPr>
        <p:txBody>
          <a:bodyPr/>
          <a:lstStyle/>
          <a:p>
            <a:endParaRPr lang="en-GB"/>
          </a:p>
        </p:txBody>
      </p:sp>
      <p:sp>
        <p:nvSpPr>
          <p:cNvPr id="11" name="Text 9"/>
          <p:cNvSpPr/>
          <p:nvPr/>
        </p:nvSpPr>
        <p:spPr>
          <a:xfrm>
            <a:off x="3218688" y="1188720"/>
            <a:ext cx="2642616" cy="274320"/>
          </a:xfrm>
          <a:prstGeom prst="rect">
            <a:avLst/>
          </a:prstGeom>
          <a:noFill/>
          <a:ln/>
        </p:spPr>
        <p:txBody>
          <a:bodyPr wrap="square" rtlCol="0" anchor="ctr"/>
          <a:lstStyle/>
          <a:p>
            <a:pPr marL="0" indent="0" algn="ctr">
              <a:buNone/>
            </a:pPr>
            <a:r>
              <a:rPr lang="en-US" sz="1050" b="1" dirty="0">
                <a:solidFill>
                  <a:srgbClr val="FFFFFF"/>
                </a:solidFill>
              </a:rPr>
              <a:t>KoboToolbox (Encrypted) — Survey / Fieldwork</a:t>
            </a:r>
            <a:endParaRPr lang="en-US" sz="1050" dirty="0"/>
          </a:p>
        </p:txBody>
      </p:sp>
      <p:sp>
        <p:nvSpPr>
          <p:cNvPr id="12" name="Text 10"/>
          <p:cNvSpPr/>
          <p:nvPr/>
        </p:nvSpPr>
        <p:spPr>
          <a:xfrm>
            <a:off x="3236976" y="1517904"/>
            <a:ext cx="2606040" cy="1307592"/>
          </a:xfrm>
          <a:prstGeom prst="rect">
            <a:avLst/>
          </a:prstGeom>
          <a:noFill/>
          <a:ln/>
        </p:spPr>
        <p:txBody>
          <a:bodyPr wrap="square" rtlCol="0" anchor="t"/>
          <a:lstStyle/>
          <a:p>
            <a:pPr marL="0" indent="0">
              <a:buNone/>
            </a:pPr>
            <a:r>
              <a:rPr lang="en-US" sz="1000" b="1" dirty="0">
                <a:solidFill>
                  <a:srgbClr val="1E7D44"/>
                </a:solidFill>
                <a:latin typeface="Calibri" pitchFamily="34" charset="0"/>
                <a:ea typeface="Calibri" pitchFamily="34" charset="-122"/>
                <a:cs typeface="Calibri" pitchFamily="34" charset="-120"/>
              </a:rPr>
              <a:t>✓ </a:t>
            </a:r>
            <a:r>
              <a:rPr lang="en-US" sz="1000" dirty="0">
                <a:solidFill>
                  <a:srgbClr val="1A2E4A"/>
                </a:solidFill>
                <a:latin typeface="Calibri" pitchFamily="34" charset="0"/>
                <a:ea typeface="Calibri" pitchFamily="34" charset="-122"/>
                <a:cs typeface="Calibri" pitchFamily="34" charset="-120"/>
              </a:rPr>
              <a:t>AES-256 encrypted submissions · works offline · GDPR-compliant (EU server option) · ODK-compatible</a:t>
            </a:r>
            <a:endParaRPr lang="en-US" sz="1000" dirty="0"/>
          </a:p>
          <a:p>
            <a:pPr marL="0" indent="0">
              <a:buNone/>
            </a:pPr>
            <a:r>
              <a:rPr lang="en-US" sz="1000" b="1" dirty="0">
                <a:solidFill>
                  <a:srgbClr val="1A2E4A"/>
                </a:solidFill>
                <a:latin typeface="Calibri" pitchFamily="34" charset="0"/>
                <a:ea typeface="Calibri" pitchFamily="34" charset="-122"/>
                <a:cs typeface="Calibri" pitchFamily="34" charset="-120"/>
              </a:rPr>
              <a:t>Best for: </a:t>
            </a:r>
            <a:r>
              <a:rPr lang="en-US" sz="1000" dirty="0">
                <a:solidFill>
                  <a:srgbClr val="1A2E4A"/>
                </a:solidFill>
                <a:latin typeface="Calibri" pitchFamily="34" charset="0"/>
                <a:ea typeface="Calibri" pitchFamily="34" charset="-122"/>
                <a:cs typeface="Calibri" pitchFamily="34" charset="-120"/>
              </a:rPr>
              <a:t>Field surveys, community health studies, low-bandwidth environments in Nigeria</a:t>
            </a:r>
            <a:endParaRPr lang="en-US" sz="1000" dirty="0"/>
          </a:p>
          <a:p>
            <a:pPr marL="0" indent="0">
              <a:buNone/>
            </a:pPr>
            <a:r>
              <a:rPr lang="en-US" sz="1000" b="1" dirty="0">
                <a:solidFill>
                  <a:srgbClr val="C0392B"/>
                </a:solidFill>
                <a:latin typeface="Calibri" pitchFamily="34" charset="0"/>
                <a:ea typeface="Calibri" pitchFamily="34" charset="-122"/>
                <a:cs typeface="Calibri" pitchFamily="34" charset="-120"/>
              </a:rPr>
              <a:t>⚠ </a:t>
            </a:r>
            <a:r>
              <a:rPr lang="en-US" sz="1000" dirty="0">
                <a:solidFill>
                  <a:srgbClr val="C0392B"/>
                </a:solidFill>
                <a:latin typeface="Calibri" pitchFamily="34" charset="0"/>
                <a:ea typeface="Calibri" pitchFamily="34" charset="-122"/>
                <a:cs typeface="Calibri" pitchFamily="34" charset="-120"/>
              </a:rPr>
              <a:t>Default public server stores data on US servers — use the humanitarian server or self-host for sensitive data</a:t>
            </a:r>
            <a:endParaRPr lang="en-US" sz="1000" dirty="0"/>
          </a:p>
        </p:txBody>
      </p:sp>
      <p:sp>
        <p:nvSpPr>
          <p:cNvPr id="13" name="Shape 11"/>
          <p:cNvSpPr/>
          <p:nvPr/>
        </p:nvSpPr>
        <p:spPr>
          <a:xfrm>
            <a:off x="6089904" y="1115568"/>
            <a:ext cx="2788920" cy="1783080"/>
          </a:xfrm>
          <a:prstGeom prst="roundRect">
            <a:avLst>
              <a:gd name="adj" fmla="val 4615"/>
            </a:avLst>
          </a:prstGeom>
          <a:solidFill>
            <a:srgbClr val="FFFFFF"/>
          </a:solidFill>
          <a:ln w="12700">
            <a:solidFill>
              <a:srgbClr val="DDE6F0"/>
            </a:solidFill>
            <a:prstDash val="solid"/>
          </a:ln>
          <a:effectLst>
            <a:outerShdw blurRad="101600" dist="38100" dir="2700000" algn="bl" rotWithShape="0">
              <a:srgbClr val="000000">
                <a:alpha val="12000"/>
              </a:srgbClr>
            </a:outerShdw>
          </a:effectLst>
        </p:spPr>
        <p:txBody>
          <a:bodyPr/>
          <a:lstStyle/>
          <a:p>
            <a:endParaRPr lang="en-GB"/>
          </a:p>
        </p:txBody>
      </p:sp>
      <p:sp>
        <p:nvSpPr>
          <p:cNvPr id="14" name="Shape 12"/>
          <p:cNvSpPr/>
          <p:nvPr/>
        </p:nvSpPr>
        <p:spPr>
          <a:xfrm>
            <a:off x="6163056" y="1188720"/>
            <a:ext cx="2642616" cy="274320"/>
          </a:xfrm>
          <a:prstGeom prst="roundRect">
            <a:avLst>
              <a:gd name="adj" fmla="val 16667"/>
            </a:avLst>
          </a:prstGeom>
          <a:solidFill>
            <a:srgbClr val="0D7377"/>
          </a:solidFill>
          <a:ln w="12700">
            <a:solidFill>
              <a:srgbClr val="0D7377"/>
            </a:solidFill>
            <a:prstDash val="solid"/>
          </a:ln>
        </p:spPr>
        <p:txBody>
          <a:bodyPr/>
          <a:lstStyle/>
          <a:p>
            <a:endParaRPr lang="en-GB"/>
          </a:p>
        </p:txBody>
      </p:sp>
      <p:sp>
        <p:nvSpPr>
          <p:cNvPr id="15" name="Text 13"/>
          <p:cNvSpPr/>
          <p:nvPr/>
        </p:nvSpPr>
        <p:spPr>
          <a:xfrm>
            <a:off x="6163056" y="1188720"/>
            <a:ext cx="2642616" cy="274320"/>
          </a:xfrm>
          <a:prstGeom prst="rect">
            <a:avLst/>
          </a:prstGeom>
          <a:noFill/>
          <a:ln/>
        </p:spPr>
        <p:txBody>
          <a:bodyPr wrap="square" rtlCol="0" anchor="ctr"/>
          <a:lstStyle/>
          <a:p>
            <a:pPr marL="0" indent="0" algn="ctr">
              <a:buNone/>
            </a:pPr>
            <a:r>
              <a:rPr lang="en-US" sz="1050" b="1" dirty="0">
                <a:solidFill>
                  <a:srgbClr val="FFFFFF"/>
                </a:solidFill>
              </a:rPr>
              <a:t>LimeSurvey (Self-hosted) — Survey</a:t>
            </a:r>
            <a:endParaRPr lang="en-US" sz="1050" dirty="0"/>
          </a:p>
        </p:txBody>
      </p:sp>
      <p:sp>
        <p:nvSpPr>
          <p:cNvPr id="16" name="Text 14"/>
          <p:cNvSpPr/>
          <p:nvPr/>
        </p:nvSpPr>
        <p:spPr>
          <a:xfrm>
            <a:off x="6181344" y="1517904"/>
            <a:ext cx="2606040" cy="1307592"/>
          </a:xfrm>
          <a:prstGeom prst="rect">
            <a:avLst/>
          </a:prstGeom>
          <a:noFill/>
          <a:ln/>
        </p:spPr>
        <p:txBody>
          <a:bodyPr wrap="square" rtlCol="0" anchor="t"/>
          <a:lstStyle/>
          <a:p>
            <a:pPr marL="0" indent="0">
              <a:buNone/>
            </a:pPr>
            <a:r>
              <a:rPr lang="en-US" sz="1000" b="1" dirty="0">
                <a:solidFill>
                  <a:srgbClr val="1E7D44"/>
                </a:solidFill>
                <a:latin typeface="Calibri" pitchFamily="34" charset="0"/>
                <a:ea typeface="Calibri" pitchFamily="34" charset="-122"/>
                <a:cs typeface="Calibri" pitchFamily="34" charset="-120"/>
              </a:rPr>
              <a:t>✓ </a:t>
            </a:r>
            <a:r>
              <a:rPr lang="en-US" sz="1000" dirty="0">
                <a:solidFill>
                  <a:srgbClr val="1A2E4A"/>
                </a:solidFill>
                <a:latin typeface="Calibri" pitchFamily="34" charset="0"/>
                <a:ea typeface="Calibri" pitchFamily="34" charset="-122"/>
                <a:cs typeface="Calibri" pitchFamily="34" charset="-120"/>
              </a:rPr>
              <a:t>Full data ownership · encrypted at rest · customisable consent flows · GDPR tools built in</a:t>
            </a:r>
            <a:endParaRPr lang="en-US" sz="1000" dirty="0"/>
          </a:p>
          <a:p>
            <a:pPr marL="0" indent="0">
              <a:buNone/>
            </a:pPr>
            <a:r>
              <a:rPr lang="en-US" sz="1000" b="1" dirty="0">
                <a:solidFill>
                  <a:srgbClr val="0D7377"/>
                </a:solidFill>
                <a:latin typeface="Calibri" pitchFamily="34" charset="0"/>
                <a:ea typeface="Calibri" pitchFamily="34" charset="-122"/>
                <a:cs typeface="Calibri" pitchFamily="34" charset="-120"/>
              </a:rPr>
              <a:t>Best for: </a:t>
            </a:r>
            <a:r>
              <a:rPr lang="en-US" sz="1000" dirty="0">
                <a:solidFill>
                  <a:srgbClr val="1A2E4A"/>
                </a:solidFill>
                <a:latin typeface="Calibri" pitchFamily="34" charset="0"/>
                <a:ea typeface="Calibri" pitchFamily="34" charset="-122"/>
                <a:cs typeface="Calibri" pitchFamily="34" charset="-120"/>
              </a:rPr>
              <a:t>Universities with IT infrastructure; gives full control over where data lives</a:t>
            </a:r>
            <a:endParaRPr lang="en-US" sz="1000" dirty="0"/>
          </a:p>
          <a:p>
            <a:pPr marL="0" indent="0">
              <a:buNone/>
            </a:pPr>
            <a:r>
              <a:rPr lang="en-US" sz="1000" b="1" dirty="0">
                <a:solidFill>
                  <a:srgbClr val="C0392B"/>
                </a:solidFill>
                <a:latin typeface="Calibri" pitchFamily="34" charset="0"/>
                <a:ea typeface="Calibri" pitchFamily="34" charset="-122"/>
                <a:cs typeface="Calibri" pitchFamily="34" charset="-120"/>
              </a:rPr>
              <a:t>⚠ </a:t>
            </a:r>
            <a:r>
              <a:rPr lang="en-US" sz="1000" dirty="0">
                <a:solidFill>
                  <a:srgbClr val="C0392B"/>
                </a:solidFill>
                <a:latin typeface="Calibri" pitchFamily="34" charset="0"/>
                <a:ea typeface="Calibri" pitchFamily="34" charset="-122"/>
                <a:cs typeface="Calibri" pitchFamily="34" charset="-120"/>
              </a:rPr>
              <a:t>Requires IT support to maintain; not suitable for field teams without internet</a:t>
            </a:r>
            <a:endParaRPr lang="en-US" sz="1000" dirty="0"/>
          </a:p>
        </p:txBody>
      </p:sp>
      <p:sp>
        <p:nvSpPr>
          <p:cNvPr id="17" name="Shape 15"/>
          <p:cNvSpPr/>
          <p:nvPr/>
        </p:nvSpPr>
        <p:spPr>
          <a:xfrm>
            <a:off x="201168" y="3090672"/>
            <a:ext cx="4160520" cy="1755648"/>
          </a:xfrm>
          <a:prstGeom prst="roundRect">
            <a:avLst>
              <a:gd name="adj" fmla="val 4688"/>
            </a:avLst>
          </a:prstGeom>
          <a:solidFill>
            <a:srgbClr val="FFF5F5"/>
          </a:solidFill>
          <a:ln w="12700">
            <a:solidFill>
              <a:srgbClr val="FECACA"/>
            </a:solidFill>
            <a:prstDash val="solid"/>
          </a:ln>
          <a:effectLst>
            <a:outerShdw blurRad="101600" dist="38100" dir="2700000" algn="bl" rotWithShape="0">
              <a:srgbClr val="000000">
                <a:alpha val="12000"/>
              </a:srgbClr>
            </a:outerShdw>
          </a:effectLst>
        </p:spPr>
        <p:txBody>
          <a:bodyPr/>
          <a:lstStyle/>
          <a:p>
            <a:endParaRPr lang="en-GB"/>
          </a:p>
        </p:txBody>
      </p:sp>
      <p:sp>
        <p:nvSpPr>
          <p:cNvPr id="18" name="Shape 16"/>
          <p:cNvSpPr/>
          <p:nvPr/>
        </p:nvSpPr>
        <p:spPr>
          <a:xfrm>
            <a:off x="274320" y="3163824"/>
            <a:ext cx="4014216" cy="274320"/>
          </a:xfrm>
          <a:prstGeom prst="roundRect">
            <a:avLst>
              <a:gd name="adj" fmla="val 16667"/>
            </a:avLst>
          </a:prstGeom>
          <a:solidFill>
            <a:srgbClr val="C0392B"/>
          </a:solidFill>
          <a:ln w="12700">
            <a:solidFill>
              <a:srgbClr val="C0392B"/>
            </a:solidFill>
            <a:prstDash val="solid"/>
          </a:ln>
        </p:spPr>
        <p:txBody>
          <a:bodyPr/>
          <a:lstStyle/>
          <a:p>
            <a:endParaRPr lang="en-GB"/>
          </a:p>
        </p:txBody>
      </p:sp>
      <p:sp>
        <p:nvSpPr>
          <p:cNvPr id="19" name="Text 17"/>
          <p:cNvSpPr/>
          <p:nvPr/>
        </p:nvSpPr>
        <p:spPr>
          <a:xfrm>
            <a:off x="274320" y="3163824"/>
            <a:ext cx="4014216" cy="274320"/>
          </a:xfrm>
          <a:prstGeom prst="rect">
            <a:avLst/>
          </a:prstGeom>
          <a:noFill/>
          <a:ln/>
        </p:spPr>
        <p:txBody>
          <a:bodyPr wrap="square" rtlCol="0" anchor="ctr"/>
          <a:lstStyle/>
          <a:p>
            <a:pPr marL="0" indent="0" algn="ctr">
              <a:buNone/>
            </a:pPr>
            <a:r>
              <a:rPr lang="en-US" sz="1050" b="1" dirty="0">
                <a:solidFill>
                  <a:srgbClr val="FFFFFF"/>
                </a:solidFill>
              </a:rPr>
              <a:t>Google Forms / SurveyMonkey — General Survey</a:t>
            </a:r>
            <a:endParaRPr lang="en-US" sz="1050" dirty="0"/>
          </a:p>
        </p:txBody>
      </p:sp>
      <p:sp>
        <p:nvSpPr>
          <p:cNvPr id="20" name="Text 18"/>
          <p:cNvSpPr/>
          <p:nvPr/>
        </p:nvSpPr>
        <p:spPr>
          <a:xfrm>
            <a:off x="292608" y="3376056"/>
            <a:ext cx="3977640" cy="1280160"/>
          </a:xfrm>
          <a:prstGeom prst="rect">
            <a:avLst/>
          </a:prstGeom>
          <a:noFill/>
          <a:ln/>
        </p:spPr>
        <p:txBody>
          <a:bodyPr wrap="square" rtlCol="0" anchor="t"/>
          <a:lstStyle/>
          <a:p>
            <a:pPr marL="0" indent="0">
              <a:lnSpc>
                <a:spcPct val="150000"/>
              </a:lnSpc>
              <a:buNone/>
            </a:pPr>
            <a:r>
              <a:rPr lang="en-US" sz="1000" b="1" dirty="0">
                <a:solidFill>
                  <a:srgbClr val="1E7D44"/>
                </a:solidFill>
                <a:latin typeface="Calibri" pitchFamily="34" charset="0"/>
                <a:ea typeface="Calibri" pitchFamily="34" charset="-122"/>
                <a:cs typeface="Calibri" pitchFamily="34" charset="-120"/>
              </a:rPr>
              <a:t>✓ </a:t>
            </a:r>
            <a:r>
              <a:rPr lang="en-US" sz="1000" dirty="0">
                <a:solidFill>
                  <a:srgbClr val="1A2E4A"/>
                </a:solidFill>
                <a:latin typeface="Calibri" pitchFamily="34" charset="0"/>
                <a:ea typeface="Calibri" pitchFamily="34" charset="-122"/>
                <a:cs typeface="Calibri" pitchFamily="34" charset="-120"/>
              </a:rPr>
              <a:t>Easy to use. That is all.</a:t>
            </a:r>
            <a:endParaRPr lang="en-US" sz="1000" dirty="0"/>
          </a:p>
          <a:p>
            <a:pPr marL="0" indent="0">
              <a:lnSpc>
                <a:spcPct val="150000"/>
              </a:lnSpc>
              <a:buNone/>
            </a:pPr>
            <a:r>
              <a:rPr lang="en-US" sz="1000" b="1" dirty="0">
                <a:solidFill>
                  <a:srgbClr val="C0392B"/>
                </a:solidFill>
                <a:latin typeface="Calibri" pitchFamily="34" charset="0"/>
                <a:ea typeface="Calibri" pitchFamily="34" charset="-122"/>
                <a:cs typeface="Calibri" pitchFamily="34" charset="-120"/>
              </a:rPr>
              <a:t>Best for: </a:t>
            </a:r>
            <a:r>
              <a:rPr lang="en-US" sz="1000" dirty="0">
                <a:solidFill>
                  <a:srgbClr val="1A2E4A"/>
                </a:solidFill>
                <a:latin typeface="Calibri" pitchFamily="34" charset="0"/>
                <a:ea typeface="Calibri" pitchFamily="34" charset="-122"/>
                <a:cs typeface="Calibri" pitchFamily="34" charset="-120"/>
              </a:rPr>
              <a:t>Non-sensitive surveys only (e.g., student feedback, event registration)</a:t>
            </a:r>
            <a:endParaRPr lang="en-US" sz="1000" dirty="0"/>
          </a:p>
          <a:p>
            <a:pPr marL="0" indent="0">
              <a:lnSpc>
                <a:spcPct val="150000"/>
              </a:lnSpc>
              <a:buNone/>
            </a:pPr>
            <a:r>
              <a:rPr lang="en-US" sz="1000" b="1" dirty="0">
                <a:solidFill>
                  <a:srgbClr val="C0392B"/>
                </a:solidFill>
                <a:latin typeface="Calibri" pitchFamily="34" charset="0"/>
                <a:ea typeface="Calibri" pitchFamily="34" charset="-122"/>
                <a:cs typeface="Calibri" pitchFamily="34" charset="-120"/>
              </a:rPr>
              <a:t>⚠ </a:t>
            </a:r>
            <a:r>
              <a:rPr lang="en-US" sz="1000" dirty="0">
                <a:solidFill>
                  <a:srgbClr val="C0392B"/>
                </a:solidFill>
                <a:latin typeface="Calibri" pitchFamily="34" charset="0"/>
                <a:ea typeface="Calibri" pitchFamily="34" charset="-122"/>
                <a:cs typeface="Calibri" pitchFamily="34" charset="-120"/>
              </a:rPr>
              <a:t>❌ DO NOT USE for health data, PII, or any data requiring REC approval. Data stored on US servers. No NDPA Data Processing Agreement available for free tiers.</a:t>
            </a:r>
            <a:endParaRPr lang="en-US" sz="1000" dirty="0"/>
          </a:p>
        </p:txBody>
      </p:sp>
      <p:sp>
        <p:nvSpPr>
          <p:cNvPr id="21" name="Shape 19"/>
          <p:cNvSpPr/>
          <p:nvPr/>
        </p:nvSpPr>
        <p:spPr>
          <a:xfrm>
            <a:off x="4572000" y="3090672"/>
            <a:ext cx="4160520" cy="1755648"/>
          </a:xfrm>
          <a:prstGeom prst="roundRect">
            <a:avLst>
              <a:gd name="adj" fmla="val 4688"/>
            </a:avLst>
          </a:prstGeom>
          <a:solidFill>
            <a:srgbClr val="FFF5F5"/>
          </a:solidFill>
          <a:ln w="12700">
            <a:solidFill>
              <a:srgbClr val="FECACA"/>
            </a:solidFill>
            <a:prstDash val="solid"/>
          </a:ln>
          <a:effectLst>
            <a:outerShdw blurRad="101600" dist="38100" dir="2700000" algn="bl" rotWithShape="0">
              <a:srgbClr val="000000">
                <a:alpha val="12000"/>
              </a:srgbClr>
            </a:outerShdw>
          </a:effectLst>
        </p:spPr>
        <p:txBody>
          <a:bodyPr/>
          <a:lstStyle/>
          <a:p>
            <a:endParaRPr lang="en-GB"/>
          </a:p>
        </p:txBody>
      </p:sp>
      <p:sp>
        <p:nvSpPr>
          <p:cNvPr id="22" name="Shape 20"/>
          <p:cNvSpPr/>
          <p:nvPr/>
        </p:nvSpPr>
        <p:spPr>
          <a:xfrm>
            <a:off x="4645152" y="3163824"/>
            <a:ext cx="4014216" cy="274320"/>
          </a:xfrm>
          <a:prstGeom prst="roundRect">
            <a:avLst>
              <a:gd name="adj" fmla="val 16667"/>
            </a:avLst>
          </a:prstGeom>
          <a:solidFill>
            <a:srgbClr val="C0392B"/>
          </a:solidFill>
          <a:ln w="12700">
            <a:solidFill>
              <a:srgbClr val="C0392B"/>
            </a:solidFill>
            <a:prstDash val="solid"/>
          </a:ln>
        </p:spPr>
        <p:txBody>
          <a:bodyPr/>
          <a:lstStyle/>
          <a:p>
            <a:endParaRPr lang="en-GB"/>
          </a:p>
        </p:txBody>
      </p:sp>
      <p:sp>
        <p:nvSpPr>
          <p:cNvPr id="23" name="Text 21"/>
          <p:cNvSpPr/>
          <p:nvPr/>
        </p:nvSpPr>
        <p:spPr>
          <a:xfrm>
            <a:off x="4645152" y="3163824"/>
            <a:ext cx="4014216" cy="274320"/>
          </a:xfrm>
          <a:prstGeom prst="rect">
            <a:avLst/>
          </a:prstGeom>
          <a:noFill/>
          <a:ln/>
        </p:spPr>
        <p:txBody>
          <a:bodyPr wrap="square" rtlCol="0" anchor="ctr"/>
          <a:lstStyle/>
          <a:p>
            <a:pPr marL="0" indent="0" algn="ctr">
              <a:buNone/>
            </a:pPr>
            <a:r>
              <a:rPr lang="en-US" sz="1050" b="1" dirty="0">
                <a:solidFill>
                  <a:srgbClr val="FFFFFF"/>
                </a:solidFill>
              </a:rPr>
              <a:t>WhatsApp / Email Attachments — Communication (not a tool)</a:t>
            </a:r>
            <a:endParaRPr lang="en-US" sz="1050" dirty="0"/>
          </a:p>
        </p:txBody>
      </p:sp>
      <p:sp>
        <p:nvSpPr>
          <p:cNvPr id="24" name="Text 22"/>
          <p:cNvSpPr/>
          <p:nvPr/>
        </p:nvSpPr>
        <p:spPr>
          <a:xfrm>
            <a:off x="4663440" y="3493008"/>
            <a:ext cx="3977640" cy="1280160"/>
          </a:xfrm>
          <a:prstGeom prst="rect">
            <a:avLst/>
          </a:prstGeom>
          <a:noFill/>
          <a:ln/>
        </p:spPr>
        <p:txBody>
          <a:bodyPr wrap="square" rtlCol="0" anchor="t"/>
          <a:lstStyle/>
          <a:p>
            <a:pPr marL="0" indent="0">
              <a:lnSpc>
                <a:spcPct val="150000"/>
              </a:lnSpc>
              <a:buNone/>
            </a:pPr>
            <a:r>
              <a:rPr lang="en-US" sz="1000" b="1" dirty="0">
                <a:solidFill>
                  <a:srgbClr val="1E7D44"/>
                </a:solidFill>
                <a:latin typeface="Calibri" pitchFamily="34" charset="0"/>
                <a:ea typeface="Calibri" pitchFamily="34" charset="-122"/>
                <a:cs typeface="Calibri" pitchFamily="34" charset="-120"/>
              </a:rPr>
              <a:t>✓ </a:t>
            </a:r>
            <a:r>
              <a:rPr lang="en-US" sz="1000" dirty="0">
                <a:solidFill>
                  <a:srgbClr val="1A2E4A"/>
                </a:solidFill>
                <a:latin typeface="Calibri" pitchFamily="34" charset="0"/>
                <a:ea typeface="Calibri" pitchFamily="34" charset="-122"/>
                <a:cs typeface="Calibri" pitchFamily="34" charset="-120"/>
              </a:rPr>
              <a:t>None that are data-security relevant.</a:t>
            </a:r>
            <a:endParaRPr lang="en-US" sz="1000" dirty="0"/>
          </a:p>
          <a:p>
            <a:pPr marL="0" indent="0">
              <a:lnSpc>
                <a:spcPct val="150000"/>
              </a:lnSpc>
              <a:buNone/>
            </a:pPr>
            <a:r>
              <a:rPr lang="en-US" sz="1000" b="1" dirty="0">
                <a:solidFill>
                  <a:srgbClr val="C0392B"/>
                </a:solidFill>
                <a:latin typeface="Calibri" pitchFamily="34" charset="0"/>
                <a:ea typeface="Calibri" pitchFamily="34" charset="-122"/>
                <a:cs typeface="Calibri" pitchFamily="34" charset="-120"/>
              </a:rPr>
              <a:t>Best for: </a:t>
            </a:r>
            <a:r>
              <a:rPr lang="en-US" sz="1000" dirty="0">
                <a:solidFill>
                  <a:srgbClr val="1A2E4A"/>
                </a:solidFill>
                <a:latin typeface="Calibri" pitchFamily="34" charset="0"/>
                <a:ea typeface="Calibri" pitchFamily="34" charset="-122"/>
                <a:cs typeface="Calibri" pitchFamily="34" charset="-120"/>
              </a:rPr>
              <a:t>Nothing involving research data.</a:t>
            </a:r>
            <a:endParaRPr lang="en-US" sz="1000" dirty="0"/>
          </a:p>
          <a:p>
            <a:pPr marL="0" indent="0">
              <a:lnSpc>
                <a:spcPct val="150000"/>
              </a:lnSpc>
              <a:buNone/>
            </a:pPr>
            <a:r>
              <a:rPr lang="en-US" sz="1000" b="1" dirty="0">
                <a:solidFill>
                  <a:srgbClr val="C0392B"/>
                </a:solidFill>
                <a:latin typeface="Calibri" pitchFamily="34" charset="0"/>
                <a:ea typeface="Calibri" pitchFamily="34" charset="-122"/>
                <a:cs typeface="Calibri" pitchFamily="34" charset="-120"/>
              </a:rPr>
              <a:t>⚠ </a:t>
            </a:r>
            <a:r>
              <a:rPr lang="en-US" sz="1000" dirty="0">
                <a:solidFill>
                  <a:srgbClr val="C0392B"/>
                </a:solidFill>
                <a:latin typeface="Calibri" pitchFamily="34" charset="0"/>
                <a:ea typeface="Calibri" pitchFamily="34" charset="-122"/>
                <a:cs typeface="Calibri" pitchFamily="34" charset="-120"/>
              </a:rPr>
              <a:t>❌ NEVER send participant data, consent forms, or datasets via WhatsApp or unencrypted email. This violates NDPA 2023 §2.1(b). Most common breach vector in Nigerian academic research.</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A2E4A"/>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7377"/>
          </a:solidFill>
          <a:ln w="12700">
            <a:solidFill>
              <a:srgbClr val="0D7377"/>
            </a:solidFill>
            <a:prstDash val="solid"/>
          </a:ln>
        </p:spPr>
        <p:txBody>
          <a:bodyPr/>
          <a:lstStyle/>
          <a:p>
            <a:endParaRPr lang="en-GB"/>
          </a:p>
        </p:txBody>
      </p:sp>
      <p:sp>
        <p:nvSpPr>
          <p:cNvPr id="3" name="Text 1"/>
          <p:cNvSpPr/>
          <p:nvPr/>
        </p:nvSpPr>
        <p:spPr>
          <a:xfrm>
            <a:off x="365760" y="0"/>
            <a:ext cx="8412480" cy="685800"/>
          </a:xfrm>
          <a:prstGeom prst="rect">
            <a:avLst/>
          </a:prstGeom>
          <a:noFill/>
          <a:ln/>
        </p:spPr>
        <p:txBody>
          <a:bodyPr wrap="square"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Six Core Data Security Principles Every Researcher Must Apply</a:t>
            </a:r>
            <a:endParaRPr lang="en-US" sz="2200" dirty="0"/>
          </a:p>
        </p:txBody>
      </p:sp>
      <p:sp>
        <p:nvSpPr>
          <p:cNvPr id="4" name="Shape 2"/>
          <p:cNvSpPr/>
          <p:nvPr/>
        </p:nvSpPr>
        <p:spPr>
          <a:xfrm>
            <a:off x="274320" y="822960"/>
            <a:ext cx="2788920" cy="1691640"/>
          </a:xfrm>
          <a:prstGeom prst="roundRect">
            <a:avLst>
              <a:gd name="adj" fmla="val 5405"/>
            </a:avLst>
          </a:prstGeom>
          <a:solidFill>
            <a:srgbClr val="1E3A56"/>
          </a:solidFill>
          <a:ln w="12700">
            <a:solidFill>
              <a:srgbClr val="0D7377"/>
            </a:solidFill>
            <a:prstDash val="solid"/>
          </a:ln>
        </p:spPr>
        <p:txBody>
          <a:bodyPr/>
          <a:lstStyle/>
          <a:p>
            <a:endParaRPr lang="en-GB"/>
          </a:p>
        </p:txBody>
      </p:sp>
      <p:pic>
        <p:nvPicPr>
          <p:cNvPr id="5" name="Image 0" descr="preencoded.png"/>
          <p:cNvPicPr>
            <a:picLocks noChangeAspect="1"/>
          </p:cNvPicPr>
          <p:nvPr/>
        </p:nvPicPr>
        <p:blipFill>
          <a:blip r:embed="rId3"/>
          <a:stretch>
            <a:fillRect/>
          </a:stretch>
        </p:blipFill>
        <p:spPr>
          <a:xfrm>
            <a:off x="384048" y="932688"/>
            <a:ext cx="329184" cy="329184"/>
          </a:xfrm>
          <a:prstGeom prst="rect">
            <a:avLst/>
          </a:prstGeom>
        </p:spPr>
      </p:pic>
      <p:sp>
        <p:nvSpPr>
          <p:cNvPr id="6" name="Text 3"/>
          <p:cNvSpPr/>
          <p:nvPr/>
        </p:nvSpPr>
        <p:spPr>
          <a:xfrm>
            <a:off x="777240" y="932688"/>
            <a:ext cx="2176272" cy="329184"/>
          </a:xfrm>
          <a:prstGeom prst="rect">
            <a:avLst/>
          </a:prstGeom>
          <a:noFill/>
          <a:ln/>
        </p:spPr>
        <p:txBody>
          <a:bodyPr wrap="square" rtlCol="0" anchor="ctr"/>
          <a:lstStyle/>
          <a:p>
            <a:pPr marL="0" indent="0">
              <a:buNone/>
            </a:pPr>
            <a:r>
              <a:rPr lang="en-US" sz="1300" b="1" dirty="0">
                <a:solidFill>
                  <a:srgbClr val="14ABAB"/>
                </a:solidFill>
                <a:latin typeface="Cambria" pitchFamily="34" charset="0"/>
                <a:ea typeface="Cambria" pitchFamily="34" charset="-122"/>
                <a:cs typeface="Cambria" pitchFamily="34" charset="-120"/>
              </a:rPr>
              <a:t>Data Minimisation</a:t>
            </a:r>
            <a:endParaRPr lang="en-US" sz="1300" dirty="0"/>
          </a:p>
        </p:txBody>
      </p:sp>
      <p:sp>
        <p:nvSpPr>
          <p:cNvPr id="7" name="Shape 4"/>
          <p:cNvSpPr/>
          <p:nvPr/>
        </p:nvSpPr>
        <p:spPr>
          <a:xfrm>
            <a:off x="384048" y="1335024"/>
            <a:ext cx="2560320" cy="16459"/>
          </a:xfrm>
          <a:prstGeom prst="rect">
            <a:avLst/>
          </a:prstGeom>
          <a:solidFill>
            <a:srgbClr val="0D7377"/>
          </a:solidFill>
          <a:ln w="12700">
            <a:solidFill>
              <a:srgbClr val="0D7377"/>
            </a:solidFill>
            <a:prstDash val="solid"/>
          </a:ln>
        </p:spPr>
        <p:txBody>
          <a:bodyPr/>
          <a:lstStyle/>
          <a:p>
            <a:endParaRPr lang="en-GB"/>
          </a:p>
        </p:txBody>
      </p:sp>
      <p:sp>
        <p:nvSpPr>
          <p:cNvPr id="8" name="Text 5"/>
          <p:cNvSpPr/>
          <p:nvPr/>
        </p:nvSpPr>
        <p:spPr>
          <a:xfrm>
            <a:off x="384048" y="1389888"/>
            <a:ext cx="2560320" cy="1024128"/>
          </a:xfrm>
          <a:prstGeom prst="rect">
            <a:avLst/>
          </a:prstGeom>
          <a:noFill/>
          <a:ln/>
        </p:spPr>
        <p:txBody>
          <a:bodyPr wrap="square" rtlCol="0" anchor="t"/>
          <a:lstStyle/>
          <a:p>
            <a:pPr marL="0" indent="0">
              <a:buNone/>
            </a:pPr>
            <a:r>
              <a:rPr lang="en-US" sz="1100" dirty="0">
                <a:solidFill>
                  <a:srgbClr val="FFFFFF"/>
                </a:solidFill>
                <a:latin typeface="Calibri" pitchFamily="34" charset="0"/>
                <a:ea typeface="Calibri" pitchFamily="34" charset="-122"/>
                <a:cs typeface="Calibri" pitchFamily="34" charset="-120"/>
              </a:rPr>
              <a:t>Collect ONLY what your research question needs. Every extra field = extra liability. Example: A dietary survey does not need participants' phone numbers unless you will call them back.</a:t>
            </a:r>
            <a:endParaRPr lang="en-US" sz="1100" dirty="0"/>
          </a:p>
        </p:txBody>
      </p:sp>
      <p:sp>
        <p:nvSpPr>
          <p:cNvPr id="9" name="Shape 6"/>
          <p:cNvSpPr/>
          <p:nvPr/>
        </p:nvSpPr>
        <p:spPr>
          <a:xfrm>
            <a:off x="3246120" y="822960"/>
            <a:ext cx="2788920" cy="1691640"/>
          </a:xfrm>
          <a:prstGeom prst="roundRect">
            <a:avLst>
              <a:gd name="adj" fmla="val 5405"/>
            </a:avLst>
          </a:prstGeom>
          <a:solidFill>
            <a:srgbClr val="1E3A56"/>
          </a:solidFill>
          <a:ln w="12700">
            <a:solidFill>
              <a:srgbClr val="0D7377"/>
            </a:solidFill>
            <a:prstDash val="solid"/>
          </a:ln>
        </p:spPr>
        <p:txBody>
          <a:bodyPr/>
          <a:lstStyle/>
          <a:p>
            <a:endParaRPr lang="en-GB"/>
          </a:p>
        </p:txBody>
      </p:sp>
      <p:pic>
        <p:nvPicPr>
          <p:cNvPr id="10" name="Image 1" descr="preencoded.png"/>
          <p:cNvPicPr>
            <a:picLocks noChangeAspect="1"/>
          </p:cNvPicPr>
          <p:nvPr/>
        </p:nvPicPr>
        <p:blipFill>
          <a:blip r:embed="rId4"/>
          <a:stretch>
            <a:fillRect/>
          </a:stretch>
        </p:blipFill>
        <p:spPr>
          <a:xfrm>
            <a:off x="3355848" y="932688"/>
            <a:ext cx="329184" cy="329184"/>
          </a:xfrm>
          <a:prstGeom prst="rect">
            <a:avLst/>
          </a:prstGeom>
        </p:spPr>
      </p:pic>
      <p:sp>
        <p:nvSpPr>
          <p:cNvPr id="11" name="Text 7"/>
          <p:cNvSpPr/>
          <p:nvPr/>
        </p:nvSpPr>
        <p:spPr>
          <a:xfrm>
            <a:off x="3749040" y="932688"/>
            <a:ext cx="2176272" cy="329184"/>
          </a:xfrm>
          <a:prstGeom prst="rect">
            <a:avLst/>
          </a:prstGeom>
          <a:noFill/>
          <a:ln/>
        </p:spPr>
        <p:txBody>
          <a:bodyPr wrap="square" rtlCol="0" anchor="ctr"/>
          <a:lstStyle/>
          <a:p>
            <a:pPr marL="0" indent="0">
              <a:buNone/>
            </a:pPr>
            <a:r>
              <a:rPr lang="en-US" sz="1300" b="1" dirty="0">
                <a:solidFill>
                  <a:srgbClr val="14ABAB"/>
                </a:solidFill>
                <a:latin typeface="Cambria" pitchFamily="34" charset="0"/>
                <a:ea typeface="Cambria" pitchFamily="34" charset="-122"/>
                <a:cs typeface="Cambria" pitchFamily="34" charset="-120"/>
              </a:rPr>
              <a:t>Purpose Limitation</a:t>
            </a:r>
            <a:endParaRPr lang="en-US" sz="1300" dirty="0"/>
          </a:p>
        </p:txBody>
      </p:sp>
      <p:sp>
        <p:nvSpPr>
          <p:cNvPr id="12" name="Shape 8"/>
          <p:cNvSpPr/>
          <p:nvPr/>
        </p:nvSpPr>
        <p:spPr>
          <a:xfrm>
            <a:off x="3355848" y="1335024"/>
            <a:ext cx="2560320" cy="16459"/>
          </a:xfrm>
          <a:prstGeom prst="rect">
            <a:avLst/>
          </a:prstGeom>
          <a:solidFill>
            <a:srgbClr val="0D7377"/>
          </a:solidFill>
          <a:ln w="12700">
            <a:solidFill>
              <a:srgbClr val="0D7377"/>
            </a:solidFill>
            <a:prstDash val="solid"/>
          </a:ln>
        </p:spPr>
        <p:txBody>
          <a:bodyPr/>
          <a:lstStyle/>
          <a:p>
            <a:endParaRPr lang="en-GB"/>
          </a:p>
        </p:txBody>
      </p:sp>
      <p:sp>
        <p:nvSpPr>
          <p:cNvPr id="13" name="Text 9"/>
          <p:cNvSpPr/>
          <p:nvPr/>
        </p:nvSpPr>
        <p:spPr>
          <a:xfrm>
            <a:off x="3355848" y="1389888"/>
            <a:ext cx="2560320" cy="1024128"/>
          </a:xfrm>
          <a:prstGeom prst="rect">
            <a:avLst/>
          </a:prstGeom>
          <a:noFill/>
          <a:ln/>
        </p:spPr>
        <p:txBody>
          <a:bodyPr wrap="square" rtlCol="0" anchor="t"/>
          <a:lstStyle/>
          <a:p>
            <a:pPr marL="0" indent="0">
              <a:buNone/>
            </a:pPr>
            <a:r>
              <a:rPr lang="en-US" sz="1100" dirty="0">
                <a:solidFill>
                  <a:srgbClr val="FFFFFF"/>
                </a:solidFill>
                <a:latin typeface="Calibri" pitchFamily="34" charset="0"/>
                <a:ea typeface="Calibri" pitchFamily="34" charset="-122"/>
                <a:cs typeface="Calibri" pitchFamily="34" charset="-120"/>
              </a:rPr>
              <a:t>Data collected for Study A cannot be used for Study B without fresh consent. Example: A COVID study dataset cannot be repurposed for a diabetes AI model without new REC approval.</a:t>
            </a:r>
            <a:endParaRPr lang="en-US" sz="1100" dirty="0"/>
          </a:p>
        </p:txBody>
      </p:sp>
      <p:sp>
        <p:nvSpPr>
          <p:cNvPr id="14" name="Shape 10"/>
          <p:cNvSpPr/>
          <p:nvPr/>
        </p:nvSpPr>
        <p:spPr>
          <a:xfrm>
            <a:off x="6217920" y="822960"/>
            <a:ext cx="2788920" cy="1691640"/>
          </a:xfrm>
          <a:prstGeom prst="roundRect">
            <a:avLst>
              <a:gd name="adj" fmla="val 5405"/>
            </a:avLst>
          </a:prstGeom>
          <a:solidFill>
            <a:srgbClr val="1E3A56"/>
          </a:solidFill>
          <a:ln w="12700">
            <a:solidFill>
              <a:srgbClr val="0D7377"/>
            </a:solidFill>
            <a:prstDash val="solid"/>
          </a:ln>
        </p:spPr>
        <p:txBody>
          <a:bodyPr/>
          <a:lstStyle/>
          <a:p>
            <a:endParaRPr lang="en-GB"/>
          </a:p>
        </p:txBody>
      </p:sp>
      <p:pic>
        <p:nvPicPr>
          <p:cNvPr id="15" name="Image 2" descr="preencoded.png"/>
          <p:cNvPicPr>
            <a:picLocks noChangeAspect="1"/>
          </p:cNvPicPr>
          <p:nvPr/>
        </p:nvPicPr>
        <p:blipFill>
          <a:blip r:embed="rId5"/>
          <a:stretch>
            <a:fillRect/>
          </a:stretch>
        </p:blipFill>
        <p:spPr>
          <a:xfrm>
            <a:off x="6327648" y="932688"/>
            <a:ext cx="329184" cy="329184"/>
          </a:xfrm>
          <a:prstGeom prst="rect">
            <a:avLst/>
          </a:prstGeom>
        </p:spPr>
      </p:pic>
      <p:sp>
        <p:nvSpPr>
          <p:cNvPr id="16" name="Text 11"/>
          <p:cNvSpPr/>
          <p:nvPr/>
        </p:nvSpPr>
        <p:spPr>
          <a:xfrm>
            <a:off x="6720840" y="932688"/>
            <a:ext cx="2176272" cy="329184"/>
          </a:xfrm>
          <a:prstGeom prst="rect">
            <a:avLst/>
          </a:prstGeom>
          <a:noFill/>
          <a:ln/>
        </p:spPr>
        <p:txBody>
          <a:bodyPr wrap="square" rtlCol="0" anchor="ctr"/>
          <a:lstStyle/>
          <a:p>
            <a:pPr marL="0" indent="0">
              <a:buNone/>
            </a:pPr>
            <a:r>
              <a:rPr lang="en-US" sz="1300" b="1" dirty="0">
                <a:solidFill>
                  <a:srgbClr val="14ABAB"/>
                </a:solidFill>
                <a:latin typeface="Cambria" pitchFamily="34" charset="0"/>
                <a:ea typeface="Cambria" pitchFamily="34" charset="-122"/>
                <a:cs typeface="Cambria" pitchFamily="34" charset="-120"/>
              </a:rPr>
              <a:t>Confidentiality</a:t>
            </a:r>
            <a:endParaRPr lang="en-US" sz="1300" dirty="0"/>
          </a:p>
        </p:txBody>
      </p:sp>
      <p:sp>
        <p:nvSpPr>
          <p:cNvPr id="17" name="Shape 12"/>
          <p:cNvSpPr/>
          <p:nvPr/>
        </p:nvSpPr>
        <p:spPr>
          <a:xfrm>
            <a:off x="6327648" y="1335024"/>
            <a:ext cx="2560320" cy="16459"/>
          </a:xfrm>
          <a:prstGeom prst="rect">
            <a:avLst/>
          </a:prstGeom>
          <a:solidFill>
            <a:srgbClr val="0D7377"/>
          </a:solidFill>
          <a:ln w="12700">
            <a:solidFill>
              <a:srgbClr val="0D7377"/>
            </a:solidFill>
            <a:prstDash val="solid"/>
          </a:ln>
        </p:spPr>
        <p:txBody>
          <a:bodyPr/>
          <a:lstStyle/>
          <a:p>
            <a:endParaRPr lang="en-GB"/>
          </a:p>
        </p:txBody>
      </p:sp>
      <p:sp>
        <p:nvSpPr>
          <p:cNvPr id="18" name="Text 13"/>
          <p:cNvSpPr/>
          <p:nvPr/>
        </p:nvSpPr>
        <p:spPr>
          <a:xfrm>
            <a:off x="6327648" y="1389888"/>
            <a:ext cx="2560320" cy="1024128"/>
          </a:xfrm>
          <a:prstGeom prst="rect">
            <a:avLst/>
          </a:prstGeom>
          <a:noFill/>
          <a:ln/>
        </p:spPr>
        <p:txBody>
          <a:bodyPr wrap="square" rtlCol="0" anchor="t"/>
          <a:lstStyle/>
          <a:p>
            <a:pPr marL="0" indent="0">
              <a:buNone/>
            </a:pPr>
            <a:r>
              <a:rPr lang="en-US" sz="1100" dirty="0">
                <a:solidFill>
                  <a:srgbClr val="FFFFFF"/>
                </a:solidFill>
                <a:latin typeface="Calibri" pitchFamily="34" charset="0"/>
                <a:ea typeface="Calibri" pitchFamily="34" charset="-122"/>
                <a:cs typeface="Calibri" pitchFamily="34" charset="-120"/>
              </a:rPr>
              <a:t>Pseudonymise or anonymise data at the earliest stage. Replace names with IDs at point of entry. Example: 'Patient: Adewale Okonkwo, 42, Ibadan' → 'ID: NG-0047, Age group: 40-44, SW Nigeria'.</a:t>
            </a:r>
            <a:endParaRPr lang="en-US" sz="1100" dirty="0"/>
          </a:p>
        </p:txBody>
      </p:sp>
      <p:sp>
        <p:nvSpPr>
          <p:cNvPr id="19" name="Shape 14"/>
          <p:cNvSpPr/>
          <p:nvPr/>
        </p:nvSpPr>
        <p:spPr>
          <a:xfrm>
            <a:off x="274320" y="2670048"/>
            <a:ext cx="2788920" cy="1691640"/>
          </a:xfrm>
          <a:prstGeom prst="roundRect">
            <a:avLst>
              <a:gd name="adj" fmla="val 5405"/>
            </a:avLst>
          </a:prstGeom>
          <a:solidFill>
            <a:srgbClr val="1E3A56"/>
          </a:solidFill>
          <a:ln w="12700">
            <a:solidFill>
              <a:srgbClr val="0D7377"/>
            </a:solidFill>
            <a:prstDash val="solid"/>
          </a:ln>
        </p:spPr>
        <p:txBody>
          <a:bodyPr/>
          <a:lstStyle/>
          <a:p>
            <a:endParaRPr lang="en-GB"/>
          </a:p>
        </p:txBody>
      </p:sp>
      <p:pic>
        <p:nvPicPr>
          <p:cNvPr id="20" name="Image 3" descr="preencoded.png"/>
          <p:cNvPicPr>
            <a:picLocks noChangeAspect="1"/>
          </p:cNvPicPr>
          <p:nvPr/>
        </p:nvPicPr>
        <p:blipFill>
          <a:blip r:embed="rId6"/>
          <a:stretch>
            <a:fillRect/>
          </a:stretch>
        </p:blipFill>
        <p:spPr>
          <a:xfrm>
            <a:off x="384048" y="2779776"/>
            <a:ext cx="329184" cy="329184"/>
          </a:xfrm>
          <a:prstGeom prst="rect">
            <a:avLst/>
          </a:prstGeom>
        </p:spPr>
      </p:pic>
      <p:sp>
        <p:nvSpPr>
          <p:cNvPr id="21" name="Text 15"/>
          <p:cNvSpPr/>
          <p:nvPr/>
        </p:nvSpPr>
        <p:spPr>
          <a:xfrm>
            <a:off x="777240" y="2779776"/>
            <a:ext cx="2176272" cy="329184"/>
          </a:xfrm>
          <a:prstGeom prst="rect">
            <a:avLst/>
          </a:prstGeom>
          <a:noFill/>
          <a:ln/>
        </p:spPr>
        <p:txBody>
          <a:bodyPr wrap="square" rtlCol="0" anchor="ctr"/>
          <a:lstStyle/>
          <a:p>
            <a:pPr marL="0" indent="0">
              <a:buNone/>
            </a:pPr>
            <a:r>
              <a:rPr lang="en-US" sz="1300" b="1" dirty="0">
                <a:solidFill>
                  <a:srgbClr val="14ABAB"/>
                </a:solidFill>
                <a:latin typeface="Cambria" pitchFamily="34" charset="0"/>
                <a:ea typeface="Cambria" pitchFamily="34" charset="-122"/>
                <a:cs typeface="Cambria" pitchFamily="34" charset="-120"/>
              </a:rPr>
              <a:t>Integrity &amp; Accuracy</a:t>
            </a:r>
            <a:endParaRPr lang="en-US" sz="1300" dirty="0"/>
          </a:p>
        </p:txBody>
      </p:sp>
      <p:sp>
        <p:nvSpPr>
          <p:cNvPr id="22" name="Shape 16"/>
          <p:cNvSpPr/>
          <p:nvPr/>
        </p:nvSpPr>
        <p:spPr>
          <a:xfrm>
            <a:off x="384048" y="3182112"/>
            <a:ext cx="2560320" cy="16459"/>
          </a:xfrm>
          <a:prstGeom prst="rect">
            <a:avLst/>
          </a:prstGeom>
          <a:solidFill>
            <a:srgbClr val="0D7377"/>
          </a:solidFill>
          <a:ln w="12700">
            <a:solidFill>
              <a:srgbClr val="0D7377"/>
            </a:solidFill>
            <a:prstDash val="solid"/>
          </a:ln>
        </p:spPr>
        <p:txBody>
          <a:bodyPr/>
          <a:lstStyle/>
          <a:p>
            <a:endParaRPr lang="en-GB"/>
          </a:p>
        </p:txBody>
      </p:sp>
      <p:sp>
        <p:nvSpPr>
          <p:cNvPr id="23" name="Text 17"/>
          <p:cNvSpPr/>
          <p:nvPr/>
        </p:nvSpPr>
        <p:spPr>
          <a:xfrm>
            <a:off x="384048" y="3236976"/>
            <a:ext cx="2560320" cy="1024128"/>
          </a:xfrm>
          <a:prstGeom prst="rect">
            <a:avLst/>
          </a:prstGeom>
          <a:noFill/>
          <a:ln/>
        </p:spPr>
        <p:txBody>
          <a:bodyPr wrap="square" rtlCol="0" anchor="t"/>
          <a:lstStyle/>
          <a:p>
            <a:pPr marL="0" indent="0">
              <a:buNone/>
            </a:pPr>
            <a:r>
              <a:rPr lang="en-US" sz="1100" dirty="0">
                <a:solidFill>
                  <a:srgbClr val="FFFFFF"/>
                </a:solidFill>
                <a:latin typeface="Calibri" pitchFamily="34" charset="0"/>
                <a:ea typeface="Calibri" pitchFamily="34" charset="-122"/>
                <a:cs typeface="Calibri" pitchFamily="34" charset="-120"/>
              </a:rPr>
              <a:t>Version-control all datasets (use Git, DVC, or even dated ZIP files). Log every change. Example: If a value is corrected after entry, the original must be preserved in an audit log.</a:t>
            </a:r>
            <a:endParaRPr lang="en-US" sz="1100" dirty="0"/>
          </a:p>
        </p:txBody>
      </p:sp>
      <p:sp>
        <p:nvSpPr>
          <p:cNvPr id="24" name="Shape 18"/>
          <p:cNvSpPr/>
          <p:nvPr/>
        </p:nvSpPr>
        <p:spPr>
          <a:xfrm>
            <a:off x="3246120" y="2670048"/>
            <a:ext cx="2788920" cy="1691640"/>
          </a:xfrm>
          <a:prstGeom prst="roundRect">
            <a:avLst>
              <a:gd name="adj" fmla="val 5405"/>
            </a:avLst>
          </a:prstGeom>
          <a:solidFill>
            <a:srgbClr val="1E3A56"/>
          </a:solidFill>
          <a:ln w="12700">
            <a:solidFill>
              <a:srgbClr val="0D7377"/>
            </a:solidFill>
            <a:prstDash val="solid"/>
          </a:ln>
        </p:spPr>
        <p:txBody>
          <a:bodyPr/>
          <a:lstStyle/>
          <a:p>
            <a:endParaRPr lang="en-GB"/>
          </a:p>
        </p:txBody>
      </p:sp>
      <p:pic>
        <p:nvPicPr>
          <p:cNvPr id="25" name="Image 4" descr="preencoded.png"/>
          <p:cNvPicPr>
            <a:picLocks noChangeAspect="1"/>
          </p:cNvPicPr>
          <p:nvPr/>
        </p:nvPicPr>
        <p:blipFill>
          <a:blip r:embed="rId7"/>
          <a:stretch>
            <a:fillRect/>
          </a:stretch>
        </p:blipFill>
        <p:spPr>
          <a:xfrm>
            <a:off x="3355848" y="2779776"/>
            <a:ext cx="329184" cy="329184"/>
          </a:xfrm>
          <a:prstGeom prst="rect">
            <a:avLst/>
          </a:prstGeom>
        </p:spPr>
      </p:pic>
      <p:sp>
        <p:nvSpPr>
          <p:cNvPr id="26" name="Text 19"/>
          <p:cNvSpPr/>
          <p:nvPr/>
        </p:nvSpPr>
        <p:spPr>
          <a:xfrm>
            <a:off x="3749040" y="2779776"/>
            <a:ext cx="2176272" cy="329184"/>
          </a:xfrm>
          <a:prstGeom prst="rect">
            <a:avLst/>
          </a:prstGeom>
          <a:noFill/>
          <a:ln/>
        </p:spPr>
        <p:txBody>
          <a:bodyPr wrap="square" rtlCol="0" anchor="ctr"/>
          <a:lstStyle/>
          <a:p>
            <a:pPr marL="0" indent="0">
              <a:buNone/>
            </a:pPr>
            <a:r>
              <a:rPr lang="en-US" sz="1300" b="1" dirty="0">
                <a:solidFill>
                  <a:srgbClr val="14ABAB"/>
                </a:solidFill>
                <a:latin typeface="Cambria" pitchFamily="34" charset="0"/>
                <a:ea typeface="Cambria" pitchFamily="34" charset="-122"/>
                <a:cs typeface="Cambria" pitchFamily="34" charset="-120"/>
              </a:rPr>
              <a:t>Availability</a:t>
            </a:r>
            <a:endParaRPr lang="en-US" sz="1300" dirty="0"/>
          </a:p>
        </p:txBody>
      </p:sp>
      <p:sp>
        <p:nvSpPr>
          <p:cNvPr id="27" name="Shape 20"/>
          <p:cNvSpPr/>
          <p:nvPr/>
        </p:nvSpPr>
        <p:spPr>
          <a:xfrm>
            <a:off x="3355848" y="3182112"/>
            <a:ext cx="2560320" cy="16459"/>
          </a:xfrm>
          <a:prstGeom prst="rect">
            <a:avLst/>
          </a:prstGeom>
          <a:solidFill>
            <a:srgbClr val="0D7377"/>
          </a:solidFill>
          <a:ln w="12700">
            <a:solidFill>
              <a:srgbClr val="0D7377"/>
            </a:solidFill>
            <a:prstDash val="solid"/>
          </a:ln>
        </p:spPr>
        <p:txBody>
          <a:bodyPr/>
          <a:lstStyle/>
          <a:p>
            <a:endParaRPr lang="en-GB"/>
          </a:p>
        </p:txBody>
      </p:sp>
      <p:sp>
        <p:nvSpPr>
          <p:cNvPr id="28" name="Text 21"/>
          <p:cNvSpPr/>
          <p:nvPr/>
        </p:nvSpPr>
        <p:spPr>
          <a:xfrm>
            <a:off x="3355848" y="3236976"/>
            <a:ext cx="2560320" cy="1024128"/>
          </a:xfrm>
          <a:prstGeom prst="rect">
            <a:avLst/>
          </a:prstGeom>
          <a:noFill/>
          <a:ln/>
        </p:spPr>
        <p:txBody>
          <a:bodyPr wrap="square" rtlCol="0" anchor="t"/>
          <a:lstStyle/>
          <a:p>
            <a:pPr marL="0" indent="0">
              <a:buNone/>
            </a:pPr>
            <a:r>
              <a:rPr lang="en-US" sz="1100" dirty="0">
                <a:solidFill>
                  <a:srgbClr val="FFFFFF"/>
                </a:solidFill>
                <a:latin typeface="Calibri" pitchFamily="34" charset="0"/>
                <a:ea typeface="Calibri" pitchFamily="34" charset="-122"/>
                <a:cs typeface="Calibri" pitchFamily="34" charset="-120"/>
              </a:rPr>
              <a:t>Follow the 3-2-1 backup rule: 3 copies, 2 different media, 1 offsite. Example: Original on institutional server + encrypted external drive + institutional OneDrive. Test restores quarterly.</a:t>
            </a:r>
            <a:endParaRPr lang="en-US" sz="1100" dirty="0"/>
          </a:p>
        </p:txBody>
      </p:sp>
      <p:sp>
        <p:nvSpPr>
          <p:cNvPr id="29" name="Shape 22"/>
          <p:cNvSpPr/>
          <p:nvPr/>
        </p:nvSpPr>
        <p:spPr>
          <a:xfrm>
            <a:off x="6217920" y="2670048"/>
            <a:ext cx="2788920" cy="1691640"/>
          </a:xfrm>
          <a:prstGeom prst="roundRect">
            <a:avLst>
              <a:gd name="adj" fmla="val 5405"/>
            </a:avLst>
          </a:prstGeom>
          <a:solidFill>
            <a:srgbClr val="1E3A56"/>
          </a:solidFill>
          <a:ln w="12700">
            <a:solidFill>
              <a:srgbClr val="0D7377"/>
            </a:solidFill>
            <a:prstDash val="solid"/>
          </a:ln>
        </p:spPr>
        <p:txBody>
          <a:bodyPr/>
          <a:lstStyle/>
          <a:p>
            <a:endParaRPr lang="en-GB"/>
          </a:p>
        </p:txBody>
      </p:sp>
      <p:pic>
        <p:nvPicPr>
          <p:cNvPr id="30" name="Image 5" descr="preencoded.png"/>
          <p:cNvPicPr>
            <a:picLocks noChangeAspect="1"/>
          </p:cNvPicPr>
          <p:nvPr/>
        </p:nvPicPr>
        <p:blipFill>
          <a:blip r:embed="rId8"/>
          <a:stretch>
            <a:fillRect/>
          </a:stretch>
        </p:blipFill>
        <p:spPr>
          <a:xfrm>
            <a:off x="6327648" y="2779776"/>
            <a:ext cx="329184" cy="329184"/>
          </a:xfrm>
          <a:prstGeom prst="rect">
            <a:avLst/>
          </a:prstGeom>
        </p:spPr>
      </p:pic>
      <p:sp>
        <p:nvSpPr>
          <p:cNvPr id="31" name="Text 23"/>
          <p:cNvSpPr/>
          <p:nvPr/>
        </p:nvSpPr>
        <p:spPr>
          <a:xfrm>
            <a:off x="6720840" y="2779776"/>
            <a:ext cx="2176272" cy="329184"/>
          </a:xfrm>
          <a:prstGeom prst="rect">
            <a:avLst/>
          </a:prstGeom>
          <a:noFill/>
          <a:ln/>
        </p:spPr>
        <p:txBody>
          <a:bodyPr wrap="square" rtlCol="0" anchor="ctr"/>
          <a:lstStyle/>
          <a:p>
            <a:pPr marL="0" indent="0">
              <a:buNone/>
            </a:pPr>
            <a:r>
              <a:rPr lang="en-US" sz="1300" b="1" dirty="0">
                <a:solidFill>
                  <a:srgbClr val="14ABAB"/>
                </a:solidFill>
                <a:latin typeface="Cambria" pitchFamily="34" charset="0"/>
                <a:ea typeface="Cambria" pitchFamily="34" charset="-122"/>
                <a:cs typeface="Cambria" pitchFamily="34" charset="-120"/>
              </a:rPr>
              <a:t>Accountability</a:t>
            </a:r>
            <a:endParaRPr lang="en-US" sz="1300" dirty="0"/>
          </a:p>
        </p:txBody>
      </p:sp>
      <p:sp>
        <p:nvSpPr>
          <p:cNvPr id="32" name="Shape 24"/>
          <p:cNvSpPr/>
          <p:nvPr/>
        </p:nvSpPr>
        <p:spPr>
          <a:xfrm>
            <a:off x="6327648" y="3182112"/>
            <a:ext cx="2560320" cy="16459"/>
          </a:xfrm>
          <a:prstGeom prst="rect">
            <a:avLst/>
          </a:prstGeom>
          <a:solidFill>
            <a:srgbClr val="0D7377"/>
          </a:solidFill>
          <a:ln w="12700">
            <a:solidFill>
              <a:srgbClr val="0D7377"/>
            </a:solidFill>
            <a:prstDash val="solid"/>
          </a:ln>
        </p:spPr>
        <p:txBody>
          <a:bodyPr/>
          <a:lstStyle/>
          <a:p>
            <a:endParaRPr lang="en-GB"/>
          </a:p>
        </p:txBody>
      </p:sp>
      <p:sp>
        <p:nvSpPr>
          <p:cNvPr id="33" name="Text 25"/>
          <p:cNvSpPr/>
          <p:nvPr/>
        </p:nvSpPr>
        <p:spPr>
          <a:xfrm>
            <a:off x="6327648" y="3236976"/>
            <a:ext cx="2560320" cy="1024128"/>
          </a:xfrm>
          <a:prstGeom prst="rect">
            <a:avLst/>
          </a:prstGeom>
          <a:noFill/>
          <a:ln/>
        </p:spPr>
        <p:txBody>
          <a:bodyPr wrap="square" rtlCol="0" anchor="t"/>
          <a:lstStyle/>
          <a:p>
            <a:pPr marL="0" indent="0">
              <a:buNone/>
            </a:pPr>
            <a:r>
              <a:rPr lang="en-US" sz="1100" dirty="0">
                <a:solidFill>
                  <a:srgbClr val="FFFFFF"/>
                </a:solidFill>
                <a:latin typeface="Calibri" pitchFamily="34" charset="0"/>
                <a:ea typeface="Calibri" pitchFamily="34" charset="-122"/>
                <a:cs typeface="Calibri" pitchFamily="34" charset="-120"/>
              </a:rPr>
              <a:t>Name a Data Custodian. Keep an access log. Every person who touches the data must be identifiable. Example: 'Only PI, co-investigator, and approved RAs have read access. Log reviewed monthly.'</a:t>
            </a:r>
            <a:endParaRPr lang="en-US" sz="1100" dirty="0"/>
          </a:p>
        </p:txBody>
      </p:sp>
      <p:sp>
        <p:nvSpPr>
          <p:cNvPr id="34" name="Text 26"/>
          <p:cNvSpPr/>
          <p:nvPr/>
        </p:nvSpPr>
        <p:spPr>
          <a:xfrm>
            <a:off x="274320" y="4681728"/>
            <a:ext cx="8595360" cy="274320"/>
          </a:xfrm>
          <a:prstGeom prst="rect">
            <a:avLst/>
          </a:prstGeom>
          <a:noFill/>
          <a:ln/>
        </p:spPr>
        <p:txBody>
          <a:bodyPr wrap="square" rtlCol="0" anchor="ctr"/>
          <a:lstStyle/>
          <a:p>
            <a:pPr marL="0" indent="0">
              <a:buNone/>
            </a:pPr>
            <a:r>
              <a:rPr lang="en-US" sz="900" i="1" dirty="0">
                <a:solidFill>
                  <a:srgbClr val="14ABAB"/>
                </a:solidFill>
              </a:rPr>
              <a:t>Source: NDPA 2023 · GDPR Principles · ISO/IEC 27001 · NIST SP 800-53</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7377"/>
          </a:solidFill>
          <a:ln w="12700">
            <a:solidFill>
              <a:srgbClr val="0D7377"/>
            </a:solidFill>
            <a:prstDash val="solid"/>
          </a:ln>
        </p:spPr>
        <p:txBody>
          <a:bodyPr/>
          <a:lstStyle/>
          <a:p>
            <a:endParaRPr lang="en-GB"/>
          </a:p>
        </p:txBody>
      </p:sp>
      <p:sp>
        <p:nvSpPr>
          <p:cNvPr id="3" name="Text 1"/>
          <p:cNvSpPr/>
          <p:nvPr/>
        </p:nvSpPr>
        <p:spPr>
          <a:xfrm>
            <a:off x="365760" y="0"/>
            <a:ext cx="8412480" cy="685800"/>
          </a:xfrm>
          <a:prstGeom prst="rect">
            <a:avLst/>
          </a:prstGeom>
          <a:noFill/>
          <a:ln/>
        </p:spPr>
        <p:txBody>
          <a:bodyPr wrap="square"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Role of Research Ethics Committees in Data Security Governance</a:t>
            </a:r>
            <a:endParaRPr lang="en-US" sz="2200" dirty="0"/>
          </a:p>
        </p:txBody>
      </p:sp>
      <p:sp>
        <p:nvSpPr>
          <p:cNvPr id="4" name="Shape 2"/>
          <p:cNvSpPr/>
          <p:nvPr/>
        </p:nvSpPr>
        <p:spPr>
          <a:xfrm>
            <a:off x="274320" y="804672"/>
            <a:ext cx="4114800" cy="4114800"/>
          </a:xfrm>
          <a:prstGeom prst="roundRect">
            <a:avLst>
              <a:gd name="adj" fmla="val 2222"/>
            </a:avLst>
          </a:prstGeom>
          <a:solidFill>
            <a:srgbClr val="FFFFFF"/>
          </a:solidFill>
          <a:ln w="12700">
            <a:solidFill>
              <a:srgbClr val="DDE6F0"/>
            </a:solidFill>
            <a:prstDash val="solid"/>
          </a:ln>
          <a:effectLst>
            <a:outerShdw blurRad="101600" dist="38100" dir="2700000" algn="bl" rotWithShape="0">
              <a:srgbClr val="000000">
                <a:alpha val="12000"/>
              </a:srgbClr>
            </a:outerShdw>
          </a:effectLst>
        </p:spPr>
        <p:txBody>
          <a:bodyPr/>
          <a:lstStyle/>
          <a:p>
            <a:endParaRPr lang="en-GB"/>
          </a:p>
        </p:txBody>
      </p:sp>
      <p:sp>
        <p:nvSpPr>
          <p:cNvPr id="5" name="Text 3"/>
          <p:cNvSpPr/>
          <p:nvPr/>
        </p:nvSpPr>
        <p:spPr>
          <a:xfrm>
            <a:off x="438912" y="868680"/>
            <a:ext cx="3794760" cy="384048"/>
          </a:xfrm>
          <a:prstGeom prst="rect">
            <a:avLst/>
          </a:prstGeom>
          <a:noFill/>
          <a:ln/>
        </p:spPr>
        <p:txBody>
          <a:bodyPr wrap="square" rtlCol="0" anchor="ctr"/>
          <a:lstStyle/>
          <a:p>
            <a:pPr marL="0" indent="0">
              <a:buNone/>
            </a:pPr>
            <a:r>
              <a:rPr lang="en-US" sz="1300" b="1" dirty="0">
                <a:solidFill>
                  <a:srgbClr val="0D7377"/>
                </a:solidFill>
                <a:latin typeface="Cambria" pitchFamily="34" charset="0"/>
                <a:ea typeface="Cambria" pitchFamily="34" charset="-122"/>
                <a:cs typeface="Cambria" pitchFamily="34" charset="-120"/>
              </a:rPr>
              <a:t>What RECs Must Now Verify (Post-NDPA 2023)</a:t>
            </a:r>
            <a:endParaRPr lang="en-US" sz="1300" dirty="0"/>
          </a:p>
        </p:txBody>
      </p:sp>
      <p:sp>
        <p:nvSpPr>
          <p:cNvPr id="6" name="Text 4"/>
          <p:cNvSpPr/>
          <p:nvPr/>
        </p:nvSpPr>
        <p:spPr>
          <a:xfrm>
            <a:off x="438912" y="1298448"/>
            <a:ext cx="3822192" cy="457200"/>
          </a:xfrm>
          <a:prstGeom prst="rect">
            <a:avLst/>
          </a:prstGeom>
          <a:noFill/>
          <a:ln/>
        </p:spPr>
        <p:txBody>
          <a:bodyPr wrap="square" rtlCol="0" anchor="ctr"/>
          <a:lstStyle/>
          <a:p>
            <a:pPr marL="0" indent="0">
              <a:buNone/>
            </a:pPr>
            <a:r>
              <a:rPr lang="en-US" sz="1150" b="1" dirty="0">
                <a:solidFill>
                  <a:srgbClr val="1A2E4A"/>
                </a:solidFill>
                <a:latin typeface="Calibri" pitchFamily="34" charset="0"/>
                <a:ea typeface="Calibri" pitchFamily="34" charset="-122"/>
                <a:cs typeface="Calibri" pitchFamily="34" charset="-120"/>
              </a:rPr>
              <a:t>Data Management Plan: </a:t>
            </a:r>
            <a:r>
              <a:rPr lang="en-US" sz="1150" dirty="0">
                <a:solidFill>
                  <a:srgbClr val="1A2E4A"/>
                </a:solidFill>
                <a:latin typeface="Calibri" pitchFamily="34" charset="0"/>
                <a:ea typeface="Calibri" pitchFamily="34" charset="-122"/>
                <a:cs typeface="Calibri" pitchFamily="34" charset="-120"/>
              </a:rPr>
              <a:t>Has the PI filed a DMP naming a Data Custodian and retention policy?</a:t>
            </a:r>
            <a:endParaRPr lang="en-US" sz="1150" dirty="0"/>
          </a:p>
        </p:txBody>
      </p:sp>
      <p:sp>
        <p:nvSpPr>
          <p:cNvPr id="7" name="Shape 5"/>
          <p:cNvSpPr/>
          <p:nvPr/>
        </p:nvSpPr>
        <p:spPr>
          <a:xfrm>
            <a:off x="457200" y="1773936"/>
            <a:ext cx="3749040" cy="10973"/>
          </a:xfrm>
          <a:prstGeom prst="rect">
            <a:avLst/>
          </a:prstGeom>
          <a:solidFill>
            <a:srgbClr val="E4EEF8"/>
          </a:solidFill>
          <a:ln w="12700">
            <a:solidFill>
              <a:srgbClr val="E4EEF8"/>
            </a:solidFill>
            <a:prstDash val="solid"/>
          </a:ln>
        </p:spPr>
        <p:txBody>
          <a:bodyPr/>
          <a:lstStyle/>
          <a:p>
            <a:endParaRPr lang="en-GB"/>
          </a:p>
        </p:txBody>
      </p:sp>
      <p:sp>
        <p:nvSpPr>
          <p:cNvPr id="8" name="Text 6"/>
          <p:cNvSpPr/>
          <p:nvPr/>
        </p:nvSpPr>
        <p:spPr>
          <a:xfrm>
            <a:off x="438912" y="1819656"/>
            <a:ext cx="3822192" cy="457200"/>
          </a:xfrm>
          <a:prstGeom prst="rect">
            <a:avLst/>
          </a:prstGeom>
          <a:noFill/>
          <a:ln/>
        </p:spPr>
        <p:txBody>
          <a:bodyPr wrap="square" rtlCol="0" anchor="ctr"/>
          <a:lstStyle/>
          <a:p>
            <a:pPr marL="0" indent="0">
              <a:buNone/>
            </a:pPr>
            <a:r>
              <a:rPr lang="en-US" sz="1150" b="1" dirty="0">
                <a:solidFill>
                  <a:srgbClr val="1A2E4A"/>
                </a:solidFill>
                <a:latin typeface="Calibri" pitchFamily="34" charset="0"/>
                <a:ea typeface="Calibri" pitchFamily="34" charset="-122"/>
                <a:cs typeface="Calibri" pitchFamily="34" charset="-120"/>
              </a:rPr>
              <a:t>DPIA Completed?: </a:t>
            </a:r>
            <a:r>
              <a:rPr lang="en-US" sz="1150" dirty="0">
                <a:solidFill>
                  <a:srgbClr val="1A2E4A"/>
                </a:solidFill>
                <a:latin typeface="Calibri" pitchFamily="34" charset="0"/>
                <a:ea typeface="Calibri" pitchFamily="34" charset="-122"/>
                <a:cs typeface="Calibri" pitchFamily="34" charset="-120"/>
              </a:rPr>
              <a:t>Required for any sensitive data: health, biometric, minors, genomic.</a:t>
            </a:r>
            <a:endParaRPr lang="en-US" sz="1150" dirty="0"/>
          </a:p>
        </p:txBody>
      </p:sp>
      <p:sp>
        <p:nvSpPr>
          <p:cNvPr id="9" name="Shape 7"/>
          <p:cNvSpPr/>
          <p:nvPr/>
        </p:nvSpPr>
        <p:spPr>
          <a:xfrm>
            <a:off x="457200" y="2295144"/>
            <a:ext cx="3749040" cy="10973"/>
          </a:xfrm>
          <a:prstGeom prst="rect">
            <a:avLst/>
          </a:prstGeom>
          <a:solidFill>
            <a:srgbClr val="E4EEF8"/>
          </a:solidFill>
          <a:ln w="12700">
            <a:solidFill>
              <a:srgbClr val="E4EEF8"/>
            </a:solidFill>
            <a:prstDash val="solid"/>
          </a:ln>
        </p:spPr>
        <p:txBody>
          <a:bodyPr/>
          <a:lstStyle/>
          <a:p>
            <a:endParaRPr lang="en-GB"/>
          </a:p>
        </p:txBody>
      </p:sp>
      <p:sp>
        <p:nvSpPr>
          <p:cNvPr id="10" name="Text 8"/>
          <p:cNvSpPr/>
          <p:nvPr/>
        </p:nvSpPr>
        <p:spPr>
          <a:xfrm>
            <a:off x="438912" y="2340864"/>
            <a:ext cx="3822192" cy="457200"/>
          </a:xfrm>
          <a:prstGeom prst="rect">
            <a:avLst/>
          </a:prstGeom>
          <a:noFill/>
          <a:ln/>
        </p:spPr>
        <p:txBody>
          <a:bodyPr wrap="square" rtlCol="0" anchor="ctr"/>
          <a:lstStyle/>
          <a:p>
            <a:pPr marL="0" indent="0">
              <a:buNone/>
            </a:pPr>
            <a:r>
              <a:rPr lang="en-US" sz="1150" b="1" dirty="0">
                <a:solidFill>
                  <a:srgbClr val="1A2E4A"/>
                </a:solidFill>
                <a:latin typeface="Calibri" pitchFamily="34" charset="0"/>
                <a:ea typeface="Calibri" pitchFamily="34" charset="-122"/>
                <a:cs typeface="Calibri" pitchFamily="34" charset="-120"/>
              </a:rPr>
              <a:t>Consent Clause: </a:t>
            </a:r>
            <a:r>
              <a:rPr lang="en-US" sz="1150" dirty="0">
                <a:solidFill>
                  <a:srgbClr val="1A2E4A"/>
                </a:solidFill>
                <a:latin typeface="Calibri" pitchFamily="34" charset="0"/>
                <a:ea typeface="Calibri" pitchFamily="34" charset="-122"/>
                <a:cs typeface="Calibri" pitchFamily="34" charset="-120"/>
              </a:rPr>
              <a:t>Does the consent form address data security AND breach notification to participants?</a:t>
            </a:r>
            <a:endParaRPr lang="en-US" sz="1150" dirty="0"/>
          </a:p>
        </p:txBody>
      </p:sp>
      <p:sp>
        <p:nvSpPr>
          <p:cNvPr id="11" name="Shape 9"/>
          <p:cNvSpPr/>
          <p:nvPr/>
        </p:nvSpPr>
        <p:spPr>
          <a:xfrm>
            <a:off x="457200" y="2816352"/>
            <a:ext cx="3749040" cy="10973"/>
          </a:xfrm>
          <a:prstGeom prst="rect">
            <a:avLst/>
          </a:prstGeom>
          <a:solidFill>
            <a:srgbClr val="E4EEF8"/>
          </a:solidFill>
          <a:ln w="12700">
            <a:solidFill>
              <a:srgbClr val="E4EEF8"/>
            </a:solidFill>
            <a:prstDash val="solid"/>
          </a:ln>
        </p:spPr>
        <p:txBody>
          <a:bodyPr/>
          <a:lstStyle/>
          <a:p>
            <a:endParaRPr lang="en-GB"/>
          </a:p>
        </p:txBody>
      </p:sp>
      <p:sp>
        <p:nvSpPr>
          <p:cNvPr id="12" name="Text 10"/>
          <p:cNvSpPr/>
          <p:nvPr/>
        </p:nvSpPr>
        <p:spPr>
          <a:xfrm>
            <a:off x="438912" y="2862072"/>
            <a:ext cx="3822192" cy="457200"/>
          </a:xfrm>
          <a:prstGeom prst="rect">
            <a:avLst/>
          </a:prstGeom>
          <a:noFill/>
          <a:ln/>
        </p:spPr>
        <p:txBody>
          <a:bodyPr wrap="square" rtlCol="0" anchor="ctr"/>
          <a:lstStyle/>
          <a:p>
            <a:pPr marL="0" indent="0">
              <a:buNone/>
            </a:pPr>
            <a:r>
              <a:rPr lang="en-US" sz="1150" b="1" dirty="0">
                <a:solidFill>
                  <a:srgbClr val="1A2E4A"/>
                </a:solidFill>
                <a:latin typeface="Calibri" pitchFamily="34" charset="0"/>
                <a:ea typeface="Calibri" pitchFamily="34" charset="-122"/>
                <a:cs typeface="Calibri" pitchFamily="34" charset="-120"/>
              </a:rPr>
              <a:t>Storage Documentation: </a:t>
            </a:r>
            <a:r>
              <a:rPr lang="en-US" sz="1150" dirty="0">
                <a:solidFill>
                  <a:srgbClr val="1A2E4A"/>
                </a:solidFill>
                <a:latin typeface="Calibri" pitchFamily="34" charset="0"/>
                <a:ea typeface="Calibri" pitchFamily="34" charset="-122"/>
                <a:cs typeface="Calibri" pitchFamily="34" charset="-120"/>
              </a:rPr>
              <a:t>Where? Encrypted? Who has access? What protocol if the server is breached?</a:t>
            </a:r>
            <a:endParaRPr lang="en-US" sz="1150" dirty="0"/>
          </a:p>
        </p:txBody>
      </p:sp>
      <p:sp>
        <p:nvSpPr>
          <p:cNvPr id="13" name="Shape 11"/>
          <p:cNvSpPr/>
          <p:nvPr/>
        </p:nvSpPr>
        <p:spPr>
          <a:xfrm>
            <a:off x="457200" y="3337560"/>
            <a:ext cx="3749040" cy="10973"/>
          </a:xfrm>
          <a:prstGeom prst="rect">
            <a:avLst/>
          </a:prstGeom>
          <a:solidFill>
            <a:srgbClr val="E4EEF8"/>
          </a:solidFill>
          <a:ln w="12700">
            <a:solidFill>
              <a:srgbClr val="E4EEF8"/>
            </a:solidFill>
            <a:prstDash val="solid"/>
          </a:ln>
        </p:spPr>
        <p:txBody>
          <a:bodyPr/>
          <a:lstStyle/>
          <a:p>
            <a:endParaRPr lang="en-GB"/>
          </a:p>
        </p:txBody>
      </p:sp>
      <p:sp>
        <p:nvSpPr>
          <p:cNvPr id="14" name="Text 12"/>
          <p:cNvSpPr/>
          <p:nvPr/>
        </p:nvSpPr>
        <p:spPr>
          <a:xfrm>
            <a:off x="438912" y="3383280"/>
            <a:ext cx="3822192" cy="457200"/>
          </a:xfrm>
          <a:prstGeom prst="rect">
            <a:avLst/>
          </a:prstGeom>
          <a:noFill/>
          <a:ln/>
        </p:spPr>
        <p:txBody>
          <a:bodyPr wrap="square" rtlCol="0" anchor="ctr"/>
          <a:lstStyle/>
          <a:p>
            <a:pPr marL="0" indent="0">
              <a:buNone/>
            </a:pPr>
            <a:r>
              <a:rPr lang="en-US" sz="1150" b="1" dirty="0">
                <a:solidFill>
                  <a:srgbClr val="1A2E4A"/>
                </a:solidFill>
                <a:latin typeface="Calibri" pitchFamily="34" charset="0"/>
                <a:ea typeface="Calibri" pitchFamily="34" charset="-122"/>
                <a:cs typeface="Calibri" pitchFamily="34" charset="-120"/>
              </a:rPr>
              <a:t>AI Tool Use: </a:t>
            </a:r>
            <a:r>
              <a:rPr lang="en-US" sz="1150" dirty="0">
                <a:solidFill>
                  <a:srgbClr val="1A2E4A"/>
                </a:solidFill>
                <a:latin typeface="Calibri" pitchFamily="34" charset="0"/>
                <a:ea typeface="Calibri" pitchFamily="34" charset="-122"/>
                <a:cs typeface="Calibri" pitchFamily="34" charset="-120"/>
              </a:rPr>
              <a:t>If an AI tool processes participant data, has a Data Processing Agreement been signed with the vendor?</a:t>
            </a:r>
            <a:endParaRPr lang="en-US" sz="1150" dirty="0"/>
          </a:p>
        </p:txBody>
      </p:sp>
      <p:sp>
        <p:nvSpPr>
          <p:cNvPr id="15" name="Shape 13"/>
          <p:cNvSpPr/>
          <p:nvPr/>
        </p:nvSpPr>
        <p:spPr>
          <a:xfrm>
            <a:off x="457200" y="3858768"/>
            <a:ext cx="3749040" cy="10973"/>
          </a:xfrm>
          <a:prstGeom prst="rect">
            <a:avLst/>
          </a:prstGeom>
          <a:solidFill>
            <a:srgbClr val="E4EEF8"/>
          </a:solidFill>
          <a:ln w="12700">
            <a:solidFill>
              <a:srgbClr val="E4EEF8"/>
            </a:solidFill>
            <a:prstDash val="solid"/>
          </a:ln>
        </p:spPr>
        <p:txBody>
          <a:bodyPr/>
          <a:lstStyle/>
          <a:p>
            <a:endParaRPr lang="en-GB"/>
          </a:p>
        </p:txBody>
      </p:sp>
      <p:sp>
        <p:nvSpPr>
          <p:cNvPr id="16" name="Text 14"/>
          <p:cNvSpPr/>
          <p:nvPr/>
        </p:nvSpPr>
        <p:spPr>
          <a:xfrm>
            <a:off x="438912" y="3904488"/>
            <a:ext cx="3822192" cy="457200"/>
          </a:xfrm>
          <a:prstGeom prst="rect">
            <a:avLst/>
          </a:prstGeom>
          <a:noFill/>
          <a:ln/>
        </p:spPr>
        <p:txBody>
          <a:bodyPr wrap="square" rtlCol="0" anchor="ctr"/>
          <a:lstStyle/>
          <a:p>
            <a:pPr marL="0" indent="0">
              <a:buNone/>
            </a:pPr>
            <a:r>
              <a:rPr lang="en-US" sz="1150" b="1" dirty="0">
                <a:solidFill>
                  <a:srgbClr val="1A2E4A"/>
                </a:solidFill>
                <a:latin typeface="Calibri" pitchFamily="34" charset="0"/>
                <a:ea typeface="Calibri" pitchFamily="34" charset="-122"/>
                <a:cs typeface="Calibri" pitchFamily="34" charset="-120"/>
              </a:rPr>
              <a:t>Breach Protocol: </a:t>
            </a:r>
            <a:r>
              <a:rPr lang="en-US" sz="1150" dirty="0">
                <a:solidFill>
                  <a:srgbClr val="1A2E4A"/>
                </a:solidFill>
                <a:latin typeface="Calibri" pitchFamily="34" charset="0"/>
                <a:ea typeface="Calibri" pitchFamily="34" charset="-122"/>
                <a:cs typeface="Calibri" pitchFamily="34" charset="-120"/>
              </a:rPr>
              <a:t>Does the institution have a 72-hour breach notification pathway as required by NDPA §40?</a:t>
            </a:r>
            <a:endParaRPr lang="en-US" sz="1150" dirty="0"/>
          </a:p>
        </p:txBody>
      </p:sp>
      <p:sp>
        <p:nvSpPr>
          <p:cNvPr id="17" name="Shape 15"/>
          <p:cNvSpPr/>
          <p:nvPr/>
        </p:nvSpPr>
        <p:spPr>
          <a:xfrm>
            <a:off x="4754880" y="804672"/>
            <a:ext cx="4114800" cy="4114800"/>
          </a:xfrm>
          <a:prstGeom prst="roundRect">
            <a:avLst>
              <a:gd name="adj" fmla="val 2222"/>
            </a:avLst>
          </a:prstGeom>
          <a:solidFill>
            <a:srgbClr val="1A2E4A"/>
          </a:solidFill>
          <a:ln w="12700">
            <a:solidFill>
              <a:srgbClr val="0D7377"/>
            </a:solidFill>
            <a:prstDash val="solid"/>
          </a:ln>
          <a:effectLst>
            <a:outerShdw blurRad="101600" dist="38100" dir="2700000" algn="bl" rotWithShape="0">
              <a:srgbClr val="000000">
                <a:alpha val="12000"/>
              </a:srgbClr>
            </a:outerShdw>
          </a:effectLst>
        </p:spPr>
        <p:txBody>
          <a:bodyPr/>
          <a:lstStyle/>
          <a:p>
            <a:endParaRPr lang="en-GB"/>
          </a:p>
        </p:txBody>
      </p:sp>
      <p:sp>
        <p:nvSpPr>
          <p:cNvPr id="18" name="Text 16"/>
          <p:cNvSpPr/>
          <p:nvPr/>
        </p:nvSpPr>
        <p:spPr>
          <a:xfrm>
            <a:off x="4919472" y="868680"/>
            <a:ext cx="3794760" cy="384048"/>
          </a:xfrm>
          <a:prstGeom prst="rect">
            <a:avLst/>
          </a:prstGeom>
          <a:noFill/>
          <a:ln/>
        </p:spPr>
        <p:txBody>
          <a:bodyPr wrap="square" rtlCol="0" anchor="ctr"/>
          <a:lstStyle/>
          <a:p>
            <a:pPr marL="0" indent="0">
              <a:buNone/>
            </a:pPr>
            <a:r>
              <a:rPr lang="en-US" sz="1300" b="1" dirty="0">
                <a:solidFill>
                  <a:srgbClr val="14ABAB"/>
                </a:solidFill>
                <a:latin typeface="Cambria" pitchFamily="34" charset="0"/>
                <a:ea typeface="Cambria" pitchFamily="34" charset="-122"/>
                <a:cs typeface="Cambria" pitchFamily="34" charset="-120"/>
              </a:rPr>
              <a:t>REC Capacity Building Recommendations</a:t>
            </a:r>
            <a:endParaRPr lang="en-US" sz="1300" dirty="0"/>
          </a:p>
        </p:txBody>
      </p:sp>
      <p:sp>
        <p:nvSpPr>
          <p:cNvPr id="19" name="Text 17"/>
          <p:cNvSpPr/>
          <p:nvPr/>
        </p:nvSpPr>
        <p:spPr>
          <a:xfrm>
            <a:off x="4919472" y="1298448"/>
            <a:ext cx="3794760" cy="594360"/>
          </a:xfrm>
          <a:prstGeom prst="rect">
            <a:avLst/>
          </a:prstGeom>
          <a:noFill/>
          <a:ln/>
        </p:spPr>
        <p:txBody>
          <a:bodyPr wrap="square" rtlCol="0" anchor="t"/>
          <a:lstStyle/>
          <a:p>
            <a:pPr marL="0" indent="0">
              <a:buNone/>
            </a:pPr>
            <a:r>
              <a:rPr lang="en-US" sz="1150" b="1" dirty="0">
                <a:solidFill>
                  <a:srgbClr val="E8A020"/>
                </a:solidFill>
                <a:latin typeface="Calibri" pitchFamily="34" charset="0"/>
                <a:ea typeface="Calibri" pitchFamily="34" charset="-122"/>
                <a:cs typeface="Calibri" pitchFamily="34" charset="-120"/>
              </a:rPr>
              <a:t>Mandate DMP + Datasheet: </a:t>
            </a:r>
            <a:r>
              <a:rPr lang="en-US" sz="1150" dirty="0">
                <a:solidFill>
                  <a:srgbClr val="DDEEFF"/>
                </a:solidFill>
                <a:latin typeface="Calibri" pitchFamily="34" charset="0"/>
                <a:ea typeface="Calibri" pitchFamily="34" charset="-122"/>
                <a:cs typeface="Calibri" pitchFamily="34" charset="-120"/>
              </a:rPr>
              <a:t>Require a Data Management Plan and a Dataset Datasheet as part of all protocol submissions.</a:t>
            </a:r>
            <a:endParaRPr lang="en-US" sz="1150" dirty="0"/>
          </a:p>
        </p:txBody>
      </p:sp>
      <p:sp>
        <p:nvSpPr>
          <p:cNvPr id="20" name="Shape 18"/>
          <p:cNvSpPr/>
          <p:nvPr/>
        </p:nvSpPr>
        <p:spPr>
          <a:xfrm>
            <a:off x="4937760" y="1920240"/>
            <a:ext cx="3749040" cy="10973"/>
          </a:xfrm>
          <a:prstGeom prst="rect">
            <a:avLst/>
          </a:prstGeom>
          <a:solidFill>
            <a:srgbClr val="2A4060"/>
          </a:solidFill>
          <a:ln w="12700">
            <a:solidFill>
              <a:srgbClr val="2A4060"/>
            </a:solidFill>
            <a:prstDash val="solid"/>
          </a:ln>
        </p:spPr>
        <p:txBody>
          <a:bodyPr/>
          <a:lstStyle/>
          <a:p>
            <a:endParaRPr lang="en-GB"/>
          </a:p>
        </p:txBody>
      </p:sp>
      <p:sp>
        <p:nvSpPr>
          <p:cNvPr id="21" name="Text 19"/>
          <p:cNvSpPr/>
          <p:nvPr/>
        </p:nvSpPr>
        <p:spPr>
          <a:xfrm>
            <a:off x="4919472" y="1956816"/>
            <a:ext cx="3794760" cy="594360"/>
          </a:xfrm>
          <a:prstGeom prst="rect">
            <a:avLst/>
          </a:prstGeom>
          <a:noFill/>
          <a:ln/>
        </p:spPr>
        <p:txBody>
          <a:bodyPr wrap="square" rtlCol="0" anchor="t"/>
          <a:lstStyle/>
          <a:p>
            <a:pPr marL="0" indent="0">
              <a:buNone/>
            </a:pPr>
            <a:r>
              <a:rPr lang="en-US" sz="1150" b="1" dirty="0">
                <a:solidFill>
                  <a:srgbClr val="E8A020"/>
                </a:solidFill>
                <a:latin typeface="Calibri" pitchFamily="34" charset="0"/>
                <a:ea typeface="Calibri" pitchFamily="34" charset="-122"/>
                <a:cs typeface="Calibri" pitchFamily="34" charset="-120"/>
              </a:rPr>
              <a:t>Update Consent Templates: </a:t>
            </a:r>
            <a:r>
              <a:rPr lang="en-US" sz="1150" dirty="0">
                <a:solidFill>
                  <a:srgbClr val="DDEEFF"/>
                </a:solidFill>
                <a:latin typeface="Calibri" pitchFamily="34" charset="0"/>
                <a:ea typeface="Calibri" pitchFamily="34" charset="-122"/>
                <a:cs typeface="Calibri" pitchFamily="34" charset="-120"/>
              </a:rPr>
              <a:t>All institutional consent templates must include a data security clause and breach notification rights.</a:t>
            </a:r>
            <a:endParaRPr lang="en-US" sz="1150" dirty="0"/>
          </a:p>
        </p:txBody>
      </p:sp>
      <p:sp>
        <p:nvSpPr>
          <p:cNvPr id="22" name="Shape 20"/>
          <p:cNvSpPr/>
          <p:nvPr/>
        </p:nvSpPr>
        <p:spPr>
          <a:xfrm>
            <a:off x="4937760" y="2578608"/>
            <a:ext cx="3749040" cy="10973"/>
          </a:xfrm>
          <a:prstGeom prst="rect">
            <a:avLst/>
          </a:prstGeom>
          <a:solidFill>
            <a:srgbClr val="2A4060"/>
          </a:solidFill>
          <a:ln w="12700">
            <a:solidFill>
              <a:srgbClr val="2A4060"/>
            </a:solidFill>
            <a:prstDash val="solid"/>
          </a:ln>
        </p:spPr>
        <p:txBody>
          <a:bodyPr/>
          <a:lstStyle/>
          <a:p>
            <a:endParaRPr lang="en-GB"/>
          </a:p>
        </p:txBody>
      </p:sp>
      <p:sp>
        <p:nvSpPr>
          <p:cNvPr id="23" name="Text 21"/>
          <p:cNvSpPr/>
          <p:nvPr/>
        </p:nvSpPr>
        <p:spPr>
          <a:xfrm>
            <a:off x="4919472" y="2615184"/>
            <a:ext cx="3794760" cy="594360"/>
          </a:xfrm>
          <a:prstGeom prst="rect">
            <a:avLst/>
          </a:prstGeom>
          <a:noFill/>
          <a:ln/>
        </p:spPr>
        <p:txBody>
          <a:bodyPr wrap="square" rtlCol="0" anchor="t"/>
          <a:lstStyle/>
          <a:p>
            <a:pPr marL="0" indent="0">
              <a:buNone/>
            </a:pPr>
            <a:r>
              <a:rPr lang="en-US" sz="1150" b="1" dirty="0">
                <a:solidFill>
                  <a:srgbClr val="E8A020"/>
                </a:solidFill>
                <a:latin typeface="Calibri" pitchFamily="34" charset="0"/>
                <a:ea typeface="Calibri" pitchFamily="34" charset="-122"/>
                <a:cs typeface="Calibri" pitchFamily="34" charset="-120"/>
              </a:rPr>
              <a:t>Train REC Members: </a:t>
            </a:r>
            <a:r>
              <a:rPr lang="en-US" sz="1150" dirty="0">
                <a:solidFill>
                  <a:srgbClr val="DDEEFF"/>
                </a:solidFill>
                <a:latin typeface="Calibri" pitchFamily="34" charset="0"/>
                <a:ea typeface="Calibri" pitchFamily="34" charset="-122"/>
                <a:cs typeface="Calibri" pitchFamily="34" charset="-120"/>
              </a:rPr>
              <a:t>At minimum one REC member per institution should hold NDPA compliance training. NITDA offers free online modules.</a:t>
            </a:r>
            <a:endParaRPr lang="en-US" sz="1150" dirty="0"/>
          </a:p>
        </p:txBody>
      </p:sp>
      <p:sp>
        <p:nvSpPr>
          <p:cNvPr id="24" name="Shape 22"/>
          <p:cNvSpPr/>
          <p:nvPr/>
        </p:nvSpPr>
        <p:spPr>
          <a:xfrm>
            <a:off x="4937760" y="3236976"/>
            <a:ext cx="3749040" cy="10973"/>
          </a:xfrm>
          <a:prstGeom prst="rect">
            <a:avLst/>
          </a:prstGeom>
          <a:solidFill>
            <a:srgbClr val="2A4060"/>
          </a:solidFill>
          <a:ln w="12700">
            <a:solidFill>
              <a:srgbClr val="2A4060"/>
            </a:solidFill>
            <a:prstDash val="solid"/>
          </a:ln>
        </p:spPr>
        <p:txBody>
          <a:bodyPr/>
          <a:lstStyle/>
          <a:p>
            <a:endParaRPr lang="en-GB"/>
          </a:p>
        </p:txBody>
      </p:sp>
      <p:sp>
        <p:nvSpPr>
          <p:cNvPr id="25" name="Text 23"/>
          <p:cNvSpPr/>
          <p:nvPr/>
        </p:nvSpPr>
        <p:spPr>
          <a:xfrm>
            <a:off x="4919472" y="3273552"/>
            <a:ext cx="3794760" cy="594360"/>
          </a:xfrm>
          <a:prstGeom prst="rect">
            <a:avLst/>
          </a:prstGeom>
          <a:noFill/>
          <a:ln/>
        </p:spPr>
        <p:txBody>
          <a:bodyPr wrap="square" rtlCol="0" anchor="t"/>
          <a:lstStyle/>
          <a:p>
            <a:pPr marL="0" indent="0">
              <a:buNone/>
            </a:pPr>
            <a:r>
              <a:rPr lang="en-US" sz="1150" b="1" dirty="0">
                <a:solidFill>
                  <a:srgbClr val="E8A020"/>
                </a:solidFill>
                <a:latin typeface="Calibri" pitchFamily="34" charset="0"/>
                <a:ea typeface="Calibri" pitchFamily="34" charset="-122"/>
                <a:cs typeface="Calibri" pitchFamily="34" charset="-120"/>
              </a:rPr>
              <a:t>Require DPIA: </a:t>
            </a:r>
            <a:r>
              <a:rPr lang="en-US" sz="1150" dirty="0">
                <a:solidFill>
                  <a:srgbClr val="DDEEFF"/>
                </a:solidFill>
                <a:latin typeface="Calibri" pitchFamily="34" charset="0"/>
                <a:ea typeface="Calibri" pitchFamily="34" charset="-122"/>
                <a:cs typeface="Calibri" pitchFamily="34" charset="-120"/>
              </a:rPr>
              <a:t>For any study involving health data, biometrics, children, or AI tools — DPIA is non-negotiable.</a:t>
            </a:r>
            <a:endParaRPr lang="en-US" sz="1150" dirty="0"/>
          </a:p>
        </p:txBody>
      </p:sp>
      <p:sp>
        <p:nvSpPr>
          <p:cNvPr id="26" name="Shape 24"/>
          <p:cNvSpPr/>
          <p:nvPr/>
        </p:nvSpPr>
        <p:spPr>
          <a:xfrm>
            <a:off x="4937760" y="3895344"/>
            <a:ext cx="3749040" cy="10973"/>
          </a:xfrm>
          <a:prstGeom prst="rect">
            <a:avLst/>
          </a:prstGeom>
          <a:solidFill>
            <a:srgbClr val="2A4060"/>
          </a:solidFill>
          <a:ln w="12700">
            <a:solidFill>
              <a:srgbClr val="2A4060"/>
            </a:solidFill>
            <a:prstDash val="solid"/>
          </a:ln>
        </p:spPr>
        <p:txBody>
          <a:bodyPr/>
          <a:lstStyle/>
          <a:p>
            <a:endParaRPr lang="en-GB"/>
          </a:p>
        </p:txBody>
      </p:sp>
      <p:sp>
        <p:nvSpPr>
          <p:cNvPr id="27" name="Text 25"/>
          <p:cNvSpPr/>
          <p:nvPr/>
        </p:nvSpPr>
        <p:spPr>
          <a:xfrm>
            <a:off x="4919472" y="3931920"/>
            <a:ext cx="3794760" cy="594360"/>
          </a:xfrm>
          <a:prstGeom prst="rect">
            <a:avLst/>
          </a:prstGeom>
          <a:noFill/>
          <a:ln/>
        </p:spPr>
        <p:txBody>
          <a:bodyPr wrap="square" rtlCol="0" anchor="t"/>
          <a:lstStyle/>
          <a:p>
            <a:pPr marL="0" indent="0">
              <a:buNone/>
            </a:pPr>
            <a:r>
              <a:rPr lang="en-US" sz="1150" b="1" dirty="0">
                <a:solidFill>
                  <a:srgbClr val="E8A020"/>
                </a:solidFill>
                <a:latin typeface="Calibri" pitchFamily="34" charset="0"/>
                <a:ea typeface="Calibri" pitchFamily="34" charset="-122"/>
                <a:cs typeface="Calibri" pitchFamily="34" charset="-120"/>
              </a:rPr>
              <a:t>Add AI Tool Scrutiny: </a:t>
            </a:r>
            <a:r>
              <a:rPr lang="en-US" sz="1150" dirty="0">
                <a:solidFill>
                  <a:srgbClr val="DDEEFF"/>
                </a:solidFill>
                <a:latin typeface="Calibri" pitchFamily="34" charset="0"/>
                <a:ea typeface="Calibri" pitchFamily="34" charset="-122"/>
                <a:cs typeface="Calibri" pitchFamily="34" charset="-120"/>
              </a:rPr>
              <a:t>If a study uses ChatGPT, Google Bard, or any cloud AI to process participant responses, the REC must evaluate the data transfer implications.</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2E4A"/>
          </a:solidFill>
          <a:ln w="12700">
            <a:solidFill>
              <a:srgbClr val="1A2E4A"/>
            </a:solidFill>
            <a:prstDash val="solid"/>
          </a:ln>
        </p:spPr>
        <p:txBody>
          <a:bodyPr/>
          <a:lstStyle/>
          <a:p>
            <a:endParaRPr lang="en-GB"/>
          </a:p>
        </p:txBody>
      </p:sp>
      <p:sp>
        <p:nvSpPr>
          <p:cNvPr id="3" name="Text 1"/>
          <p:cNvSpPr/>
          <p:nvPr/>
        </p:nvSpPr>
        <p:spPr>
          <a:xfrm>
            <a:off x="365760" y="0"/>
            <a:ext cx="8412480" cy="685800"/>
          </a:xfrm>
          <a:prstGeom prst="rect">
            <a:avLst/>
          </a:prstGeom>
          <a:noFill/>
          <a:ln/>
        </p:spPr>
        <p:txBody>
          <a:bodyPr wrap="square"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6-Step Practical Implementation Plan for Secure Research Data</a:t>
            </a:r>
            <a:endParaRPr lang="en-US" sz="2200" dirty="0"/>
          </a:p>
        </p:txBody>
      </p:sp>
      <p:sp>
        <p:nvSpPr>
          <p:cNvPr id="4" name="Shape 2"/>
          <p:cNvSpPr/>
          <p:nvPr/>
        </p:nvSpPr>
        <p:spPr>
          <a:xfrm>
            <a:off x="274320" y="804672"/>
            <a:ext cx="4160520" cy="1261872"/>
          </a:xfrm>
          <a:prstGeom prst="roundRect">
            <a:avLst>
              <a:gd name="adj" fmla="val 7246"/>
            </a:avLst>
          </a:prstGeom>
          <a:solidFill>
            <a:srgbClr val="FFFFFF"/>
          </a:solidFill>
          <a:ln w="12700">
            <a:solidFill>
              <a:srgbClr val="D8E4F0"/>
            </a:solidFill>
            <a:prstDash val="solid"/>
          </a:ln>
          <a:effectLst>
            <a:outerShdw blurRad="101600" dist="38100" dir="2700000" algn="bl" rotWithShape="0">
              <a:srgbClr val="000000">
                <a:alpha val="12000"/>
              </a:srgbClr>
            </a:outerShdw>
          </a:effectLst>
        </p:spPr>
        <p:txBody>
          <a:bodyPr/>
          <a:lstStyle/>
          <a:p>
            <a:endParaRPr lang="en-GB"/>
          </a:p>
        </p:txBody>
      </p:sp>
      <p:sp>
        <p:nvSpPr>
          <p:cNvPr id="5" name="Shape 3"/>
          <p:cNvSpPr/>
          <p:nvPr/>
        </p:nvSpPr>
        <p:spPr>
          <a:xfrm>
            <a:off x="365760" y="816372"/>
            <a:ext cx="566928" cy="566928"/>
          </a:xfrm>
          <a:prstGeom prst="ellipse">
            <a:avLst/>
          </a:prstGeom>
          <a:solidFill>
            <a:srgbClr val="0D7377"/>
          </a:solidFill>
          <a:ln w="12700">
            <a:solidFill>
              <a:srgbClr val="0D7377"/>
            </a:solidFill>
            <a:prstDash val="solid"/>
          </a:ln>
        </p:spPr>
        <p:txBody>
          <a:bodyPr/>
          <a:lstStyle/>
          <a:p>
            <a:endParaRPr lang="en-GB"/>
          </a:p>
        </p:txBody>
      </p:sp>
      <p:sp>
        <p:nvSpPr>
          <p:cNvPr id="6" name="Text 4"/>
          <p:cNvSpPr/>
          <p:nvPr/>
        </p:nvSpPr>
        <p:spPr>
          <a:xfrm>
            <a:off x="365760" y="896112"/>
            <a:ext cx="566928" cy="566928"/>
          </a:xfrm>
          <a:prstGeom prst="rect">
            <a:avLst/>
          </a:prstGeom>
          <a:noFill/>
          <a:ln/>
        </p:spPr>
        <p:txBody>
          <a:bodyPr wrap="square" rtlCol="0" anchor="ctr"/>
          <a:lstStyle/>
          <a:p>
            <a:pPr marL="0" indent="0" algn="ctr">
              <a:buNone/>
            </a:pPr>
            <a:r>
              <a:rPr lang="en-US" sz="1600" b="1" dirty="0">
                <a:solidFill>
                  <a:srgbClr val="FFFFFF"/>
                </a:solidFill>
              </a:rPr>
              <a:t>01</a:t>
            </a:r>
            <a:endParaRPr lang="en-US" sz="1600" dirty="0"/>
          </a:p>
        </p:txBody>
      </p:sp>
      <p:sp>
        <p:nvSpPr>
          <p:cNvPr id="7" name="Text 5"/>
          <p:cNvSpPr/>
          <p:nvPr/>
        </p:nvSpPr>
        <p:spPr>
          <a:xfrm>
            <a:off x="1005840" y="896112"/>
            <a:ext cx="3310128" cy="411480"/>
          </a:xfrm>
          <a:prstGeom prst="rect">
            <a:avLst/>
          </a:prstGeom>
          <a:noFill/>
          <a:ln/>
        </p:spPr>
        <p:txBody>
          <a:bodyPr wrap="square" rtlCol="0" anchor="ctr"/>
          <a:lstStyle/>
          <a:p>
            <a:pPr marL="0" indent="0">
              <a:buNone/>
            </a:pPr>
            <a:r>
              <a:rPr lang="en-US" sz="1300" b="1" dirty="0">
                <a:solidFill>
                  <a:srgbClr val="1A2E4A"/>
                </a:solidFill>
                <a:latin typeface="Cambria" pitchFamily="34" charset="0"/>
                <a:ea typeface="Cambria" pitchFamily="34" charset="-122"/>
                <a:cs typeface="Cambria" pitchFamily="34" charset="-120"/>
              </a:rPr>
              <a:t>Plan &amp; Consent</a:t>
            </a:r>
            <a:endParaRPr lang="en-US" sz="1300" dirty="0"/>
          </a:p>
        </p:txBody>
      </p:sp>
      <p:sp>
        <p:nvSpPr>
          <p:cNvPr id="8" name="Text 6"/>
          <p:cNvSpPr/>
          <p:nvPr/>
        </p:nvSpPr>
        <p:spPr>
          <a:xfrm>
            <a:off x="411480" y="1371600"/>
            <a:ext cx="3886200" cy="621792"/>
          </a:xfrm>
          <a:prstGeom prst="rect">
            <a:avLst/>
          </a:prstGeom>
          <a:noFill/>
          <a:ln/>
        </p:spPr>
        <p:txBody>
          <a:bodyPr wrap="square" rtlCol="0" anchor="ctr"/>
          <a:lstStyle/>
          <a:p>
            <a:pPr marL="0" indent="0">
              <a:buNone/>
            </a:pPr>
            <a:r>
              <a:rPr lang="en-US" sz="1100" dirty="0">
                <a:solidFill>
                  <a:srgbClr val="1A2E4A"/>
                </a:solidFill>
                <a:latin typeface="Calibri" pitchFamily="34" charset="0"/>
                <a:ea typeface="Calibri" pitchFamily="34" charset="-122"/>
                <a:cs typeface="Calibri" pitchFamily="34" charset="-120"/>
              </a:rPr>
              <a:t>Complete DMP · Conduct DPIA if sensitive · Consent includes data security clause · Assign Data Custodian · Register on Zenodo/OSF with embargo</a:t>
            </a:r>
            <a:endParaRPr lang="en-US" sz="1100" dirty="0"/>
          </a:p>
        </p:txBody>
      </p:sp>
      <p:sp>
        <p:nvSpPr>
          <p:cNvPr id="9" name="Shape 7"/>
          <p:cNvSpPr/>
          <p:nvPr/>
        </p:nvSpPr>
        <p:spPr>
          <a:xfrm>
            <a:off x="274320" y="2221992"/>
            <a:ext cx="4160520" cy="1261872"/>
          </a:xfrm>
          <a:prstGeom prst="roundRect">
            <a:avLst>
              <a:gd name="adj" fmla="val 7246"/>
            </a:avLst>
          </a:prstGeom>
          <a:solidFill>
            <a:srgbClr val="FFFFFF"/>
          </a:solidFill>
          <a:ln w="12700">
            <a:solidFill>
              <a:srgbClr val="D8E4F0"/>
            </a:solidFill>
            <a:prstDash val="solid"/>
          </a:ln>
          <a:effectLst>
            <a:outerShdw blurRad="101600" dist="38100" dir="2700000" algn="bl" rotWithShape="0">
              <a:srgbClr val="000000">
                <a:alpha val="12000"/>
              </a:srgbClr>
            </a:outerShdw>
          </a:effectLst>
        </p:spPr>
        <p:txBody>
          <a:bodyPr/>
          <a:lstStyle/>
          <a:p>
            <a:endParaRPr lang="en-GB"/>
          </a:p>
        </p:txBody>
      </p:sp>
      <p:sp>
        <p:nvSpPr>
          <p:cNvPr id="10" name="Shape 8"/>
          <p:cNvSpPr/>
          <p:nvPr/>
        </p:nvSpPr>
        <p:spPr>
          <a:xfrm>
            <a:off x="365760" y="2254956"/>
            <a:ext cx="566928" cy="566928"/>
          </a:xfrm>
          <a:prstGeom prst="ellipse">
            <a:avLst/>
          </a:prstGeom>
          <a:solidFill>
            <a:srgbClr val="0D7377"/>
          </a:solidFill>
          <a:ln w="12700">
            <a:solidFill>
              <a:srgbClr val="0D7377"/>
            </a:solidFill>
            <a:prstDash val="solid"/>
          </a:ln>
        </p:spPr>
        <p:txBody>
          <a:bodyPr/>
          <a:lstStyle/>
          <a:p>
            <a:endParaRPr lang="en-GB"/>
          </a:p>
        </p:txBody>
      </p:sp>
      <p:sp>
        <p:nvSpPr>
          <p:cNvPr id="11" name="Text 9"/>
          <p:cNvSpPr/>
          <p:nvPr/>
        </p:nvSpPr>
        <p:spPr>
          <a:xfrm>
            <a:off x="365760" y="2313432"/>
            <a:ext cx="566928" cy="566928"/>
          </a:xfrm>
          <a:prstGeom prst="rect">
            <a:avLst/>
          </a:prstGeom>
          <a:noFill/>
          <a:ln/>
        </p:spPr>
        <p:txBody>
          <a:bodyPr wrap="square" rtlCol="0" anchor="ctr"/>
          <a:lstStyle/>
          <a:p>
            <a:pPr marL="0" indent="0" algn="ctr">
              <a:buNone/>
            </a:pPr>
            <a:r>
              <a:rPr lang="en-US" sz="1600" b="1" dirty="0">
                <a:solidFill>
                  <a:srgbClr val="FFFFFF"/>
                </a:solidFill>
              </a:rPr>
              <a:t>02</a:t>
            </a:r>
            <a:endParaRPr lang="en-US" sz="1600" dirty="0"/>
          </a:p>
        </p:txBody>
      </p:sp>
      <p:sp>
        <p:nvSpPr>
          <p:cNvPr id="12" name="Text 10"/>
          <p:cNvSpPr/>
          <p:nvPr/>
        </p:nvSpPr>
        <p:spPr>
          <a:xfrm>
            <a:off x="1005840" y="2313432"/>
            <a:ext cx="3310128" cy="411480"/>
          </a:xfrm>
          <a:prstGeom prst="rect">
            <a:avLst/>
          </a:prstGeom>
          <a:noFill/>
          <a:ln/>
        </p:spPr>
        <p:txBody>
          <a:bodyPr wrap="square" rtlCol="0" anchor="ctr"/>
          <a:lstStyle/>
          <a:p>
            <a:pPr marL="0" indent="0">
              <a:buNone/>
            </a:pPr>
            <a:r>
              <a:rPr lang="en-US" sz="1300" b="1" dirty="0">
                <a:solidFill>
                  <a:srgbClr val="1A2E4A"/>
                </a:solidFill>
                <a:latin typeface="Cambria" pitchFamily="34" charset="0"/>
                <a:ea typeface="Cambria" pitchFamily="34" charset="-122"/>
                <a:cs typeface="Cambria" pitchFamily="34" charset="-120"/>
              </a:rPr>
              <a:t>Collect Securely</a:t>
            </a:r>
            <a:endParaRPr lang="en-US" sz="1300" dirty="0"/>
          </a:p>
        </p:txBody>
      </p:sp>
      <p:sp>
        <p:nvSpPr>
          <p:cNvPr id="13" name="Text 11"/>
          <p:cNvSpPr/>
          <p:nvPr/>
        </p:nvSpPr>
        <p:spPr>
          <a:xfrm>
            <a:off x="411480" y="2788920"/>
            <a:ext cx="3886200" cy="621792"/>
          </a:xfrm>
          <a:prstGeom prst="rect">
            <a:avLst/>
          </a:prstGeom>
          <a:noFill/>
          <a:ln/>
        </p:spPr>
        <p:txBody>
          <a:bodyPr wrap="square" rtlCol="0" anchor="ctr"/>
          <a:lstStyle/>
          <a:p>
            <a:pPr marL="0" indent="0">
              <a:buNone/>
            </a:pPr>
            <a:r>
              <a:rPr lang="en-US" sz="1100" dirty="0">
                <a:solidFill>
                  <a:srgbClr val="1A2E4A"/>
                </a:solidFill>
                <a:latin typeface="Calibri" pitchFamily="34" charset="0"/>
                <a:ea typeface="Calibri" pitchFamily="34" charset="-122"/>
                <a:cs typeface="Calibri" pitchFamily="34" charset="-120"/>
              </a:rPr>
              <a:t>Use REDCap / KoboToolbox Encrypted · No WhatsApp/email for raw data · Assign pseudonyms at point of entry · Offline-first if network unreliable</a:t>
            </a:r>
            <a:endParaRPr lang="en-US" sz="1100" dirty="0"/>
          </a:p>
        </p:txBody>
      </p:sp>
      <p:sp>
        <p:nvSpPr>
          <p:cNvPr id="14" name="Shape 12"/>
          <p:cNvSpPr/>
          <p:nvPr/>
        </p:nvSpPr>
        <p:spPr>
          <a:xfrm>
            <a:off x="274320" y="3639312"/>
            <a:ext cx="4160520" cy="1261872"/>
          </a:xfrm>
          <a:prstGeom prst="roundRect">
            <a:avLst>
              <a:gd name="adj" fmla="val 7246"/>
            </a:avLst>
          </a:prstGeom>
          <a:solidFill>
            <a:srgbClr val="FFFFFF"/>
          </a:solidFill>
          <a:ln w="12700">
            <a:solidFill>
              <a:srgbClr val="D8E4F0"/>
            </a:solidFill>
            <a:prstDash val="solid"/>
          </a:ln>
          <a:effectLst>
            <a:outerShdw blurRad="101600" dist="38100" dir="2700000" algn="bl" rotWithShape="0">
              <a:srgbClr val="000000">
                <a:alpha val="12000"/>
              </a:srgbClr>
            </a:outerShdw>
          </a:effectLst>
        </p:spPr>
        <p:txBody>
          <a:bodyPr/>
          <a:lstStyle/>
          <a:p>
            <a:endParaRPr lang="en-GB"/>
          </a:p>
        </p:txBody>
      </p:sp>
      <p:sp>
        <p:nvSpPr>
          <p:cNvPr id="15" name="Shape 13"/>
          <p:cNvSpPr/>
          <p:nvPr/>
        </p:nvSpPr>
        <p:spPr>
          <a:xfrm>
            <a:off x="365760" y="3672276"/>
            <a:ext cx="566928" cy="566928"/>
          </a:xfrm>
          <a:prstGeom prst="ellipse">
            <a:avLst/>
          </a:prstGeom>
          <a:solidFill>
            <a:srgbClr val="0D7377"/>
          </a:solidFill>
          <a:ln w="12700">
            <a:solidFill>
              <a:srgbClr val="0D7377"/>
            </a:solidFill>
            <a:prstDash val="solid"/>
          </a:ln>
        </p:spPr>
        <p:txBody>
          <a:bodyPr/>
          <a:lstStyle/>
          <a:p>
            <a:endParaRPr lang="en-GB"/>
          </a:p>
        </p:txBody>
      </p:sp>
      <p:sp>
        <p:nvSpPr>
          <p:cNvPr id="16" name="Text 14"/>
          <p:cNvSpPr/>
          <p:nvPr/>
        </p:nvSpPr>
        <p:spPr>
          <a:xfrm>
            <a:off x="365760" y="3730752"/>
            <a:ext cx="566928" cy="566928"/>
          </a:xfrm>
          <a:prstGeom prst="rect">
            <a:avLst/>
          </a:prstGeom>
          <a:noFill/>
          <a:ln/>
        </p:spPr>
        <p:txBody>
          <a:bodyPr wrap="square" rtlCol="0" anchor="ctr"/>
          <a:lstStyle/>
          <a:p>
            <a:pPr marL="0" indent="0" algn="ctr">
              <a:buNone/>
            </a:pPr>
            <a:r>
              <a:rPr lang="en-US" sz="1600" b="1" dirty="0">
                <a:solidFill>
                  <a:srgbClr val="FFFFFF"/>
                </a:solidFill>
              </a:rPr>
              <a:t>03</a:t>
            </a:r>
            <a:endParaRPr lang="en-US" sz="1600" dirty="0"/>
          </a:p>
        </p:txBody>
      </p:sp>
      <p:sp>
        <p:nvSpPr>
          <p:cNvPr id="17" name="Text 15"/>
          <p:cNvSpPr/>
          <p:nvPr/>
        </p:nvSpPr>
        <p:spPr>
          <a:xfrm>
            <a:off x="1005840" y="3730752"/>
            <a:ext cx="3310128" cy="411480"/>
          </a:xfrm>
          <a:prstGeom prst="rect">
            <a:avLst/>
          </a:prstGeom>
          <a:noFill/>
          <a:ln/>
        </p:spPr>
        <p:txBody>
          <a:bodyPr wrap="square" rtlCol="0" anchor="ctr"/>
          <a:lstStyle/>
          <a:p>
            <a:pPr marL="0" indent="0">
              <a:buNone/>
            </a:pPr>
            <a:r>
              <a:rPr lang="en-US" sz="1300" b="1" dirty="0">
                <a:solidFill>
                  <a:srgbClr val="1A2E4A"/>
                </a:solidFill>
                <a:latin typeface="Cambria" pitchFamily="34" charset="0"/>
                <a:ea typeface="Cambria" pitchFamily="34" charset="-122"/>
                <a:cs typeface="Cambria" pitchFamily="34" charset="-120"/>
              </a:rPr>
              <a:t>Store &amp; Access Control</a:t>
            </a:r>
            <a:endParaRPr lang="en-US" sz="1300" dirty="0"/>
          </a:p>
        </p:txBody>
      </p:sp>
      <p:sp>
        <p:nvSpPr>
          <p:cNvPr id="18" name="Text 16"/>
          <p:cNvSpPr/>
          <p:nvPr/>
        </p:nvSpPr>
        <p:spPr>
          <a:xfrm>
            <a:off x="411480" y="4206240"/>
            <a:ext cx="3886200" cy="621792"/>
          </a:xfrm>
          <a:prstGeom prst="rect">
            <a:avLst/>
          </a:prstGeom>
          <a:noFill/>
          <a:ln/>
        </p:spPr>
        <p:txBody>
          <a:bodyPr wrap="square" rtlCol="0" anchor="ctr"/>
          <a:lstStyle/>
          <a:p>
            <a:pPr marL="0" indent="0">
              <a:buNone/>
            </a:pPr>
            <a:r>
              <a:rPr lang="en-US" sz="1100" dirty="0">
                <a:solidFill>
                  <a:srgbClr val="1A2E4A"/>
                </a:solidFill>
                <a:latin typeface="Calibri" pitchFamily="34" charset="0"/>
                <a:ea typeface="Calibri" pitchFamily="34" charset="-122"/>
                <a:cs typeface="Calibri" pitchFamily="34" charset="-120"/>
              </a:rPr>
              <a:t>Encrypted storage: AES-256 (VeraCrypt / institutional OneDrive) · Role-based access (RBAC) · No data on personal laptops without encryption</a:t>
            </a:r>
            <a:endParaRPr lang="en-US" sz="1100" dirty="0"/>
          </a:p>
        </p:txBody>
      </p:sp>
      <p:sp>
        <p:nvSpPr>
          <p:cNvPr id="19" name="Shape 17"/>
          <p:cNvSpPr/>
          <p:nvPr/>
        </p:nvSpPr>
        <p:spPr>
          <a:xfrm>
            <a:off x="4709160" y="804672"/>
            <a:ext cx="4160520" cy="1261872"/>
          </a:xfrm>
          <a:prstGeom prst="roundRect">
            <a:avLst>
              <a:gd name="adj" fmla="val 7246"/>
            </a:avLst>
          </a:prstGeom>
          <a:solidFill>
            <a:srgbClr val="FFFFFF"/>
          </a:solidFill>
          <a:ln w="12700">
            <a:solidFill>
              <a:srgbClr val="D8E4F0"/>
            </a:solidFill>
            <a:prstDash val="solid"/>
          </a:ln>
          <a:effectLst>
            <a:outerShdw blurRad="101600" dist="38100" dir="2700000" algn="bl" rotWithShape="0">
              <a:srgbClr val="000000">
                <a:alpha val="12000"/>
              </a:srgbClr>
            </a:outerShdw>
          </a:effectLst>
        </p:spPr>
        <p:txBody>
          <a:bodyPr/>
          <a:lstStyle/>
          <a:p>
            <a:endParaRPr lang="en-GB"/>
          </a:p>
        </p:txBody>
      </p:sp>
      <p:sp>
        <p:nvSpPr>
          <p:cNvPr id="20" name="Shape 18"/>
          <p:cNvSpPr/>
          <p:nvPr/>
        </p:nvSpPr>
        <p:spPr>
          <a:xfrm>
            <a:off x="4800600" y="842952"/>
            <a:ext cx="566928" cy="566928"/>
          </a:xfrm>
          <a:prstGeom prst="ellipse">
            <a:avLst/>
          </a:prstGeom>
          <a:solidFill>
            <a:srgbClr val="0D7377"/>
          </a:solidFill>
          <a:ln w="12700">
            <a:solidFill>
              <a:srgbClr val="0D7377"/>
            </a:solidFill>
            <a:prstDash val="solid"/>
          </a:ln>
        </p:spPr>
        <p:txBody>
          <a:bodyPr/>
          <a:lstStyle/>
          <a:p>
            <a:endParaRPr lang="en-GB"/>
          </a:p>
        </p:txBody>
      </p:sp>
      <p:sp>
        <p:nvSpPr>
          <p:cNvPr id="21" name="Text 19"/>
          <p:cNvSpPr/>
          <p:nvPr/>
        </p:nvSpPr>
        <p:spPr>
          <a:xfrm>
            <a:off x="4800600" y="896112"/>
            <a:ext cx="566928" cy="566928"/>
          </a:xfrm>
          <a:prstGeom prst="rect">
            <a:avLst/>
          </a:prstGeom>
          <a:noFill/>
          <a:ln/>
        </p:spPr>
        <p:txBody>
          <a:bodyPr wrap="square" rtlCol="0" anchor="ctr"/>
          <a:lstStyle/>
          <a:p>
            <a:pPr marL="0" indent="0" algn="ctr">
              <a:buNone/>
            </a:pPr>
            <a:r>
              <a:rPr lang="en-US" sz="1600" b="1" dirty="0">
                <a:solidFill>
                  <a:srgbClr val="FFFFFF"/>
                </a:solidFill>
              </a:rPr>
              <a:t>04</a:t>
            </a:r>
            <a:endParaRPr lang="en-US" sz="1600" dirty="0"/>
          </a:p>
        </p:txBody>
      </p:sp>
      <p:sp>
        <p:nvSpPr>
          <p:cNvPr id="22" name="Text 20"/>
          <p:cNvSpPr/>
          <p:nvPr/>
        </p:nvSpPr>
        <p:spPr>
          <a:xfrm>
            <a:off x="5440680" y="896112"/>
            <a:ext cx="3310128" cy="411480"/>
          </a:xfrm>
          <a:prstGeom prst="rect">
            <a:avLst/>
          </a:prstGeom>
          <a:noFill/>
          <a:ln/>
        </p:spPr>
        <p:txBody>
          <a:bodyPr wrap="square" rtlCol="0" anchor="ctr"/>
          <a:lstStyle/>
          <a:p>
            <a:pPr marL="0" indent="0">
              <a:buNone/>
            </a:pPr>
            <a:r>
              <a:rPr lang="en-US" sz="1300" b="1" dirty="0">
                <a:solidFill>
                  <a:srgbClr val="1A2E4A"/>
                </a:solidFill>
                <a:latin typeface="Cambria" pitchFamily="34" charset="0"/>
                <a:ea typeface="Cambria" pitchFamily="34" charset="-122"/>
                <a:cs typeface="Cambria" pitchFamily="34" charset="-120"/>
              </a:rPr>
              <a:t>Process &amp; Analyse</a:t>
            </a:r>
            <a:endParaRPr lang="en-US" sz="1300" dirty="0"/>
          </a:p>
        </p:txBody>
      </p:sp>
      <p:sp>
        <p:nvSpPr>
          <p:cNvPr id="23" name="Text 21"/>
          <p:cNvSpPr/>
          <p:nvPr/>
        </p:nvSpPr>
        <p:spPr>
          <a:xfrm>
            <a:off x="4846320" y="1371600"/>
            <a:ext cx="3886200" cy="621792"/>
          </a:xfrm>
          <a:prstGeom prst="rect">
            <a:avLst/>
          </a:prstGeom>
          <a:noFill/>
          <a:ln/>
        </p:spPr>
        <p:txBody>
          <a:bodyPr wrap="square" rtlCol="0" anchor="ctr"/>
          <a:lstStyle/>
          <a:p>
            <a:pPr marL="0" indent="0">
              <a:buNone/>
            </a:pPr>
            <a:r>
              <a:rPr lang="en-US" sz="1100" dirty="0">
                <a:solidFill>
                  <a:srgbClr val="1A2E4A"/>
                </a:solidFill>
                <a:latin typeface="Calibri" pitchFamily="34" charset="0"/>
                <a:ea typeface="Calibri" pitchFamily="34" charset="-122"/>
                <a:cs typeface="Calibri" pitchFamily="34" charset="-120"/>
              </a:rPr>
              <a:t>Work on anonymised/pseudonymised copies only · Log all sessions · De-identify before sharing with collaborators · Apply k-anonymity (k≥5)</a:t>
            </a:r>
            <a:endParaRPr lang="en-US" sz="1100" dirty="0"/>
          </a:p>
        </p:txBody>
      </p:sp>
      <p:sp>
        <p:nvSpPr>
          <p:cNvPr id="24" name="Shape 22"/>
          <p:cNvSpPr/>
          <p:nvPr/>
        </p:nvSpPr>
        <p:spPr>
          <a:xfrm>
            <a:off x="4709160" y="2221992"/>
            <a:ext cx="4160520" cy="1261872"/>
          </a:xfrm>
          <a:prstGeom prst="roundRect">
            <a:avLst>
              <a:gd name="adj" fmla="val 7246"/>
            </a:avLst>
          </a:prstGeom>
          <a:solidFill>
            <a:srgbClr val="FFFFFF"/>
          </a:solidFill>
          <a:ln w="12700">
            <a:solidFill>
              <a:srgbClr val="D8E4F0"/>
            </a:solidFill>
            <a:prstDash val="solid"/>
          </a:ln>
          <a:effectLst>
            <a:outerShdw blurRad="101600" dist="38100" dir="2700000" algn="bl" rotWithShape="0">
              <a:srgbClr val="000000">
                <a:alpha val="12000"/>
              </a:srgbClr>
            </a:outerShdw>
          </a:effectLst>
        </p:spPr>
        <p:txBody>
          <a:bodyPr/>
          <a:lstStyle/>
          <a:p>
            <a:endParaRPr lang="en-GB"/>
          </a:p>
        </p:txBody>
      </p:sp>
      <p:sp>
        <p:nvSpPr>
          <p:cNvPr id="25" name="Shape 23"/>
          <p:cNvSpPr/>
          <p:nvPr/>
        </p:nvSpPr>
        <p:spPr>
          <a:xfrm>
            <a:off x="4800600" y="2249640"/>
            <a:ext cx="566928" cy="566928"/>
          </a:xfrm>
          <a:prstGeom prst="ellipse">
            <a:avLst/>
          </a:prstGeom>
          <a:solidFill>
            <a:srgbClr val="0D7377"/>
          </a:solidFill>
          <a:ln w="12700">
            <a:solidFill>
              <a:srgbClr val="0D7377"/>
            </a:solidFill>
            <a:prstDash val="solid"/>
          </a:ln>
        </p:spPr>
        <p:txBody>
          <a:bodyPr/>
          <a:lstStyle/>
          <a:p>
            <a:endParaRPr lang="en-GB"/>
          </a:p>
        </p:txBody>
      </p:sp>
      <p:sp>
        <p:nvSpPr>
          <p:cNvPr id="26" name="Text 24"/>
          <p:cNvSpPr/>
          <p:nvPr/>
        </p:nvSpPr>
        <p:spPr>
          <a:xfrm>
            <a:off x="4800600" y="2313432"/>
            <a:ext cx="566928" cy="566928"/>
          </a:xfrm>
          <a:prstGeom prst="rect">
            <a:avLst/>
          </a:prstGeom>
          <a:noFill/>
          <a:ln/>
        </p:spPr>
        <p:txBody>
          <a:bodyPr wrap="square" rtlCol="0" anchor="ctr"/>
          <a:lstStyle/>
          <a:p>
            <a:pPr marL="0" indent="0" algn="ctr">
              <a:buNone/>
            </a:pPr>
            <a:r>
              <a:rPr lang="en-US" sz="1600" b="1" dirty="0">
                <a:solidFill>
                  <a:srgbClr val="FFFFFF"/>
                </a:solidFill>
              </a:rPr>
              <a:t>05</a:t>
            </a:r>
            <a:endParaRPr lang="en-US" sz="1600" dirty="0"/>
          </a:p>
        </p:txBody>
      </p:sp>
      <p:sp>
        <p:nvSpPr>
          <p:cNvPr id="27" name="Text 25"/>
          <p:cNvSpPr/>
          <p:nvPr/>
        </p:nvSpPr>
        <p:spPr>
          <a:xfrm>
            <a:off x="5440680" y="2313432"/>
            <a:ext cx="3310128" cy="411480"/>
          </a:xfrm>
          <a:prstGeom prst="rect">
            <a:avLst/>
          </a:prstGeom>
          <a:noFill/>
          <a:ln/>
        </p:spPr>
        <p:txBody>
          <a:bodyPr wrap="square" rtlCol="0" anchor="ctr"/>
          <a:lstStyle/>
          <a:p>
            <a:pPr marL="0" indent="0">
              <a:buNone/>
            </a:pPr>
            <a:r>
              <a:rPr lang="en-US" sz="1300" b="1" dirty="0">
                <a:solidFill>
                  <a:srgbClr val="1A2E4A"/>
                </a:solidFill>
                <a:latin typeface="Cambria" pitchFamily="34" charset="0"/>
                <a:ea typeface="Cambria" pitchFamily="34" charset="-122"/>
                <a:cs typeface="Cambria" pitchFamily="34" charset="-120"/>
              </a:rPr>
              <a:t>Share &amp; Publish</a:t>
            </a:r>
            <a:endParaRPr lang="en-US" sz="1300" dirty="0"/>
          </a:p>
        </p:txBody>
      </p:sp>
      <p:sp>
        <p:nvSpPr>
          <p:cNvPr id="28" name="Text 26"/>
          <p:cNvSpPr/>
          <p:nvPr/>
        </p:nvSpPr>
        <p:spPr>
          <a:xfrm>
            <a:off x="4846320" y="2788920"/>
            <a:ext cx="3886200" cy="621792"/>
          </a:xfrm>
          <a:prstGeom prst="rect">
            <a:avLst/>
          </a:prstGeom>
          <a:noFill/>
          <a:ln/>
        </p:spPr>
        <p:txBody>
          <a:bodyPr wrap="square" rtlCol="0" anchor="ctr"/>
          <a:lstStyle/>
          <a:p>
            <a:pPr marL="0" indent="0">
              <a:buNone/>
            </a:pPr>
            <a:r>
              <a:rPr lang="en-US" sz="1100" dirty="0">
                <a:solidFill>
                  <a:srgbClr val="1A2E4A"/>
                </a:solidFill>
                <a:latin typeface="Calibri" pitchFamily="34" charset="0"/>
                <a:ea typeface="Calibri" pitchFamily="34" charset="-122"/>
                <a:cs typeface="Calibri" pitchFamily="34" charset="-120"/>
              </a:rPr>
              <a:t>FAIR data deposit: Zenodo / Figshare with access controls · Data Availability Statement in paper · Attach Datasheet · Remove PII before archiving</a:t>
            </a:r>
            <a:endParaRPr lang="en-US" sz="1100" dirty="0"/>
          </a:p>
        </p:txBody>
      </p:sp>
      <p:sp>
        <p:nvSpPr>
          <p:cNvPr id="29" name="Shape 27"/>
          <p:cNvSpPr/>
          <p:nvPr/>
        </p:nvSpPr>
        <p:spPr>
          <a:xfrm>
            <a:off x="4709160" y="3639312"/>
            <a:ext cx="4160520" cy="1261872"/>
          </a:xfrm>
          <a:prstGeom prst="roundRect">
            <a:avLst>
              <a:gd name="adj" fmla="val 7246"/>
            </a:avLst>
          </a:prstGeom>
          <a:solidFill>
            <a:srgbClr val="FFFFFF"/>
          </a:solidFill>
          <a:ln w="12700">
            <a:solidFill>
              <a:srgbClr val="D8E4F0"/>
            </a:solidFill>
            <a:prstDash val="solid"/>
          </a:ln>
          <a:effectLst>
            <a:outerShdw blurRad="101600" dist="38100" dir="2700000" algn="bl" rotWithShape="0">
              <a:srgbClr val="000000">
                <a:alpha val="12000"/>
              </a:srgbClr>
            </a:outerShdw>
          </a:effectLst>
        </p:spPr>
        <p:txBody>
          <a:bodyPr/>
          <a:lstStyle/>
          <a:p>
            <a:endParaRPr lang="en-GB"/>
          </a:p>
        </p:txBody>
      </p:sp>
      <p:sp>
        <p:nvSpPr>
          <p:cNvPr id="30" name="Shape 28"/>
          <p:cNvSpPr/>
          <p:nvPr/>
        </p:nvSpPr>
        <p:spPr>
          <a:xfrm>
            <a:off x="4800600" y="3672276"/>
            <a:ext cx="566928" cy="566928"/>
          </a:xfrm>
          <a:prstGeom prst="ellipse">
            <a:avLst/>
          </a:prstGeom>
          <a:solidFill>
            <a:srgbClr val="0D7377"/>
          </a:solidFill>
          <a:ln w="12700">
            <a:solidFill>
              <a:srgbClr val="0D7377"/>
            </a:solidFill>
            <a:prstDash val="solid"/>
          </a:ln>
        </p:spPr>
        <p:txBody>
          <a:bodyPr/>
          <a:lstStyle/>
          <a:p>
            <a:endParaRPr lang="en-GB"/>
          </a:p>
        </p:txBody>
      </p:sp>
      <p:sp>
        <p:nvSpPr>
          <p:cNvPr id="31" name="Text 29"/>
          <p:cNvSpPr/>
          <p:nvPr/>
        </p:nvSpPr>
        <p:spPr>
          <a:xfrm>
            <a:off x="4800600" y="3730752"/>
            <a:ext cx="566928" cy="566928"/>
          </a:xfrm>
          <a:prstGeom prst="rect">
            <a:avLst/>
          </a:prstGeom>
          <a:noFill/>
          <a:ln/>
        </p:spPr>
        <p:txBody>
          <a:bodyPr wrap="square" rtlCol="0" anchor="ctr"/>
          <a:lstStyle/>
          <a:p>
            <a:pPr marL="0" indent="0" algn="ctr">
              <a:buNone/>
            </a:pPr>
            <a:r>
              <a:rPr lang="en-US" sz="1600" b="1" dirty="0">
                <a:solidFill>
                  <a:srgbClr val="FFFFFF"/>
                </a:solidFill>
              </a:rPr>
              <a:t>06</a:t>
            </a:r>
            <a:endParaRPr lang="en-US" sz="1600" dirty="0"/>
          </a:p>
        </p:txBody>
      </p:sp>
      <p:sp>
        <p:nvSpPr>
          <p:cNvPr id="32" name="Text 30"/>
          <p:cNvSpPr/>
          <p:nvPr/>
        </p:nvSpPr>
        <p:spPr>
          <a:xfrm>
            <a:off x="5440680" y="3730752"/>
            <a:ext cx="3310128" cy="411480"/>
          </a:xfrm>
          <a:prstGeom prst="rect">
            <a:avLst/>
          </a:prstGeom>
          <a:noFill/>
          <a:ln/>
        </p:spPr>
        <p:txBody>
          <a:bodyPr wrap="square" rtlCol="0" anchor="ctr"/>
          <a:lstStyle/>
          <a:p>
            <a:pPr marL="0" indent="0">
              <a:buNone/>
            </a:pPr>
            <a:r>
              <a:rPr lang="en-US" sz="1300" b="1" dirty="0">
                <a:solidFill>
                  <a:srgbClr val="1A2E4A"/>
                </a:solidFill>
                <a:latin typeface="Cambria" pitchFamily="34" charset="0"/>
                <a:ea typeface="Cambria" pitchFamily="34" charset="-122"/>
                <a:cs typeface="Cambria" pitchFamily="34" charset="-120"/>
              </a:rPr>
              <a:t>Retain &amp; Dispose</a:t>
            </a:r>
            <a:endParaRPr lang="en-US" sz="1300" dirty="0"/>
          </a:p>
        </p:txBody>
      </p:sp>
      <p:sp>
        <p:nvSpPr>
          <p:cNvPr id="33" name="Text 31"/>
          <p:cNvSpPr/>
          <p:nvPr/>
        </p:nvSpPr>
        <p:spPr>
          <a:xfrm>
            <a:off x="4846320" y="4206240"/>
            <a:ext cx="3886200" cy="621792"/>
          </a:xfrm>
          <a:prstGeom prst="rect">
            <a:avLst/>
          </a:prstGeom>
          <a:noFill/>
          <a:ln/>
        </p:spPr>
        <p:txBody>
          <a:bodyPr wrap="square" rtlCol="0" anchor="ctr"/>
          <a:lstStyle/>
          <a:p>
            <a:pPr marL="0" indent="0">
              <a:buNone/>
            </a:pPr>
            <a:r>
              <a:rPr lang="en-US" sz="1100" dirty="0">
                <a:solidFill>
                  <a:srgbClr val="1A2E4A"/>
                </a:solidFill>
                <a:latin typeface="Calibri" pitchFamily="34" charset="0"/>
                <a:ea typeface="Calibri" pitchFamily="34" charset="-122"/>
                <a:cs typeface="Calibri" pitchFamily="34" charset="-120"/>
              </a:rPr>
              <a:t>Retention: 5–10 years per NDPA / funder policy · Secure deletion: NIST 800-88 standard · Document destruction in DMP · Notify participants if applicable</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7377"/>
          </a:solidFill>
          <a:ln w="12700">
            <a:solidFill>
              <a:srgbClr val="0D7377"/>
            </a:solidFill>
            <a:prstDash val="solid"/>
          </a:ln>
        </p:spPr>
        <p:txBody>
          <a:bodyPr/>
          <a:lstStyle/>
          <a:p>
            <a:endParaRPr lang="en-GB"/>
          </a:p>
        </p:txBody>
      </p:sp>
      <p:sp>
        <p:nvSpPr>
          <p:cNvPr id="3" name="Text 1"/>
          <p:cNvSpPr/>
          <p:nvPr/>
        </p:nvSpPr>
        <p:spPr>
          <a:xfrm>
            <a:off x="365760" y="0"/>
            <a:ext cx="8412480" cy="685800"/>
          </a:xfrm>
          <a:prstGeom prst="rect">
            <a:avLst/>
          </a:prstGeom>
          <a:noFill/>
          <a:ln/>
        </p:spPr>
        <p:txBody>
          <a:bodyPr wrap="square"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Practical Tools Summary: Free, Accessible, NDPA-Compatible</a:t>
            </a:r>
            <a:endParaRPr lang="en-US" sz="2200" dirty="0"/>
          </a:p>
        </p:txBody>
      </p:sp>
      <p:sp>
        <p:nvSpPr>
          <p:cNvPr id="4" name="Shape 2"/>
          <p:cNvSpPr/>
          <p:nvPr/>
        </p:nvSpPr>
        <p:spPr>
          <a:xfrm>
            <a:off x="274320" y="804672"/>
            <a:ext cx="4160520" cy="1965960"/>
          </a:xfrm>
          <a:prstGeom prst="roundRect">
            <a:avLst>
              <a:gd name="adj" fmla="val 4651"/>
            </a:avLst>
          </a:prstGeom>
          <a:solidFill>
            <a:srgbClr val="FFFFFF"/>
          </a:solidFill>
          <a:ln w="12700">
            <a:solidFill>
              <a:srgbClr val="DDE6F0"/>
            </a:solidFill>
            <a:prstDash val="solid"/>
          </a:ln>
          <a:effectLst>
            <a:outerShdw blurRad="101600" dist="38100" dir="2700000" algn="bl" rotWithShape="0">
              <a:srgbClr val="000000">
                <a:alpha val="12000"/>
              </a:srgbClr>
            </a:outerShdw>
          </a:effectLst>
        </p:spPr>
        <p:txBody>
          <a:bodyPr/>
          <a:lstStyle/>
          <a:p>
            <a:endParaRPr lang="en-GB"/>
          </a:p>
        </p:txBody>
      </p:sp>
      <p:sp>
        <p:nvSpPr>
          <p:cNvPr id="5" name="Shape 3"/>
          <p:cNvSpPr/>
          <p:nvPr/>
        </p:nvSpPr>
        <p:spPr>
          <a:xfrm>
            <a:off x="365760" y="896112"/>
            <a:ext cx="3931920" cy="329184"/>
          </a:xfrm>
          <a:prstGeom prst="roundRect">
            <a:avLst>
              <a:gd name="adj" fmla="val 13889"/>
            </a:avLst>
          </a:prstGeom>
          <a:solidFill>
            <a:srgbClr val="0D7377"/>
          </a:solidFill>
          <a:ln w="12700">
            <a:solidFill>
              <a:srgbClr val="0D7377"/>
            </a:solidFill>
            <a:prstDash val="solid"/>
          </a:ln>
        </p:spPr>
        <p:txBody>
          <a:bodyPr/>
          <a:lstStyle/>
          <a:p>
            <a:endParaRPr lang="en-GB"/>
          </a:p>
        </p:txBody>
      </p:sp>
      <p:sp>
        <p:nvSpPr>
          <p:cNvPr id="6" name="Text 4"/>
          <p:cNvSpPr/>
          <p:nvPr/>
        </p:nvSpPr>
        <p:spPr>
          <a:xfrm>
            <a:off x="365760" y="896112"/>
            <a:ext cx="3931920" cy="329184"/>
          </a:xfrm>
          <a:prstGeom prst="rect">
            <a:avLst/>
          </a:prstGeom>
          <a:noFill/>
          <a:ln/>
        </p:spPr>
        <p:txBody>
          <a:bodyPr wrap="square" rtlCol="0" anchor="ctr"/>
          <a:lstStyle/>
          <a:p>
            <a:pPr marL="0" indent="0" algn="ctr">
              <a:buNone/>
            </a:pPr>
            <a:r>
              <a:rPr lang="en-US" sz="1200" b="1" dirty="0">
                <a:solidFill>
                  <a:srgbClr val="FFFFFF"/>
                </a:solidFill>
              </a:rPr>
              <a:t>Data Collection</a:t>
            </a:r>
            <a:endParaRPr lang="en-US" sz="1200" dirty="0"/>
          </a:p>
        </p:txBody>
      </p:sp>
      <p:sp>
        <p:nvSpPr>
          <p:cNvPr id="7" name="Text 5"/>
          <p:cNvSpPr/>
          <p:nvPr/>
        </p:nvSpPr>
        <p:spPr>
          <a:xfrm>
            <a:off x="438912" y="1307592"/>
            <a:ext cx="3840480" cy="402336"/>
          </a:xfrm>
          <a:prstGeom prst="rect">
            <a:avLst/>
          </a:prstGeom>
          <a:noFill/>
          <a:ln/>
        </p:spPr>
        <p:txBody>
          <a:bodyPr wrap="square" rtlCol="0" anchor="ctr"/>
          <a:lstStyle/>
          <a:p>
            <a:pPr marL="0" indent="0">
              <a:buNone/>
            </a:pPr>
            <a:r>
              <a:rPr lang="en-US" sz="1100" b="1" dirty="0">
                <a:solidFill>
                  <a:srgbClr val="0D7377"/>
                </a:solidFill>
                <a:latin typeface="Calibri" pitchFamily="34" charset="0"/>
                <a:ea typeface="Calibri" pitchFamily="34" charset="-122"/>
                <a:cs typeface="Calibri" pitchFamily="34" charset="-120"/>
              </a:rPr>
              <a:t>REDCap — </a:t>
            </a:r>
            <a:r>
              <a:rPr lang="en-US" sz="1100" dirty="0">
                <a:solidFill>
                  <a:srgbClr val="1A2E4A"/>
                </a:solidFill>
                <a:latin typeface="Calibri" pitchFamily="34" charset="0"/>
                <a:ea typeface="Calibri" pitchFamily="34" charset="-122"/>
                <a:cs typeface="Calibri" pitchFamily="34" charset="-120"/>
              </a:rPr>
              <a:t>Clinical/longitudinal surveys. AES-256 encrypted. Audit logs. Host on your institution's server.</a:t>
            </a:r>
            <a:endParaRPr lang="en-US" sz="1100" dirty="0"/>
          </a:p>
        </p:txBody>
      </p:sp>
      <p:sp>
        <p:nvSpPr>
          <p:cNvPr id="8" name="Text 6"/>
          <p:cNvSpPr/>
          <p:nvPr/>
        </p:nvSpPr>
        <p:spPr>
          <a:xfrm>
            <a:off x="438912" y="1764792"/>
            <a:ext cx="3840480" cy="402336"/>
          </a:xfrm>
          <a:prstGeom prst="rect">
            <a:avLst/>
          </a:prstGeom>
          <a:noFill/>
          <a:ln/>
        </p:spPr>
        <p:txBody>
          <a:bodyPr wrap="square" rtlCol="0" anchor="ctr"/>
          <a:lstStyle/>
          <a:p>
            <a:pPr marL="0" indent="0">
              <a:buNone/>
            </a:pPr>
            <a:r>
              <a:rPr lang="en-US" sz="1100" b="1" dirty="0">
                <a:solidFill>
                  <a:srgbClr val="0D7377"/>
                </a:solidFill>
                <a:latin typeface="Calibri" pitchFamily="34" charset="0"/>
                <a:ea typeface="Calibri" pitchFamily="34" charset="-122"/>
                <a:cs typeface="Calibri" pitchFamily="34" charset="-120"/>
              </a:rPr>
              <a:t>KoboToolbox (Encrypted) — </a:t>
            </a:r>
            <a:r>
              <a:rPr lang="en-US" sz="1100" dirty="0">
                <a:solidFill>
                  <a:srgbClr val="1A2E4A"/>
                </a:solidFill>
                <a:latin typeface="Calibri" pitchFamily="34" charset="0"/>
                <a:ea typeface="Calibri" pitchFamily="34" charset="-122"/>
                <a:cs typeface="Calibri" pitchFamily="34" charset="-120"/>
              </a:rPr>
              <a:t>Field surveys. Works offline. GDPR-compliant humanitarian server option. ODK-compatible.</a:t>
            </a:r>
            <a:endParaRPr lang="en-US" sz="1100" dirty="0"/>
          </a:p>
        </p:txBody>
      </p:sp>
      <p:sp>
        <p:nvSpPr>
          <p:cNvPr id="9" name="Text 7"/>
          <p:cNvSpPr/>
          <p:nvPr/>
        </p:nvSpPr>
        <p:spPr>
          <a:xfrm>
            <a:off x="438912" y="2221992"/>
            <a:ext cx="3840480" cy="402336"/>
          </a:xfrm>
          <a:prstGeom prst="rect">
            <a:avLst/>
          </a:prstGeom>
          <a:noFill/>
          <a:ln/>
        </p:spPr>
        <p:txBody>
          <a:bodyPr wrap="square" rtlCol="0" anchor="ctr"/>
          <a:lstStyle/>
          <a:p>
            <a:pPr marL="0" indent="0">
              <a:buNone/>
            </a:pPr>
            <a:r>
              <a:rPr lang="en-US" sz="1100" b="1" dirty="0">
                <a:solidFill>
                  <a:srgbClr val="0D7377"/>
                </a:solidFill>
                <a:latin typeface="Calibri" pitchFamily="34" charset="0"/>
                <a:ea typeface="Calibri" pitchFamily="34" charset="-122"/>
                <a:cs typeface="Calibri" pitchFamily="34" charset="-120"/>
              </a:rPr>
              <a:t>LimeSurvey (self-hosted) — </a:t>
            </a:r>
            <a:r>
              <a:rPr lang="en-US" sz="1100" dirty="0">
                <a:solidFill>
                  <a:srgbClr val="1A2E4A"/>
                </a:solidFill>
                <a:latin typeface="Calibri" pitchFamily="34" charset="0"/>
                <a:ea typeface="Calibri" pitchFamily="34" charset="-122"/>
                <a:cs typeface="Calibri" pitchFamily="34" charset="-120"/>
              </a:rPr>
              <a:t>Full institutional control. GDPR tools. Requires IT support to self-host.</a:t>
            </a:r>
            <a:endParaRPr lang="en-US" sz="1100" dirty="0"/>
          </a:p>
        </p:txBody>
      </p:sp>
      <p:sp>
        <p:nvSpPr>
          <p:cNvPr id="10" name="Shape 8"/>
          <p:cNvSpPr/>
          <p:nvPr/>
        </p:nvSpPr>
        <p:spPr>
          <a:xfrm>
            <a:off x="4709160" y="804672"/>
            <a:ext cx="4160520" cy="1965960"/>
          </a:xfrm>
          <a:prstGeom prst="roundRect">
            <a:avLst>
              <a:gd name="adj" fmla="val 4651"/>
            </a:avLst>
          </a:prstGeom>
          <a:solidFill>
            <a:srgbClr val="FFFFFF"/>
          </a:solidFill>
          <a:ln w="12700">
            <a:solidFill>
              <a:srgbClr val="DDE6F0"/>
            </a:solidFill>
            <a:prstDash val="solid"/>
          </a:ln>
          <a:effectLst>
            <a:outerShdw blurRad="101600" dist="38100" dir="2700000" algn="bl" rotWithShape="0">
              <a:srgbClr val="000000">
                <a:alpha val="12000"/>
              </a:srgbClr>
            </a:outerShdw>
          </a:effectLst>
        </p:spPr>
        <p:txBody>
          <a:bodyPr/>
          <a:lstStyle/>
          <a:p>
            <a:endParaRPr lang="en-GB"/>
          </a:p>
        </p:txBody>
      </p:sp>
      <p:sp>
        <p:nvSpPr>
          <p:cNvPr id="11" name="Shape 9"/>
          <p:cNvSpPr/>
          <p:nvPr/>
        </p:nvSpPr>
        <p:spPr>
          <a:xfrm>
            <a:off x="4800600" y="896112"/>
            <a:ext cx="3931920" cy="329184"/>
          </a:xfrm>
          <a:prstGeom prst="roundRect">
            <a:avLst>
              <a:gd name="adj" fmla="val 13889"/>
            </a:avLst>
          </a:prstGeom>
          <a:solidFill>
            <a:srgbClr val="1A2E4A"/>
          </a:solidFill>
          <a:ln w="12700">
            <a:solidFill>
              <a:srgbClr val="1A2E4A"/>
            </a:solidFill>
            <a:prstDash val="solid"/>
          </a:ln>
        </p:spPr>
        <p:txBody>
          <a:bodyPr/>
          <a:lstStyle/>
          <a:p>
            <a:endParaRPr lang="en-GB"/>
          </a:p>
        </p:txBody>
      </p:sp>
      <p:sp>
        <p:nvSpPr>
          <p:cNvPr id="12" name="Text 10"/>
          <p:cNvSpPr/>
          <p:nvPr/>
        </p:nvSpPr>
        <p:spPr>
          <a:xfrm>
            <a:off x="4800600" y="896112"/>
            <a:ext cx="3931920" cy="329184"/>
          </a:xfrm>
          <a:prstGeom prst="rect">
            <a:avLst/>
          </a:prstGeom>
          <a:noFill/>
          <a:ln/>
        </p:spPr>
        <p:txBody>
          <a:bodyPr wrap="square" rtlCol="0" anchor="ctr"/>
          <a:lstStyle/>
          <a:p>
            <a:pPr marL="0" indent="0" algn="ctr">
              <a:buNone/>
            </a:pPr>
            <a:r>
              <a:rPr lang="en-US" sz="1200" b="1" dirty="0">
                <a:solidFill>
                  <a:srgbClr val="FFFFFF"/>
                </a:solidFill>
              </a:rPr>
              <a:t>Encryption &amp; Storage</a:t>
            </a:r>
            <a:endParaRPr lang="en-US" sz="1200" dirty="0"/>
          </a:p>
        </p:txBody>
      </p:sp>
      <p:sp>
        <p:nvSpPr>
          <p:cNvPr id="13" name="Text 11"/>
          <p:cNvSpPr/>
          <p:nvPr/>
        </p:nvSpPr>
        <p:spPr>
          <a:xfrm>
            <a:off x="4873752" y="1307592"/>
            <a:ext cx="3840480" cy="402336"/>
          </a:xfrm>
          <a:prstGeom prst="rect">
            <a:avLst/>
          </a:prstGeom>
          <a:noFill/>
          <a:ln/>
        </p:spPr>
        <p:txBody>
          <a:bodyPr wrap="square" rtlCol="0" anchor="ctr"/>
          <a:lstStyle/>
          <a:p>
            <a:pPr marL="0" indent="0">
              <a:buNone/>
            </a:pPr>
            <a:r>
              <a:rPr lang="en-US" sz="1100" b="1" dirty="0">
                <a:solidFill>
                  <a:srgbClr val="1A2E4A"/>
                </a:solidFill>
                <a:latin typeface="Calibri" pitchFamily="34" charset="0"/>
                <a:ea typeface="Calibri" pitchFamily="34" charset="-122"/>
                <a:cs typeface="Calibri" pitchFamily="34" charset="-120"/>
              </a:rPr>
              <a:t>VeraCrypt — </a:t>
            </a:r>
            <a:r>
              <a:rPr lang="en-US" sz="1100" dirty="0">
                <a:solidFill>
                  <a:srgbClr val="1A2E4A"/>
                </a:solidFill>
                <a:latin typeface="Calibri" pitchFamily="34" charset="0"/>
                <a:ea typeface="Calibri" pitchFamily="34" charset="-122"/>
                <a:cs typeface="Calibri" pitchFamily="34" charset="-120"/>
              </a:rPr>
              <a:t>Free. Full-disk and container encryption. AES-256. Works on Windows/Mac/Linux.</a:t>
            </a:r>
            <a:endParaRPr lang="en-US" sz="1100" dirty="0"/>
          </a:p>
        </p:txBody>
      </p:sp>
      <p:sp>
        <p:nvSpPr>
          <p:cNvPr id="14" name="Text 12"/>
          <p:cNvSpPr/>
          <p:nvPr/>
        </p:nvSpPr>
        <p:spPr>
          <a:xfrm>
            <a:off x="4873752" y="1764792"/>
            <a:ext cx="3840480" cy="402336"/>
          </a:xfrm>
          <a:prstGeom prst="rect">
            <a:avLst/>
          </a:prstGeom>
          <a:noFill/>
          <a:ln/>
        </p:spPr>
        <p:txBody>
          <a:bodyPr wrap="square" rtlCol="0" anchor="ctr"/>
          <a:lstStyle/>
          <a:p>
            <a:pPr marL="0" indent="0">
              <a:buNone/>
            </a:pPr>
            <a:r>
              <a:rPr lang="en-US" sz="1100" b="1" dirty="0">
                <a:solidFill>
                  <a:srgbClr val="1A2E4A"/>
                </a:solidFill>
                <a:latin typeface="Calibri" pitchFamily="34" charset="0"/>
                <a:ea typeface="Calibri" pitchFamily="34" charset="-122"/>
                <a:cs typeface="Calibri" pitchFamily="34" charset="-120"/>
              </a:rPr>
              <a:t>Cryptomator — </a:t>
            </a:r>
            <a:r>
              <a:rPr lang="en-US" sz="1100" dirty="0">
                <a:solidFill>
                  <a:srgbClr val="1A2E4A"/>
                </a:solidFill>
                <a:latin typeface="Calibri" pitchFamily="34" charset="0"/>
                <a:ea typeface="Calibri" pitchFamily="34" charset="-122"/>
                <a:cs typeface="Calibri" pitchFamily="34" charset="-120"/>
              </a:rPr>
              <a:t>Encrypts files before cloud sync. Use with institutional OneDrive/SharePoint.</a:t>
            </a:r>
            <a:endParaRPr lang="en-US" sz="1100" dirty="0"/>
          </a:p>
        </p:txBody>
      </p:sp>
      <p:sp>
        <p:nvSpPr>
          <p:cNvPr id="15" name="Text 13"/>
          <p:cNvSpPr/>
          <p:nvPr/>
        </p:nvSpPr>
        <p:spPr>
          <a:xfrm>
            <a:off x="4873752" y="2221992"/>
            <a:ext cx="3840480" cy="402336"/>
          </a:xfrm>
          <a:prstGeom prst="rect">
            <a:avLst/>
          </a:prstGeom>
          <a:noFill/>
          <a:ln/>
        </p:spPr>
        <p:txBody>
          <a:bodyPr wrap="square" rtlCol="0" anchor="ctr"/>
          <a:lstStyle/>
          <a:p>
            <a:pPr marL="0" indent="0">
              <a:buNone/>
            </a:pPr>
            <a:r>
              <a:rPr lang="en-US" sz="1100" b="1" dirty="0">
                <a:solidFill>
                  <a:srgbClr val="1A2E4A"/>
                </a:solidFill>
                <a:latin typeface="Calibri" pitchFamily="34" charset="0"/>
                <a:ea typeface="Calibri" pitchFamily="34" charset="-122"/>
                <a:cs typeface="Calibri" pitchFamily="34" charset="-120"/>
              </a:rPr>
              <a:t>Institutional OneDrive — </a:t>
            </a:r>
            <a:r>
              <a:rPr lang="en-US" sz="1100" dirty="0">
                <a:solidFill>
                  <a:srgbClr val="1A2E4A"/>
                </a:solidFill>
                <a:latin typeface="Calibri" pitchFamily="34" charset="0"/>
                <a:ea typeface="Calibri" pitchFamily="34" charset="-122"/>
                <a:cs typeface="Calibri" pitchFamily="34" charset="-120"/>
              </a:rPr>
              <a:t>Preferred over personal Google Drive. Audit logs. DPA already in place at most Nigerian universities.</a:t>
            </a:r>
            <a:endParaRPr lang="en-US" sz="1100" dirty="0"/>
          </a:p>
        </p:txBody>
      </p:sp>
      <p:sp>
        <p:nvSpPr>
          <p:cNvPr id="16" name="Shape 14"/>
          <p:cNvSpPr/>
          <p:nvPr/>
        </p:nvSpPr>
        <p:spPr>
          <a:xfrm>
            <a:off x="274320" y="2926080"/>
            <a:ext cx="4160520" cy="1965960"/>
          </a:xfrm>
          <a:prstGeom prst="roundRect">
            <a:avLst>
              <a:gd name="adj" fmla="val 4651"/>
            </a:avLst>
          </a:prstGeom>
          <a:solidFill>
            <a:srgbClr val="FFFFFF"/>
          </a:solidFill>
          <a:ln w="12700">
            <a:solidFill>
              <a:srgbClr val="DDE6F0"/>
            </a:solidFill>
            <a:prstDash val="solid"/>
          </a:ln>
          <a:effectLst>
            <a:outerShdw blurRad="101600" dist="38100" dir="2700000" algn="bl" rotWithShape="0">
              <a:srgbClr val="000000">
                <a:alpha val="12000"/>
              </a:srgbClr>
            </a:outerShdw>
          </a:effectLst>
        </p:spPr>
        <p:txBody>
          <a:bodyPr/>
          <a:lstStyle/>
          <a:p>
            <a:endParaRPr lang="en-GB"/>
          </a:p>
        </p:txBody>
      </p:sp>
      <p:sp>
        <p:nvSpPr>
          <p:cNvPr id="17" name="Shape 15"/>
          <p:cNvSpPr/>
          <p:nvPr/>
        </p:nvSpPr>
        <p:spPr>
          <a:xfrm>
            <a:off x="365760" y="3017520"/>
            <a:ext cx="3931920" cy="329184"/>
          </a:xfrm>
          <a:prstGeom prst="roundRect">
            <a:avLst>
              <a:gd name="adj" fmla="val 13889"/>
            </a:avLst>
          </a:prstGeom>
          <a:solidFill>
            <a:srgbClr val="6A1B9A"/>
          </a:solidFill>
          <a:ln w="12700">
            <a:solidFill>
              <a:srgbClr val="6A1B9A"/>
            </a:solidFill>
            <a:prstDash val="solid"/>
          </a:ln>
        </p:spPr>
        <p:txBody>
          <a:bodyPr/>
          <a:lstStyle/>
          <a:p>
            <a:endParaRPr lang="en-GB"/>
          </a:p>
        </p:txBody>
      </p:sp>
      <p:sp>
        <p:nvSpPr>
          <p:cNvPr id="18" name="Text 16"/>
          <p:cNvSpPr/>
          <p:nvPr/>
        </p:nvSpPr>
        <p:spPr>
          <a:xfrm>
            <a:off x="365760" y="3017520"/>
            <a:ext cx="3931920" cy="329184"/>
          </a:xfrm>
          <a:prstGeom prst="rect">
            <a:avLst/>
          </a:prstGeom>
          <a:noFill/>
          <a:ln/>
        </p:spPr>
        <p:txBody>
          <a:bodyPr wrap="square" rtlCol="0" anchor="ctr"/>
          <a:lstStyle/>
          <a:p>
            <a:pPr marL="0" indent="0" algn="ctr">
              <a:buNone/>
            </a:pPr>
            <a:r>
              <a:rPr lang="en-US" sz="1200" b="1" dirty="0">
                <a:solidFill>
                  <a:srgbClr val="FFFFFF"/>
                </a:solidFill>
              </a:rPr>
              <a:t>Anonymisation / De-ID</a:t>
            </a:r>
            <a:endParaRPr lang="en-US" sz="1200" dirty="0"/>
          </a:p>
        </p:txBody>
      </p:sp>
      <p:sp>
        <p:nvSpPr>
          <p:cNvPr id="19" name="Text 17"/>
          <p:cNvSpPr/>
          <p:nvPr/>
        </p:nvSpPr>
        <p:spPr>
          <a:xfrm>
            <a:off x="438912" y="3429000"/>
            <a:ext cx="3840480" cy="402336"/>
          </a:xfrm>
          <a:prstGeom prst="rect">
            <a:avLst/>
          </a:prstGeom>
          <a:noFill/>
          <a:ln/>
        </p:spPr>
        <p:txBody>
          <a:bodyPr wrap="square" rtlCol="0" anchor="ctr"/>
          <a:lstStyle/>
          <a:p>
            <a:pPr marL="0" indent="0">
              <a:buNone/>
            </a:pPr>
            <a:r>
              <a:rPr lang="en-US" sz="1100" b="1" dirty="0">
                <a:solidFill>
                  <a:srgbClr val="6A1B9A"/>
                </a:solidFill>
                <a:latin typeface="Calibri" pitchFamily="34" charset="0"/>
                <a:ea typeface="Calibri" pitchFamily="34" charset="-122"/>
                <a:cs typeface="Calibri" pitchFamily="34" charset="-120"/>
              </a:rPr>
              <a:t>ARX Data Anonymization — </a:t>
            </a:r>
            <a:r>
              <a:rPr lang="en-US" sz="1100" dirty="0">
                <a:solidFill>
                  <a:srgbClr val="1A2E4A"/>
                </a:solidFill>
                <a:latin typeface="Calibri" pitchFamily="34" charset="0"/>
                <a:ea typeface="Calibri" pitchFamily="34" charset="-122"/>
                <a:cs typeface="Calibri" pitchFamily="34" charset="-120"/>
              </a:rPr>
              <a:t>Free GUI. k-anonymity, l-diversity, t-closeness. Tabular data. Windows/Mac/Linux.</a:t>
            </a:r>
            <a:endParaRPr lang="en-US" sz="1100" dirty="0"/>
          </a:p>
        </p:txBody>
      </p:sp>
      <p:sp>
        <p:nvSpPr>
          <p:cNvPr id="20" name="Text 18"/>
          <p:cNvSpPr/>
          <p:nvPr/>
        </p:nvSpPr>
        <p:spPr>
          <a:xfrm>
            <a:off x="438912" y="3886200"/>
            <a:ext cx="3840480" cy="402336"/>
          </a:xfrm>
          <a:prstGeom prst="rect">
            <a:avLst/>
          </a:prstGeom>
          <a:noFill/>
          <a:ln/>
        </p:spPr>
        <p:txBody>
          <a:bodyPr wrap="square" rtlCol="0" anchor="ctr"/>
          <a:lstStyle/>
          <a:p>
            <a:pPr marL="0" indent="0">
              <a:buNone/>
            </a:pPr>
            <a:r>
              <a:rPr lang="en-US" sz="1100" b="1" dirty="0">
                <a:solidFill>
                  <a:srgbClr val="6A1B9A"/>
                </a:solidFill>
                <a:latin typeface="Calibri" pitchFamily="34" charset="0"/>
                <a:ea typeface="Calibri" pitchFamily="34" charset="-122"/>
                <a:cs typeface="Calibri" pitchFamily="34" charset="-120"/>
              </a:rPr>
              <a:t>Microsoft Presidio — </a:t>
            </a:r>
            <a:r>
              <a:rPr lang="en-US" sz="1100" dirty="0">
                <a:solidFill>
                  <a:srgbClr val="1A2E4A"/>
                </a:solidFill>
                <a:latin typeface="Calibri" pitchFamily="34" charset="0"/>
                <a:ea typeface="Calibri" pitchFamily="34" charset="-122"/>
                <a:cs typeface="Calibri" pitchFamily="34" charset="-120"/>
              </a:rPr>
              <a:t>Open-source NLP tool for removing PII from text and documents. Python API.</a:t>
            </a:r>
            <a:endParaRPr lang="en-US" sz="1100" dirty="0"/>
          </a:p>
        </p:txBody>
      </p:sp>
      <p:sp>
        <p:nvSpPr>
          <p:cNvPr id="21" name="Text 19"/>
          <p:cNvSpPr/>
          <p:nvPr/>
        </p:nvSpPr>
        <p:spPr>
          <a:xfrm>
            <a:off x="438912" y="4343400"/>
            <a:ext cx="3840480" cy="402336"/>
          </a:xfrm>
          <a:prstGeom prst="rect">
            <a:avLst/>
          </a:prstGeom>
          <a:noFill/>
          <a:ln/>
        </p:spPr>
        <p:txBody>
          <a:bodyPr wrap="square" rtlCol="0" anchor="ctr"/>
          <a:lstStyle/>
          <a:p>
            <a:pPr marL="0" indent="0">
              <a:buNone/>
            </a:pPr>
            <a:r>
              <a:rPr lang="en-US" sz="1100" b="1" dirty="0">
                <a:solidFill>
                  <a:srgbClr val="6A1B9A"/>
                </a:solidFill>
                <a:latin typeface="Calibri" pitchFamily="34" charset="0"/>
                <a:ea typeface="Calibri" pitchFamily="34" charset="-122"/>
                <a:cs typeface="Calibri" pitchFamily="34" charset="-120"/>
              </a:rPr>
              <a:t>Python: faker + hashlib — </a:t>
            </a:r>
            <a:r>
              <a:rPr lang="en-US" sz="1100" dirty="0">
                <a:solidFill>
                  <a:srgbClr val="1A2E4A"/>
                </a:solidFill>
                <a:latin typeface="Calibri" pitchFamily="34" charset="0"/>
                <a:ea typeface="Calibri" pitchFamily="34" charset="-122"/>
                <a:cs typeface="Calibri" pitchFamily="34" charset="-120"/>
              </a:rPr>
              <a:t>Pseudonymisation pipelines for CSV/JSON. seed=42 for reproducibility. 10 lines of code.</a:t>
            </a:r>
            <a:endParaRPr lang="en-US" sz="1100" dirty="0"/>
          </a:p>
        </p:txBody>
      </p:sp>
      <p:sp>
        <p:nvSpPr>
          <p:cNvPr id="22" name="Shape 20"/>
          <p:cNvSpPr/>
          <p:nvPr/>
        </p:nvSpPr>
        <p:spPr>
          <a:xfrm>
            <a:off x="4709160" y="2926080"/>
            <a:ext cx="4160520" cy="1965960"/>
          </a:xfrm>
          <a:prstGeom prst="roundRect">
            <a:avLst>
              <a:gd name="adj" fmla="val 4651"/>
            </a:avLst>
          </a:prstGeom>
          <a:solidFill>
            <a:srgbClr val="FFFFFF"/>
          </a:solidFill>
          <a:ln w="12700">
            <a:solidFill>
              <a:srgbClr val="DDE6F0"/>
            </a:solidFill>
            <a:prstDash val="solid"/>
          </a:ln>
          <a:effectLst>
            <a:outerShdw blurRad="101600" dist="38100" dir="2700000" algn="bl" rotWithShape="0">
              <a:srgbClr val="000000">
                <a:alpha val="12000"/>
              </a:srgbClr>
            </a:outerShdw>
          </a:effectLst>
        </p:spPr>
        <p:txBody>
          <a:bodyPr/>
          <a:lstStyle/>
          <a:p>
            <a:endParaRPr lang="en-GB"/>
          </a:p>
        </p:txBody>
      </p:sp>
      <p:sp>
        <p:nvSpPr>
          <p:cNvPr id="23" name="Shape 21"/>
          <p:cNvSpPr/>
          <p:nvPr/>
        </p:nvSpPr>
        <p:spPr>
          <a:xfrm>
            <a:off x="4800600" y="3017520"/>
            <a:ext cx="3931920" cy="329184"/>
          </a:xfrm>
          <a:prstGeom prst="roundRect">
            <a:avLst>
              <a:gd name="adj" fmla="val 13889"/>
            </a:avLst>
          </a:prstGeom>
          <a:solidFill>
            <a:srgbClr val="1E7D44"/>
          </a:solidFill>
          <a:ln w="12700">
            <a:solidFill>
              <a:srgbClr val="1E7D44"/>
            </a:solidFill>
            <a:prstDash val="solid"/>
          </a:ln>
        </p:spPr>
        <p:txBody>
          <a:bodyPr/>
          <a:lstStyle/>
          <a:p>
            <a:endParaRPr lang="en-GB"/>
          </a:p>
        </p:txBody>
      </p:sp>
      <p:sp>
        <p:nvSpPr>
          <p:cNvPr id="24" name="Text 22"/>
          <p:cNvSpPr/>
          <p:nvPr/>
        </p:nvSpPr>
        <p:spPr>
          <a:xfrm>
            <a:off x="4800600" y="3017520"/>
            <a:ext cx="3931920" cy="329184"/>
          </a:xfrm>
          <a:prstGeom prst="rect">
            <a:avLst/>
          </a:prstGeom>
          <a:noFill/>
          <a:ln/>
        </p:spPr>
        <p:txBody>
          <a:bodyPr wrap="square" rtlCol="0" anchor="ctr"/>
          <a:lstStyle/>
          <a:p>
            <a:pPr marL="0" indent="0" algn="ctr">
              <a:buNone/>
            </a:pPr>
            <a:r>
              <a:rPr lang="en-US" sz="1200" b="1" dirty="0">
                <a:solidFill>
                  <a:srgbClr val="FFFFFF"/>
                </a:solidFill>
              </a:rPr>
              <a:t>FAIR Data Sharing</a:t>
            </a:r>
            <a:endParaRPr lang="en-US" sz="1200" dirty="0"/>
          </a:p>
        </p:txBody>
      </p:sp>
      <p:sp>
        <p:nvSpPr>
          <p:cNvPr id="25" name="Text 23"/>
          <p:cNvSpPr/>
          <p:nvPr/>
        </p:nvSpPr>
        <p:spPr>
          <a:xfrm>
            <a:off x="4873752" y="3429000"/>
            <a:ext cx="3840480" cy="402336"/>
          </a:xfrm>
          <a:prstGeom prst="rect">
            <a:avLst/>
          </a:prstGeom>
          <a:noFill/>
          <a:ln/>
        </p:spPr>
        <p:txBody>
          <a:bodyPr wrap="square" rtlCol="0" anchor="ctr"/>
          <a:lstStyle/>
          <a:p>
            <a:pPr marL="0" indent="0">
              <a:buNone/>
            </a:pPr>
            <a:r>
              <a:rPr lang="en-US" sz="1100" b="1" dirty="0">
                <a:solidFill>
                  <a:srgbClr val="1E7D44"/>
                </a:solidFill>
                <a:latin typeface="Calibri" pitchFamily="34" charset="0"/>
                <a:ea typeface="Calibri" pitchFamily="34" charset="-122"/>
                <a:cs typeface="Calibri" pitchFamily="34" charset="-120"/>
              </a:rPr>
              <a:t>Zenodo — </a:t>
            </a:r>
            <a:r>
              <a:rPr lang="en-US" sz="1100" dirty="0">
                <a:solidFill>
                  <a:srgbClr val="1A2E4A"/>
                </a:solidFill>
                <a:latin typeface="Calibri" pitchFamily="34" charset="0"/>
                <a:ea typeface="Calibri" pitchFamily="34" charset="-122"/>
                <a:cs typeface="Calibri" pitchFamily="34" charset="-120"/>
              </a:rPr>
              <a:t>Free. DOI assignment. Embargo and restricted access options. CERN-hosted. Trusted by NIH/Wellcome.</a:t>
            </a:r>
            <a:endParaRPr lang="en-US" sz="1100" dirty="0"/>
          </a:p>
        </p:txBody>
      </p:sp>
      <p:sp>
        <p:nvSpPr>
          <p:cNvPr id="26" name="Text 24"/>
          <p:cNvSpPr/>
          <p:nvPr/>
        </p:nvSpPr>
        <p:spPr>
          <a:xfrm>
            <a:off x="4873752" y="3886200"/>
            <a:ext cx="3840480" cy="402336"/>
          </a:xfrm>
          <a:prstGeom prst="rect">
            <a:avLst/>
          </a:prstGeom>
          <a:noFill/>
          <a:ln/>
        </p:spPr>
        <p:txBody>
          <a:bodyPr wrap="square" rtlCol="0" anchor="ctr"/>
          <a:lstStyle/>
          <a:p>
            <a:pPr marL="0" indent="0">
              <a:buNone/>
            </a:pPr>
            <a:r>
              <a:rPr lang="en-US" sz="1100" b="1" dirty="0">
                <a:solidFill>
                  <a:srgbClr val="1E7D44"/>
                </a:solidFill>
                <a:latin typeface="Calibri" pitchFamily="34" charset="0"/>
                <a:ea typeface="Calibri" pitchFamily="34" charset="-122"/>
                <a:cs typeface="Calibri" pitchFamily="34" charset="-120"/>
              </a:rPr>
              <a:t>OSF (Open Science Framework) — </a:t>
            </a:r>
            <a:r>
              <a:rPr lang="en-US" sz="1100" dirty="0">
                <a:solidFill>
                  <a:srgbClr val="1A2E4A"/>
                </a:solidFill>
                <a:latin typeface="Calibri" pitchFamily="34" charset="0"/>
                <a:ea typeface="Calibri" pitchFamily="34" charset="-122"/>
                <a:cs typeface="Calibri" pitchFamily="34" charset="-120"/>
              </a:rPr>
              <a:t>Pre-registration, version control, secure team collaboration. Free for researchers.</a:t>
            </a:r>
            <a:endParaRPr lang="en-US" sz="1100" dirty="0"/>
          </a:p>
        </p:txBody>
      </p:sp>
      <p:sp>
        <p:nvSpPr>
          <p:cNvPr id="27" name="Text 25"/>
          <p:cNvSpPr/>
          <p:nvPr/>
        </p:nvSpPr>
        <p:spPr>
          <a:xfrm>
            <a:off x="4873752" y="4343400"/>
            <a:ext cx="3840480" cy="402336"/>
          </a:xfrm>
          <a:prstGeom prst="rect">
            <a:avLst/>
          </a:prstGeom>
          <a:noFill/>
          <a:ln/>
        </p:spPr>
        <p:txBody>
          <a:bodyPr wrap="square" rtlCol="0" anchor="ctr"/>
          <a:lstStyle/>
          <a:p>
            <a:pPr marL="0" indent="0">
              <a:buNone/>
            </a:pPr>
            <a:r>
              <a:rPr lang="en-US" sz="1100" b="1" dirty="0">
                <a:solidFill>
                  <a:srgbClr val="1E7D44"/>
                </a:solidFill>
                <a:latin typeface="Calibri" pitchFamily="34" charset="0"/>
                <a:ea typeface="Calibri" pitchFamily="34" charset="-122"/>
                <a:cs typeface="Calibri" pitchFamily="34" charset="-120"/>
              </a:rPr>
              <a:t>DMP Online — </a:t>
            </a:r>
            <a:r>
              <a:rPr lang="en-US" sz="1100" dirty="0">
                <a:solidFill>
                  <a:srgbClr val="1A2E4A"/>
                </a:solidFill>
                <a:latin typeface="Calibri" pitchFamily="34" charset="0"/>
                <a:ea typeface="Calibri" pitchFamily="34" charset="-122"/>
                <a:cs typeface="Calibri" pitchFamily="34" charset="-120"/>
              </a:rPr>
              <a:t>FAIR-compliant Data Management Plans. Templates for Wellcome, UKRI, EU Horizon, TETFUND.</a:t>
            </a:r>
            <a:endParaRPr lang="en-US" sz="1100" dirty="0"/>
          </a:p>
        </p:txBody>
      </p:sp>
      <p:sp>
        <p:nvSpPr>
          <p:cNvPr id="28" name="Text 26"/>
          <p:cNvSpPr/>
          <p:nvPr/>
        </p:nvSpPr>
        <p:spPr>
          <a:xfrm>
            <a:off x="274320" y="4878429"/>
            <a:ext cx="8595360" cy="274320"/>
          </a:xfrm>
          <a:prstGeom prst="rect">
            <a:avLst/>
          </a:prstGeom>
          <a:noFill/>
          <a:ln/>
        </p:spPr>
        <p:txBody>
          <a:bodyPr wrap="square" rtlCol="0" anchor="ctr"/>
          <a:lstStyle/>
          <a:p>
            <a:pPr marL="0" indent="0">
              <a:buNone/>
            </a:pPr>
            <a:r>
              <a:rPr lang="en-US" sz="1600" b="1" i="1" dirty="0">
                <a:solidFill>
                  <a:srgbClr val="0D7377"/>
                </a:solidFill>
              </a:rPr>
              <a:t>All tools listed are free or covered by existing institutional licences. Zero additional budget required.</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2E4A"/>
          </a:solidFill>
          <a:ln w="12700">
            <a:solidFill>
              <a:srgbClr val="1A2E4A"/>
            </a:solidFill>
            <a:prstDash val="solid"/>
          </a:ln>
        </p:spPr>
        <p:txBody>
          <a:bodyPr/>
          <a:lstStyle/>
          <a:p>
            <a:endParaRPr lang="en-GB"/>
          </a:p>
        </p:txBody>
      </p:sp>
      <p:sp>
        <p:nvSpPr>
          <p:cNvPr id="3" name="Text 1"/>
          <p:cNvSpPr/>
          <p:nvPr/>
        </p:nvSpPr>
        <p:spPr>
          <a:xfrm>
            <a:off x="365760" y="0"/>
            <a:ext cx="8412480" cy="685800"/>
          </a:xfrm>
          <a:prstGeom prst="rect">
            <a:avLst/>
          </a:prstGeom>
          <a:noFill/>
          <a:ln/>
        </p:spPr>
        <p:txBody>
          <a:bodyPr wrap="square"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Federated Learning: Privacy-by-Design for African Multi-Site Research</a:t>
            </a:r>
            <a:endParaRPr lang="en-US" sz="2200" dirty="0"/>
          </a:p>
        </p:txBody>
      </p:sp>
      <p:sp>
        <p:nvSpPr>
          <p:cNvPr id="4" name="Shape 2"/>
          <p:cNvSpPr/>
          <p:nvPr/>
        </p:nvSpPr>
        <p:spPr>
          <a:xfrm>
            <a:off x="274320" y="804672"/>
            <a:ext cx="3931920" cy="4069080"/>
          </a:xfrm>
          <a:prstGeom prst="roundRect">
            <a:avLst>
              <a:gd name="adj" fmla="val 2326"/>
            </a:avLst>
          </a:prstGeom>
          <a:solidFill>
            <a:srgbClr val="FFF5F5"/>
          </a:solidFill>
          <a:ln w="12700">
            <a:solidFill>
              <a:srgbClr val="FECACA"/>
            </a:solidFill>
            <a:prstDash val="solid"/>
          </a:ln>
          <a:effectLst>
            <a:outerShdw blurRad="101600" dist="38100" dir="2700000" algn="bl" rotWithShape="0">
              <a:srgbClr val="000000">
                <a:alpha val="12000"/>
              </a:srgbClr>
            </a:outerShdw>
          </a:effectLst>
        </p:spPr>
        <p:txBody>
          <a:bodyPr/>
          <a:lstStyle/>
          <a:p>
            <a:endParaRPr lang="en-GB"/>
          </a:p>
        </p:txBody>
      </p:sp>
      <p:sp>
        <p:nvSpPr>
          <p:cNvPr id="5" name="Text 3"/>
          <p:cNvSpPr/>
          <p:nvPr/>
        </p:nvSpPr>
        <p:spPr>
          <a:xfrm>
            <a:off x="411480" y="868680"/>
            <a:ext cx="3657600" cy="347472"/>
          </a:xfrm>
          <a:prstGeom prst="rect">
            <a:avLst/>
          </a:prstGeom>
          <a:noFill/>
          <a:ln/>
        </p:spPr>
        <p:txBody>
          <a:bodyPr wrap="square" rtlCol="0" anchor="ctr"/>
          <a:lstStyle/>
          <a:p>
            <a:pPr marL="0" indent="0">
              <a:buNone/>
            </a:pPr>
            <a:r>
              <a:rPr lang="en-US" sz="1300" b="1" dirty="0">
                <a:solidFill>
                  <a:srgbClr val="C0392B"/>
                </a:solidFill>
                <a:latin typeface="Cambria" pitchFamily="34" charset="0"/>
                <a:ea typeface="Cambria" pitchFamily="34" charset="-122"/>
                <a:cs typeface="Cambria" pitchFamily="34" charset="-120"/>
              </a:rPr>
              <a:t>❌  Traditional Centralised Approach</a:t>
            </a:r>
            <a:endParaRPr lang="en-US" sz="1300" dirty="0"/>
          </a:p>
        </p:txBody>
      </p:sp>
      <p:sp>
        <p:nvSpPr>
          <p:cNvPr id="6" name="Text 4"/>
          <p:cNvSpPr/>
          <p:nvPr/>
        </p:nvSpPr>
        <p:spPr>
          <a:xfrm>
            <a:off x="438912" y="1298448"/>
            <a:ext cx="1645920" cy="822960"/>
          </a:xfrm>
          <a:prstGeom prst="rect">
            <a:avLst/>
          </a:prstGeom>
          <a:noFill/>
          <a:ln/>
        </p:spPr>
        <p:txBody>
          <a:bodyPr wrap="square" rtlCol="0" anchor="ctr"/>
          <a:lstStyle/>
          <a:p>
            <a:pPr marL="0" indent="0">
              <a:buNone/>
            </a:pPr>
            <a:r>
              <a:rPr lang="en-US" sz="1100" dirty="0">
                <a:solidFill>
                  <a:srgbClr val="1A2E4A"/>
                </a:solidFill>
                <a:latin typeface="Calibri" pitchFamily="34" charset="0"/>
                <a:ea typeface="Calibri" pitchFamily="34" charset="-122"/>
                <a:cs typeface="Calibri" pitchFamily="34" charset="-120"/>
              </a:rPr>
              <a:t>Hospital A (Lagos)</a:t>
            </a:r>
            <a:endParaRPr lang="en-US" sz="1100" dirty="0"/>
          </a:p>
          <a:p>
            <a:pPr marL="0" indent="0">
              <a:buNone/>
            </a:pPr>
            <a:r>
              <a:rPr lang="en-US" sz="1100" dirty="0">
                <a:solidFill>
                  <a:srgbClr val="1A2E4A"/>
                </a:solidFill>
                <a:latin typeface="Calibri" pitchFamily="34" charset="0"/>
                <a:ea typeface="Calibri" pitchFamily="34" charset="-122"/>
                <a:cs typeface="Calibri" pitchFamily="34" charset="-120"/>
              </a:rPr>
              <a:t>Hospital B (Ibadan)</a:t>
            </a:r>
            <a:endParaRPr lang="en-US" sz="1100" dirty="0"/>
          </a:p>
          <a:p>
            <a:pPr marL="0" indent="0">
              <a:buNone/>
            </a:pPr>
            <a:r>
              <a:rPr lang="en-US" sz="1100" dirty="0">
                <a:solidFill>
                  <a:srgbClr val="1A2E4A"/>
                </a:solidFill>
                <a:latin typeface="Calibri" pitchFamily="34" charset="0"/>
                <a:ea typeface="Calibri" pitchFamily="34" charset="-122"/>
                <a:cs typeface="Calibri" pitchFamily="34" charset="-120"/>
              </a:rPr>
              <a:t>Hospital C (Abuja)</a:t>
            </a:r>
            <a:endParaRPr lang="en-US" sz="1100" dirty="0"/>
          </a:p>
        </p:txBody>
      </p:sp>
      <p:sp>
        <p:nvSpPr>
          <p:cNvPr id="7" name="Shape 5"/>
          <p:cNvSpPr/>
          <p:nvPr/>
        </p:nvSpPr>
        <p:spPr>
          <a:xfrm>
            <a:off x="1645920" y="1508760"/>
            <a:ext cx="457200" cy="13716"/>
          </a:xfrm>
          <a:prstGeom prst="rect">
            <a:avLst/>
          </a:prstGeom>
          <a:solidFill>
            <a:srgbClr val="C0392B"/>
          </a:solidFill>
          <a:ln w="12700">
            <a:solidFill>
              <a:srgbClr val="C0392B"/>
            </a:solidFill>
            <a:prstDash val="solid"/>
          </a:ln>
        </p:spPr>
        <p:txBody>
          <a:bodyPr/>
          <a:lstStyle/>
          <a:p>
            <a:endParaRPr lang="en-GB"/>
          </a:p>
        </p:txBody>
      </p:sp>
      <p:sp>
        <p:nvSpPr>
          <p:cNvPr id="8" name="Shape 6"/>
          <p:cNvSpPr/>
          <p:nvPr/>
        </p:nvSpPr>
        <p:spPr>
          <a:xfrm>
            <a:off x="1645920" y="1701209"/>
            <a:ext cx="457200" cy="13716"/>
          </a:xfrm>
          <a:prstGeom prst="rect">
            <a:avLst/>
          </a:prstGeom>
          <a:solidFill>
            <a:srgbClr val="C0392B"/>
          </a:solidFill>
          <a:ln w="12700">
            <a:solidFill>
              <a:srgbClr val="C0392B"/>
            </a:solidFill>
            <a:prstDash val="solid"/>
          </a:ln>
        </p:spPr>
        <p:txBody>
          <a:bodyPr/>
          <a:lstStyle/>
          <a:p>
            <a:endParaRPr lang="en-GB"/>
          </a:p>
        </p:txBody>
      </p:sp>
      <p:sp>
        <p:nvSpPr>
          <p:cNvPr id="9" name="Shape 7"/>
          <p:cNvSpPr/>
          <p:nvPr/>
        </p:nvSpPr>
        <p:spPr>
          <a:xfrm>
            <a:off x="1645920" y="1893655"/>
            <a:ext cx="457200" cy="13716"/>
          </a:xfrm>
          <a:prstGeom prst="rect">
            <a:avLst/>
          </a:prstGeom>
          <a:solidFill>
            <a:srgbClr val="C0392B"/>
          </a:solidFill>
          <a:ln w="12700">
            <a:solidFill>
              <a:srgbClr val="C0392B"/>
            </a:solidFill>
            <a:prstDash val="solid"/>
          </a:ln>
        </p:spPr>
        <p:txBody>
          <a:bodyPr/>
          <a:lstStyle/>
          <a:p>
            <a:endParaRPr lang="en-GB"/>
          </a:p>
        </p:txBody>
      </p:sp>
      <p:sp>
        <p:nvSpPr>
          <p:cNvPr id="10" name="Shape 8"/>
          <p:cNvSpPr/>
          <p:nvPr/>
        </p:nvSpPr>
        <p:spPr>
          <a:xfrm>
            <a:off x="2011680" y="1446024"/>
            <a:ext cx="1645920" cy="502920"/>
          </a:xfrm>
          <a:prstGeom prst="roundRect">
            <a:avLst>
              <a:gd name="adj" fmla="val 12727"/>
            </a:avLst>
          </a:prstGeom>
          <a:solidFill>
            <a:srgbClr val="C0392B"/>
          </a:solidFill>
          <a:ln w="12700">
            <a:solidFill>
              <a:srgbClr val="C0392B"/>
            </a:solidFill>
            <a:prstDash val="solid"/>
          </a:ln>
        </p:spPr>
        <p:txBody>
          <a:bodyPr/>
          <a:lstStyle/>
          <a:p>
            <a:endParaRPr lang="en-GB"/>
          </a:p>
        </p:txBody>
      </p:sp>
      <p:sp>
        <p:nvSpPr>
          <p:cNvPr id="11" name="Text 9"/>
          <p:cNvSpPr/>
          <p:nvPr/>
        </p:nvSpPr>
        <p:spPr>
          <a:xfrm>
            <a:off x="2011680" y="1371600"/>
            <a:ext cx="1645920" cy="502920"/>
          </a:xfrm>
          <a:prstGeom prst="rect">
            <a:avLst/>
          </a:prstGeom>
          <a:noFill/>
          <a:ln/>
        </p:spPr>
        <p:txBody>
          <a:bodyPr wrap="square" rtlCol="0" anchor="ctr"/>
          <a:lstStyle/>
          <a:p>
            <a:pPr marL="0" indent="0" algn="ctr">
              <a:buNone/>
            </a:pPr>
            <a:r>
              <a:rPr lang="en-US" sz="1050" b="1" dirty="0">
                <a:solidFill>
                  <a:srgbClr val="FFFFFF"/>
                </a:solidFill>
              </a:rPr>
              <a:t>Central Server</a:t>
            </a:r>
            <a:endParaRPr lang="en-US" sz="1050" dirty="0"/>
          </a:p>
          <a:p>
            <a:pPr marL="0" indent="0" algn="ctr">
              <a:buNone/>
            </a:pPr>
            <a:r>
              <a:rPr lang="en-US" sz="1050" b="1" dirty="0">
                <a:solidFill>
                  <a:srgbClr val="FFFFFF"/>
                </a:solidFill>
              </a:rPr>
              <a:t>(raw patient data)</a:t>
            </a:r>
            <a:endParaRPr lang="en-US" sz="1050" dirty="0"/>
          </a:p>
        </p:txBody>
      </p:sp>
      <p:sp>
        <p:nvSpPr>
          <p:cNvPr id="12" name="Text 10"/>
          <p:cNvSpPr/>
          <p:nvPr/>
        </p:nvSpPr>
        <p:spPr>
          <a:xfrm>
            <a:off x="411480" y="2011680"/>
            <a:ext cx="3657600" cy="2651760"/>
          </a:xfrm>
          <a:prstGeom prst="rect">
            <a:avLst/>
          </a:prstGeom>
          <a:noFill/>
          <a:ln/>
        </p:spPr>
        <p:txBody>
          <a:bodyPr wrap="square" rtlCol="0" anchor="ctr"/>
          <a:lstStyle/>
          <a:p>
            <a:pPr marL="0" indent="0">
              <a:buNone/>
            </a:pPr>
            <a:r>
              <a:rPr lang="en-US" sz="1150" b="1" dirty="0">
                <a:solidFill>
                  <a:srgbClr val="C0392B"/>
                </a:solidFill>
                <a:latin typeface="Calibri" pitchFamily="34" charset="0"/>
                <a:ea typeface="Calibri" pitchFamily="34" charset="-122"/>
                <a:cs typeface="Calibri" pitchFamily="34" charset="-120"/>
              </a:rPr>
              <a:t>Risks:
</a:t>
            </a:r>
            <a:r>
              <a:rPr lang="en-US" sz="1150" dirty="0">
                <a:solidFill>
                  <a:srgbClr val="7B1A1A"/>
                </a:solidFill>
                <a:latin typeface="Calibri" pitchFamily="34" charset="0"/>
                <a:ea typeface="Calibri" pitchFamily="34" charset="-122"/>
                <a:cs typeface="Calibri" pitchFamily="34" charset="-120"/>
              </a:rPr>
              <a:t>• All data leaves each hospital</a:t>
            </a:r>
            <a:endParaRPr lang="en-US" sz="1150" dirty="0"/>
          </a:p>
          <a:p>
            <a:pPr marL="0" indent="0">
              <a:buNone/>
            </a:pPr>
            <a:r>
              <a:rPr lang="en-US" sz="1150" dirty="0">
                <a:solidFill>
                  <a:srgbClr val="7B1A1A"/>
                </a:solidFill>
                <a:latin typeface="Calibri" pitchFamily="34" charset="0"/>
                <a:ea typeface="Calibri" pitchFamily="34" charset="-122"/>
                <a:cs typeface="Calibri" pitchFamily="34" charset="-120"/>
              </a:rPr>
              <a:t>• Single point of breach</a:t>
            </a:r>
            <a:endParaRPr lang="en-US" sz="1150" dirty="0"/>
          </a:p>
          <a:p>
            <a:pPr marL="0" indent="0">
              <a:buNone/>
            </a:pPr>
            <a:r>
              <a:rPr lang="en-US" sz="1150" dirty="0">
                <a:solidFill>
                  <a:srgbClr val="7B1A1A"/>
                </a:solidFill>
                <a:latin typeface="Calibri" pitchFamily="34" charset="0"/>
                <a:ea typeface="Calibri" pitchFamily="34" charset="-122"/>
                <a:cs typeface="Calibri" pitchFamily="34" charset="-120"/>
              </a:rPr>
              <a:t>• Cross-border transfer violations</a:t>
            </a:r>
            <a:endParaRPr lang="en-US" sz="1150" dirty="0"/>
          </a:p>
          <a:p>
            <a:pPr marL="0" indent="0">
              <a:buNone/>
            </a:pPr>
            <a:r>
              <a:rPr lang="en-US" sz="1150" dirty="0">
                <a:solidFill>
                  <a:srgbClr val="7B1A1A"/>
                </a:solidFill>
                <a:latin typeface="Calibri" pitchFamily="34" charset="0"/>
                <a:ea typeface="Calibri" pitchFamily="34" charset="-122"/>
                <a:cs typeface="Calibri" pitchFamily="34" charset="-120"/>
              </a:rPr>
              <a:t>• No data sovereignty</a:t>
            </a:r>
            <a:endParaRPr lang="en-US" sz="1150" dirty="0"/>
          </a:p>
          <a:p>
            <a:pPr marL="0" indent="0">
              <a:buNone/>
            </a:pPr>
            <a:r>
              <a:rPr lang="en-US" sz="1150" dirty="0">
                <a:solidFill>
                  <a:srgbClr val="7B1A1A"/>
                </a:solidFill>
                <a:latin typeface="Calibri" pitchFamily="34" charset="0"/>
                <a:ea typeface="Calibri" pitchFamily="34" charset="-122"/>
                <a:cs typeface="Calibri" pitchFamily="34" charset="-120"/>
              </a:rPr>
              <a:t>• NDPA §43 compliance issues</a:t>
            </a:r>
            <a:endParaRPr lang="en-US" sz="1150" dirty="0"/>
          </a:p>
        </p:txBody>
      </p:sp>
      <p:sp>
        <p:nvSpPr>
          <p:cNvPr id="13" name="Shape 11"/>
          <p:cNvSpPr/>
          <p:nvPr/>
        </p:nvSpPr>
        <p:spPr>
          <a:xfrm>
            <a:off x="4663440" y="804672"/>
            <a:ext cx="4206240" cy="4069080"/>
          </a:xfrm>
          <a:prstGeom prst="roundRect">
            <a:avLst>
              <a:gd name="adj" fmla="val 2247"/>
            </a:avLst>
          </a:prstGeom>
          <a:solidFill>
            <a:srgbClr val="F0FBF8"/>
          </a:solidFill>
          <a:ln w="12700">
            <a:solidFill>
              <a:srgbClr val="A7D7C5"/>
            </a:solidFill>
            <a:prstDash val="solid"/>
          </a:ln>
          <a:effectLst>
            <a:outerShdw blurRad="101600" dist="38100" dir="2700000" algn="bl" rotWithShape="0">
              <a:srgbClr val="000000">
                <a:alpha val="12000"/>
              </a:srgbClr>
            </a:outerShdw>
          </a:effectLst>
        </p:spPr>
        <p:txBody>
          <a:bodyPr/>
          <a:lstStyle/>
          <a:p>
            <a:endParaRPr lang="en-GB"/>
          </a:p>
        </p:txBody>
      </p:sp>
      <p:sp>
        <p:nvSpPr>
          <p:cNvPr id="14" name="Text 12"/>
          <p:cNvSpPr/>
          <p:nvPr/>
        </p:nvSpPr>
        <p:spPr>
          <a:xfrm>
            <a:off x="4800600" y="868680"/>
            <a:ext cx="3931920" cy="347472"/>
          </a:xfrm>
          <a:prstGeom prst="rect">
            <a:avLst/>
          </a:prstGeom>
          <a:noFill/>
          <a:ln/>
        </p:spPr>
        <p:txBody>
          <a:bodyPr wrap="square" rtlCol="0" anchor="ctr"/>
          <a:lstStyle/>
          <a:p>
            <a:pPr marL="0" indent="0">
              <a:buNone/>
            </a:pPr>
            <a:r>
              <a:rPr lang="en-US" sz="1300" b="1" dirty="0">
                <a:solidFill>
                  <a:srgbClr val="1E7D44"/>
                </a:solidFill>
                <a:latin typeface="Cambria" pitchFamily="34" charset="0"/>
                <a:ea typeface="Cambria" pitchFamily="34" charset="-122"/>
                <a:cs typeface="Cambria" pitchFamily="34" charset="-120"/>
              </a:rPr>
              <a:t>✓  Federated Learning Approach</a:t>
            </a:r>
            <a:endParaRPr lang="en-US" sz="1300" dirty="0"/>
          </a:p>
        </p:txBody>
      </p:sp>
      <p:pic>
        <p:nvPicPr>
          <p:cNvPr id="15" name="Image 0" descr="preencoded.png"/>
          <p:cNvPicPr>
            <a:picLocks noChangeAspect="1"/>
          </p:cNvPicPr>
          <p:nvPr/>
        </p:nvPicPr>
        <p:blipFill>
          <a:blip r:embed="rId3"/>
          <a:stretch>
            <a:fillRect/>
          </a:stretch>
        </p:blipFill>
        <p:spPr>
          <a:xfrm>
            <a:off x="6492240" y="1261872"/>
            <a:ext cx="822960" cy="594360"/>
          </a:xfrm>
          <a:prstGeom prst="rect">
            <a:avLst/>
          </a:prstGeom>
        </p:spPr>
      </p:pic>
      <p:sp>
        <p:nvSpPr>
          <p:cNvPr id="16" name="Text 13"/>
          <p:cNvSpPr/>
          <p:nvPr/>
        </p:nvSpPr>
        <p:spPr>
          <a:xfrm>
            <a:off x="6172200" y="1874520"/>
            <a:ext cx="1828800" cy="274320"/>
          </a:xfrm>
          <a:prstGeom prst="rect">
            <a:avLst/>
          </a:prstGeom>
          <a:noFill/>
          <a:ln/>
        </p:spPr>
        <p:txBody>
          <a:bodyPr wrap="square" rtlCol="0" anchor="ctr"/>
          <a:lstStyle/>
          <a:p>
            <a:pPr marL="0" indent="0" algn="ctr">
              <a:buNone/>
            </a:pPr>
            <a:r>
              <a:rPr lang="en-US" sz="950" i="1" dirty="0">
                <a:solidFill>
                  <a:srgbClr val="0D7377"/>
                </a:solidFill>
                <a:latin typeface="Calibri" pitchFamily="34" charset="0"/>
                <a:ea typeface="Calibri" pitchFamily="34" charset="-122"/>
                <a:cs typeface="Calibri" pitchFamily="34" charset="-120"/>
              </a:rPr>
              <a:t>Model updates only. Data stays local.</a:t>
            </a:r>
            <a:endParaRPr lang="en-US" sz="950" dirty="0"/>
          </a:p>
        </p:txBody>
      </p:sp>
      <p:sp>
        <p:nvSpPr>
          <p:cNvPr id="17" name="Text 14"/>
          <p:cNvSpPr/>
          <p:nvPr/>
        </p:nvSpPr>
        <p:spPr>
          <a:xfrm>
            <a:off x="4800600" y="2212848"/>
            <a:ext cx="3931920" cy="2514600"/>
          </a:xfrm>
          <a:prstGeom prst="rect">
            <a:avLst/>
          </a:prstGeom>
          <a:noFill/>
          <a:ln/>
        </p:spPr>
        <p:txBody>
          <a:bodyPr wrap="square" rtlCol="0" anchor="ctr"/>
          <a:lstStyle/>
          <a:p>
            <a:pPr marL="0" indent="0">
              <a:buNone/>
            </a:pPr>
            <a:r>
              <a:rPr lang="en-US" sz="1150" b="1" dirty="0">
                <a:solidFill>
                  <a:srgbClr val="1E7D44"/>
                </a:solidFill>
                <a:latin typeface="Calibri" pitchFamily="34" charset="0"/>
                <a:ea typeface="Calibri" pitchFamily="34" charset="-122"/>
                <a:cs typeface="Calibri" pitchFamily="34" charset="-120"/>
              </a:rPr>
              <a:t>How it works:
</a:t>
            </a:r>
            <a:r>
              <a:rPr lang="en-US" sz="1150" dirty="0">
                <a:solidFill>
                  <a:srgbClr val="1A4A35"/>
                </a:solidFill>
                <a:latin typeface="Calibri" pitchFamily="34" charset="0"/>
                <a:ea typeface="Calibri" pitchFamily="34" charset="-122"/>
                <a:cs typeface="Calibri" pitchFamily="34" charset="-120"/>
              </a:rPr>
              <a:t>Each hospital trains a local model on its own data. Only model weights (gradients) are shared with a coordinator. Raw patient data NEVER leaves the hospital.
</a:t>
            </a:r>
            <a:r>
              <a:rPr lang="en-US" sz="1150" b="1" dirty="0">
                <a:solidFill>
                  <a:srgbClr val="1E7D44"/>
                </a:solidFill>
                <a:latin typeface="Calibri" pitchFamily="34" charset="0"/>
                <a:ea typeface="Calibri" pitchFamily="34" charset="-122"/>
                <a:cs typeface="Calibri" pitchFamily="34" charset="-120"/>
              </a:rPr>
              <a:t>Benefits for African Research:
</a:t>
            </a:r>
            <a:r>
              <a:rPr lang="en-US" sz="1150" dirty="0">
                <a:solidFill>
                  <a:srgbClr val="1A4A35"/>
                </a:solidFill>
                <a:latin typeface="Calibri" pitchFamily="34" charset="0"/>
                <a:ea typeface="Calibri" pitchFamily="34" charset="-122"/>
                <a:cs typeface="Calibri" pitchFamily="34" charset="-120"/>
              </a:rPr>
              <a:t>• Data sovereignty preserved</a:t>
            </a:r>
            <a:endParaRPr lang="en-US" sz="1150" dirty="0"/>
          </a:p>
          <a:p>
            <a:pPr marL="0" indent="0">
              <a:buNone/>
            </a:pPr>
            <a:r>
              <a:rPr lang="en-US" sz="1150" dirty="0">
                <a:solidFill>
                  <a:srgbClr val="1A4A35"/>
                </a:solidFill>
                <a:latin typeface="Calibri" pitchFamily="34" charset="0"/>
                <a:ea typeface="Calibri" pitchFamily="34" charset="-122"/>
                <a:cs typeface="Calibri" pitchFamily="34" charset="-120"/>
              </a:rPr>
              <a:t>• NDPA §43 transfer rules not triggered</a:t>
            </a:r>
            <a:endParaRPr lang="en-US" sz="1150" dirty="0"/>
          </a:p>
          <a:p>
            <a:pPr marL="0" indent="0">
              <a:buNone/>
            </a:pPr>
            <a:r>
              <a:rPr lang="en-US" sz="1150" dirty="0">
                <a:solidFill>
                  <a:srgbClr val="1A4A35"/>
                </a:solidFill>
                <a:latin typeface="Calibri" pitchFamily="34" charset="0"/>
                <a:ea typeface="Calibri" pitchFamily="34" charset="-122"/>
                <a:cs typeface="Calibri" pitchFamily="34" charset="-120"/>
              </a:rPr>
              <a:t>• Enables multi-site studies without centralising PII</a:t>
            </a:r>
            <a:endParaRPr lang="en-US" sz="1150" dirty="0"/>
          </a:p>
          <a:p>
            <a:pPr marL="0" indent="0">
              <a:buNone/>
            </a:pPr>
            <a:r>
              <a:rPr lang="en-US" sz="1150" dirty="0">
                <a:solidFill>
                  <a:srgbClr val="1A4A35"/>
                </a:solidFill>
                <a:latin typeface="Calibri" pitchFamily="34" charset="0"/>
                <a:ea typeface="Calibri" pitchFamily="34" charset="-122"/>
                <a:cs typeface="Calibri" pitchFamily="34" charset="-120"/>
              </a:rPr>
              <a:t>• Privacy: add Differential Privacy (ε≤1.0) for formal guarantees</a:t>
            </a:r>
            <a:endParaRPr lang="en-US" sz="1150" dirty="0"/>
          </a:p>
        </p:txBody>
      </p:sp>
      <p:sp>
        <p:nvSpPr>
          <p:cNvPr id="18" name="Text 15"/>
          <p:cNvSpPr/>
          <p:nvPr/>
        </p:nvSpPr>
        <p:spPr>
          <a:xfrm>
            <a:off x="0" y="4860143"/>
            <a:ext cx="9298172" cy="320040"/>
          </a:xfrm>
          <a:prstGeom prst="rect">
            <a:avLst/>
          </a:prstGeom>
          <a:noFill/>
          <a:ln/>
        </p:spPr>
        <p:txBody>
          <a:bodyPr wrap="square" rtlCol="0" anchor="ctr"/>
          <a:lstStyle/>
          <a:p>
            <a:pPr marL="0" indent="0">
              <a:buNone/>
            </a:pPr>
            <a:r>
              <a:rPr lang="en-US" sz="1400" b="1" i="1" dirty="0">
                <a:solidFill>
                  <a:srgbClr val="0D7377"/>
                </a:solidFill>
              </a:rPr>
              <a:t>The Artificial Intelligence Systems Research Group (ARISG)  — OOU — is pioneering FL frameworks for Nigerian health data.</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7377"/>
          </a:solidFill>
          <a:ln w="12700">
            <a:solidFill>
              <a:srgbClr val="0D7377"/>
            </a:solidFill>
            <a:prstDash val="solid"/>
          </a:ln>
        </p:spPr>
        <p:txBody>
          <a:bodyPr/>
          <a:lstStyle/>
          <a:p>
            <a:endParaRPr lang="en-GB"/>
          </a:p>
        </p:txBody>
      </p:sp>
      <p:sp>
        <p:nvSpPr>
          <p:cNvPr id="3" name="Text 1"/>
          <p:cNvSpPr/>
          <p:nvPr/>
        </p:nvSpPr>
        <p:spPr>
          <a:xfrm>
            <a:off x="365760" y="0"/>
            <a:ext cx="8412480" cy="685800"/>
          </a:xfrm>
          <a:prstGeom prst="rect">
            <a:avLst/>
          </a:prstGeom>
          <a:noFill/>
          <a:ln/>
        </p:spPr>
        <p:txBody>
          <a:bodyPr wrap="square"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Master Checklist: Is Your Research Data Secure &amp; FAIR?</a:t>
            </a:r>
            <a:endParaRPr lang="en-US" sz="2200" dirty="0"/>
          </a:p>
        </p:txBody>
      </p:sp>
      <p:sp>
        <p:nvSpPr>
          <p:cNvPr id="4" name="Text 2"/>
          <p:cNvSpPr/>
          <p:nvPr/>
        </p:nvSpPr>
        <p:spPr>
          <a:xfrm>
            <a:off x="365760" y="749808"/>
            <a:ext cx="8412480" cy="274320"/>
          </a:xfrm>
          <a:prstGeom prst="rect">
            <a:avLst/>
          </a:prstGeom>
          <a:noFill/>
          <a:ln/>
        </p:spPr>
        <p:txBody>
          <a:bodyPr wrap="square" rtlCol="0" anchor="ctr"/>
          <a:lstStyle/>
          <a:p>
            <a:pPr marL="0" indent="0">
              <a:buNone/>
            </a:pPr>
            <a:r>
              <a:rPr lang="en-US" sz="1200" i="1" dirty="0">
                <a:solidFill>
                  <a:srgbClr val="1A2E4A"/>
                </a:solidFill>
                <a:latin typeface="Calibri" pitchFamily="34" charset="0"/>
                <a:ea typeface="Calibri" pitchFamily="34" charset="-122"/>
                <a:cs typeface="Calibri" pitchFamily="34" charset="-120"/>
              </a:rPr>
              <a:t>For every data-intensive study — tick all boxes before submitting to your Research Ethics Committee.</a:t>
            </a:r>
            <a:endParaRPr lang="en-US" sz="1200" dirty="0"/>
          </a:p>
        </p:txBody>
      </p:sp>
      <p:sp>
        <p:nvSpPr>
          <p:cNvPr id="5" name="Shape 3"/>
          <p:cNvSpPr/>
          <p:nvPr/>
        </p:nvSpPr>
        <p:spPr>
          <a:xfrm>
            <a:off x="274320" y="1078992"/>
            <a:ext cx="4160520" cy="475488"/>
          </a:xfrm>
          <a:prstGeom prst="roundRect">
            <a:avLst>
              <a:gd name="adj" fmla="val 13462"/>
            </a:avLst>
          </a:prstGeom>
          <a:solidFill>
            <a:srgbClr val="FFFFFF"/>
          </a:solidFill>
          <a:ln w="12700">
            <a:solidFill>
              <a:srgbClr val="D8E4F0"/>
            </a:solidFill>
            <a:prstDash val="solid"/>
          </a:ln>
          <a:effectLst>
            <a:outerShdw blurRad="101600" dist="38100" dir="2700000" algn="bl" rotWithShape="0">
              <a:srgbClr val="000000">
                <a:alpha val="12000"/>
              </a:srgbClr>
            </a:outerShdw>
          </a:effectLst>
        </p:spPr>
        <p:txBody>
          <a:bodyPr/>
          <a:lstStyle/>
          <a:p>
            <a:endParaRPr lang="en-GB"/>
          </a:p>
        </p:txBody>
      </p:sp>
      <p:sp>
        <p:nvSpPr>
          <p:cNvPr id="6" name="Shape 4"/>
          <p:cNvSpPr/>
          <p:nvPr/>
        </p:nvSpPr>
        <p:spPr>
          <a:xfrm>
            <a:off x="365760" y="1170432"/>
            <a:ext cx="292608" cy="292608"/>
          </a:xfrm>
          <a:prstGeom prst="roundRect">
            <a:avLst>
              <a:gd name="adj" fmla="val 12500"/>
            </a:avLst>
          </a:prstGeom>
          <a:solidFill>
            <a:srgbClr val="E8F4F2"/>
          </a:solidFill>
          <a:ln w="12700">
            <a:solidFill>
              <a:srgbClr val="0D7377"/>
            </a:solidFill>
            <a:prstDash val="solid"/>
          </a:ln>
        </p:spPr>
        <p:txBody>
          <a:bodyPr/>
          <a:lstStyle/>
          <a:p>
            <a:endParaRPr lang="en-GB"/>
          </a:p>
        </p:txBody>
      </p:sp>
      <p:sp>
        <p:nvSpPr>
          <p:cNvPr id="7" name="Text 5"/>
          <p:cNvSpPr/>
          <p:nvPr/>
        </p:nvSpPr>
        <p:spPr>
          <a:xfrm>
            <a:off x="731520" y="1124712"/>
            <a:ext cx="3602736" cy="384048"/>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Data Management Plan (DMP) completed, filed, and names a Data Custodian</a:t>
            </a:r>
            <a:endParaRPr lang="en-US" sz="1050" dirty="0"/>
          </a:p>
        </p:txBody>
      </p:sp>
      <p:sp>
        <p:nvSpPr>
          <p:cNvPr id="8" name="Shape 6"/>
          <p:cNvSpPr/>
          <p:nvPr/>
        </p:nvSpPr>
        <p:spPr>
          <a:xfrm>
            <a:off x="274320" y="1618488"/>
            <a:ext cx="4160520" cy="475488"/>
          </a:xfrm>
          <a:prstGeom prst="roundRect">
            <a:avLst>
              <a:gd name="adj" fmla="val 13462"/>
            </a:avLst>
          </a:prstGeom>
          <a:solidFill>
            <a:srgbClr val="FFFFFF"/>
          </a:solidFill>
          <a:ln w="12700">
            <a:solidFill>
              <a:srgbClr val="D8E4F0"/>
            </a:solidFill>
            <a:prstDash val="solid"/>
          </a:ln>
          <a:effectLst>
            <a:outerShdw blurRad="101600" dist="38100" dir="2700000" algn="bl" rotWithShape="0">
              <a:srgbClr val="000000">
                <a:alpha val="12000"/>
              </a:srgbClr>
            </a:outerShdw>
          </a:effectLst>
        </p:spPr>
        <p:txBody>
          <a:bodyPr/>
          <a:lstStyle/>
          <a:p>
            <a:endParaRPr lang="en-GB"/>
          </a:p>
        </p:txBody>
      </p:sp>
      <p:sp>
        <p:nvSpPr>
          <p:cNvPr id="9" name="Shape 7"/>
          <p:cNvSpPr/>
          <p:nvPr/>
        </p:nvSpPr>
        <p:spPr>
          <a:xfrm>
            <a:off x="365760" y="1709928"/>
            <a:ext cx="292608" cy="292608"/>
          </a:xfrm>
          <a:prstGeom prst="roundRect">
            <a:avLst>
              <a:gd name="adj" fmla="val 12500"/>
            </a:avLst>
          </a:prstGeom>
          <a:solidFill>
            <a:srgbClr val="E8F4F2"/>
          </a:solidFill>
          <a:ln w="12700">
            <a:solidFill>
              <a:srgbClr val="0D7377"/>
            </a:solidFill>
            <a:prstDash val="solid"/>
          </a:ln>
        </p:spPr>
        <p:txBody>
          <a:bodyPr/>
          <a:lstStyle/>
          <a:p>
            <a:endParaRPr lang="en-GB"/>
          </a:p>
        </p:txBody>
      </p:sp>
      <p:sp>
        <p:nvSpPr>
          <p:cNvPr id="10" name="Text 8"/>
          <p:cNvSpPr/>
          <p:nvPr/>
        </p:nvSpPr>
        <p:spPr>
          <a:xfrm>
            <a:off x="731520" y="1664208"/>
            <a:ext cx="3602736" cy="384048"/>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Data Protection Impact Assessment (DPIA) conducted for sensitive data studies</a:t>
            </a:r>
            <a:endParaRPr lang="en-US" sz="1050" dirty="0"/>
          </a:p>
        </p:txBody>
      </p:sp>
      <p:sp>
        <p:nvSpPr>
          <p:cNvPr id="11" name="Shape 9"/>
          <p:cNvSpPr/>
          <p:nvPr/>
        </p:nvSpPr>
        <p:spPr>
          <a:xfrm>
            <a:off x="274320" y="2157984"/>
            <a:ext cx="4160520" cy="475488"/>
          </a:xfrm>
          <a:prstGeom prst="roundRect">
            <a:avLst>
              <a:gd name="adj" fmla="val 13462"/>
            </a:avLst>
          </a:prstGeom>
          <a:solidFill>
            <a:srgbClr val="FFFFFF"/>
          </a:solidFill>
          <a:ln w="12700">
            <a:solidFill>
              <a:srgbClr val="D8E4F0"/>
            </a:solidFill>
            <a:prstDash val="solid"/>
          </a:ln>
          <a:effectLst>
            <a:outerShdw blurRad="101600" dist="38100" dir="2700000" algn="bl" rotWithShape="0">
              <a:srgbClr val="000000">
                <a:alpha val="12000"/>
              </a:srgbClr>
            </a:outerShdw>
          </a:effectLst>
        </p:spPr>
        <p:txBody>
          <a:bodyPr/>
          <a:lstStyle/>
          <a:p>
            <a:endParaRPr lang="en-GB"/>
          </a:p>
        </p:txBody>
      </p:sp>
      <p:sp>
        <p:nvSpPr>
          <p:cNvPr id="12" name="Shape 10"/>
          <p:cNvSpPr/>
          <p:nvPr/>
        </p:nvSpPr>
        <p:spPr>
          <a:xfrm>
            <a:off x="365760" y="2249424"/>
            <a:ext cx="292608" cy="292608"/>
          </a:xfrm>
          <a:prstGeom prst="roundRect">
            <a:avLst>
              <a:gd name="adj" fmla="val 12500"/>
            </a:avLst>
          </a:prstGeom>
          <a:solidFill>
            <a:srgbClr val="E8F4F2"/>
          </a:solidFill>
          <a:ln w="12700">
            <a:solidFill>
              <a:srgbClr val="0D7377"/>
            </a:solidFill>
            <a:prstDash val="solid"/>
          </a:ln>
        </p:spPr>
        <p:txBody>
          <a:bodyPr/>
          <a:lstStyle/>
          <a:p>
            <a:endParaRPr lang="en-GB"/>
          </a:p>
        </p:txBody>
      </p:sp>
      <p:sp>
        <p:nvSpPr>
          <p:cNvPr id="13" name="Text 11"/>
          <p:cNvSpPr/>
          <p:nvPr/>
        </p:nvSpPr>
        <p:spPr>
          <a:xfrm>
            <a:off x="731520" y="2203704"/>
            <a:ext cx="3602736" cy="384048"/>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Informed consent form includes data security clause and breach notification rights</a:t>
            </a:r>
            <a:endParaRPr lang="en-US" sz="1050" dirty="0"/>
          </a:p>
        </p:txBody>
      </p:sp>
      <p:sp>
        <p:nvSpPr>
          <p:cNvPr id="14" name="Shape 12"/>
          <p:cNvSpPr/>
          <p:nvPr/>
        </p:nvSpPr>
        <p:spPr>
          <a:xfrm>
            <a:off x="274320" y="2697480"/>
            <a:ext cx="4160520" cy="475488"/>
          </a:xfrm>
          <a:prstGeom prst="roundRect">
            <a:avLst>
              <a:gd name="adj" fmla="val 13462"/>
            </a:avLst>
          </a:prstGeom>
          <a:solidFill>
            <a:srgbClr val="FFFFFF"/>
          </a:solidFill>
          <a:ln w="12700">
            <a:solidFill>
              <a:srgbClr val="D8E4F0"/>
            </a:solidFill>
            <a:prstDash val="solid"/>
          </a:ln>
          <a:effectLst>
            <a:outerShdw blurRad="101600" dist="38100" dir="2700000" algn="bl" rotWithShape="0">
              <a:srgbClr val="000000">
                <a:alpha val="12000"/>
              </a:srgbClr>
            </a:outerShdw>
          </a:effectLst>
        </p:spPr>
        <p:txBody>
          <a:bodyPr/>
          <a:lstStyle/>
          <a:p>
            <a:endParaRPr lang="en-GB"/>
          </a:p>
        </p:txBody>
      </p:sp>
      <p:sp>
        <p:nvSpPr>
          <p:cNvPr id="15" name="Shape 13"/>
          <p:cNvSpPr/>
          <p:nvPr/>
        </p:nvSpPr>
        <p:spPr>
          <a:xfrm>
            <a:off x="365760" y="2788920"/>
            <a:ext cx="292608" cy="292608"/>
          </a:xfrm>
          <a:prstGeom prst="roundRect">
            <a:avLst>
              <a:gd name="adj" fmla="val 12500"/>
            </a:avLst>
          </a:prstGeom>
          <a:solidFill>
            <a:srgbClr val="E8F4F2"/>
          </a:solidFill>
          <a:ln w="12700">
            <a:solidFill>
              <a:srgbClr val="0D7377"/>
            </a:solidFill>
            <a:prstDash val="solid"/>
          </a:ln>
        </p:spPr>
        <p:txBody>
          <a:bodyPr/>
          <a:lstStyle/>
          <a:p>
            <a:endParaRPr lang="en-GB"/>
          </a:p>
        </p:txBody>
      </p:sp>
      <p:sp>
        <p:nvSpPr>
          <p:cNvPr id="16" name="Text 14"/>
          <p:cNvSpPr/>
          <p:nvPr/>
        </p:nvSpPr>
        <p:spPr>
          <a:xfrm>
            <a:off x="731520" y="2743200"/>
            <a:ext cx="3602736" cy="384048"/>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Consent form discloses AI tool use: tool named, data location confirmed, DPA in place</a:t>
            </a:r>
            <a:endParaRPr lang="en-US" sz="1050" dirty="0"/>
          </a:p>
        </p:txBody>
      </p:sp>
      <p:sp>
        <p:nvSpPr>
          <p:cNvPr id="17" name="Shape 15"/>
          <p:cNvSpPr/>
          <p:nvPr/>
        </p:nvSpPr>
        <p:spPr>
          <a:xfrm>
            <a:off x="274320" y="3236976"/>
            <a:ext cx="4160520" cy="475488"/>
          </a:xfrm>
          <a:prstGeom prst="roundRect">
            <a:avLst>
              <a:gd name="adj" fmla="val 13462"/>
            </a:avLst>
          </a:prstGeom>
          <a:solidFill>
            <a:srgbClr val="FFFFFF"/>
          </a:solidFill>
          <a:ln w="12700">
            <a:solidFill>
              <a:srgbClr val="D8E4F0"/>
            </a:solidFill>
            <a:prstDash val="solid"/>
          </a:ln>
          <a:effectLst>
            <a:outerShdw blurRad="101600" dist="38100" dir="2700000" algn="bl" rotWithShape="0">
              <a:srgbClr val="000000">
                <a:alpha val="12000"/>
              </a:srgbClr>
            </a:outerShdw>
          </a:effectLst>
        </p:spPr>
        <p:txBody>
          <a:bodyPr/>
          <a:lstStyle/>
          <a:p>
            <a:endParaRPr lang="en-GB"/>
          </a:p>
        </p:txBody>
      </p:sp>
      <p:sp>
        <p:nvSpPr>
          <p:cNvPr id="18" name="Shape 16"/>
          <p:cNvSpPr/>
          <p:nvPr/>
        </p:nvSpPr>
        <p:spPr>
          <a:xfrm>
            <a:off x="365760" y="3328416"/>
            <a:ext cx="292608" cy="292608"/>
          </a:xfrm>
          <a:prstGeom prst="roundRect">
            <a:avLst>
              <a:gd name="adj" fmla="val 12500"/>
            </a:avLst>
          </a:prstGeom>
          <a:solidFill>
            <a:srgbClr val="E8F4F2"/>
          </a:solidFill>
          <a:ln w="12700">
            <a:solidFill>
              <a:srgbClr val="0D7377"/>
            </a:solidFill>
            <a:prstDash val="solid"/>
          </a:ln>
        </p:spPr>
        <p:txBody>
          <a:bodyPr/>
          <a:lstStyle/>
          <a:p>
            <a:endParaRPr lang="en-GB"/>
          </a:p>
        </p:txBody>
      </p:sp>
      <p:sp>
        <p:nvSpPr>
          <p:cNvPr id="19" name="Text 17"/>
          <p:cNvSpPr/>
          <p:nvPr/>
        </p:nvSpPr>
        <p:spPr>
          <a:xfrm>
            <a:off x="731520" y="3282696"/>
            <a:ext cx="3602736" cy="384048"/>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Data assigned a persistent identifier (DOI) and registered in a repository</a:t>
            </a:r>
            <a:endParaRPr lang="en-US" sz="1050" dirty="0"/>
          </a:p>
        </p:txBody>
      </p:sp>
      <p:sp>
        <p:nvSpPr>
          <p:cNvPr id="20" name="Shape 18"/>
          <p:cNvSpPr/>
          <p:nvPr/>
        </p:nvSpPr>
        <p:spPr>
          <a:xfrm>
            <a:off x="274320" y="3776472"/>
            <a:ext cx="4160520" cy="475488"/>
          </a:xfrm>
          <a:prstGeom prst="roundRect">
            <a:avLst>
              <a:gd name="adj" fmla="val 13462"/>
            </a:avLst>
          </a:prstGeom>
          <a:solidFill>
            <a:srgbClr val="FFFFFF"/>
          </a:solidFill>
          <a:ln w="12700">
            <a:solidFill>
              <a:srgbClr val="D8E4F0"/>
            </a:solidFill>
            <a:prstDash val="solid"/>
          </a:ln>
          <a:effectLst>
            <a:outerShdw blurRad="101600" dist="38100" dir="2700000" algn="bl" rotWithShape="0">
              <a:srgbClr val="000000">
                <a:alpha val="12000"/>
              </a:srgbClr>
            </a:outerShdw>
          </a:effectLst>
        </p:spPr>
        <p:txBody>
          <a:bodyPr/>
          <a:lstStyle/>
          <a:p>
            <a:endParaRPr lang="en-GB"/>
          </a:p>
        </p:txBody>
      </p:sp>
      <p:sp>
        <p:nvSpPr>
          <p:cNvPr id="21" name="Shape 19"/>
          <p:cNvSpPr/>
          <p:nvPr/>
        </p:nvSpPr>
        <p:spPr>
          <a:xfrm>
            <a:off x="365760" y="3867912"/>
            <a:ext cx="292608" cy="292608"/>
          </a:xfrm>
          <a:prstGeom prst="roundRect">
            <a:avLst>
              <a:gd name="adj" fmla="val 12500"/>
            </a:avLst>
          </a:prstGeom>
          <a:solidFill>
            <a:srgbClr val="E8F4F2"/>
          </a:solidFill>
          <a:ln w="12700">
            <a:solidFill>
              <a:srgbClr val="0D7377"/>
            </a:solidFill>
            <a:prstDash val="solid"/>
          </a:ln>
        </p:spPr>
        <p:txBody>
          <a:bodyPr/>
          <a:lstStyle/>
          <a:p>
            <a:endParaRPr lang="en-GB"/>
          </a:p>
        </p:txBody>
      </p:sp>
      <p:sp>
        <p:nvSpPr>
          <p:cNvPr id="22" name="Text 20"/>
          <p:cNvSpPr/>
          <p:nvPr/>
        </p:nvSpPr>
        <p:spPr>
          <a:xfrm>
            <a:off x="731520" y="3822192"/>
            <a:ext cx="3602736" cy="384048"/>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FAIR metadata record created: Findable, Accessible, Interoperable, Reusable</a:t>
            </a:r>
            <a:endParaRPr lang="en-US" sz="1050" dirty="0"/>
          </a:p>
        </p:txBody>
      </p:sp>
      <p:sp>
        <p:nvSpPr>
          <p:cNvPr id="23" name="Shape 21"/>
          <p:cNvSpPr/>
          <p:nvPr/>
        </p:nvSpPr>
        <p:spPr>
          <a:xfrm>
            <a:off x="274320" y="4315968"/>
            <a:ext cx="4160520" cy="475488"/>
          </a:xfrm>
          <a:prstGeom prst="roundRect">
            <a:avLst>
              <a:gd name="adj" fmla="val 13462"/>
            </a:avLst>
          </a:prstGeom>
          <a:solidFill>
            <a:srgbClr val="FFFFFF"/>
          </a:solidFill>
          <a:ln w="12700">
            <a:solidFill>
              <a:srgbClr val="D8E4F0"/>
            </a:solidFill>
            <a:prstDash val="solid"/>
          </a:ln>
          <a:effectLst>
            <a:outerShdw blurRad="101600" dist="38100" dir="2700000" algn="bl" rotWithShape="0">
              <a:srgbClr val="000000">
                <a:alpha val="12000"/>
              </a:srgbClr>
            </a:outerShdw>
          </a:effectLst>
        </p:spPr>
        <p:txBody>
          <a:bodyPr/>
          <a:lstStyle/>
          <a:p>
            <a:endParaRPr lang="en-GB"/>
          </a:p>
        </p:txBody>
      </p:sp>
      <p:sp>
        <p:nvSpPr>
          <p:cNvPr id="24" name="Shape 22"/>
          <p:cNvSpPr/>
          <p:nvPr/>
        </p:nvSpPr>
        <p:spPr>
          <a:xfrm>
            <a:off x="365760" y="4407408"/>
            <a:ext cx="292608" cy="292608"/>
          </a:xfrm>
          <a:prstGeom prst="roundRect">
            <a:avLst>
              <a:gd name="adj" fmla="val 12500"/>
            </a:avLst>
          </a:prstGeom>
          <a:solidFill>
            <a:srgbClr val="E8F4F2"/>
          </a:solidFill>
          <a:ln w="12700">
            <a:solidFill>
              <a:srgbClr val="0D7377"/>
            </a:solidFill>
            <a:prstDash val="solid"/>
          </a:ln>
        </p:spPr>
        <p:txBody>
          <a:bodyPr/>
          <a:lstStyle/>
          <a:p>
            <a:endParaRPr lang="en-GB"/>
          </a:p>
        </p:txBody>
      </p:sp>
      <p:sp>
        <p:nvSpPr>
          <p:cNvPr id="25" name="Text 23"/>
          <p:cNvSpPr/>
          <p:nvPr/>
        </p:nvSpPr>
        <p:spPr>
          <a:xfrm>
            <a:off x="731520" y="4361688"/>
            <a:ext cx="3602736" cy="384048"/>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Datasheet for dataset completed (Motivation, Composition, Collection, Uses, Restrictions)</a:t>
            </a:r>
            <a:endParaRPr lang="en-US" sz="1050" dirty="0"/>
          </a:p>
        </p:txBody>
      </p:sp>
      <p:sp>
        <p:nvSpPr>
          <p:cNvPr id="26" name="Shape 24"/>
          <p:cNvSpPr/>
          <p:nvPr/>
        </p:nvSpPr>
        <p:spPr>
          <a:xfrm>
            <a:off x="4681728" y="1078992"/>
            <a:ext cx="4160520" cy="475488"/>
          </a:xfrm>
          <a:prstGeom prst="roundRect">
            <a:avLst>
              <a:gd name="adj" fmla="val 13462"/>
            </a:avLst>
          </a:prstGeom>
          <a:solidFill>
            <a:srgbClr val="FFFFFF"/>
          </a:solidFill>
          <a:ln w="12700">
            <a:solidFill>
              <a:srgbClr val="D8E4F0"/>
            </a:solidFill>
            <a:prstDash val="solid"/>
          </a:ln>
          <a:effectLst>
            <a:outerShdw blurRad="101600" dist="38100" dir="2700000" algn="bl" rotWithShape="0">
              <a:srgbClr val="000000">
                <a:alpha val="12000"/>
              </a:srgbClr>
            </a:outerShdw>
          </a:effectLst>
        </p:spPr>
        <p:txBody>
          <a:bodyPr/>
          <a:lstStyle/>
          <a:p>
            <a:endParaRPr lang="en-GB"/>
          </a:p>
        </p:txBody>
      </p:sp>
      <p:sp>
        <p:nvSpPr>
          <p:cNvPr id="27" name="Shape 25"/>
          <p:cNvSpPr/>
          <p:nvPr/>
        </p:nvSpPr>
        <p:spPr>
          <a:xfrm>
            <a:off x="4773168" y="1170432"/>
            <a:ext cx="292608" cy="292608"/>
          </a:xfrm>
          <a:prstGeom prst="roundRect">
            <a:avLst>
              <a:gd name="adj" fmla="val 12500"/>
            </a:avLst>
          </a:prstGeom>
          <a:solidFill>
            <a:srgbClr val="E8F4F2"/>
          </a:solidFill>
          <a:ln w="12700">
            <a:solidFill>
              <a:srgbClr val="0D7377"/>
            </a:solidFill>
            <a:prstDash val="solid"/>
          </a:ln>
        </p:spPr>
        <p:txBody>
          <a:bodyPr/>
          <a:lstStyle/>
          <a:p>
            <a:endParaRPr lang="en-GB"/>
          </a:p>
        </p:txBody>
      </p:sp>
      <p:sp>
        <p:nvSpPr>
          <p:cNvPr id="28" name="Text 26"/>
          <p:cNvSpPr/>
          <p:nvPr/>
        </p:nvSpPr>
        <p:spPr>
          <a:xfrm>
            <a:off x="5138928" y="1124712"/>
            <a:ext cx="3602736" cy="384048"/>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Data collection tool is secure (REDCap / KoboToolbox Encrypted — NOT Google Forms or WhatsApp)</a:t>
            </a:r>
            <a:endParaRPr lang="en-US" sz="1050" dirty="0"/>
          </a:p>
        </p:txBody>
      </p:sp>
      <p:sp>
        <p:nvSpPr>
          <p:cNvPr id="29" name="Shape 27"/>
          <p:cNvSpPr/>
          <p:nvPr/>
        </p:nvSpPr>
        <p:spPr>
          <a:xfrm>
            <a:off x="4681728" y="1618488"/>
            <a:ext cx="4160520" cy="475488"/>
          </a:xfrm>
          <a:prstGeom prst="roundRect">
            <a:avLst>
              <a:gd name="adj" fmla="val 13462"/>
            </a:avLst>
          </a:prstGeom>
          <a:solidFill>
            <a:srgbClr val="FFFFFF"/>
          </a:solidFill>
          <a:ln w="12700">
            <a:solidFill>
              <a:srgbClr val="D8E4F0"/>
            </a:solidFill>
            <a:prstDash val="solid"/>
          </a:ln>
          <a:effectLst>
            <a:outerShdw blurRad="101600" dist="38100" dir="2700000" algn="bl" rotWithShape="0">
              <a:srgbClr val="000000">
                <a:alpha val="12000"/>
              </a:srgbClr>
            </a:outerShdw>
          </a:effectLst>
        </p:spPr>
        <p:txBody>
          <a:bodyPr/>
          <a:lstStyle/>
          <a:p>
            <a:endParaRPr lang="en-GB"/>
          </a:p>
        </p:txBody>
      </p:sp>
      <p:sp>
        <p:nvSpPr>
          <p:cNvPr id="30" name="Shape 28"/>
          <p:cNvSpPr/>
          <p:nvPr/>
        </p:nvSpPr>
        <p:spPr>
          <a:xfrm>
            <a:off x="4773168" y="1709928"/>
            <a:ext cx="292608" cy="292608"/>
          </a:xfrm>
          <a:prstGeom prst="roundRect">
            <a:avLst>
              <a:gd name="adj" fmla="val 12500"/>
            </a:avLst>
          </a:prstGeom>
          <a:solidFill>
            <a:srgbClr val="E8F4F2"/>
          </a:solidFill>
          <a:ln w="12700">
            <a:solidFill>
              <a:srgbClr val="0D7377"/>
            </a:solidFill>
            <a:prstDash val="solid"/>
          </a:ln>
        </p:spPr>
        <p:txBody>
          <a:bodyPr/>
          <a:lstStyle/>
          <a:p>
            <a:endParaRPr lang="en-GB"/>
          </a:p>
        </p:txBody>
      </p:sp>
      <p:sp>
        <p:nvSpPr>
          <p:cNvPr id="31" name="Text 29"/>
          <p:cNvSpPr/>
          <p:nvPr/>
        </p:nvSpPr>
        <p:spPr>
          <a:xfrm>
            <a:off x="5138928" y="1664208"/>
            <a:ext cx="3602736" cy="384048"/>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Storage encrypted at rest (AES-256) with role-based access control (RBAC)</a:t>
            </a:r>
            <a:endParaRPr lang="en-US" sz="1050" dirty="0"/>
          </a:p>
        </p:txBody>
      </p:sp>
      <p:sp>
        <p:nvSpPr>
          <p:cNvPr id="32" name="Shape 30"/>
          <p:cNvSpPr/>
          <p:nvPr/>
        </p:nvSpPr>
        <p:spPr>
          <a:xfrm>
            <a:off x="4681728" y="2157984"/>
            <a:ext cx="4160520" cy="475488"/>
          </a:xfrm>
          <a:prstGeom prst="roundRect">
            <a:avLst>
              <a:gd name="adj" fmla="val 13462"/>
            </a:avLst>
          </a:prstGeom>
          <a:solidFill>
            <a:srgbClr val="FFFFFF"/>
          </a:solidFill>
          <a:ln w="12700">
            <a:solidFill>
              <a:srgbClr val="D8E4F0"/>
            </a:solidFill>
            <a:prstDash val="solid"/>
          </a:ln>
          <a:effectLst>
            <a:outerShdw blurRad="101600" dist="38100" dir="2700000" algn="bl" rotWithShape="0">
              <a:srgbClr val="000000">
                <a:alpha val="12000"/>
              </a:srgbClr>
            </a:outerShdw>
          </a:effectLst>
        </p:spPr>
        <p:txBody>
          <a:bodyPr/>
          <a:lstStyle/>
          <a:p>
            <a:endParaRPr lang="en-GB"/>
          </a:p>
        </p:txBody>
      </p:sp>
      <p:sp>
        <p:nvSpPr>
          <p:cNvPr id="33" name="Shape 31"/>
          <p:cNvSpPr/>
          <p:nvPr/>
        </p:nvSpPr>
        <p:spPr>
          <a:xfrm>
            <a:off x="4773168" y="2249424"/>
            <a:ext cx="292608" cy="292608"/>
          </a:xfrm>
          <a:prstGeom prst="roundRect">
            <a:avLst>
              <a:gd name="adj" fmla="val 12500"/>
            </a:avLst>
          </a:prstGeom>
          <a:solidFill>
            <a:srgbClr val="E8F4F2"/>
          </a:solidFill>
          <a:ln w="12700">
            <a:solidFill>
              <a:srgbClr val="0D7377"/>
            </a:solidFill>
            <a:prstDash val="solid"/>
          </a:ln>
        </p:spPr>
        <p:txBody>
          <a:bodyPr/>
          <a:lstStyle/>
          <a:p>
            <a:endParaRPr lang="en-GB"/>
          </a:p>
        </p:txBody>
      </p:sp>
      <p:sp>
        <p:nvSpPr>
          <p:cNvPr id="34" name="Text 32"/>
          <p:cNvSpPr/>
          <p:nvPr/>
        </p:nvSpPr>
        <p:spPr>
          <a:xfrm>
            <a:off x="5138928" y="2203704"/>
            <a:ext cx="3602736" cy="384048"/>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De-identification / anonymisation applied; k-anonymity (k≥5) verified on African-language identifiers</a:t>
            </a:r>
            <a:endParaRPr lang="en-US" sz="1050" dirty="0"/>
          </a:p>
        </p:txBody>
      </p:sp>
      <p:sp>
        <p:nvSpPr>
          <p:cNvPr id="35" name="Shape 33"/>
          <p:cNvSpPr/>
          <p:nvPr/>
        </p:nvSpPr>
        <p:spPr>
          <a:xfrm>
            <a:off x="4681728" y="2697480"/>
            <a:ext cx="4160520" cy="475488"/>
          </a:xfrm>
          <a:prstGeom prst="roundRect">
            <a:avLst>
              <a:gd name="adj" fmla="val 13462"/>
            </a:avLst>
          </a:prstGeom>
          <a:solidFill>
            <a:srgbClr val="FFFFFF"/>
          </a:solidFill>
          <a:ln w="12700">
            <a:solidFill>
              <a:srgbClr val="D8E4F0"/>
            </a:solidFill>
            <a:prstDash val="solid"/>
          </a:ln>
          <a:effectLst>
            <a:outerShdw blurRad="101600" dist="38100" dir="2700000" algn="bl" rotWithShape="0">
              <a:srgbClr val="000000">
                <a:alpha val="12000"/>
              </a:srgbClr>
            </a:outerShdw>
          </a:effectLst>
        </p:spPr>
        <p:txBody>
          <a:bodyPr/>
          <a:lstStyle/>
          <a:p>
            <a:endParaRPr lang="en-GB"/>
          </a:p>
        </p:txBody>
      </p:sp>
      <p:sp>
        <p:nvSpPr>
          <p:cNvPr id="36" name="Shape 34"/>
          <p:cNvSpPr/>
          <p:nvPr/>
        </p:nvSpPr>
        <p:spPr>
          <a:xfrm>
            <a:off x="4773168" y="2788920"/>
            <a:ext cx="292608" cy="292608"/>
          </a:xfrm>
          <a:prstGeom prst="roundRect">
            <a:avLst>
              <a:gd name="adj" fmla="val 12500"/>
            </a:avLst>
          </a:prstGeom>
          <a:solidFill>
            <a:srgbClr val="E8F4F2"/>
          </a:solidFill>
          <a:ln w="12700">
            <a:solidFill>
              <a:srgbClr val="0D7377"/>
            </a:solidFill>
            <a:prstDash val="solid"/>
          </a:ln>
        </p:spPr>
        <p:txBody>
          <a:bodyPr/>
          <a:lstStyle/>
          <a:p>
            <a:endParaRPr lang="en-GB"/>
          </a:p>
        </p:txBody>
      </p:sp>
      <p:sp>
        <p:nvSpPr>
          <p:cNvPr id="37" name="Text 35"/>
          <p:cNvSpPr/>
          <p:nvPr/>
        </p:nvSpPr>
        <p:spPr>
          <a:xfrm>
            <a:off x="5138928" y="2743200"/>
            <a:ext cx="3602736" cy="384048"/>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Breach response protocol documented: 72-hour notification pathway identified (NDPA §40)</a:t>
            </a:r>
            <a:endParaRPr lang="en-US" sz="1050" dirty="0"/>
          </a:p>
        </p:txBody>
      </p:sp>
      <p:sp>
        <p:nvSpPr>
          <p:cNvPr id="38" name="Shape 36"/>
          <p:cNvSpPr/>
          <p:nvPr/>
        </p:nvSpPr>
        <p:spPr>
          <a:xfrm>
            <a:off x="4681728" y="3236976"/>
            <a:ext cx="4160520" cy="475488"/>
          </a:xfrm>
          <a:prstGeom prst="roundRect">
            <a:avLst>
              <a:gd name="adj" fmla="val 13462"/>
            </a:avLst>
          </a:prstGeom>
          <a:solidFill>
            <a:srgbClr val="FFFFFF"/>
          </a:solidFill>
          <a:ln w="12700">
            <a:solidFill>
              <a:srgbClr val="D8E4F0"/>
            </a:solidFill>
            <a:prstDash val="solid"/>
          </a:ln>
          <a:effectLst>
            <a:outerShdw blurRad="101600" dist="38100" dir="2700000" algn="bl" rotWithShape="0">
              <a:srgbClr val="000000">
                <a:alpha val="12000"/>
              </a:srgbClr>
            </a:outerShdw>
          </a:effectLst>
        </p:spPr>
        <p:txBody>
          <a:bodyPr/>
          <a:lstStyle/>
          <a:p>
            <a:endParaRPr lang="en-GB"/>
          </a:p>
        </p:txBody>
      </p:sp>
      <p:sp>
        <p:nvSpPr>
          <p:cNvPr id="39" name="Shape 37"/>
          <p:cNvSpPr/>
          <p:nvPr/>
        </p:nvSpPr>
        <p:spPr>
          <a:xfrm>
            <a:off x="4773168" y="3328416"/>
            <a:ext cx="292608" cy="292608"/>
          </a:xfrm>
          <a:prstGeom prst="roundRect">
            <a:avLst>
              <a:gd name="adj" fmla="val 12500"/>
            </a:avLst>
          </a:prstGeom>
          <a:solidFill>
            <a:srgbClr val="E8F4F2"/>
          </a:solidFill>
          <a:ln w="12700">
            <a:solidFill>
              <a:srgbClr val="0D7377"/>
            </a:solidFill>
            <a:prstDash val="solid"/>
          </a:ln>
        </p:spPr>
        <p:txBody>
          <a:bodyPr/>
          <a:lstStyle/>
          <a:p>
            <a:endParaRPr lang="en-GB"/>
          </a:p>
        </p:txBody>
      </p:sp>
      <p:sp>
        <p:nvSpPr>
          <p:cNvPr id="40" name="Text 38"/>
          <p:cNvSpPr/>
          <p:nvPr/>
        </p:nvSpPr>
        <p:spPr>
          <a:xfrm>
            <a:off x="5138928" y="3282696"/>
            <a:ext cx="3602736" cy="384048"/>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All team members (including postgraduate students) trained on NDPA obligations</a:t>
            </a:r>
            <a:endParaRPr lang="en-US" sz="1050" dirty="0"/>
          </a:p>
        </p:txBody>
      </p:sp>
      <p:sp>
        <p:nvSpPr>
          <p:cNvPr id="41" name="Shape 39"/>
          <p:cNvSpPr/>
          <p:nvPr/>
        </p:nvSpPr>
        <p:spPr>
          <a:xfrm>
            <a:off x="4681728" y="3776472"/>
            <a:ext cx="4160520" cy="475488"/>
          </a:xfrm>
          <a:prstGeom prst="roundRect">
            <a:avLst>
              <a:gd name="adj" fmla="val 13462"/>
            </a:avLst>
          </a:prstGeom>
          <a:solidFill>
            <a:srgbClr val="FFFFFF"/>
          </a:solidFill>
          <a:ln w="12700">
            <a:solidFill>
              <a:srgbClr val="D8E4F0"/>
            </a:solidFill>
            <a:prstDash val="solid"/>
          </a:ln>
          <a:effectLst>
            <a:outerShdw blurRad="101600" dist="38100" dir="2700000" algn="bl" rotWithShape="0">
              <a:srgbClr val="000000">
                <a:alpha val="12000"/>
              </a:srgbClr>
            </a:outerShdw>
          </a:effectLst>
        </p:spPr>
        <p:txBody>
          <a:bodyPr/>
          <a:lstStyle/>
          <a:p>
            <a:endParaRPr lang="en-GB"/>
          </a:p>
        </p:txBody>
      </p:sp>
      <p:sp>
        <p:nvSpPr>
          <p:cNvPr id="42" name="Shape 40"/>
          <p:cNvSpPr/>
          <p:nvPr/>
        </p:nvSpPr>
        <p:spPr>
          <a:xfrm>
            <a:off x="4773168" y="3867912"/>
            <a:ext cx="292608" cy="292608"/>
          </a:xfrm>
          <a:prstGeom prst="roundRect">
            <a:avLst>
              <a:gd name="adj" fmla="val 12500"/>
            </a:avLst>
          </a:prstGeom>
          <a:solidFill>
            <a:srgbClr val="E8F4F2"/>
          </a:solidFill>
          <a:ln w="12700">
            <a:solidFill>
              <a:srgbClr val="0D7377"/>
            </a:solidFill>
            <a:prstDash val="solid"/>
          </a:ln>
        </p:spPr>
        <p:txBody>
          <a:bodyPr/>
          <a:lstStyle/>
          <a:p>
            <a:endParaRPr lang="en-GB"/>
          </a:p>
        </p:txBody>
      </p:sp>
      <p:sp>
        <p:nvSpPr>
          <p:cNvPr id="43" name="Text 41"/>
          <p:cNvSpPr/>
          <p:nvPr/>
        </p:nvSpPr>
        <p:spPr>
          <a:xfrm>
            <a:off x="5138928" y="3822192"/>
            <a:ext cx="3602736" cy="384048"/>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AI tools processing participant data covered by a signed Data Processing Agreement</a:t>
            </a:r>
            <a:endParaRPr lang="en-US" sz="1050" dirty="0"/>
          </a:p>
        </p:txBody>
      </p:sp>
      <p:sp>
        <p:nvSpPr>
          <p:cNvPr id="44" name="Shape 42"/>
          <p:cNvSpPr/>
          <p:nvPr/>
        </p:nvSpPr>
        <p:spPr>
          <a:xfrm>
            <a:off x="4681728" y="4315968"/>
            <a:ext cx="4160520" cy="475488"/>
          </a:xfrm>
          <a:prstGeom prst="roundRect">
            <a:avLst>
              <a:gd name="adj" fmla="val 13462"/>
            </a:avLst>
          </a:prstGeom>
          <a:solidFill>
            <a:srgbClr val="FFFFFF"/>
          </a:solidFill>
          <a:ln w="12700">
            <a:solidFill>
              <a:srgbClr val="D8E4F0"/>
            </a:solidFill>
            <a:prstDash val="solid"/>
          </a:ln>
          <a:effectLst>
            <a:outerShdw blurRad="101600" dist="38100" dir="2700000" algn="bl" rotWithShape="0">
              <a:srgbClr val="000000">
                <a:alpha val="12000"/>
              </a:srgbClr>
            </a:outerShdw>
          </a:effectLst>
        </p:spPr>
        <p:txBody>
          <a:bodyPr/>
          <a:lstStyle/>
          <a:p>
            <a:endParaRPr lang="en-GB"/>
          </a:p>
        </p:txBody>
      </p:sp>
      <p:sp>
        <p:nvSpPr>
          <p:cNvPr id="45" name="Shape 43"/>
          <p:cNvSpPr/>
          <p:nvPr/>
        </p:nvSpPr>
        <p:spPr>
          <a:xfrm>
            <a:off x="4773168" y="4407408"/>
            <a:ext cx="292608" cy="292608"/>
          </a:xfrm>
          <a:prstGeom prst="roundRect">
            <a:avLst>
              <a:gd name="adj" fmla="val 12500"/>
            </a:avLst>
          </a:prstGeom>
          <a:solidFill>
            <a:srgbClr val="E8F4F2"/>
          </a:solidFill>
          <a:ln w="12700">
            <a:solidFill>
              <a:srgbClr val="0D7377"/>
            </a:solidFill>
            <a:prstDash val="solid"/>
          </a:ln>
        </p:spPr>
        <p:txBody>
          <a:bodyPr/>
          <a:lstStyle/>
          <a:p>
            <a:endParaRPr lang="en-GB"/>
          </a:p>
        </p:txBody>
      </p:sp>
      <p:sp>
        <p:nvSpPr>
          <p:cNvPr id="46" name="Text 44"/>
          <p:cNvSpPr/>
          <p:nvPr/>
        </p:nvSpPr>
        <p:spPr>
          <a:xfrm>
            <a:off x="5138928" y="4361688"/>
            <a:ext cx="3602736" cy="384048"/>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Community-level consent or engagement obtained where study affects a group, community or ethnic population</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A2E4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7377"/>
          </a:solidFill>
          <a:ln w="12700">
            <a:solidFill>
              <a:srgbClr val="0D7377"/>
            </a:solidFill>
            <a:prstDash val="solid"/>
          </a:ln>
        </p:spPr>
        <p:txBody>
          <a:bodyPr/>
          <a:lstStyle/>
          <a:p>
            <a:endParaRPr lang="en-GB"/>
          </a:p>
        </p:txBody>
      </p:sp>
      <p:sp>
        <p:nvSpPr>
          <p:cNvPr id="3" name="Shape 1"/>
          <p:cNvSpPr/>
          <p:nvPr/>
        </p:nvSpPr>
        <p:spPr>
          <a:xfrm>
            <a:off x="0" y="5070348"/>
            <a:ext cx="9144000" cy="73152"/>
          </a:xfrm>
          <a:prstGeom prst="rect">
            <a:avLst/>
          </a:prstGeom>
          <a:solidFill>
            <a:srgbClr val="E8A020"/>
          </a:solidFill>
          <a:ln w="12700">
            <a:solidFill>
              <a:srgbClr val="E8A020"/>
            </a:solidFill>
            <a:prstDash val="solid"/>
          </a:ln>
        </p:spPr>
        <p:txBody>
          <a:bodyPr/>
          <a:lstStyle/>
          <a:p>
            <a:endParaRPr lang="en-GB"/>
          </a:p>
        </p:txBody>
      </p:sp>
      <p:sp>
        <p:nvSpPr>
          <p:cNvPr id="4" name="Text 2"/>
          <p:cNvSpPr/>
          <p:nvPr/>
        </p:nvSpPr>
        <p:spPr>
          <a:xfrm>
            <a:off x="365760" y="137160"/>
            <a:ext cx="8412480" cy="566928"/>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Key Takeaways</a:t>
            </a:r>
            <a:endParaRPr lang="en-US" sz="3000" dirty="0"/>
          </a:p>
        </p:txBody>
      </p:sp>
      <p:sp>
        <p:nvSpPr>
          <p:cNvPr id="5" name="Shape 3"/>
          <p:cNvSpPr/>
          <p:nvPr/>
        </p:nvSpPr>
        <p:spPr>
          <a:xfrm>
            <a:off x="320040" y="841248"/>
            <a:ext cx="411480" cy="411480"/>
          </a:xfrm>
          <a:prstGeom prst="ellipse">
            <a:avLst/>
          </a:prstGeom>
          <a:solidFill>
            <a:srgbClr val="0D7377"/>
          </a:solidFill>
          <a:ln w="12700">
            <a:solidFill>
              <a:srgbClr val="0D7377"/>
            </a:solidFill>
            <a:prstDash val="solid"/>
          </a:ln>
        </p:spPr>
        <p:txBody>
          <a:bodyPr/>
          <a:lstStyle/>
          <a:p>
            <a:endParaRPr lang="en-GB"/>
          </a:p>
        </p:txBody>
      </p:sp>
      <p:sp>
        <p:nvSpPr>
          <p:cNvPr id="6" name="Text 4"/>
          <p:cNvSpPr/>
          <p:nvPr/>
        </p:nvSpPr>
        <p:spPr>
          <a:xfrm>
            <a:off x="320040" y="841248"/>
            <a:ext cx="411480" cy="411480"/>
          </a:xfrm>
          <a:prstGeom prst="rect">
            <a:avLst/>
          </a:prstGeom>
          <a:noFill/>
          <a:ln/>
        </p:spPr>
        <p:txBody>
          <a:bodyPr wrap="square" rtlCol="0" anchor="ctr"/>
          <a:lstStyle/>
          <a:p>
            <a:pPr marL="0" indent="0" algn="ctr">
              <a:buNone/>
            </a:pPr>
            <a:r>
              <a:rPr lang="en-US" sz="1500" b="1" dirty="0">
                <a:solidFill>
                  <a:srgbClr val="FFFFFF"/>
                </a:solidFill>
              </a:rPr>
              <a:t>1</a:t>
            </a:r>
            <a:endParaRPr lang="en-US" sz="1500" dirty="0"/>
          </a:p>
        </p:txBody>
      </p:sp>
      <p:sp>
        <p:nvSpPr>
          <p:cNvPr id="7" name="Text 5"/>
          <p:cNvSpPr/>
          <p:nvPr/>
        </p:nvSpPr>
        <p:spPr>
          <a:xfrm>
            <a:off x="822960" y="822960"/>
            <a:ext cx="8046720" cy="457200"/>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Data security IS bioethics. Breaches violate participant autonomy, cause harm, and erode public trust in research — not just in IT systems.</a:t>
            </a:r>
            <a:endParaRPr lang="en-US" sz="1250" dirty="0"/>
          </a:p>
        </p:txBody>
      </p:sp>
      <p:sp>
        <p:nvSpPr>
          <p:cNvPr id="8" name="Shape 6"/>
          <p:cNvSpPr/>
          <p:nvPr/>
        </p:nvSpPr>
        <p:spPr>
          <a:xfrm>
            <a:off x="320040" y="1545336"/>
            <a:ext cx="411480" cy="411480"/>
          </a:xfrm>
          <a:prstGeom prst="ellipse">
            <a:avLst/>
          </a:prstGeom>
          <a:solidFill>
            <a:srgbClr val="0D7377"/>
          </a:solidFill>
          <a:ln w="12700">
            <a:solidFill>
              <a:srgbClr val="0D7377"/>
            </a:solidFill>
            <a:prstDash val="solid"/>
          </a:ln>
        </p:spPr>
        <p:txBody>
          <a:bodyPr/>
          <a:lstStyle/>
          <a:p>
            <a:endParaRPr lang="en-GB"/>
          </a:p>
        </p:txBody>
      </p:sp>
      <p:sp>
        <p:nvSpPr>
          <p:cNvPr id="9" name="Text 7"/>
          <p:cNvSpPr/>
          <p:nvPr/>
        </p:nvSpPr>
        <p:spPr>
          <a:xfrm>
            <a:off x="320040" y="1545336"/>
            <a:ext cx="411480" cy="411480"/>
          </a:xfrm>
          <a:prstGeom prst="rect">
            <a:avLst/>
          </a:prstGeom>
          <a:noFill/>
          <a:ln/>
        </p:spPr>
        <p:txBody>
          <a:bodyPr wrap="square" rtlCol="0" anchor="ctr"/>
          <a:lstStyle/>
          <a:p>
            <a:pPr marL="0" indent="0" algn="ctr">
              <a:buNone/>
            </a:pPr>
            <a:r>
              <a:rPr lang="en-US" sz="1500" b="1" dirty="0">
                <a:solidFill>
                  <a:srgbClr val="FFFFFF"/>
                </a:solidFill>
              </a:rPr>
              <a:t>2</a:t>
            </a:r>
            <a:endParaRPr lang="en-US" sz="1500" dirty="0"/>
          </a:p>
        </p:txBody>
      </p:sp>
      <p:sp>
        <p:nvSpPr>
          <p:cNvPr id="10" name="Text 8"/>
          <p:cNvSpPr/>
          <p:nvPr/>
        </p:nvSpPr>
        <p:spPr>
          <a:xfrm>
            <a:off x="822960" y="1527048"/>
            <a:ext cx="8046720" cy="457200"/>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NDPA 2023 is binding on all Nigerian research institutions. There are no research exemptions. Ignorance is not a defence.</a:t>
            </a:r>
            <a:endParaRPr lang="en-US" sz="1250" dirty="0"/>
          </a:p>
        </p:txBody>
      </p:sp>
      <p:sp>
        <p:nvSpPr>
          <p:cNvPr id="11" name="Shape 9"/>
          <p:cNvSpPr/>
          <p:nvPr/>
        </p:nvSpPr>
        <p:spPr>
          <a:xfrm>
            <a:off x="320040" y="2249424"/>
            <a:ext cx="411480" cy="411480"/>
          </a:xfrm>
          <a:prstGeom prst="ellipse">
            <a:avLst/>
          </a:prstGeom>
          <a:solidFill>
            <a:srgbClr val="0D7377"/>
          </a:solidFill>
          <a:ln w="12700">
            <a:solidFill>
              <a:srgbClr val="0D7377"/>
            </a:solidFill>
            <a:prstDash val="solid"/>
          </a:ln>
        </p:spPr>
        <p:txBody>
          <a:bodyPr/>
          <a:lstStyle/>
          <a:p>
            <a:endParaRPr lang="en-GB"/>
          </a:p>
        </p:txBody>
      </p:sp>
      <p:sp>
        <p:nvSpPr>
          <p:cNvPr id="12" name="Text 10"/>
          <p:cNvSpPr/>
          <p:nvPr/>
        </p:nvSpPr>
        <p:spPr>
          <a:xfrm>
            <a:off x="320040" y="2249424"/>
            <a:ext cx="411480" cy="411480"/>
          </a:xfrm>
          <a:prstGeom prst="rect">
            <a:avLst/>
          </a:prstGeom>
          <a:noFill/>
          <a:ln/>
        </p:spPr>
        <p:txBody>
          <a:bodyPr wrap="square" rtlCol="0" anchor="ctr"/>
          <a:lstStyle/>
          <a:p>
            <a:pPr marL="0" indent="0" algn="ctr">
              <a:buNone/>
            </a:pPr>
            <a:r>
              <a:rPr lang="en-US" sz="1500" b="1" dirty="0">
                <a:solidFill>
                  <a:srgbClr val="FFFFFF"/>
                </a:solidFill>
              </a:rPr>
              <a:t>3</a:t>
            </a:r>
            <a:endParaRPr lang="en-US" sz="1500" dirty="0"/>
          </a:p>
        </p:txBody>
      </p:sp>
      <p:sp>
        <p:nvSpPr>
          <p:cNvPr id="13" name="Text 11"/>
          <p:cNvSpPr/>
          <p:nvPr/>
        </p:nvSpPr>
        <p:spPr>
          <a:xfrm>
            <a:off x="822960" y="2231136"/>
            <a:ext cx="8046720" cy="457200"/>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FAIR Data (Findable, Accessible, Interoperable, Reusable) and security are COMPLEMENTARY. FAIR + documented access controls = best practice.</a:t>
            </a:r>
            <a:endParaRPr lang="en-US" sz="1250" dirty="0"/>
          </a:p>
        </p:txBody>
      </p:sp>
      <p:sp>
        <p:nvSpPr>
          <p:cNvPr id="14" name="Shape 12"/>
          <p:cNvSpPr/>
          <p:nvPr/>
        </p:nvSpPr>
        <p:spPr>
          <a:xfrm>
            <a:off x="320040" y="2953512"/>
            <a:ext cx="411480" cy="411480"/>
          </a:xfrm>
          <a:prstGeom prst="ellipse">
            <a:avLst/>
          </a:prstGeom>
          <a:solidFill>
            <a:srgbClr val="0D7377"/>
          </a:solidFill>
          <a:ln w="12700">
            <a:solidFill>
              <a:srgbClr val="0D7377"/>
            </a:solidFill>
            <a:prstDash val="solid"/>
          </a:ln>
        </p:spPr>
        <p:txBody>
          <a:bodyPr/>
          <a:lstStyle/>
          <a:p>
            <a:endParaRPr lang="en-GB"/>
          </a:p>
        </p:txBody>
      </p:sp>
      <p:sp>
        <p:nvSpPr>
          <p:cNvPr id="15" name="Text 13"/>
          <p:cNvSpPr/>
          <p:nvPr/>
        </p:nvSpPr>
        <p:spPr>
          <a:xfrm>
            <a:off x="320040" y="2953512"/>
            <a:ext cx="411480" cy="411480"/>
          </a:xfrm>
          <a:prstGeom prst="rect">
            <a:avLst/>
          </a:prstGeom>
          <a:noFill/>
          <a:ln/>
        </p:spPr>
        <p:txBody>
          <a:bodyPr wrap="square" rtlCol="0" anchor="ctr"/>
          <a:lstStyle/>
          <a:p>
            <a:pPr marL="0" indent="0" algn="ctr">
              <a:buNone/>
            </a:pPr>
            <a:r>
              <a:rPr lang="en-US" sz="1500" b="1" dirty="0">
                <a:solidFill>
                  <a:srgbClr val="FFFFFF"/>
                </a:solidFill>
              </a:rPr>
              <a:t>4</a:t>
            </a:r>
            <a:endParaRPr lang="en-US" sz="1500" dirty="0"/>
          </a:p>
        </p:txBody>
      </p:sp>
      <p:sp>
        <p:nvSpPr>
          <p:cNvPr id="16" name="Text 14"/>
          <p:cNvSpPr/>
          <p:nvPr/>
        </p:nvSpPr>
        <p:spPr>
          <a:xfrm>
            <a:off x="822960" y="2935224"/>
            <a:ext cx="8046720" cy="457200"/>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Document your dataset with a Datasheet (Gebru et al.). Seven sections: Motivation, Composition, Collection, Preprocessing, Uses, Distribution, Maintenance.</a:t>
            </a:r>
            <a:endParaRPr lang="en-US" sz="1250" dirty="0"/>
          </a:p>
        </p:txBody>
      </p:sp>
      <p:sp>
        <p:nvSpPr>
          <p:cNvPr id="17" name="Shape 15"/>
          <p:cNvSpPr/>
          <p:nvPr/>
        </p:nvSpPr>
        <p:spPr>
          <a:xfrm>
            <a:off x="320040" y="3657600"/>
            <a:ext cx="411480" cy="411480"/>
          </a:xfrm>
          <a:prstGeom prst="ellipse">
            <a:avLst/>
          </a:prstGeom>
          <a:solidFill>
            <a:srgbClr val="0D7377"/>
          </a:solidFill>
          <a:ln w="12700">
            <a:solidFill>
              <a:srgbClr val="0D7377"/>
            </a:solidFill>
            <a:prstDash val="solid"/>
          </a:ln>
        </p:spPr>
        <p:txBody>
          <a:bodyPr/>
          <a:lstStyle/>
          <a:p>
            <a:endParaRPr lang="en-GB"/>
          </a:p>
        </p:txBody>
      </p:sp>
      <p:sp>
        <p:nvSpPr>
          <p:cNvPr id="18" name="Text 16"/>
          <p:cNvSpPr/>
          <p:nvPr/>
        </p:nvSpPr>
        <p:spPr>
          <a:xfrm>
            <a:off x="320040" y="3657600"/>
            <a:ext cx="411480" cy="411480"/>
          </a:xfrm>
          <a:prstGeom prst="rect">
            <a:avLst/>
          </a:prstGeom>
          <a:noFill/>
          <a:ln/>
        </p:spPr>
        <p:txBody>
          <a:bodyPr wrap="square" rtlCol="0" anchor="ctr"/>
          <a:lstStyle/>
          <a:p>
            <a:pPr marL="0" indent="0" algn="ctr">
              <a:buNone/>
            </a:pPr>
            <a:r>
              <a:rPr lang="en-US" sz="1500" b="1" dirty="0">
                <a:solidFill>
                  <a:srgbClr val="FFFFFF"/>
                </a:solidFill>
              </a:rPr>
              <a:t>5</a:t>
            </a:r>
            <a:endParaRPr lang="en-US" sz="1500" dirty="0"/>
          </a:p>
        </p:txBody>
      </p:sp>
      <p:sp>
        <p:nvSpPr>
          <p:cNvPr id="19" name="Text 17"/>
          <p:cNvSpPr/>
          <p:nvPr/>
        </p:nvSpPr>
        <p:spPr>
          <a:xfrm>
            <a:off x="822960" y="3639312"/>
            <a:ext cx="8046720" cy="457200"/>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Use secure collection tools: REDCap, KoboToolbox Encrypted. NEVER send research data via WhatsApp or personal Gmail.</a:t>
            </a:r>
            <a:endParaRPr lang="en-US" sz="1250" dirty="0"/>
          </a:p>
        </p:txBody>
      </p:sp>
      <p:sp>
        <p:nvSpPr>
          <p:cNvPr id="20" name="Shape 18"/>
          <p:cNvSpPr/>
          <p:nvPr/>
        </p:nvSpPr>
        <p:spPr>
          <a:xfrm>
            <a:off x="320040" y="4361688"/>
            <a:ext cx="411480" cy="411480"/>
          </a:xfrm>
          <a:prstGeom prst="ellipse">
            <a:avLst/>
          </a:prstGeom>
          <a:solidFill>
            <a:srgbClr val="0D7377"/>
          </a:solidFill>
          <a:ln w="12700">
            <a:solidFill>
              <a:srgbClr val="0D7377"/>
            </a:solidFill>
            <a:prstDash val="solid"/>
          </a:ln>
        </p:spPr>
        <p:txBody>
          <a:bodyPr/>
          <a:lstStyle/>
          <a:p>
            <a:endParaRPr lang="en-GB"/>
          </a:p>
        </p:txBody>
      </p:sp>
      <p:sp>
        <p:nvSpPr>
          <p:cNvPr id="21" name="Text 19"/>
          <p:cNvSpPr/>
          <p:nvPr/>
        </p:nvSpPr>
        <p:spPr>
          <a:xfrm>
            <a:off x="320040" y="4361688"/>
            <a:ext cx="411480" cy="411480"/>
          </a:xfrm>
          <a:prstGeom prst="rect">
            <a:avLst/>
          </a:prstGeom>
          <a:noFill/>
          <a:ln/>
        </p:spPr>
        <p:txBody>
          <a:bodyPr wrap="square" rtlCol="0" anchor="ctr"/>
          <a:lstStyle/>
          <a:p>
            <a:pPr marL="0" indent="0" algn="ctr">
              <a:buNone/>
            </a:pPr>
            <a:r>
              <a:rPr lang="en-US" sz="1500" b="1" dirty="0">
                <a:solidFill>
                  <a:srgbClr val="FFFFFF"/>
                </a:solidFill>
              </a:rPr>
              <a:t>6</a:t>
            </a:r>
            <a:endParaRPr lang="en-US" sz="1500" dirty="0"/>
          </a:p>
        </p:txBody>
      </p:sp>
      <p:sp>
        <p:nvSpPr>
          <p:cNvPr id="22" name="Text 20"/>
          <p:cNvSpPr/>
          <p:nvPr/>
        </p:nvSpPr>
        <p:spPr>
          <a:xfrm>
            <a:off x="822960" y="4343400"/>
            <a:ext cx="8046720" cy="457200"/>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RECs must require DMPs, DPIAs, Datasheets, and AI tool scrutiny as conditions of ethical clearance — not optional extras.</a:t>
            </a:r>
            <a:endParaRPr lang="en-US" sz="1250" dirty="0"/>
          </a:p>
        </p:txBody>
      </p:sp>
      <p:sp>
        <p:nvSpPr>
          <p:cNvPr id="23" name="Shape 21"/>
          <p:cNvSpPr/>
          <p:nvPr/>
        </p:nvSpPr>
        <p:spPr>
          <a:xfrm>
            <a:off x="320040" y="4798686"/>
            <a:ext cx="8503920" cy="329184"/>
          </a:xfrm>
          <a:prstGeom prst="roundRect">
            <a:avLst>
              <a:gd name="adj" fmla="val 19444"/>
            </a:avLst>
          </a:prstGeom>
          <a:solidFill>
            <a:srgbClr val="0D7377"/>
          </a:solidFill>
          <a:ln w="12700">
            <a:solidFill>
              <a:srgbClr val="14ABAB"/>
            </a:solidFill>
            <a:prstDash val="solid"/>
          </a:ln>
        </p:spPr>
        <p:txBody>
          <a:bodyPr/>
          <a:lstStyle/>
          <a:p>
            <a:endParaRPr lang="en-GB"/>
          </a:p>
        </p:txBody>
      </p:sp>
      <p:sp>
        <p:nvSpPr>
          <p:cNvPr id="24" name="Text 22"/>
          <p:cNvSpPr/>
          <p:nvPr/>
        </p:nvSpPr>
        <p:spPr>
          <a:xfrm>
            <a:off x="320040" y="4830576"/>
            <a:ext cx="8503920" cy="329184"/>
          </a:xfrm>
          <a:prstGeom prst="rect">
            <a:avLst/>
          </a:prstGeom>
          <a:noFill/>
          <a:ln/>
        </p:spPr>
        <p:txBody>
          <a:bodyPr wrap="square" rtlCol="0" anchor="ctr"/>
          <a:lstStyle/>
          <a:p>
            <a:pPr marL="0" indent="0" algn="ctr">
              <a:buNone/>
            </a:pPr>
            <a:r>
              <a:rPr lang="en-US" sz="1100" b="1" dirty="0">
                <a:solidFill>
                  <a:srgbClr val="FFFFFF"/>
                </a:solidFill>
              </a:rPr>
              <a:t>Next step: Adopt the checklist · Update consent templates · Require DMPs and Datasheets at your next REC meeting</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8B0000"/>
          </a:solidFill>
          <a:ln w="12700">
            <a:solidFill>
              <a:srgbClr val="8B0000"/>
            </a:solidFill>
            <a:prstDash val="solid"/>
          </a:ln>
        </p:spPr>
        <p:txBody>
          <a:bodyPr/>
          <a:lstStyle/>
          <a:p>
            <a:endParaRPr lang="en-GB"/>
          </a:p>
        </p:txBody>
      </p:sp>
      <p:sp>
        <p:nvSpPr>
          <p:cNvPr id="3" name="Text 1"/>
          <p:cNvSpPr/>
          <p:nvPr/>
        </p:nvSpPr>
        <p:spPr>
          <a:xfrm>
            <a:off x="365760" y="0"/>
            <a:ext cx="8735710" cy="685800"/>
          </a:xfrm>
          <a:prstGeom prst="rect">
            <a:avLst/>
          </a:prstGeom>
          <a:noFill/>
          <a:ln/>
        </p:spPr>
        <p:txBody>
          <a:bodyPr wrap="square" rtlCol="0" anchor="ctr"/>
          <a:lstStyle/>
          <a:p>
            <a:pPr marL="0" indent="0" algn="ctr">
              <a:buNone/>
            </a:pPr>
            <a:r>
              <a:rPr lang="en-US" sz="2100" b="1" dirty="0">
                <a:solidFill>
                  <a:srgbClr val="FFFFFF"/>
                </a:solidFill>
                <a:latin typeface="Cambria" pitchFamily="34" charset="0"/>
                <a:ea typeface="Cambria" pitchFamily="34" charset="-122"/>
                <a:cs typeface="Cambria" pitchFamily="34" charset="-120"/>
              </a:rPr>
              <a:t>What Research Participants Deserve: The Human Dignity Perspective</a:t>
            </a:r>
            <a:endParaRPr lang="en-US" sz="2100" dirty="0"/>
          </a:p>
        </p:txBody>
      </p:sp>
      <p:sp>
        <p:nvSpPr>
          <p:cNvPr id="4" name="Shape 2"/>
          <p:cNvSpPr/>
          <p:nvPr/>
        </p:nvSpPr>
        <p:spPr>
          <a:xfrm>
            <a:off x="274320" y="777240"/>
            <a:ext cx="8595360" cy="475488"/>
          </a:xfrm>
          <a:prstGeom prst="roundRect">
            <a:avLst>
              <a:gd name="adj" fmla="val 13462"/>
            </a:avLst>
          </a:prstGeom>
          <a:solidFill>
            <a:srgbClr val="FFF8F0"/>
          </a:solidFill>
          <a:ln w="12700">
            <a:solidFill>
              <a:srgbClr val="E8A020"/>
            </a:solidFill>
            <a:prstDash val="solid"/>
          </a:ln>
        </p:spPr>
        <p:txBody>
          <a:bodyPr/>
          <a:lstStyle/>
          <a:p>
            <a:endParaRPr lang="en-GB"/>
          </a:p>
        </p:txBody>
      </p:sp>
      <p:sp>
        <p:nvSpPr>
          <p:cNvPr id="5" name="Text 3"/>
          <p:cNvSpPr/>
          <p:nvPr/>
        </p:nvSpPr>
        <p:spPr>
          <a:xfrm>
            <a:off x="457200" y="777240"/>
            <a:ext cx="8229600" cy="475488"/>
          </a:xfrm>
          <a:prstGeom prst="rect">
            <a:avLst/>
          </a:prstGeom>
          <a:noFill/>
          <a:ln/>
        </p:spPr>
        <p:txBody>
          <a:bodyPr wrap="square" rtlCol="0" anchor="ctr"/>
          <a:lstStyle/>
          <a:p>
            <a:pPr marL="0" indent="0">
              <a:buNone/>
            </a:pPr>
            <a:r>
              <a:rPr lang="en-US" sz="1250" i="1" dirty="0">
                <a:solidFill>
                  <a:srgbClr val="5A2D00"/>
                </a:solidFill>
                <a:latin typeface="Cambria" pitchFamily="34" charset="0"/>
                <a:ea typeface="Cambria" pitchFamily="34" charset="-122"/>
                <a:cs typeface="Cambria" pitchFamily="34" charset="-120"/>
              </a:rPr>
              <a:t>"Behind every dataset is a person who trusted you with their most sensitive information. Data security is how you honour that trust."</a:t>
            </a:r>
            <a:endParaRPr lang="en-US" sz="1250" dirty="0"/>
          </a:p>
        </p:txBody>
      </p:sp>
      <p:sp>
        <p:nvSpPr>
          <p:cNvPr id="6" name="Shape 4"/>
          <p:cNvSpPr/>
          <p:nvPr/>
        </p:nvSpPr>
        <p:spPr>
          <a:xfrm>
            <a:off x="274320" y="1353312"/>
            <a:ext cx="4160520" cy="3657600"/>
          </a:xfrm>
          <a:prstGeom prst="roundRect">
            <a:avLst>
              <a:gd name="adj" fmla="val 2500"/>
            </a:avLst>
          </a:prstGeom>
          <a:solidFill>
            <a:srgbClr val="FFFFFF"/>
          </a:solidFill>
          <a:ln w="12700">
            <a:solidFill>
              <a:srgbClr val="DDE6F0"/>
            </a:solidFill>
            <a:prstDash val="solid"/>
          </a:ln>
          <a:effectLst>
            <a:outerShdw blurRad="101600" dist="38100" dir="2700000" algn="bl" rotWithShape="0">
              <a:srgbClr val="000000">
                <a:alpha val="12000"/>
              </a:srgbClr>
            </a:outerShdw>
          </a:effectLst>
        </p:spPr>
        <p:txBody>
          <a:bodyPr/>
          <a:lstStyle/>
          <a:p>
            <a:endParaRPr lang="en-GB"/>
          </a:p>
        </p:txBody>
      </p:sp>
      <p:sp>
        <p:nvSpPr>
          <p:cNvPr id="7" name="Text 5"/>
          <p:cNvSpPr/>
          <p:nvPr/>
        </p:nvSpPr>
        <p:spPr>
          <a:xfrm>
            <a:off x="438912" y="1417320"/>
            <a:ext cx="3840480" cy="347472"/>
          </a:xfrm>
          <a:prstGeom prst="rect">
            <a:avLst/>
          </a:prstGeom>
          <a:noFill/>
          <a:ln/>
        </p:spPr>
        <p:txBody>
          <a:bodyPr wrap="square" rtlCol="0" anchor="ctr"/>
          <a:lstStyle/>
          <a:p>
            <a:pPr marL="0" indent="0">
              <a:buNone/>
            </a:pPr>
            <a:r>
              <a:rPr lang="en-US" sz="1300" b="1" dirty="0">
                <a:solidFill>
                  <a:srgbClr val="8B0000"/>
                </a:solidFill>
                <a:latin typeface="Cambria" pitchFamily="34" charset="0"/>
                <a:ea typeface="Cambria" pitchFamily="34" charset="-122"/>
                <a:cs typeface="Cambria" pitchFamily="34" charset="-120"/>
              </a:rPr>
              <a:t>Rights Every Research Participant Holds</a:t>
            </a:r>
            <a:endParaRPr lang="en-US" sz="1300" dirty="0"/>
          </a:p>
        </p:txBody>
      </p:sp>
      <p:sp>
        <p:nvSpPr>
          <p:cNvPr id="8" name="Shape 6"/>
          <p:cNvSpPr/>
          <p:nvPr/>
        </p:nvSpPr>
        <p:spPr>
          <a:xfrm>
            <a:off x="384048" y="2011680"/>
            <a:ext cx="201168" cy="201168"/>
          </a:xfrm>
          <a:prstGeom prst="ellipse">
            <a:avLst/>
          </a:prstGeom>
          <a:solidFill>
            <a:srgbClr val="8B0000"/>
          </a:solidFill>
          <a:ln w="12700">
            <a:solidFill>
              <a:srgbClr val="8B0000"/>
            </a:solidFill>
            <a:prstDash val="solid"/>
          </a:ln>
        </p:spPr>
        <p:txBody>
          <a:bodyPr/>
          <a:lstStyle/>
          <a:p>
            <a:endParaRPr lang="en-GB"/>
          </a:p>
        </p:txBody>
      </p:sp>
      <p:sp>
        <p:nvSpPr>
          <p:cNvPr id="9" name="Text 7"/>
          <p:cNvSpPr/>
          <p:nvPr/>
        </p:nvSpPr>
        <p:spPr>
          <a:xfrm>
            <a:off x="685800" y="1847088"/>
            <a:ext cx="3630168" cy="594360"/>
          </a:xfrm>
          <a:prstGeom prst="rect">
            <a:avLst/>
          </a:prstGeom>
          <a:noFill/>
          <a:ln/>
        </p:spPr>
        <p:txBody>
          <a:bodyPr wrap="square" rtlCol="0" anchor="ctr"/>
          <a:lstStyle/>
          <a:p>
            <a:pPr marL="0" indent="0">
              <a:buNone/>
            </a:pPr>
            <a:r>
              <a:rPr lang="en-US" sz="1050" b="1" dirty="0">
                <a:solidFill>
                  <a:srgbClr val="8B0000"/>
                </a:solidFill>
                <a:latin typeface="Calibri" pitchFamily="34" charset="0"/>
                <a:ea typeface="Calibri" pitchFamily="34" charset="-122"/>
                <a:cs typeface="Calibri" pitchFamily="34" charset="-120"/>
              </a:rPr>
              <a:t>Right to Informed Consent: </a:t>
            </a:r>
            <a:r>
              <a:rPr lang="en-US" sz="1050" dirty="0">
                <a:solidFill>
                  <a:srgbClr val="1A2E4A"/>
                </a:solidFill>
                <a:latin typeface="Calibri" pitchFamily="34" charset="0"/>
                <a:ea typeface="Calibri" pitchFamily="34" charset="-122"/>
                <a:cs typeface="Calibri" pitchFamily="34" charset="-120"/>
              </a:rPr>
              <a:t>Including what data will be collected, where stored, who has access, and for how long. A consent form that omits data security is legally and ethically deficient.</a:t>
            </a:r>
            <a:endParaRPr lang="en-US" sz="1050" dirty="0"/>
          </a:p>
        </p:txBody>
      </p:sp>
      <p:sp>
        <p:nvSpPr>
          <p:cNvPr id="10" name="Shape 8"/>
          <p:cNvSpPr/>
          <p:nvPr/>
        </p:nvSpPr>
        <p:spPr>
          <a:xfrm>
            <a:off x="384048" y="2651760"/>
            <a:ext cx="201168" cy="201168"/>
          </a:xfrm>
          <a:prstGeom prst="ellipse">
            <a:avLst/>
          </a:prstGeom>
          <a:solidFill>
            <a:srgbClr val="8B0000"/>
          </a:solidFill>
          <a:ln w="12700">
            <a:solidFill>
              <a:srgbClr val="8B0000"/>
            </a:solidFill>
            <a:prstDash val="solid"/>
          </a:ln>
        </p:spPr>
        <p:txBody>
          <a:bodyPr/>
          <a:lstStyle/>
          <a:p>
            <a:endParaRPr lang="en-GB"/>
          </a:p>
        </p:txBody>
      </p:sp>
      <p:sp>
        <p:nvSpPr>
          <p:cNvPr id="11" name="Text 9"/>
          <p:cNvSpPr/>
          <p:nvPr/>
        </p:nvSpPr>
        <p:spPr>
          <a:xfrm>
            <a:off x="685800" y="2487168"/>
            <a:ext cx="3630168" cy="594360"/>
          </a:xfrm>
          <a:prstGeom prst="rect">
            <a:avLst/>
          </a:prstGeom>
          <a:noFill/>
          <a:ln/>
        </p:spPr>
        <p:txBody>
          <a:bodyPr wrap="square" rtlCol="0" anchor="ctr"/>
          <a:lstStyle/>
          <a:p>
            <a:pPr marL="0" indent="0">
              <a:buNone/>
            </a:pPr>
            <a:r>
              <a:rPr lang="en-US" sz="1050" b="1" dirty="0">
                <a:solidFill>
                  <a:srgbClr val="8B0000"/>
                </a:solidFill>
                <a:latin typeface="Calibri" pitchFamily="34" charset="0"/>
                <a:ea typeface="Calibri" pitchFamily="34" charset="-122"/>
                <a:cs typeface="Calibri" pitchFamily="34" charset="-120"/>
              </a:rPr>
              <a:t>Right to Confidentiality: </a:t>
            </a:r>
            <a:r>
              <a:rPr lang="en-US" sz="1050" dirty="0">
                <a:solidFill>
                  <a:srgbClr val="1A2E4A"/>
                </a:solidFill>
                <a:latin typeface="Calibri" pitchFamily="34" charset="0"/>
                <a:ea typeface="Calibri" pitchFamily="34" charset="-122"/>
                <a:cs typeface="Calibri" pitchFamily="34" charset="-120"/>
              </a:rPr>
              <a:t>Participants must be assured their identity cannot be linked back to their responses. Pseudonymisation and anonymisation are obligations, not options.</a:t>
            </a:r>
            <a:endParaRPr lang="en-US" sz="1050" dirty="0"/>
          </a:p>
        </p:txBody>
      </p:sp>
      <p:sp>
        <p:nvSpPr>
          <p:cNvPr id="12" name="Shape 10"/>
          <p:cNvSpPr/>
          <p:nvPr/>
        </p:nvSpPr>
        <p:spPr>
          <a:xfrm>
            <a:off x="384048" y="3291840"/>
            <a:ext cx="201168" cy="201168"/>
          </a:xfrm>
          <a:prstGeom prst="ellipse">
            <a:avLst/>
          </a:prstGeom>
          <a:solidFill>
            <a:srgbClr val="8B0000"/>
          </a:solidFill>
          <a:ln w="12700">
            <a:solidFill>
              <a:srgbClr val="8B0000"/>
            </a:solidFill>
            <a:prstDash val="solid"/>
          </a:ln>
        </p:spPr>
        <p:txBody>
          <a:bodyPr/>
          <a:lstStyle/>
          <a:p>
            <a:endParaRPr lang="en-GB"/>
          </a:p>
        </p:txBody>
      </p:sp>
      <p:sp>
        <p:nvSpPr>
          <p:cNvPr id="13" name="Text 11"/>
          <p:cNvSpPr/>
          <p:nvPr/>
        </p:nvSpPr>
        <p:spPr>
          <a:xfrm>
            <a:off x="685800" y="3127248"/>
            <a:ext cx="3630168" cy="594360"/>
          </a:xfrm>
          <a:prstGeom prst="rect">
            <a:avLst/>
          </a:prstGeom>
          <a:noFill/>
          <a:ln/>
        </p:spPr>
        <p:txBody>
          <a:bodyPr wrap="square" rtlCol="0" anchor="ctr"/>
          <a:lstStyle/>
          <a:p>
            <a:pPr marL="0" indent="0">
              <a:buNone/>
            </a:pPr>
            <a:r>
              <a:rPr lang="en-US" sz="1050" b="1" dirty="0">
                <a:solidFill>
                  <a:srgbClr val="8B0000"/>
                </a:solidFill>
                <a:latin typeface="Calibri" pitchFamily="34" charset="0"/>
                <a:ea typeface="Calibri" pitchFamily="34" charset="-122"/>
                <a:cs typeface="Calibri" pitchFamily="34" charset="-120"/>
              </a:rPr>
              <a:t>Right to Breach Notification: </a:t>
            </a:r>
            <a:r>
              <a:rPr lang="en-US" sz="1050" dirty="0">
                <a:solidFill>
                  <a:srgbClr val="1A2E4A"/>
                </a:solidFill>
                <a:latin typeface="Calibri" pitchFamily="34" charset="0"/>
                <a:ea typeface="Calibri" pitchFamily="34" charset="-122"/>
                <a:cs typeface="Calibri" pitchFamily="34" charset="-120"/>
              </a:rPr>
              <a:t>Under NDPA 2023, if a breach is likely to affect participants, they must be notified. This right must appear in the consent form — not buried in the protocol.</a:t>
            </a:r>
            <a:endParaRPr lang="en-US" sz="1050" dirty="0"/>
          </a:p>
        </p:txBody>
      </p:sp>
      <p:sp>
        <p:nvSpPr>
          <p:cNvPr id="14" name="Shape 12"/>
          <p:cNvSpPr/>
          <p:nvPr/>
        </p:nvSpPr>
        <p:spPr>
          <a:xfrm>
            <a:off x="384048" y="3931920"/>
            <a:ext cx="201168" cy="201168"/>
          </a:xfrm>
          <a:prstGeom prst="ellipse">
            <a:avLst/>
          </a:prstGeom>
          <a:solidFill>
            <a:srgbClr val="8B0000"/>
          </a:solidFill>
          <a:ln w="12700">
            <a:solidFill>
              <a:srgbClr val="8B0000"/>
            </a:solidFill>
            <a:prstDash val="solid"/>
          </a:ln>
        </p:spPr>
        <p:txBody>
          <a:bodyPr/>
          <a:lstStyle/>
          <a:p>
            <a:endParaRPr lang="en-GB"/>
          </a:p>
        </p:txBody>
      </p:sp>
      <p:sp>
        <p:nvSpPr>
          <p:cNvPr id="15" name="Text 13"/>
          <p:cNvSpPr/>
          <p:nvPr/>
        </p:nvSpPr>
        <p:spPr>
          <a:xfrm>
            <a:off x="685800" y="3767328"/>
            <a:ext cx="3630168" cy="594360"/>
          </a:xfrm>
          <a:prstGeom prst="rect">
            <a:avLst/>
          </a:prstGeom>
          <a:noFill/>
          <a:ln/>
        </p:spPr>
        <p:txBody>
          <a:bodyPr wrap="square" rtlCol="0" anchor="ctr"/>
          <a:lstStyle/>
          <a:p>
            <a:pPr marL="0" indent="0">
              <a:buNone/>
            </a:pPr>
            <a:r>
              <a:rPr lang="en-US" sz="1050" b="1" dirty="0">
                <a:solidFill>
                  <a:srgbClr val="8B0000"/>
                </a:solidFill>
                <a:latin typeface="Calibri" pitchFamily="34" charset="0"/>
                <a:ea typeface="Calibri" pitchFamily="34" charset="-122"/>
                <a:cs typeface="Calibri" pitchFamily="34" charset="-120"/>
              </a:rPr>
              <a:t>Right to Data Withdrawal: </a:t>
            </a:r>
            <a:r>
              <a:rPr lang="en-US" sz="1050" dirty="0">
                <a:solidFill>
                  <a:srgbClr val="1A2E4A"/>
                </a:solidFill>
                <a:latin typeface="Calibri" pitchFamily="34" charset="0"/>
                <a:ea typeface="Calibri" pitchFamily="34" charset="-122"/>
                <a:cs typeface="Calibri" pitchFamily="34" charset="-120"/>
              </a:rPr>
              <a:t>A participant who withdraws consent must have their data deleted — not just excluded from analysis. Researchers must be able to locate and remove individual records.</a:t>
            </a:r>
            <a:endParaRPr lang="en-US" sz="1050" dirty="0"/>
          </a:p>
        </p:txBody>
      </p:sp>
      <p:sp>
        <p:nvSpPr>
          <p:cNvPr id="16" name="Shape 14"/>
          <p:cNvSpPr/>
          <p:nvPr/>
        </p:nvSpPr>
        <p:spPr>
          <a:xfrm>
            <a:off x="384048" y="4572000"/>
            <a:ext cx="201168" cy="201168"/>
          </a:xfrm>
          <a:prstGeom prst="ellipse">
            <a:avLst/>
          </a:prstGeom>
          <a:solidFill>
            <a:srgbClr val="8B0000"/>
          </a:solidFill>
          <a:ln w="12700">
            <a:solidFill>
              <a:srgbClr val="8B0000"/>
            </a:solidFill>
            <a:prstDash val="solid"/>
          </a:ln>
        </p:spPr>
        <p:txBody>
          <a:bodyPr/>
          <a:lstStyle/>
          <a:p>
            <a:endParaRPr lang="en-GB"/>
          </a:p>
        </p:txBody>
      </p:sp>
      <p:sp>
        <p:nvSpPr>
          <p:cNvPr id="17" name="Text 15"/>
          <p:cNvSpPr/>
          <p:nvPr/>
        </p:nvSpPr>
        <p:spPr>
          <a:xfrm>
            <a:off x="685800" y="4407408"/>
            <a:ext cx="3630168" cy="594360"/>
          </a:xfrm>
          <a:prstGeom prst="rect">
            <a:avLst/>
          </a:prstGeom>
          <a:noFill/>
          <a:ln/>
        </p:spPr>
        <p:txBody>
          <a:bodyPr wrap="square" rtlCol="0" anchor="ctr"/>
          <a:lstStyle/>
          <a:p>
            <a:pPr marL="0" indent="0">
              <a:buNone/>
            </a:pPr>
            <a:r>
              <a:rPr lang="en-US" sz="1050" b="1" dirty="0">
                <a:solidFill>
                  <a:srgbClr val="8B0000"/>
                </a:solidFill>
                <a:latin typeface="Calibri" pitchFamily="34" charset="0"/>
                <a:ea typeface="Calibri" pitchFamily="34" charset="-122"/>
                <a:cs typeface="Calibri" pitchFamily="34" charset="-120"/>
              </a:rPr>
              <a:t>Right to Purpose Limitation: </a:t>
            </a:r>
            <a:r>
              <a:rPr lang="en-US" sz="1050" dirty="0">
                <a:solidFill>
                  <a:srgbClr val="1A2E4A"/>
                </a:solidFill>
                <a:latin typeface="Calibri" pitchFamily="34" charset="0"/>
                <a:ea typeface="Calibri" pitchFamily="34" charset="-122"/>
                <a:cs typeface="Calibri" pitchFamily="34" charset="-120"/>
              </a:rPr>
              <a:t>Data given for one study cannot be repurposed for another without fresh consent. Protects participants from uses they never agreed to.</a:t>
            </a:r>
            <a:endParaRPr lang="en-US" sz="1050" dirty="0"/>
          </a:p>
        </p:txBody>
      </p:sp>
      <p:sp>
        <p:nvSpPr>
          <p:cNvPr id="18" name="Shape 16"/>
          <p:cNvSpPr/>
          <p:nvPr/>
        </p:nvSpPr>
        <p:spPr>
          <a:xfrm>
            <a:off x="4709160" y="1353312"/>
            <a:ext cx="4160520" cy="1645920"/>
          </a:xfrm>
          <a:prstGeom prst="roundRect">
            <a:avLst>
              <a:gd name="adj" fmla="val 5556"/>
            </a:avLst>
          </a:prstGeom>
          <a:solidFill>
            <a:srgbClr val="FFF5F5"/>
          </a:solidFill>
          <a:ln w="12700">
            <a:solidFill>
              <a:srgbClr val="FECACA"/>
            </a:solidFill>
            <a:prstDash val="solid"/>
          </a:ln>
          <a:effectLst>
            <a:outerShdw blurRad="101600" dist="38100" dir="2700000" algn="bl" rotWithShape="0">
              <a:srgbClr val="000000">
                <a:alpha val="12000"/>
              </a:srgbClr>
            </a:outerShdw>
          </a:effectLst>
        </p:spPr>
        <p:txBody>
          <a:bodyPr/>
          <a:lstStyle/>
          <a:p>
            <a:endParaRPr lang="en-GB"/>
          </a:p>
        </p:txBody>
      </p:sp>
      <p:sp>
        <p:nvSpPr>
          <p:cNvPr id="19" name="Text 17"/>
          <p:cNvSpPr/>
          <p:nvPr/>
        </p:nvSpPr>
        <p:spPr>
          <a:xfrm>
            <a:off x="4864608" y="1417320"/>
            <a:ext cx="3840480" cy="347472"/>
          </a:xfrm>
          <a:prstGeom prst="rect">
            <a:avLst/>
          </a:prstGeom>
          <a:noFill/>
          <a:ln/>
        </p:spPr>
        <p:txBody>
          <a:bodyPr wrap="square" rtlCol="0" anchor="ctr"/>
          <a:lstStyle/>
          <a:p>
            <a:pPr marL="0" indent="0">
              <a:buNone/>
            </a:pPr>
            <a:r>
              <a:rPr lang="en-US" sz="1300" b="1" dirty="0">
                <a:solidFill>
                  <a:srgbClr val="C0392B"/>
                </a:solidFill>
                <a:latin typeface="Cambria" pitchFamily="34" charset="0"/>
                <a:ea typeface="Cambria" pitchFamily="34" charset="-122"/>
                <a:cs typeface="Cambria" pitchFamily="34" charset="-120"/>
              </a:rPr>
              <a:t>When Data Security Fails — The Human Cost</a:t>
            </a:r>
            <a:endParaRPr lang="en-US" sz="1300" dirty="0"/>
          </a:p>
        </p:txBody>
      </p:sp>
      <p:sp>
        <p:nvSpPr>
          <p:cNvPr id="20" name="Text 18"/>
          <p:cNvSpPr/>
          <p:nvPr/>
        </p:nvSpPr>
        <p:spPr>
          <a:xfrm>
            <a:off x="4864608" y="1810512"/>
            <a:ext cx="3840480" cy="1115568"/>
          </a:xfrm>
          <a:prstGeom prst="rect">
            <a:avLst/>
          </a:prstGeom>
          <a:noFill/>
          <a:ln/>
        </p:spPr>
        <p:txBody>
          <a:bodyPr wrap="square" rtlCol="0" anchor="ctr"/>
          <a:lstStyle/>
          <a:p>
            <a:pPr marL="0" indent="0">
              <a:buNone/>
            </a:pPr>
            <a:r>
              <a:rPr lang="en-US" sz="1100" b="1" dirty="0">
                <a:solidFill>
                  <a:srgbClr val="C0392B"/>
                </a:solidFill>
                <a:latin typeface="Calibri" pitchFamily="34" charset="0"/>
                <a:ea typeface="Calibri" pitchFamily="34" charset="-122"/>
                <a:cs typeface="Calibri" pitchFamily="34" charset="-120"/>
              </a:rPr>
              <a:t>• </a:t>
            </a:r>
            <a:r>
              <a:rPr lang="en-US" sz="1100" dirty="0">
                <a:solidFill>
                  <a:srgbClr val="7B1A1A"/>
                </a:solidFill>
                <a:latin typeface="Calibri" pitchFamily="34" charset="0"/>
                <a:ea typeface="Calibri" pitchFamily="34" charset="-122"/>
                <a:cs typeface="Calibri" pitchFamily="34" charset="-120"/>
              </a:rPr>
              <a:t>An HIV+ patient's status revealed to their employer through a research data breach.
</a:t>
            </a:r>
            <a:r>
              <a:rPr lang="en-US" sz="1100" b="1" dirty="0">
                <a:solidFill>
                  <a:srgbClr val="C0392B"/>
                </a:solidFill>
                <a:latin typeface="Calibri" pitchFamily="34" charset="0"/>
                <a:ea typeface="Calibri" pitchFamily="34" charset="-122"/>
                <a:cs typeface="Calibri" pitchFamily="34" charset="-120"/>
              </a:rPr>
              <a:t>• </a:t>
            </a:r>
            <a:r>
              <a:rPr lang="en-US" sz="1100" dirty="0">
                <a:solidFill>
                  <a:srgbClr val="7B1A1A"/>
                </a:solidFill>
                <a:latin typeface="Calibri" pitchFamily="34" charset="0"/>
                <a:ea typeface="Calibri" pitchFamily="34" charset="-122"/>
                <a:cs typeface="Calibri" pitchFamily="34" charset="-120"/>
              </a:rPr>
              <a:t>A domestic violence survivor re-identified through a poorly anonymised survey dataset shared on GitHub.
</a:t>
            </a:r>
            <a:r>
              <a:rPr lang="en-US" sz="1100" b="1" dirty="0">
                <a:solidFill>
                  <a:srgbClr val="C0392B"/>
                </a:solidFill>
                <a:latin typeface="Calibri" pitchFamily="34" charset="0"/>
                <a:ea typeface="Calibri" pitchFamily="34" charset="-122"/>
                <a:cs typeface="Calibri" pitchFamily="34" charset="-120"/>
              </a:rPr>
              <a:t>• </a:t>
            </a:r>
            <a:r>
              <a:rPr lang="en-US" sz="1100" dirty="0">
                <a:solidFill>
                  <a:srgbClr val="7B1A1A"/>
                </a:solidFill>
                <a:latin typeface="Calibri" pitchFamily="34" charset="0"/>
                <a:ea typeface="Calibri" pitchFamily="34" charset="-122"/>
                <a:cs typeface="Calibri" pitchFamily="34" charset="-120"/>
              </a:rPr>
              <a:t>A child participant's medical history accessed by an unauthorised researcher — no audit trail, no accountability.</a:t>
            </a:r>
            <a:endParaRPr lang="en-US" sz="1100" dirty="0"/>
          </a:p>
        </p:txBody>
      </p:sp>
      <p:sp>
        <p:nvSpPr>
          <p:cNvPr id="21" name="Shape 19"/>
          <p:cNvSpPr/>
          <p:nvPr/>
        </p:nvSpPr>
        <p:spPr>
          <a:xfrm>
            <a:off x="4709160" y="3127248"/>
            <a:ext cx="4160520" cy="1746504"/>
          </a:xfrm>
          <a:prstGeom prst="roundRect">
            <a:avLst>
              <a:gd name="adj" fmla="val 5236"/>
            </a:avLst>
          </a:prstGeom>
          <a:solidFill>
            <a:srgbClr val="F0FBF8"/>
          </a:solidFill>
          <a:ln w="12700">
            <a:solidFill>
              <a:srgbClr val="A7D7C5"/>
            </a:solidFill>
            <a:prstDash val="solid"/>
          </a:ln>
          <a:effectLst>
            <a:outerShdw blurRad="101600" dist="38100" dir="2700000" algn="bl" rotWithShape="0">
              <a:srgbClr val="000000">
                <a:alpha val="12000"/>
              </a:srgbClr>
            </a:outerShdw>
          </a:effectLst>
        </p:spPr>
        <p:txBody>
          <a:bodyPr/>
          <a:lstStyle/>
          <a:p>
            <a:endParaRPr lang="en-GB"/>
          </a:p>
        </p:txBody>
      </p:sp>
      <p:sp>
        <p:nvSpPr>
          <p:cNvPr id="22" name="Text 20"/>
          <p:cNvSpPr/>
          <p:nvPr/>
        </p:nvSpPr>
        <p:spPr>
          <a:xfrm>
            <a:off x="4864608" y="3154044"/>
            <a:ext cx="4005072" cy="347472"/>
          </a:xfrm>
          <a:prstGeom prst="rect">
            <a:avLst/>
          </a:prstGeom>
          <a:noFill/>
          <a:ln/>
        </p:spPr>
        <p:txBody>
          <a:bodyPr wrap="square" rtlCol="0" anchor="ctr"/>
          <a:lstStyle/>
          <a:p>
            <a:pPr marL="0" indent="0">
              <a:buNone/>
            </a:pPr>
            <a:r>
              <a:rPr lang="en-US" sz="1300" b="1" dirty="0">
                <a:solidFill>
                  <a:srgbClr val="1E7D44"/>
                </a:solidFill>
                <a:latin typeface="Cambria" pitchFamily="34" charset="0"/>
                <a:ea typeface="Cambria" pitchFamily="34" charset="-122"/>
                <a:cs typeface="Cambria" pitchFamily="34" charset="-120"/>
              </a:rPr>
              <a:t>When Security Is Done Right — Dignity Is Upheld</a:t>
            </a:r>
            <a:endParaRPr lang="en-US" sz="1300" dirty="0"/>
          </a:p>
        </p:txBody>
      </p:sp>
      <p:sp>
        <p:nvSpPr>
          <p:cNvPr id="23" name="Text 21"/>
          <p:cNvSpPr/>
          <p:nvPr/>
        </p:nvSpPr>
        <p:spPr>
          <a:xfrm>
            <a:off x="4864608" y="3529584"/>
            <a:ext cx="3840480" cy="1261872"/>
          </a:xfrm>
          <a:prstGeom prst="rect">
            <a:avLst/>
          </a:prstGeom>
          <a:noFill/>
          <a:ln/>
        </p:spPr>
        <p:txBody>
          <a:bodyPr wrap="square" rtlCol="0" anchor="ctr"/>
          <a:lstStyle/>
          <a:p>
            <a:pPr marL="0" indent="0">
              <a:buNone/>
            </a:pPr>
            <a:r>
              <a:rPr lang="en-US" sz="1100" b="1" dirty="0">
                <a:solidFill>
                  <a:srgbClr val="1E7D44"/>
                </a:solidFill>
                <a:latin typeface="Calibri" pitchFamily="34" charset="0"/>
                <a:ea typeface="Calibri" pitchFamily="34" charset="-122"/>
                <a:cs typeface="Calibri" pitchFamily="34" charset="-120"/>
              </a:rPr>
              <a:t>• </a:t>
            </a:r>
            <a:r>
              <a:rPr lang="en-US" sz="1100" dirty="0">
                <a:solidFill>
                  <a:srgbClr val="1A4A35"/>
                </a:solidFill>
                <a:latin typeface="Calibri" pitchFamily="34" charset="0"/>
                <a:ea typeface="Calibri" pitchFamily="34" charset="-122"/>
                <a:cs typeface="Calibri" pitchFamily="34" charset="-120"/>
              </a:rPr>
              <a:t>Participants receive a plain-language data security statement alongside their consent form.
</a:t>
            </a:r>
            <a:r>
              <a:rPr lang="en-US" sz="1100" b="1" dirty="0">
                <a:solidFill>
                  <a:srgbClr val="1E7D44"/>
                </a:solidFill>
                <a:latin typeface="Calibri" pitchFamily="34" charset="0"/>
                <a:ea typeface="Calibri" pitchFamily="34" charset="-122"/>
                <a:cs typeface="Calibri" pitchFamily="34" charset="-120"/>
              </a:rPr>
              <a:t>• </a:t>
            </a:r>
            <a:r>
              <a:rPr lang="en-US" sz="1100" dirty="0">
                <a:solidFill>
                  <a:srgbClr val="1A4A35"/>
                </a:solidFill>
                <a:latin typeface="Calibri" pitchFamily="34" charset="0"/>
                <a:ea typeface="Calibri" pitchFamily="34" charset="-122"/>
                <a:cs typeface="Calibri" pitchFamily="34" charset="-120"/>
              </a:rPr>
              <a:t>A breach occurs — participants are notified within 72 hours, as required. Trust is preserved.
</a:t>
            </a:r>
            <a:r>
              <a:rPr lang="en-US" sz="1100" b="1" dirty="0">
                <a:solidFill>
                  <a:srgbClr val="1E7D44"/>
                </a:solidFill>
                <a:latin typeface="Calibri" pitchFamily="34" charset="0"/>
                <a:ea typeface="Calibri" pitchFamily="34" charset="-122"/>
                <a:cs typeface="Calibri" pitchFamily="34" charset="-120"/>
              </a:rPr>
              <a:t>• </a:t>
            </a:r>
            <a:r>
              <a:rPr lang="en-US" sz="1100" dirty="0">
                <a:solidFill>
                  <a:srgbClr val="1A4A35"/>
                </a:solidFill>
                <a:latin typeface="Calibri" pitchFamily="34" charset="0"/>
                <a:ea typeface="Calibri" pitchFamily="34" charset="-122"/>
                <a:cs typeface="Calibri" pitchFamily="34" charset="-120"/>
              </a:rPr>
              <a:t>A participant withdraws. Their record is located, deleted, and the deletion is documented. Autonomy is respected.
</a:t>
            </a:r>
            <a:r>
              <a:rPr lang="en-US" sz="1100" b="1" dirty="0">
                <a:solidFill>
                  <a:srgbClr val="1E7D44"/>
                </a:solidFill>
                <a:latin typeface="Calibri" pitchFamily="34" charset="0"/>
                <a:ea typeface="Calibri" pitchFamily="34" charset="-122"/>
                <a:cs typeface="Calibri" pitchFamily="34" charset="-120"/>
              </a:rPr>
              <a:t>• </a:t>
            </a:r>
            <a:r>
              <a:rPr lang="en-US" sz="1100" dirty="0">
                <a:solidFill>
                  <a:srgbClr val="1A4A35"/>
                </a:solidFill>
                <a:latin typeface="Calibri" pitchFamily="34" charset="0"/>
                <a:ea typeface="Calibri" pitchFamily="34" charset="-122"/>
                <a:cs typeface="Calibri" pitchFamily="34" charset="-120"/>
              </a:rPr>
              <a:t>BESON's ethical review ensured these protections existed before the study began.</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A2E4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8A020"/>
          </a:solidFill>
          <a:ln w="12700">
            <a:solidFill>
              <a:srgbClr val="E8A020"/>
            </a:solidFill>
            <a:prstDash val="solid"/>
          </a:ln>
        </p:spPr>
        <p:txBody>
          <a:bodyPr/>
          <a:lstStyle/>
          <a:p>
            <a:endParaRPr lang="en-GB"/>
          </a:p>
        </p:txBody>
      </p:sp>
      <p:pic>
        <p:nvPicPr>
          <p:cNvPr id="3" name="Image 0" descr="preencoded.png"/>
          <p:cNvPicPr>
            <a:picLocks noChangeAspect="1"/>
          </p:cNvPicPr>
          <p:nvPr/>
        </p:nvPicPr>
        <p:blipFill>
          <a:blip r:embed="rId3"/>
          <a:stretch>
            <a:fillRect/>
          </a:stretch>
        </p:blipFill>
        <p:spPr>
          <a:xfrm>
            <a:off x="3931920" y="411480"/>
            <a:ext cx="1280160" cy="1280160"/>
          </a:xfrm>
          <a:prstGeom prst="rect">
            <a:avLst/>
          </a:prstGeom>
        </p:spPr>
      </p:pic>
      <p:sp>
        <p:nvSpPr>
          <p:cNvPr id="4" name="Text 1"/>
          <p:cNvSpPr/>
          <p:nvPr/>
        </p:nvSpPr>
        <p:spPr>
          <a:xfrm>
            <a:off x="457200" y="1691640"/>
            <a:ext cx="8229600" cy="777240"/>
          </a:xfrm>
          <a:prstGeom prst="rect">
            <a:avLst/>
          </a:prstGeom>
          <a:noFill/>
          <a:ln/>
        </p:spPr>
        <p:txBody>
          <a:bodyPr wrap="square" rtlCol="0" anchor="ctr"/>
          <a:lstStyle/>
          <a:p>
            <a:pPr marL="0" indent="0" algn="ctr">
              <a:buNone/>
            </a:pPr>
            <a:r>
              <a:rPr lang="en-US" sz="3600" b="1" dirty="0">
                <a:solidFill>
                  <a:srgbClr val="FFFFFF"/>
                </a:solidFill>
                <a:latin typeface="Cambria" pitchFamily="34" charset="0"/>
                <a:ea typeface="Cambria" pitchFamily="34" charset="-122"/>
                <a:cs typeface="Cambria" pitchFamily="34" charset="-120"/>
              </a:rPr>
              <a:t>Thank You For Your Time </a:t>
            </a:r>
            <a:endParaRPr lang="en-US" sz="3600" dirty="0"/>
          </a:p>
        </p:txBody>
      </p:sp>
      <p:sp>
        <p:nvSpPr>
          <p:cNvPr id="5" name="Text 2"/>
          <p:cNvSpPr/>
          <p:nvPr/>
        </p:nvSpPr>
        <p:spPr>
          <a:xfrm>
            <a:off x="457200" y="2450592"/>
            <a:ext cx="8229600" cy="384048"/>
          </a:xfrm>
          <a:prstGeom prst="rect">
            <a:avLst/>
          </a:prstGeom>
          <a:noFill/>
          <a:ln/>
        </p:spPr>
        <p:txBody>
          <a:bodyPr wrap="square" rtlCol="0" anchor="ctr"/>
          <a:lstStyle/>
          <a:p>
            <a:pPr marL="0" indent="0" algn="ctr">
              <a:buNone/>
            </a:pPr>
            <a:r>
              <a:rPr lang="en-US" sz="1500" i="1" dirty="0">
                <a:solidFill>
                  <a:srgbClr val="14ABAB"/>
                </a:solidFill>
                <a:latin typeface="Calibri" pitchFamily="34" charset="0"/>
                <a:ea typeface="Calibri" pitchFamily="34" charset="-122"/>
                <a:cs typeface="Calibri" pitchFamily="34" charset="-120"/>
              </a:rPr>
              <a:t>Ẹ ṣé · Na gode · Ndewo · Thank you</a:t>
            </a:r>
            <a:endParaRPr lang="en-US" sz="1500" dirty="0"/>
          </a:p>
        </p:txBody>
      </p:sp>
      <p:sp>
        <p:nvSpPr>
          <p:cNvPr id="6" name="Shape 3"/>
          <p:cNvSpPr/>
          <p:nvPr/>
        </p:nvSpPr>
        <p:spPr>
          <a:xfrm>
            <a:off x="1828800" y="2962656"/>
            <a:ext cx="5486400" cy="22860"/>
          </a:xfrm>
          <a:prstGeom prst="rect">
            <a:avLst/>
          </a:prstGeom>
          <a:solidFill>
            <a:srgbClr val="0D7377"/>
          </a:solidFill>
          <a:ln w="12700">
            <a:solidFill>
              <a:srgbClr val="0D7377"/>
            </a:solidFill>
            <a:prstDash val="solid"/>
          </a:ln>
        </p:spPr>
        <p:txBody>
          <a:bodyPr/>
          <a:lstStyle/>
          <a:p>
            <a:endParaRPr lang="en-GB"/>
          </a:p>
        </p:txBody>
      </p:sp>
      <p:sp>
        <p:nvSpPr>
          <p:cNvPr id="7" name="Text 4"/>
          <p:cNvSpPr/>
          <p:nvPr/>
        </p:nvSpPr>
        <p:spPr>
          <a:xfrm>
            <a:off x="457200" y="3063240"/>
            <a:ext cx="8229600" cy="91440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Dr. Sakinat Oluwabukonla Folorunso</a:t>
            </a:r>
            <a:endParaRPr lang="en-US" sz="1300" dirty="0"/>
          </a:p>
          <a:p>
            <a:pPr marL="0" indent="0" algn="ctr">
              <a:buNone/>
            </a:pPr>
            <a:r>
              <a:rPr lang="en-US" sz="1300" dirty="0">
                <a:solidFill>
                  <a:srgbClr val="FFFFFF"/>
                </a:solidFill>
                <a:latin typeface="Calibri" pitchFamily="34" charset="0"/>
                <a:ea typeface="Calibri" pitchFamily="34" charset="-122"/>
                <a:cs typeface="Calibri" pitchFamily="34" charset="-120"/>
              </a:rPr>
              <a:t>Associate Professor of AI Systems · Olabisi Onabanjo University, Nigeria</a:t>
            </a:r>
            <a:endParaRPr lang="en-US" sz="1300" dirty="0"/>
          </a:p>
          <a:p>
            <a:pPr marL="0" indent="0" algn="ctr">
              <a:buNone/>
            </a:pPr>
            <a:r>
              <a:rPr lang="en-US" sz="1300" i="1" dirty="0">
                <a:solidFill>
                  <a:srgbClr val="FFFFFF"/>
                </a:solidFill>
                <a:latin typeface="Calibri" pitchFamily="34" charset="0"/>
                <a:ea typeface="Calibri" pitchFamily="34" charset="-122"/>
                <a:cs typeface="Calibri" pitchFamily="34" charset="-120"/>
              </a:rPr>
              <a:t>Lead Researcher — The Artificial Intelligence Research Group (ARISG)</a:t>
            </a:r>
            <a:endParaRPr lang="en-US" sz="1300" dirty="0"/>
          </a:p>
        </p:txBody>
      </p:sp>
      <p:sp>
        <p:nvSpPr>
          <p:cNvPr id="8" name="Shape 5"/>
          <p:cNvSpPr/>
          <p:nvPr/>
        </p:nvSpPr>
        <p:spPr>
          <a:xfrm>
            <a:off x="1472609" y="4206240"/>
            <a:ext cx="6400800" cy="502920"/>
          </a:xfrm>
          <a:prstGeom prst="roundRect">
            <a:avLst>
              <a:gd name="adj" fmla="val 14545"/>
            </a:avLst>
          </a:prstGeom>
          <a:solidFill>
            <a:srgbClr val="1E3A56"/>
          </a:solidFill>
          <a:ln w="12700">
            <a:solidFill>
              <a:srgbClr val="0D7377"/>
            </a:solidFill>
            <a:prstDash val="solid"/>
          </a:ln>
        </p:spPr>
        <p:txBody>
          <a:bodyPr/>
          <a:lstStyle/>
          <a:p>
            <a:endParaRPr lang="en-GB"/>
          </a:p>
        </p:txBody>
      </p:sp>
      <p:sp>
        <p:nvSpPr>
          <p:cNvPr id="9" name="Text 6"/>
          <p:cNvSpPr/>
          <p:nvPr/>
        </p:nvSpPr>
        <p:spPr>
          <a:xfrm>
            <a:off x="1371600" y="4133088"/>
            <a:ext cx="6400800" cy="502920"/>
          </a:xfrm>
          <a:prstGeom prst="rect">
            <a:avLst/>
          </a:prstGeom>
          <a:noFill/>
          <a:ln/>
        </p:spPr>
        <p:txBody>
          <a:bodyPr wrap="square" rtlCol="0" anchor="ctr"/>
          <a:lstStyle/>
          <a:p>
            <a:pPr marL="0" indent="0" algn="ctr">
              <a:buNone/>
            </a:pPr>
            <a:r>
              <a:rPr lang="en-US" sz="1150" dirty="0">
                <a:solidFill>
                  <a:srgbClr val="14ABAB"/>
                </a:solidFill>
                <a:latin typeface="Calibri" pitchFamily="34" charset="0"/>
                <a:ea typeface="Calibri" pitchFamily="34" charset="-122"/>
                <a:cs typeface="Calibri" pitchFamily="34" charset="-120"/>
              </a:rPr>
              <a:t>BESON Q2 Webinar · 24 June 2026 · The Challenge of Data Security in Research</a:t>
            </a:r>
            <a:endParaRPr lang="en-US" sz="1150" dirty="0"/>
          </a:p>
        </p:txBody>
      </p:sp>
      <p:pic>
        <p:nvPicPr>
          <p:cNvPr id="11" name="Picture 10">
            <a:extLst>
              <a:ext uri="{FF2B5EF4-FFF2-40B4-BE49-F238E27FC236}">
                <a16:creationId xmlns:a16="http://schemas.microsoft.com/office/drawing/2014/main" id="{5E66C473-A7CE-AE8B-DB21-A31FFFBD0439}"/>
              </a:ext>
            </a:extLst>
          </p:cNvPr>
          <p:cNvPicPr>
            <a:picLocks noChangeAspect="1"/>
          </p:cNvPicPr>
          <p:nvPr/>
        </p:nvPicPr>
        <p:blipFill>
          <a:blip r:embed="rId4"/>
          <a:stretch>
            <a:fillRect/>
          </a:stretch>
        </p:blipFill>
        <p:spPr>
          <a:xfrm>
            <a:off x="7198545" y="87981"/>
            <a:ext cx="1895025" cy="1855490"/>
          </a:xfrm>
          <a:prstGeom prst="rect">
            <a:avLst/>
          </a:prstGeom>
        </p:spPr>
      </p:pic>
      <p:pic>
        <p:nvPicPr>
          <p:cNvPr id="13" name="Picture 12">
            <a:extLst>
              <a:ext uri="{FF2B5EF4-FFF2-40B4-BE49-F238E27FC236}">
                <a16:creationId xmlns:a16="http://schemas.microsoft.com/office/drawing/2014/main" id="{8131D679-A2B4-2083-9145-C3BE53824B80}"/>
              </a:ext>
            </a:extLst>
          </p:cNvPr>
          <p:cNvPicPr>
            <a:picLocks noChangeAspect="1"/>
          </p:cNvPicPr>
          <p:nvPr/>
        </p:nvPicPr>
        <p:blipFill>
          <a:blip r:embed="rId5"/>
          <a:stretch>
            <a:fillRect/>
          </a:stretch>
        </p:blipFill>
        <p:spPr>
          <a:xfrm>
            <a:off x="0" y="96824"/>
            <a:ext cx="2902523" cy="1366216"/>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6131D7D-D234-8AD4-0CE4-8B68E2AAA1D6}"/>
              </a:ext>
            </a:extLst>
          </p:cNvPr>
          <p:cNvPicPr>
            <a:picLocks noChangeAspect="1"/>
          </p:cNvPicPr>
          <p:nvPr/>
        </p:nvPicPr>
        <p:blipFill>
          <a:blip r:embed="rId2"/>
          <a:stretch>
            <a:fillRect/>
          </a:stretch>
        </p:blipFill>
        <p:spPr>
          <a:xfrm>
            <a:off x="2429" y="0"/>
            <a:ext cx="9139141" cy="5143500"/>
          </a:xfrm>
          <a:prstGeom prst="rect">
            <a:avLst/>
          </a:prstGeom>
        </p:spPr>
      </p:pic>
    </p:spTree>
    <p:extLst>
      <p:ext uri="{BB962C8B-B14F-4D97-AF65-F5344CB8AC3E}">
        <p14:creationId xmlns:p14="http://schemas.microsoft.com/office/powerpoint/2010/main" val="42344517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445</TotalTime>
  <Words>7058</Words>
  <Application>Microsoft Office PowerPoint</Application>
  <PresentationFormat>On-screen Show (16:9)</PresentationFormat>
  <Paragraphs>439</Paragraphs>
  <Slides>25</Slides>
  <Notes>24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Challenge of Data Security in Research: An Overview of Policy Frameworks</dc:title>
  <dc:subject>PptxGenJS Presentation</dc:subject>
  <dc:creator>Prof. Sakinat Oluwabukonla Folorunso</dc:creator>
  <cp:lastModifiedBy>Sakinat TijaniFolorunso</cp:lastModifiedBy>
  <cp:revision>3</cp:revision>
  <dcterms:created xsi:type="dcterms:W3CDTF">2026-06-21T01:37:49Z</dcterms:created>
  <dcterms:modified xsi:type="dcterms:W3CDTF">2026-06-22T01:31:49Z</dcterms:modified>
</cp:coreProperties>
</file>