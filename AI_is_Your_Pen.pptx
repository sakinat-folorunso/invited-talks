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10" r:id="rId17"/>
    <p:sldId id="271" r:id="rId18"/>
    <p:sldId id="31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9550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6C3FC7">
              <a:alpha val="25000"/>
            </a:srgbClr>
          </a:solidFill>
          <a:ln w="12700">
            <a:solidFill>
              <a:srgbClr val="6C3FC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315200" y="-457200"/>
            <a:ext cx="2560320" cy="2560320"/>
          </a:xfrm>
          <a:prstGeom prst="ellipse">
            <a:avLst/>
          </a:prstGeom>
          <a:solidFill>
            <a:srgbClr val="FFD600">
              <a:alpha val="15000"/>
            </a:srgbClr>
          </a:solidFill>
          <a:ln w="12700">
            <a:solidFill>
              <a:srgbClr val="FFD6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4114800" cy="48006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14800" y="4663440"/>
            <a:ext cx="5029200" cy="480060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4F86CBA-A9D7-7887-53EE-B62B0BBC4D50}"/>
              </a:ext>
            </a:extLst>
          </p:cNvPr>
          <p:cNvGrpSpPr/>
          <p:nvPr/>
        </p:nvGrpSpPr>
        <p:grpSpPr>
          <a:xfrm>
            <a:off x="-98633" y="86868"/>
            <a:ext cx="5780241" cy="447928"/>
            <a:chOff x="183907" y="877952"/>
            <a:chExt cx="5780241" cy="447928"/>
          </a:xfrm>
        </p:grpSpPr>
        <p:sp>
          <p:nvSpPr>
            <p:cNvPr id="6" name="Shape 4"/>
            <p:cNvSpPr/>
            <p:nvPr/>
          </p:nvSpPr>
          <p:spPr>
            <a:xfrm>
              <a:off x="548640" y="877952"/>
              <a:ext cx="4958308" cy="320040"/>
            </a:xfrm>
            <a:prstGeom prst="rect">
              <a:avLst/>
            </a:prstGeom>
            <a:solidFill>
              <a:srgbClr val="FFD600"/>
            </a:solidFill>
            <a:ln w="12700">
              <a:solidFill>
                <a:srgbClr val="FFD600"/>
              </a:solidFill>
              <a:prstDash val="solid"/>
            </a:ln>
          </p:spPr>
          <p:txBody>
            <a:bodyPr/>
            <a:lstStyle/>
            <a:p>
              <a:endParaRPr lang="en-GB" b="1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83907" y="1005840"/>
              <a:ext cx="5780241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rgbClr val="2A1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ATC Africa (OOU Chapter) Virtual Event · 2</a:t>
              </a:r>
              <a:r>
                <a:rPr lang="en-US" sz="1200" b="1" baseline="30000" dirty="0">
                  <a:solidFill>
                    <a:srgbClr val="2A1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nd</a:t>
              </a:r>
              <a:r>
                <a:rPr lang="en-US" sz="1200" b="1" dirty="0">
                  <a:solidFill>
                    <a:srgbClr val="2A1A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April 2026</a:t>
              </a:r>
              <a:endParaRPr lang="en-US" sz="1200" b="1" dirty="0"/>
            </a:p>
            <a:p>
              <a:pPr marL="0" indent="0" algn="ctr">
                <a:buNone/>
              </a:pPr>
              <a:endParaRPr lang="en-US" sz="120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95548" y="1280160"/>
            <a:ext cx="96803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is Your </a:t>
            </a:r>
            <a:r>
              <a:rPr lang="en-US" sz="40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Pen, </a:t>
            </a: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Your </a:t>
            </a:r>
            <a:r>
              <a:rPr lang="en-US" sz="4000" b="1" dirty="0">
                <a:solidFill>
                  <a:srgbClr val="9B6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Painter.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16790" y="3289554"/>
            <a:ext cx="80929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Stay the Artist in an Algorithmic World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190775" y="4729734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Sakinat Folorunso  |  Keynote Speaker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6C3FC7">
              <a:alpha val="20000"/>
            </a:srgbClr>
          </a:solidFill>
          <a:ln w="12700">
            <a:solidFill>
              <a:srgbClr val="6C3FC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B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Every Creator Is Asking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“Is AI going to</a:t>
            </a:r>
            <a:endParaRPr lang="en-US" sz="5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replace me?”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64008" cy="13716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but only if you understand what AI actually is.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tool. A very powerful one. But a tool doesn't paint the Mona Lisa —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artist does.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A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Understanding the Tool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3657600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AI CAN Do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text, images, code fast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and recombine existing patterns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repetitive tasks at scale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Suggest, draft, prototype quickly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well-crafted prompts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3931920" cy="3657600"/>
          </a:xfrm>
          <a:prstGeom prst="rect">
            <a:avLst/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663440" y="960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What AI CANNOT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Feel, experience, or truly intend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original aesthetic vision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creative risk or own meaning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cultural context deeply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what matters — and why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✏️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82880" y="22860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Pen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Metaphor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" y="36576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 doesn't write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457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= A Sophisticated Pen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206240" y="1188720"/>
            <a:ext cx="4480560" cy="731520"/>
          </a:xfrm>
          <a:prstGeom prst="rect">
            <a:avLst/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343400" y="12344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  The pen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marks — AI generates outputs.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2057400"/>
            <a:ext cx="4480560" cy="731520"/>
          </a:xfrm>
          <a:prstGeom prst="rect">
            <a:avLst/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343400" y="21031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The author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meaning — You decide meaning.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2926080"/>
            <a:ext cx="4480560" cy="731520"/>
          </a:xfrm>
          <a:prstGeom prst="rect">
            <a:avLst/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343400" y="29718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Direction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human intent, not the tool.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3794760"/>
            <a:ext cx="4480560" cy="731520"/>
          </a:xfrm>
          <a:prstGeom prst="rect">
            <a:avLst/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343400" y="38404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The spark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originality is always yours.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A1A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Modes of Using AI as a Creator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are you?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566160"/>
          </a:xfrm>
          <a:prstGeom prst="rect">
            <a:avLst/>
          </a:prstGeom>
          <a:solidFill>
            <a:srgbClr val="FFFFFF"/>
          </a:solidFill>
          <a:ln w="38100">
            <a:solidFill>
              <a:srgbClr val="B0B0C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solidFill>
            <a:srgbClr val="B0B0C0"/>
          </a:solidFill>
          <a:ln w="12700">
            <a:solidFill>
              <a:srgbClr val="B0B0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AGENCY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🛠️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1A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Technician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C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the work. You click.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generic.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 copy-paste artist.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51760" cy="3566160"/>
          </a:xfrm>
          <a:prstGeom prst="rect">
            <a:avLst/>
          </a:prstGeom>
          <a:solidFill>
            <a:srgbClr val="FFFFFF"/>
          </a:solidFill>
          <a:ln w="38100">
            <a:solidFill>
              <a:srgbClr val="6C3F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651760" cy="457200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0040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1554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🤝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33756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1A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Collaborator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3756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C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direct. AI assists.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246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reflects your vision.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amplifies your voice.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097280"/>
            <a:ext cx="2651760" cy="3566160"/>
          </a:xfrm>
          <a:prstGeom prst="rect">
            <a:avLst/>
          </a:prstGeom>
          <a:solidFill>
            <a:srgbClr val="FFFFFF"/>
          </a:solidFill>
          <a:ln w="38100">
            <a:solidFill>
              <a:srgbClr val="1A7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035040" y="1097280"/>
            <a:ext cx="265176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03504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AGENCY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5040" y="1554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🎨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17220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1A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Auteur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220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C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think in systems.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3246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your canvas and brush.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vision leads everything.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C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👇  The goal of this talk: move you from Mode 1 → Mode 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Principles to Stay the Artist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1097280"/>
          </a:xfrm>
          <a:prstGeom prst="rect">
            <a:avLst/>
          </a:prstGeom>
          <a:solidFill>
            <a:srgbClr val="2A1A5E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38912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051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Brief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4173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can't know what you want if you don't. Define your vision clearly before you prompt.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2743200" cy="1097280"/>
          </a:xfrm>
          <a:prstGeom prst="rect">
            <a:avLst/>
          </a:prstGeom>
          <a:solidFill>
            <a:srgbClr val="1E1040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38912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Ruthlessly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27432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produces abundance. Artists make choices. Edit, reject, refine — curation is creativity.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2743200" cy="1097280"/>
          </a:xfrm>
          <a:prstGeom prst="rect">
            <a:avLst/>
          </a:prstGeom>
          <a:solidFill>
            <a:srgbClr val="2A1A5E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38912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37033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Your 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40690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cultural lens, lived experience, and perspective. That's what AI will never have.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1417320"/>
            <a:ext cx="2194560" cy="1097280"/>
          </a:xfrm>
          <a:prstGeom prst="rect">
            <a:avLst/>
          </a:prstGeom>
          <a:solidFill>
            <a:srgbClr val="1E1040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593592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3360" y="14630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Language of Prompts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93592" y="18288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is a new literacy. Master it like you master a brush, a chord, or a line of code.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1417320"/>
            <a:ext cx="2194560" cy="1097280"/>
          </a:xfrm>
          <a:prstGeom prst="rect">
            <a:avLst/>
          </a:prstGeom>
          <a:solidFill>
            <a:srgbClr val="2A1A5E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748272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14630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Voice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48272" y="18288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amplify your style, not replace it. Let your fingerprint show in the final output.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Let's Try It!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1051560"/>
            <a:ext cx="7315200" cy="22860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prompts. Same AI. Different artists.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A: </a:t>
            </a: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me a poem about Lagos."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12-line poem about Lagos at 3 am through the eyes of a night bus conductor who misses his mother in Ogun State."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Your specificity = Your artistry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didn't change. Your vision did.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Matters More for African Creators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3749040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models are trained on Western, English-heavy data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languages, music, and stories are underrepresented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may flatten or misrepresent our cultures if left unchecked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output risks erasing local nuance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37490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41732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hold cultural knowledge AI doesn't have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scale and amplify — not replace — your voice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datasets and tools that represent us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bridge between heritage and the future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AI Toolkit as a Creator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 — no expensive hardware needed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417320"/>
          </a:xfrm>
          <a:prstGeom prst="rect">
            <a:avLst/>
          </a:prstGeom>
          <a:solidFill>
            <a:srgbClr val="2A1A5E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Writing &amp; 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· Claude · Gemini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brainstorm, edit, research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51760" cy="1417320"/>
          </a:xfrm>
          <a:prstGeom prst="rect">
            <a:avLst/>
          </a:prstGeom>
          <a:solidFill>
            <a:srgbClr val="1E1040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29184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Image Generation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 · DALL·E · Stable Diffusion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965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assets, concept art, covers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1417320"/>
          </a:xfrm>
          <a:prstGeom prst="rect">
            <a:avLst/>
          </a:prstGeom>
          <a:solidFill>
            <a:srgbClr val="2A1A5E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12648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Music &amp; Audio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Suno · Udio · ElevenLabs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1965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Beats, vocals, sound effects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651760" cy="1417320"/>
          </a:xfrm>
          <a:prstGeom prst="rect">
            <a:avLst/>
          </a:prstGeom>
          <a:solidFill>
            <a:srgbClr val="1E1040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Video Creation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ML · Pika · HeyGen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clips, AI avatars, edits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651760" cy="1417320"/>
          </a:xfrm>
          <a:prstGeom prst="rect">
            <a:avLst/>
          </a:prstGeom>
          <a:solidFill>
            <a:srgbClr val="2A1A5E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29184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Coding Help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3291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· Cursor · Claude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3611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faster, debug smarter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834640"/>
            <a:ext cx="2651760" cy="1417320"/>
          </a:xfrm>
          <a:prstGeom prst="rect">
            <a:avLst/>
          </a:prstGeom>
          <a:solidFill>
            <a:srgbClr val="1E1040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12648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Research &amp; Ideas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3291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· NotebookLM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3611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info, find insights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Makeovers: Same Task, Different Artist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777240" cy="109728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34440" y="1014984"/>
            <a:ext cx="3474720" cy="1005840"/>
          </a:xfrm>
          <a:prstGeom prst="rect">
            <a:avLst/>
          </a:prstGeom>
          <a:solidFill>
            <a:srgbClr val="3A0A0A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25880" y="10332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25880" y="1289304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me an Afrobeats song."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3441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57800" y="1014984"/>
            <a:ext cx="3520440" cy="1005840"/>
          </a:xfrm>
          <a:prstGeom prst="rect">
            <a:avLst/>
          </a:prstGeom>
          <a:solidFill>
            <a:srgbClr val="0A2A0A"/>
          </a:solidFill>
          <a:ln w="1270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349240" y="103327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49240" y="128930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lyrics for an Afrobeats song about leaving Ibadan for the first time — excitement, fear, and calling home after a week. Upbeat but bittersweet."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13432"/>
            <a:ext cx="777240" cy="109728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65760" y="2313432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234440" y="2368296"/>
            <a:ext cx="3474720" cy="1005840"/>
          </a:xfrm>
          <a:prstGeom prst="rect">
            <a:avLst/>
          </a:prstGeom>
          <a:solidFill>
            <a:srgbClr val="3A0A0A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25880" y="23865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25880" y="2642616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Python script to analyse data."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57800" y="2368296"/>
            <a:ext cx="3520440" cy="1005840"/>
          </a:xfrm>
          <a:prstGeom prst="rect">
            <a:avLst/>
          </a:prstGeom>
          <a:solidFill>
            <a:srgbClr val="0A2A0A"/>
          </a:solidFill>
          <a:ln w="1270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349240" y="238658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49240" y="2642616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"Read a CSV of Nigerian school results, flag students who improved 20%+ between terms, output a congratulations message in Pidgin English."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666744"/>
            <a:ext cx="777240" cy="109728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65760" y="3666744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234440" y="3721608"/>
            <a:ext cx="3474720" cy="1005840"/>
          </a:xfrm>
          <a:prstGeom prst="rect">
            <a:avLst/>
          </a:prstGeom>
          <a:solidFill>
            <a:srgbClr val="3A0A0A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325880" y="37398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25880" y="3995928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"Design a flyer for an event."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40507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57800" y="3721608"/>
            <a:ext cx="3520440" cy="1005840"/>
          </a:xfrm>
          <a:prstGeom prst="rect">
            <a:avLst/>
          </a:prstGeom>
          <a:solidFill>
            <a:srgbClr val="0A2A0A"/>
          </a:solidFill>
          <a:ln w="12700">
            <a:solidFill>
              <a:srgbClr val="22A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349240" y="373989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ARTIST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49240" y="399592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"A4 flyer for a Lagos Gen-Z tech hackathon. Electric colours, Afrofuturism aesthetic, Yoruba tagline below the English headline."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B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you add are your brushstrokes.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Creators Already Using AI as a Pen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6C3FC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Burna Boy's 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353312"/>
            <a:ext cx="39136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AI to rapid-prototype beat variations while keeping the Afrofusion signature intact. The sound is his — AI handled the speed.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224028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AI accelerated, not replaced, the vision.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411480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411480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937760" y="914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African writers on Substack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353312"/>
            <a:ext cx="39136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Claude/ChatGPT to break writer's block: ask for 5 scene options, discard 4, then rewrite the 5th entirely in their own voice.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56048" y="224028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AI as sparring partner, not ghostwriter.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8B451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114800" cy="38404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Nigerian visual artists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3364992"/>
            <a:ext cx="39136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Midjourney to generate Aso-oke and Benin-bronze mood boards, then hand-refine every detail back to cultural accuracy.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425196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cultural lens is yours. AI just renders fast.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411480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46320" y="2926080"/>
            <a:ext cx="41148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937760" y="2926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Student developers (like YOU)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56048" y="3364992"/>
            <a:ext cx="39136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writes the boilerplate. The saved hours go into the real work — the algorithm, the logic, the idea that is uniquely yours.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56048" y="425196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Ship faster. Think deeper. Stay the engineer.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FFD600">
              <a:alpha val="10000"/>
            </a:srgbClr>
          </a:solidFill>
          <a:ln w="12700">
            <a:solidFill>
              <a:srgbClr val="FFD6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6C3FC7">
              <a:alpha val="20000"/>
            </a:srgbClr>
          </a:solidFill>
          <a:ln w="12700">
            <a:solidFill>
              <a:srgbClr val="6C3FC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Context is the Secret Ingredient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bring that no AI ever will: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321040" cy="777240"/>
          </a:xfrm>
          <a:prstGeom prst="rect">
            <a:avLst/>
          </a:prstGeom>
          <a:solidFill>
            <a:srgbClr val="2A1A5E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Where you grew 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1344168"/>
            <a:ext cx="36576" cy="548640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971800" y="130759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knows Lagos exists. It does not know the smell of rain on hot asphalt in Surulere, or what it means when NEPA light comes back 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321040" cy="777240"/>
          </a:xfrm>
          <a:prstGeom prst="rect">
            <a:avLst/>
          </a:prstGeom>
          <a:solidFill>
            <a:srgbClr val="2A1A5E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Your language &amp; code-switching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2258568"/>
            <a:ext cx="36576" cy="548640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971800" y="222199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mix Yoruba, Pidgin, and English in one sentence naturally. That texture is a creative asset AI cannot authentically replicate.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321040" cy="777240"/>
          </a:xfrm>
          <a:prstGeom prst="rect">
            <a:avLst/>
          </a:prstGeom>
          <a:solidFill>
            <a:srgbClr val="2A1A5E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94360" y="3063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📻  What your generation lived through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3172968"/>
            <a:ext cx="36576" cy="548640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971800" y="313639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ASUU strikes, japa dreams, petrol queues — your cohort has stories AI has only read about. Put them in your work.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321040" cy="777240"/>
          </a:xfrm>
          <a:prstGeom prst="rect">
            <a:avLst/>
          </a:prstGeom>
          <a:solidFill>
            <a:srgbClr val="2A1A5E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94360" y="39776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Who you are making it for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34640" y="4087368"/>
            <a:ext cx="36576" cy="548640"/>
          </a:xfrm>
          <a:prstGeom prst="rect">
            <a:avLst/>
          </a:prstGeom>
          <a:solidFill>
            <a:srgbClr val="6C3FC7"/>
          </a:solidFill>
          <a:ln w="12700">
            <a:solidFill>
              <a:srgbClr val="6C3F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971800" y="405079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your audience: your coursemates, your neighbourhood, your future self. AI does not know them. You do.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Creators Step Back — AI Gets It Wrong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3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 of AI failing without a strong human hand: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28930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African Music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1848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artist: AI "Afrobeats" for Western brands: right instruments, wrong soul. No story, no grit. It sounds like a caricature.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36576" cy="914400"/>
          </a:xfrm>
          <a:prstGeom prst="rect">
            <a:avLst/>
          </a:prstGeom>
          <a:solidFill>
            <a:srgbClr val="CCCCDD"/>
          </a:solidFill>
          <a:ln w="12700">
            <a:solidFill>
              <a:srgbClr val="CCCC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26280" y="132588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artist: Artists who directed AI with specific BPM, lyrical themes from their city, and an emotional arc produced something real.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96312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2920" y="255117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Journalism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artist: AI asked to write about "poverty in Nigeria" generated Western aid-narrative cliches — no agency, no complexity, no humanity.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2587752"/>
            <a:ext cx="36576" cy="914400"/>
          </a:xfrm>
          <a:prstGeom prst="rect">
            <a:avLst/>
          </a:prstGeom>
          <a:solidFill>
            <a:srgbClr val="CCCCDD"/>
          </a:solidFill>
          <a:ln w="12700">
            <a:solidFill>
              <a:srgbClr val="CCCC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526280" y="2587752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artist: A Nigerian journalist used AI to transcribe interviews and draft structure — but kept every voice and every nuance their own.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758184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02920" y="3813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Brand 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14223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artist: A startup auto-generated "African-inspired" branding. The result mixed motifs from 5 countries — no one from any of them recognised it.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3849624"/>
            <a:ext cx="36576" cy="914400"/>
          </a:xfrm>
          <a:prstGeom prst="rect">
            <a:avLst/>
          </a:prstGeom>
          <a:solidFill>
            <a:srgbClr val="CCCCDD"/>
          </a:solidFill>
          <a:ln w="12700">
            <a:solidFill>
              <a:srgbClr val="CCCC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526280" y="3849624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artist: Their designer used AI only for colour palette options, then hand-crafted every element from their specific cultural heritage.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Watch Out: The Creativity Traps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737360"/>
          </a:xfrm>
          <a:prstGeom prst="rect">
            <a:avLst/>
          </a:prstGeom>
          <a:solidFill>
            <a:srgbClr val="2A0A00"/>
          </a:solidFill>
          <a:ln w="12700">
            <a:solidFill>
              <a:srgbClr val="CC4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Shortcut Trap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to skip thinking. You save time but lose skill. Your creative muscle atrophies.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019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Always draft your own ideas first, then use AI to expand.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4114800" cy="1737360"/>
          </a:xfrm>
          <a:prstGeom prst="rect">
            <a:avLst/>
          </a:prstGeom>
          <a:solidFill>
            <a:srgbClr val="2A0A00"/>
          </a:solidFill>
          <a:ln w="12700">
            <a:solidFill>
              <a:srgbClr val="CC4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Clone Trap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starts to look like everyone else's. Generic prompts → generic output.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9136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 constraints that force uniqueness: your city, your language, your story.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914400"/>
            <a:ext cx="4114800" cy="1737360"/>
          </a:xfrm>
          <a:prstGeom prst="rect">
            <a:avLst/>
          </a:prstGeom>
          <a:solidFill>
            <a:srgbClr val="2A0A00"/>
          </a:solidFill>
          <a:ln w="12700">
            <a:solidFill>
              <a:srgbClr val="CC4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98348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Credit Trap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Blurring lines between AI-assisted and AI-generated work. Ethically and professionally dangerous.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9019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 transparent. Own what's yours. Disclose AI involvement.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4114800" cy="1737360"/>
          </a:xfrm>
          <a:prstGeom prst="rect">
            <a:avLst/>
          </a:prstGeom>
          <a:solidFill>
            <a:srgbClr val="2A0A00"/>
          </a:solidFill>
          <a:ln w="12700">
            <a:solidFill>
              <a:srgbClr val="CC4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98348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Dependency Trap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383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can't create without AI anymore." You've outsourced your imagination.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39136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Practice creating without AI regularly. It's like gym day — keep that muscle.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1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FFD600">
              <a:alpha val="12000"/>
            </a:srgbClr>
          </a:solidFill>
          <a:ln w="12700">
            <a:solidFill>
              <a:srgbClr val="FFD60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AI-ERA CREATOR'S MANIFESTO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64008" cy="5029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" y="80467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define the vision. AI executes my will.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64008" cy="5029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160934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bring the soul. AI brings the speed.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2432304"/>
            <a:ext cx="64008" cy="5029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5800" y="241401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own my cultural knowledge. It cannot be automated.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3236976"/>
            <a:ext cx="64008" cy="5029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85800" y="321868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 AI as a pen — I am the story.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4041648"/>
            <a:ext cx="64008" cy="5029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85800" y="4023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am not replaceable. I am irreplaceable.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B951EB-590C-4EEC-9A71-2EB56AC48A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41" b="20694"/>
          <a:stretch>
            <a:fillRect/>
          </a:stretch>
        </p:blipFill>
        <p:spPr>
          <a:xfrm>
            <a:off x="20" y="10"/>
            <a:ext cx="9143979" cy="45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0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So, What Will YOU Create?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9B6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doesn't dream. You do.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0" y="1508760"/>
            <a:ext cx="5486400" cy="1188720"/>
          </a:xfrm>
          <a:prstGeom prst="rect">
            <a:avLst/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828800" y="153619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homework this week: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901952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creative project. Use AI as your pen.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what you make.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1644" y="357759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Dr. Sakinat Folorunso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0D0D1A"/>
                </a:solidFill>
                <a:latin typeface="Arial Black" pitchFamily="34" charset="0"/>
              </a:rPr>
              <a:t>Department of Computer Sciences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0D0D1A"/>
                </a:solidFill>
                <a:latin typeface="Arial Black" pitchFamily="34" charset="0"/>
              </a:rPr>
              <a:t>Olabisi Onabanjo University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1644" y="441399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'AI is your pen. Now write something worth reading.'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131D7D-D234-8AD4-0CE4-8B68E2AAA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451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1595</Words>
  <Application>Microsoft Office PowerPoint</Application>
  <PresentationFormat>On-screen Show (16:9)</PresentationFormat>
  <Paragraphs>208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is Your Pen, Not Your Painter</dc:title>
  <dc:subject>PptxGenJS Presentation</dc:subject>
  <dc:creator>PptxGenJS</dc:creator>
  <cp:lastModifiedBy>Sakinat TijaniFolorunso</cp:lastModifiedBy>
  <cp:revision>2</cp:revision>
  <dcterms:created xsi:type="dcterms:W3CDTF">2026-05-02T04:54:42Z</dcterms:created>
  <dcterms:modified xsi:type="dcterms:W3CDTF">2026-05-02T07:38:29Z</dcterms:modified>
</cp:coreProperties>
</file>