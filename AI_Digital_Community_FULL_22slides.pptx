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305" r:id="rId24"/>
    <p:sldId id="308" r:id="rId25"/>
    <p:sldId id="309" r:id="rId26"/>
    <p:sldId id="310" r:id="rId27"/>
    <p:sldId id="311" r:id="rId28"/>
  </p:sldIdLst>
  <p:sldSz cx="9144000" cy="5143500" type="screen16x9"/>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宋体" charset="0"/>
        <a:cs typeface="Droid Sans" charset="0"/>
      </a:defRPr>
    </a:lvl1pPr>
    <a:lvl2pPr marL="457200" indent="0" algn="l" defTabSz="914400" eaLnBrk="1" fontAlgn="auto" latinLnBrk="0" hangingPunct="1">
      <a:buNone/>
      <a:defRPr sz="1800" kern="1200">
        <a:solidFill>
          <a:schemeClr val="tx1"/>
        </a:solidFill>
        <a:latin typeface="Droid Sans" charset="0"/>
        <a:ea typeface="宋体" charset="0"/>
        <a:cs typeface="Droid Sans" charset="0"/>
      </a:defRPr>
    </a:lvl2pPr>
    <a:lvl3pPr marL="914400" indent="0" algn="l" defTabSz="914400" eaLnBrk="1" fontAlgn="auto" latinLnBrk="0" hangingPunct="1">
      <a:buNone/>
      <a:defRPr sz="1800" kern="1200">
        <a:solidFill>
          <a:schemeClr val="tx1"/>
        </a:solidFill>
        <a:latin typeface="Droid Sans" charset="0"/>
        <a:ea typeface="宋体" charset="0"/>
        <a:cs typeface="Droid Sans" charset="0"/>
      </a:defRPr>
    </a:lvl3pPr>
    <a:lvl4pPr marL="1371600" indent="0" algn="l" defTabSz="914400" eaLnBrk="1" fontAlgn="auto" latinLnBrk="0" hangingPunct="1">
      <a:buNone/>
      <a:defRPr sz="1800" kern="1200">
        <a:solidFill>
          <a:schemeClr val="tx1"/>
        </a:solidFill>
        <a:latin typeface="Droid Sans" charset="0"/>
        <a:ea typeface="宋体" charset="0"/>
        <a:cs typeface="Droid Sans" charset="0"/>
      </a:defRPr>
    </a:lvl4pPr>
    <a:lvl5pPr marL="1828800" indent="0" algn="l" defTabSz="914400" eaLnBrk="1" fontAlgn="auto" latinLnBrk="0" hangingPunct="1">
      <a:buNone/>
      <a:defRPr sz="1800" kern="1200">
        <a:solidFill>
          <a:schemeClr val="tx1"/>
        </a:solidFill>
        <a:latin typeface="Droid Sans" charset="0"/>
        <a:ea typeface="宋体" charset="0"/>
        <a:cs typeface="Droid Sans" charset="0"/>
      </a:defRPr>
    </a:lvl5pPr>
    <a:lvl6pPr marL="2286000" indent="0" algn="l" defTabSz="914400" eaLnBrk="1" fontAlgn="auto" latinLnBrk="0" hangingPunct="1">
      <a:buNone/>
      <a:defRPr sz="1800" kern="1200">
        <a:solidFill>
          <a:schemeClr val="tx1"/>
        </a:solidFill>
        <a:latin typeface="Droid Sans" charset="0"/>
        <a:ea typeface="宋体" charset="0"/>
        <a:cs typeface="Droid Sans" charset="0"/>
      </a:defRPr>
    </a:lvl6pPr>
    <a:lvl7pPr marL="2743200" indent="0" algn="l" defTabSz="914400" eaLnBrk="1" fontAlgn="auto" latinLnBrk="0" hangingPunct="1">
      <a:buNone/>
      <a:defRPr sz="1800" kern="1200">
        <a:solidFill>
          <a:schemeClr val="tx1"/>
        </a:solidFill>
        <a:latin typeface="Droid Sans" charset="0"/>
        <a:ea typeface="宋体" charset="0"/>
        <a:cs typeface="Droid Sans" charset="0"/>
      </a:defRPr>
    </a:lvl7pPr>
    <a:lvl8pPr marL="3200400" indent="0" algn="l" defTabSz="914400" eaLnBrk="1" fontAlgn="auto" latinLnBrk="0" hangingPunct="1">
      <a:buNone/>
      <a:defRPr sz="1800" kern="1200">
        <a:solidFill>
          <a:schemeClr val="tx1"/>
        </a:solidFill>
        <a:latin typeface="Droid Sans" charset="0"/>
        <a:ea typeface="宋体" charset="0"/>
        <a:cs typeface="Droid Sans" charset="0"/>
      </a:defRPr>
    </a:lvl8pPr>
    <a:lvl9pPr marL="3200400" indent="0" algn="l" defTabSz="914400" eaLnBrk="1" fontAlgn="auto" latinLnBrk="0" hangingPunct="1">
      <a:buNone/>
      <a:defRPr sz="1800" kern="1200">
        <a:solidFill>
          <a:schemeClr val="tx1"/>
        </a:solidFill>
        <a:latin typeface="Droid Sans" charset="0"/>
        <a:ea typeface="宋体" charset="0"/>
        <a:cs typeface="Droid Sans"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5477" autoAdjust="0"/>
  </p:normalViewPr>
  <p:slideViewPr>
    <p:cSldViewPr snapToGrid="0" snapToObjects="1">
      <p:cViewPr varScale="1">
        <p:scale>
          <a:sx n="127" d="100"/>
          <a:sy n="127" d="100"/>
        </p:scale>
        <p:origin x="652" y="76"/>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a:t>
            </a:fld>
            <a:endParaRPr lang="zh-CN" altLang="en-US" sz="1200">
              <a:latin typeface="Calibri" charset="0"/>
              <a:ea typeface="等线" charset="0"/>
              <a:cs typeface="Calibri" charset="0"/>
            </a:endParaRPr>
          </a:p>
        </p:txBody>
      </p:sp>
      <p:sp>
        <p:nvSpPr>
          <p:cNvPr id="2" name="Text box"/>
          <p:cNvSpPr>
            <a:spLocks noGrp="1"/>
          </p:cNvSpPr>
          <p:nvPr>
            <p:ph type="hdr"/>
          </p:nvPr>
        </p:nvSpPr>
        <p:spPr>
          <a:xfrm>
            <a:off x="0" y="0"/>
            <a:ext cx="2971799"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Calibri" charset="0"/>
              <a:ea typeface="等线" charset="0"/>
              <a:cs typeface="Calibri" charset="0"/>
            </a:endParaRPr>
          </a:p>
        </p:txBody>
      </p:sp>
      <p:sp>
        <p:nvSpPr>
          <p:cNvPr id="3"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en-US" altLang="zh-CN" sz="1200">
                <a:latin typeface="Calibri" charset="0"/>
                <a:ea typeface="等线" charset="0"/>
                <a:cs typeface="Calibri" charset="0"/>
              </a:rPr>
              <a:t>4/28/2026</a:t>
            </a:fld>
            <a:endParaRPr lang="zh-CN" altLang="en-US" sz="1200">
              <a:latin typeface="Calibri" charset="0"/>
              <a:ea typeface="等线" charset="0"/>
              <a:cs typeface="Calibri" charset="0"/>
            </a:endParaRPr>
          </a:p>
        </p:txBody>
      </p:sp>
      <p:sp>
        <p:nvSpPr>
          <p:cNvPr id="4" name="Object"/>
          <p:cNvSpPr>
            <a:spLocks noGrp="1" noRot="1" noChangeAspect="1"/>
          </p:cNvSpPr>
          <p:nvPr>
            <p:ph type="sldImg" idx="2"/>
          </p:nvPr>
        </p:nvSpPr>
        <p:spPr>
          <a:xfrm>
            <a:off x="685800" y="1143000"/>
            <a:ext cx="5486400" cy="3086100"/>
          </a:xfrm>
          <a:prstGeom prst="rect">
            <a:avLst/>
          </a:prstGeom>
          <a:noFill/>
          <a:ln w="12700" cap="flat" cmpd="sng">
            <a:solidFill>
              <a:srgbClr val="000000"/>
            </a:solidFill>
            <a:prstDash val="solid"/>
            <a:round/>
          </a:ln>
        </p:spPr>
      </p:sp>
      <p:sp>
        <p:nvSpPr>
          <p:cNvPr id="5" name="Text box"/>
          <p:cNvSpPr>
            <a:spLocks noGrp="1"/>
          </p:cNvSpPr>
          <p:nvPr>
            <p:ph type="body" idx="3"/>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Text box"/>
          <p:cNvSpPr>
            <a:spLocks noGrp="1"/>
          </p:cNvSpPr>
          <p:nvPr>
            <p:ph type="ftr" idx="4"/>
          </p:nvPr>
        </p:nvSpPr>
        <p:spPr>
          <a:xfrm>
            <a:off x="0" y="8685213"/>
            <a:ext cx="2971799"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1069222592"/>
      </p:ext>
    </p:extLst>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charset="0"/>
        <a:ea typeface="等线" charset="0"/>
        <a:cs typeface="Calibri"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a:t>
            </a:fld>
            <a:endParaRPr lang="zh-CN" altLang="en-US" sz="1200">
              <a:latin typeface="Calibri" charset="0"/>
              <a:ea typeface="等线" charset="0"/>
              <a:cs typeface="Calibri" charset="0"/>
            </a:endParaRPr>
          </a:p>
        </p:txBody>
      </p:sp>
      <p:sp>
        <p:nvSpPr>
          <p:cNvPr id="18"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9"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0"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1</a:t>
            </a:fld>
            <a:endParaRPr lang="zh-CN" altLang="en-US"/>
          </a:p>
        </p:txBody>
      </p:sp>
    </p:spTree>
    <p:extLst>
      <p:ext uri="{BB962C8B-B14F-4D97-AF65-F5344CB8AC3E}">
        <p14:creationId xmlns:p14="http://schemas.microsoft.com/office/powerpoint/2010/main" val="1377733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2</a:t>
            </a:fld>
            <a:endParaRPr lang="zh-CN" altLang="en-US" sz="1200">
              <a:latin typeface="Calibri" charset="0"/>
              <a:ea typeface="等线" charset="0"/>
              <a:cs typeface="Calibri" charset="0"/>
            </a:endParaRPr>
          </a:p>
        </p:txBody>
      </p:sp>
      <p:sp>
        <p:nvSpPr>
          <p:cNvPr id="38"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9"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40"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2</a:t>
            </a:fld>
            <a:endParaRPr lang="zh-CN" altLang="en-US"/>
          </a:p>
        </p:txBody>
      </p:sp>
    </p:spTree>
    <p:extLst>
      <p:ext uri="{BB962C8B-B14F-4D97-AF65-F5344CB8AC3E}">
        <p14:creationId xmlns:p14="http://schemas.microsoft.com/office/powerpoint/2010/main" val="1888122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3</a:t>
            </a:fld>
            <a:endParaRPr lang="zh-CN" altLang="en-US" sz="1200">
              <a:latin typeface="Calibri" charset="0"/>
              <a:ea typeface="等线" charset="0"/>
              <a:cs typeface="Calibri" charset="0"/>
            </a:endParaRPr>
          </a:p>
        </p:txBody>
      </p:sp>
      <p:sp>
        <p:nvSpPr>
          <p:cNvPr id="61"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62"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63"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3</a:t>
            </a:fld>
            <a:endParaRPr lang="zh-CN" altLang="en-US"/>
          </a:p>
        </p:txBody>
      </p:sp>
    </p:spTree>
    <p:extLst>
      <p:ext uri="{BB962C8B-B14F-4D97-AF65-F5344CB8AC3E}">
        <p14:creationId xmlns:p14="http://schemas.microsoft.com/office/powerpoint/2010/main" val="320127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4</a:t>
            </a:fld>
            <a:endParaRPr lang="zh-CN" altLang="en-US" sz="1200">
              <a:latin typeface="Calibri" charset="0"/>
              <a:ea typeface="等线" charset="0"/>
              <a:cs typeface="Calibri" charset="0"/>
            </a:endParaRPr>
          </a:p>
        </p:txBody>
      </p:sp>
      <p:sp>
        <p:nvSpPr>
          <p:cNvPr id="90"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91"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92"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4</a:t>
            </a:fld>
            <a:endParaRPr lang="zh-CN" altLang="en-US"/>
          </a:p>
        </p:txBody>
      </p:sp>
    </p:spTree>
    <p:extLst>
      <p:ext uri="{BB962C8B-B14F-4D97-AF65-F5344CB8AC3E}">
        <p14:creationId xmlns:p14="http://schemas.microsoft.com/office/powerpoint/2010/main" val="1604002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5</a:t>
            </a:fld>
            <a:endParaRPr lang="zh-CN" altLang="en-US" sz="1200">
              <a:latin typeface="Calibri" charset="0"/>
              <a:ea typeface="等线" charset="0"/>
              <a:cs typeface="Calibri" charset="0"/>
            </a:endParaRPr>
          </a:p>
        </p:txBody>
      </p:sp>
      <p:sp>
        <p:nvSpPr>
          <p:cNvPr id="125"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26"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127"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5</a:t>
            </a:fld>
            <a:endParaRPr lang="zh-CN" altLang="en-US"/>
          </a:p>
        </p:txBody>
      </p:sp>
    </p:spTree>
    <p:extLst>
      <p:ext uri="{BB962C8B-B14F-4D97-AF65-F5344CB8AC3E}">
        <p14:creationId xmlns:p14="http://schemas.microsoft.com/office/powerpoint/2010/main" val="815884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6</a:t>
            </a:fld>
            <a:endParaRPr lang="zh-CN" altLang="en-US" sz="1200">
              <a:latin typeface="Calibri" charset="0"/>
              <a:ea typeface="等线" charset="0"/>
              <a:cs typeface="Calibri" charset="0"/>
            </a:endParaRPr>
          </a:p>
        </p:txBody>
      </p:sp>
      <p:sp>
        <p:nvSpPr>
          <p:cNvPr id="161"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62"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163"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6</a:t>
            </a:fld>
            <a:endParaRPr lang="zh-CN" altLang="en-US"/>
          </a:p>
        </p:txBody>
      </p:sp>
    </p:spTree>
    <p:extLst>
      <p:ext uri="{BB962C8B-B14F-4D97-AF65-F5344CB8AC3E}">
        <p14:creationId xmlns:p14="http://schemas.microsoft.com/office/powerpoint/2010/main" val="1275743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7</a:t>
            </a:fld>
            <a:endParaRPr lang="zh-CN" altLang="en-US" sz="1200">
              <a:latin typeface="Calibri" charset="0"/>
              <a:ea typeface="等线" charset="0"/>
              <a:cs typeface="Calibri" charset="0"/>
            </a:endParaRPr>
          </a:p>
        </p:txBody>
      </p:sp>
      <p:sp>
        <p:nvSpPr>
          <p:cNvPr id="192"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93"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194"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7</a:t>
            </a:fld>
            <a:endParaRPr lang="zh-CN" altLang="en-US"/>
          </a:p>
        </p:txBody>
      </p:sp>
    </p:spTree>
    <p:extLst>
      <p:ext uri="{BB962C8B-B14F-4D97-AF65-F5344CB8AC3E}">
        <p14:creationId xmlns:p14="http://schemas.microsoft.com/office/powerpoint/2010/main" val="52001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8</a:t>
            </a:fld>
            <a:endParaRPr lang="zh-CN" altLang="en-US" sz="1200">
              <a:latin typeface="Calibri" charset="0"/>
              <a:ea typeface="等线" charset="0"/>
              <a:cs typeface="Calibri" charset="0"/>
            </a:endParaRPr>
          </a:p>
        </p:txBody>
      </p:sp>
      <p:sp>
        <p:nvSpPr>
          <p:cNvPr id="207"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08"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09"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8</a:t>
            </a:fld>
            <a:endParaRPr lang="zh-CN" altLang="en-US"/>
          </a:p>
        </p:txBody>
      </p:sp>
    </p:spTree>
    <p:extLst>
      <p:ext uri="{BB962C8B-B14F-4D97-AF65-F5344CB8AC3E}">
        <p14:creationId xmlns:p14="http://schemas.microsoft.com/office/powerpoint/2010/main" val="2021153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9</a:t>
            </a:fld>
            <a:endParaRPr lang="zh-CN" altLang="en-US" sz="1200">
              <a:latin typeface="Calibri" charset="0"/>
              <a:ea typeface="等线" charset="0"/>
              <a:cs typeface="Calibri" charset="0"/>
            </a:endParaRPr>
          </a:p>
        </p:txBody>
      </p:sp>
      <p:sp>
        <p:nvSpPr>
          <p:cNvPr id="221"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22"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23"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9</a:t>
            </a:fld>
            <a:endParaRPr lang="zh-CN" altLang="en-US"/>
          </a:p>
        </p:txBody>
      </p:sp>
    </p:spTree>
    <p:extLst>
      <p:ext uri="{BB962C8B-B14F-4D97-AF65-F5344CB8AC3E}">
        <p14:creationId xmlns:p14="http://schemas.microsoft.com/office/powerpoint/2010/main" val="1979085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10</a:t>
            </a:fld>
            <a:endParaRPr lang="zh-CN" altLang="en-US" sz="1200">
              <a:latin typeface="Calibri" charset="0"/>
              <a:ea typeface="等线" charset="0"/>
              <a:cs typeface="Calibri" charset="0"/>
            </a:endParaRPr>
          </a:p>
        </p:txBody>
      </p:sp>
      <p:sp>
        <p:nvSpPr>
          <p:cNvPr id="246"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47"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48"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10</a:t>
            </a:fld>
            <a:endParaRPr lang="zh-CN" altLang="en-US"/>
          </a:p>
        </p:txBody>
      </p:sp>
    </p:spTree>
    <p:extLst>
      <p:ext uri="{BB962C8B-B14F-4D97-AF65-F5344CB8AC3E}">
        <p14:creationId xmlns:p14="http://schemas.microsoft.com/office/powerpoint/2010/main" val="298182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11</a:t>
            </a:fld>
            <a:endParaRPr lang="zh-CN" altLang="en-US" sz="1200">
              <a:latin typeface="Calibri" charset="0"/>
              <a:ea typeface="等线" charset="0"/>
              <a:cs typeface="Calibri" charset="0"/>
            </a:endParaRPr>
          </a:p>
        </p:txBody>
      </p:sp>
      <p:sp>
        <p:nvSpPr>
          <p:cNvPr id="296"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97"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98"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11</a:t>
            </a:fld>
            <a:endParaRPr lang="zh-CN" altLang="en-US"/>
          </a:p>
        </p:txBody>
      </p:sp>
    </p:spTree>
    <p:extLst>
      <p:ext uri="{BB962C8B-B14F-4D97-AF65-F5344CB8AC3E}">
        <p14:creationId xmlns:p14="http://schemas.microsoft.com/office/powerpoint/2010/main" val="559933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12</a:t>
            </a:fld>
            <a:endParaRPr lang="zh-CN" altLang="en-US" sz="1200">
              <a:latin typeface="Calibri" charset="0"/>
              <a:ea typeface="等线" charset="0"/>
              <a:cs typeface="Calibri" charset="0"/>
            </a:endParaRPr>
          </a:p>
        </p:txBody>
      </p:sp>
      <p:sp>
        <p:nvSpPr>
          <p:cNvPr id="315"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316"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317" name="Text box"/>
          <p:cNvSpPr>
            <a:spLocks noGrp="1"/>
          </p:cNvSpPr>
          <p:nvPr>
            <p:ph type="sldNum" idx="10"/>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宋体" charset="0"/>
                <a:cs typeface="Lucida Sans"/>
              </a:rPr>
              <a:t>12</a:t>
            </a:fld>
            <a:endParaRPr lang="zh-CN" altLang="en-US"/>
          </a:p>
        </p:txBody>
      </p:sp>
    </p:spTree>
    <p:extLst>
      <p:ext uri="{BB962C8B-B14F-4D97-AF65-F5344CB8AC3E}">
        <p14:creationId xmlns:p14="http://schemas.microsoft.com/office/powerpoint/2010/main" val="4819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13</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858041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14</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832974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15</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1358342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16</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630757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17</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790496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18</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537630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19</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1681775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20</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1885846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21</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9163363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p:cNvSpPr>
            <a:spLocks noGrp="1" noRot="1" noChangeAspect="1"/>
          </p:cNvSpPr>
          <p:nvPr>
            <p:ph type="sldImg"/>
          </p:nvPr>
        </p:nvSpPr>
        <p:spPr/>
      </p:sp>
      <p:sp>
        <p:nvSpPr>
          <p:cNvPr id="3" name="Text box"/>
          <p:cNvSpPr>
            <a:spLocks noGrp="1"/>
          </p:cNvSpPr>
          <p:nvPr>
            <p:ph type="body" idx="1"/>
          </p:nvPr>
        </p:nvSpPr>
        <p:spPr/>
        <p:txBody>
          <a:bodyPr/>
          <a:lstStyle/>
          <a:p>
            <a:endParaRPr lang="zh-CN" altLang="en-US"/>
          </a:p>
        </p:txBody>
      </p:sp>
      <p:sp>
        <p:nvSpPr>
          <p:cNvPr id="7"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Calibri" charset="0"/>
                <a:ea typeface="等线" charset="0"/>
                <a:cs typeface="Calibri" charset="0"/>
              </a:rPr>
              <a:t>22</a:t>
            </a:fld>
            <a:endParaRPr lang="zh-CN" altLang="en-US" sz="1200">
              <a:latin typeface="Calibri" charset="0"/>
              <a:ea typeface="等线" charset="0"/>
              <a:cs typeface="Calibri" charset="0"/>
            </a:endParaRPr>
          </a:p>
        </p:txBody>
      </p:sp>
    </p:spTree>
    <p:extLst>
      <p:ext uri="{BB962C8B-B14F-4D97-AF65-F5344CB8AC3E}">
        <p14:creationId xmlns:p14="http://schemas.microsoft.com/office/powerpoint/2010/main" val="2114384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ETHICAL USE OF AI IN ACADEMIA
With all of the benefits I have described, it is equally important that we are honest about the risks and ethical responsibilities involved. This is where your role as academics is most critical.
[Hallucination] AI tools sometimes produce what researchers call "hallucinations" — information that sounds accurate but is completely fabricated. In 2023, two American lawyers submitted legal briefs that cited court cases that did not exist — the cases had been invented by ChatGPT. For academics, this is a serious warning: never cite or use AI-generated information without verifying it against authoritative original sources.
[Academic Integrity] The use of AI raises profound questions for academic integrity. If a student submits an essay written entirely by AI, is that plagiarism? Many institutions are still developing their policies. As academics, you need to engage with these questions and help your institutions establish clear, fair guidelines.
[Data Privacy] This is critically important for researchers: never input personal data about research participants, confidential institutional information, or unpublished research findings into public AI tools. These inputs may be stored and used to train future AI models, potentially exposing sensitive information.
[Bias in AI] AI models are trained on data generated mostly by certain groups of people — predominantly Western, English-speaking, and male voices. This means AI outputs can reflect biases that may be harmful or misleading, particularly around African contexts, indigenous knowledge, gender, and race. Always critically evaluate AI outputs with this in mind.
[Copyright and Intellectual Property] There are unresolved legal questions about whether AI-generated content can be copyrighted, and who owns content that AI helped create. Until clearer legal frameworks exist, academics should be cautious and transparent about how AI was used in their published work.
[Digital Inclusion] Finally, as we introduce AI into academic practice, we must not create new inequalities. Colleagues and students without reliable internet access, or those in under-resourced institutions, may not have access to the same AI tools. Equity must be central to any AI policy.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685800" y="1597818"/>
            <a:ext cx="7772400" cy="1102518"/>
          </a:xfrm>
        </p:spPr>
        <p:txBody>
          <a:bodyPr/>
          <a:lstStyle/>
          <a:p>
            <a:r>
              <a:rPr lang="zh-CN" altLang="en-US"/>
              <a:t>单击此处编辑母版标题样式</a:t>
            </a:r>
          </a:p>
        </p:txBody>
      </p:sp>
      <p:sp>
        <p:nvSpPr>
          <p:cNvPr id="3" name="Text box"/>
          <p:cNvSpPr>
            <a:spLocks noGrp="1"/>
          </p:cNvSpPr>
          <p:nvPr>
            <p:ph type="subTitle" idx="1"/>
          </p:nvPr>
        </p:nvSpPr>
        <p:spPr>
          <a:xfrm>
            <a:off x="1371600" y="2914649"/>
            <a:ext cx="6400800" cy="131444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74361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4219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06411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4172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a:t>单击此处编辑母版标题样式</a:t>
            </a:r>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44527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691018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05084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39174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95151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40779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395991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978994"/>
      </p:ext>
    </p:extLst>
  </p:cSld>
  <p:clrMapOvr>
    <a:masterClrMapping/>
  </p:clrMapOvr>
  <p:hf sldNum="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307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3528550"/>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2" r:id="rId13"/>
  </p:sldLayoutIdLst>
  <p:hf sldNum="0" hdr="0" ftr="0" dt="0"/>
  <p:txStyles>
    <p:titleStyle>
      <a:lvl1pPr algn="ctr" defTabSz="914400" eaLnBrk="1" fontAlgn="auto" latinLnBrk="0" hangingPunct="1">
        <a:spcBef>
          <a:spcPts val="0"/>
        </a:spcBef>
        <a:buNone/>
        <a:defRPr sz="4400" kern="1200">
          <a:solidFill>
            <a:schemeClr val="tx1"/>
          </a:solidFill>
          <a:latin typeface="Calibri Light" charset="0"/>
          <a:ea typeface="等线 Light" charset="0"/>
          <a:cs typeface="Calibri Light"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charset="0"/>
          <a:ea typeface="等线" charset="0"/>
          <a:cs typeface="Calibri"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charset="0"/>
          <a:ea typeface="等线" charset="0"/>
          <a:cs typeface="Calibri"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charset="0"/>
          <a:ea typeface="等线" charset="0"/>
          <a:cs typeface="Calibri"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等线" charset="0"/>
          <a:cs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8" name="Oval"/>
          <p:cNvSpPr>
            <a:spLocks/>
          </p:cNvSpPr>
          <p:nvPr/>
        </p:nvSpPr>
        <p:spPr>
          <a:xfrm>
            <a:off x="-1097280" y="-1097280"/>
            <a:ext cx="3200400" cy="3200400"/>
          </a:xfrm>
          <a:prstGeom prst="ellipse">
            <a:avLst/>
          </a:prstGeom>
          <a:solidFill>
            <a:srgbClr val="0A7C6E">
              <a:alpha val="25000"/>
            </a:srgbClr>
          </a:solidFill>
          <a:ln w="12700" cap="flat" cmpd="sng">
            <a:solidFill>
              <a:srgbClr val="0A7C6E">
                <a:alpha val="25000"/>
              </a:srgbClr>
            </a:solidFill>
            <a:prstDash val="solid"/>
            <a:round/>
          </a:ln>
        </p:spPr>
        <p:txBody>
          <a:bodyPr/>
          <a:lstStyle/>
          <a:p>
            <a:endParaRPr lang="en-GB"/>
          </a:p>
        </p:txBody>
      </p:sp>
      <p:sp>
        <p:nvSpPr>
          <p:cNvPr id="9" name="Oval"/>
          <p:cNvSpPr>
            <a:spLocks/>
          </p:cNvSpPr>
          <p:nvPr/>
        </p:nvSpPr>
        <p:spPr>
          <a:xfrm>
            <a:off x="7315200" y="3200400"/>
            <a:ext cx="2560319" cy="2560319"/>
          </a:xfrm>
          <a:prstGeom prst="ellipse">
            <a:avLst/>
          </a:prstGeom>
          <a:solidFill>
            <a:srgbClr val="10B981">
              <a:alpha val="20000"/>
            </a:srgbClr>
          </a:solidFill>
          <a:ln w="12700" cap="flat" cmpd="sng">
            <a:solidFill>
              <a:srgbClr val="10B981">
                <a:alpha val="20000"/>
              </a:srgbClr>
            </a:solidFill>
            <a:prstDash val="solid"/>
            <a:round/>
          </a:ln>
        </p:spPr>
        <p:txBody>
          <a:bodyPr/>
          <a:lstStyle/>
          <a:p>
            <a:endParaRPr lang="en-GB"/>
          </a:p>
        </p:txBody>
      </p:sp>
      <p:sp>
        <p:nvSpPr>
          <p:cNvPr id="10" name="Oval"/>
          <p:cNvSpPr>
            <a:spLocks/>
          </p:cNvSpPr>
          <p:nvPr/>
        </p:nvSpPr>
        <p:spPr>
          <a:xfrm>
            <a:off x="6858000" y="-731520"/>
            <a:ext cx="1828800" cy="1828800"/>
          </a:xfrm>
          <a:prstGeom prst="ellipse">
            <a:avLst/>
          </a:prstGeom>
          <a:solidFill>
            <a:srgbClr val="F59E0B">
              <a:alpha val="18000"/>
            </a:srgbClr>
          </a:solidFill>
          <a:ln w="12700" cap="flat" cmpd="sng">
            <a:solidFill>
              <a:srgbClr val="F59E0B">
                <a:alpha val="18000"/>
              </a:srgbClr>
            </a:solidFill>
            <a:prstDash val="solid"/>
            <a:round/>
          </a:ln>
        </p:spPr>
        <p:txBody>
          <a:bodyPr/>
          <a:lstStyle/>
          <a:p>
            <a:endParaRPr lang="en-GB"/>
          </a:p>
        </p:txBody>
      </p:sp>
      <p:sp>
        <p:nvSpPr>
          <p:cNvPr id="11" name="Rectangle"/>
          <p:cNvSpPr>
            <a:spLocks/>
          </p:cNvSpPr>
          <p:nvPr/>
        </p:nvSpPr>
        <p:spPr>
          <a:xfrm>
            <a:off x="548640" y="1097280"/>
            <a:ext cx="73151" cy="2926080"/>
          </a:xfrm>
          <a:prstGeom prst="rect">
            <a:avLst/>
          </a:prstGeom>
          <a:solidFill>
            <a:srgbClr val="F59E0B"/>
          </a:solidFill>
          <a:ln w="12700" cap="flat" cmpd="sng">
            <a:solidFill>
              <a:srgbClr val="F59E0B"/>
            </a:solidFill>
            <a:prstDash val="solid"/>
            <a:round/>
          </a:ln>
        </p:spPr>
        <p:txBody>
          <a:bodyPr/>
          <a:lstStyle/>
          <a:p>
            <a:endParaRPr lang="en-GB"/>
          </a:p>
        </p:txBody>
      </p:sp>
      <p:sp>
        <p:nvSpPr>
          <p:cNvPr id="12" name="Rectangle"/>
          <p:cNvSpPr>
            <a:spLocks/>
          </p:cNvSpPr>
          <p:nvPr/>
        </p:nvSpPr>
        <p:spPr>
          <a:xfrm>
            <a:off x="0" y="1"/>
            <a:ext cx="9179960" cy="2011679"/>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4000" b="1" i="0" u="none" strike="noStrike" kern="1200" cap="none" spc="0" baseline="0" dirty="0">
                <a:solidFill>
                  <a:srgbClr val="FFFFFF"/>
                </a:solidFill>
                <a:latin typeface="Arial Black" pitchFamily="34" charset="0"/>
                <a:ea typeface="Arial Black" pitchFamily="34" charset="0"/>
                <a:cs typeface="Arial Black" pitchFamily="34" charset="0"/>
              </a:rPr>
              <a:t>AI &amp; THE DIGITAL COMMUNITY:</a:t>
            </a:r>
          </a:p>
          <a:p>
            <a:pPr marL="0" indent="0" algn="l">
              <a:lnSpc>
                <a:spcPct val="100000"/>
              </a:lnSpc>
              <a:spcBef>
                <a:spcPts val="0"/>
              </a:spcBef>
              <a:spcAft>
                <a:spcPts val="0"/>
              </a:spcAft>
              <a:buNone/>
            </a:pPr>
            <a:r>
              <a:rPr lang="en-US" altLang="zh-CN" sz="3600" i="1" dirty="0">
                <a:solidFill>
                  <a:srgbClr val="10B981"/>
                </a:solidFill>
                <a:latin typeface="Calibri" charset="0"/>
                <a:ea typeface="Calibri" charset="0"/>
                <a:cs typeface="Calibri" charset="0"/>
              </a:rPr>
              <a:t>Empowering Academia with Artificial Intelligence</a:t>
            </a:r>
            <a:endParaRPr lang="zh-CN" altLang="en-US" sz="3600" dirty="0">
              <a:latin typeface="Calibri" charset="0"/>
              <a:ea typeface="等线" charset="0"/>
              <a:cs typeface="Calibri" charset="0"/>
            </a:endParaRPr>
          </a:p>
          <a:p>
            <a:pPr marL="0" indent="0" algn="l">
              <a:lnSpc>
                <a:spcPct val="100000"/>
              </a:lnSpc>
              <a:spcBef>
                <a:spcPts val="0"/>
              </a:spcBef>
              <a:spcAft>
                <a:spcPts val="0"/>
              </a:spcAft>
              <a:buNone/>
            </a:pPr>
            <a:endParaRPr lang="zh-CN" altLang="en-US" sz="4600" b="0" i="0" u="none" strike="noStrike" kern="1200" cap="none" spc="0" baseline="0" dirty="0">
              <a:solidFill>
                <a:schemeClr val="tx1"/>
              </a:solidFill>
              <a:latin typeface="Calibri" charset="0"/>
              <a:ea typeface="等线" charset="0"/>
              <a:cs typeface="Calibri" charset="0"/>
            </a:endParaRPr>
          </a:p>
        </p:txBody>
      </p:sp>
      <p:sp>
        <p:nvSpPr>
          <p:cNvPr id="13" name="Rectangle"/>
          <p:cNvSpPr>
            <a:spLocks/>
          </p:cNvSpPr>
          <p:nvPr/>
        </p:nvSpPr>
        <p:spPr>
          <a:xfrm>
            <a:off x="914400" y="3840480"/>
            <a:ext cx="6858000" cy="5029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800" b="0" i="1" u="none" strike="noStrike" kern="1200" cap="none" spc="0" baseline="0" dirty="0">
                <a:solidFill>
                  <a:srgbClr val="10B981"/>
                </a:solidFill>
                <a:latin typeface="Calibri" charset="0"/>
                <a:ea typeface="Calibri" charset="0"/>
                <a:cs typeface="Calibri" charset="0"/>
              </a:rPr>
              <a:t>By </a:t>
            </a:r>
          </a:p>
          <a:p>
            <a:pPr marL="0" indent="0" algn="ctr">
              <a:lnSpc>
                <a:spcPct val="100000"/>
              </a:lnSpc>
              <a:spcBef>
                <a:spcPts val="0"/>
              </a:spcBef>
              <a:spcAft>
                <a:spcPts val="0"/>
              </a:spcAft>
              <a:buNone/>
            </a:pPr>
            <a:r>
              <a:rPr lang="en-US" altLang="zh-CN" sz="3200" b="0" i="1" u="none" strike="noStrike" kern="1200" cap="none" spc="0" baseline="0" dirty="0">
                <a:solidFill>
                  <a:srgbClr val="10B981"/>
                </a:solidFill>
                <a:latin typeface="Calibri" charset="0"/>
                <a:ea typeface="Calibri" charset="0"/>
                <a:cs typeface="Calibri" charset="0"/>
              </a:rPr>
              <a:t>DR SAKINAT FOLORUNSO</a:t>
            </a:r>
          </a:p>
          <a:p>
            <a:pPr marL="0" indent="0" algn="ctr">
              <a:lnSpc>
                <a:spcPct val="100000"/>
              </a:lnSpc>
              <a:spcBef>
                <a:spcPts val="0"/>
              </a:spcBef>
              <a:spcAft>
                <a:spcPts val="0"/>
              </a:spcAft>
              <a:buNone/>
            </a:pPr>
            <a:endParaRPr lang="zh-CN" altLang="en-US" sz="1800" b="0" i="0" u="none" strike="noStrike" kern="1200" cap="none" spc="0" baseline="0" dirty="0">
              <a:solidFill>
                <a:schemeClr val="tx1"/>
              </a:solidFill>
              <a:latin typeface="Calibri" charset="0"/>
              <a:ea typeface="等线" charset="0"/>
              <a:cs typeface="Calibri" charset="0"/>
            </a:endParaRPr>
          </a:p>
        </p:txBody>
      </p:sp>
      <p:sp>
        <p:nvSpPr>
          <p:cNvPr id="14" name="Rectangle"/>
          <p:cNvSpPr>
            <a:spLocks/>
          </p:cNvSpPr>
          <p:nvPr/>
        </p:nvSpPr>
        <p:spPr>
          <a:xfrm>
            <a:off x="640080" y="2148840"/>
            <a:ext cx="5029200" cy="914400"/>
          </a:xfrm>
          <a:prstGeom prst="rect">
            <a:avLst/>
          </a:prstGeom>
          <a:solidFill>
            <a:srgbClr val="0A7C6E">
              <a:alpha val="40000"/>
            </a:srgbClr>
          </a:solidFill>
          <a:ln w="12700" cap="flat" cmpd="sng">
            <a:solidFill>
              <a:srgbClr val="0A7C6E">
                <a:alpha val="60000"/>
              </a:srgbClr>
            </a:solidFill>
            <a:prstDash val="solid"/>
            <a:round/>
          </a:ln>
        </p:spPr>
        <p:txBody>
          <a:bodyPr/>
          <a:lstStyle/>
          <a:p>
            <a:endParaRPr lang="en-GB"/>
          </a:p>
        </p:txBody>
      </p:sp>
      <p:sp>
        <p:nvSpPr>
          <p:cNvPr id="15" name="Rectangle"/>
          <p:cNvSpPr>
            <a:spLocks/>
          </p:cNvSpPr>
          <p:nvPr/>
        </p:nvSpPr>
        <p:spPr>
          <a:xfrm>
            <a:off x="815150" y="2203036"/>
            <a:ext cx="4846320" cy="777239"/>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1200" cap="none" spc="0" baseline="0" dirty="0">
                <a:solidFill>
                  <a:srgbClr val="FFFFFF"/>
                </a:solidFill>
                <a:latin typeface="Calibri" charset="0"/>
                <a:ea typeface="Calibri" charset="0"/>
                <a:cs typeface="Calibri" charset="0"/>
              </a:rPr>
              <a:t>A Practical Guide for Researchers, Lecturers &amp; Educators</a:t>
            </a:r>
            <a:endParaRPr lang="en-US" altLang="zh-CN" sz="1200" b="0" i="0" u="none" strike="noStrike" kern="1200" cap="none" spc="0" baseline="0" dirty="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200" b="0" i="0" u="none" strike="noStrike" kern="1200" cap="none" spc="0" baseline="0" dirty="0">
                <a:solidFill>
                  <a:srgbClr val="FFFFFF"/>
                </a:solidFill>
                <a:latin typeface="Calibri" charset="0"/>
                <a:ea typeface="Calibri" charset="0"/>
                <a:cs typeface="Calibri" charset="0"/>
              </a:rPr>
              <a:t>Academic AI Literacy Workshop  </a:t>
            </a:r>
            <a:endParaRPr lang="en-US" altLang="zh-CN" sz="1200" dirty="0">
              <a:solidFill>
                <a:srgbClr val="FFFFFF"/>
              </a:solidFill>
              <a:latin typeface="Calibri" charset="0"/>
              <a:ea typeface="Calibri" charset="0"/>
              <a:cs typeface="Calibri" charset="0"/>
            </a:endParaRPr>
          </a:p>
          <a:p>
            <a:pPr marL="0" indent="0" algn="l">
              <a:lnSpc>
                <a:spcPct val="100000"/>
              </a:lnSpc>
              <a:spcBef>
                <a:spcPts val="0"/>
              </a:spcBef>
              <a:spcAft>
                <a:spcPts val="0"/>
              </a:spcAft>
              <a:buNone/>
            </a:pPr>
            <a:r>
              <a:rPr lang="en-GB" altLang="zh-CN" sz="1200" b="0" i="0" u="none" strike="noStrike" kern="1200" cap="none" spc="0" baseline="0" dirty="0">
                <a:solidFill>
                  <a:schemeClr val="tx1"/>
                </a:solidFill>
                <a:latin typeface="Calibri" charset="0"/>
                <a:ea typeface="等线" charset="0"/>
                <a:cs typeface="Calibri" charset="0"/>
              </a:rPr>
              <a:t>				</a:t>
            </a:r>
            <a:r>
              <a:rPr lang="en-GB" altLang="zh-CN" sz="1200" b="0" i="0" u="none" strike="noStrike" kern="1200" cap="none" spc="0" baseline="0" dirty="0">
                <a:solidFill>
                  <a:schemeClr val="bg1"/>
                </a:solidFill>
                <a:latin typeface="Calibri" charset="0"/>
                <a:ea typeface="等线" charset="0"/>
                <a:cs typeface="Calibri" charset="0"/>
              </a:rPr>
              <a:t>28/04/2026</a:t>
            </a:r>
            <a:endParaRPr lang="zh-CN" altLang="en-US" sz="1200" b="0" i="0" u="none" strike="noStrike" kern="1200" cap="none" spc="0" baseline="0" dirty="0">
              <a:solidFill>
                <a:schemeClr val="bg1"/>
              </a:solidFill>
              <a:latin typeface="Calibri" charset="0"/>
              <a:ea typeface="等线" charset="0"/>
              <a:cs typeface="Calibri" charset="0"/>
            </a:endParaRPr>
          </a:p>
        </p:txBody>
      </p:sp>
      <p:pic>
        <p:nvPicPr>
          <p:cNvPr id="16" name="Image" descr="preencoded.png"/>
          <p:cNvPicPr>
            <a:picLocks noChangeAspect="1"/>
          </p:cNvPicPr>
          <p:nvPr/>
        </p:nvPicPr>
        <p:blipFill>
          <a:blip r:embed="rId3" cstate="print"/>
          <a:stretch>
            <a:fillRect/>
          </a:stretch>
        </p:blipFill>
        <p:spPr>
          <a:xfrm>
            <a:off x="7132320" y="1645920"/>
            <a:ext cx="1645919" cy="1645920"/>
          </a:xfrm>
          <a:prstGeom prst="rect">
            <a:avLst/>
          </a:prstGeom>
          <a:noFill/>
          <a:ln w="12700" cap="flat" cmpd="sng">
            <a:noFill/>
            <a:prstDash val="solid"/>
            <a:miter/>
          </a:ln>
        </p:spPr>
      </p:pic>
      <p:sp>
        <p:nvSpPr>
          <p:cNvPr id="17" name="Rectangle"/>
          <p:cNvSpPr>
            <a:spLocks/>
          </p:cNvSpPr>
          <p:nvPr/>
        </p:nvSpPr>
        <p:spPr>
          <a:xfrm>
            <a:off x="457200" y="4754880"/>
            <a:ext cx="82296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100" b="0" i="0" u="none" strike="noStrike" kern="1200" cap="none" spc="0" baseline="0">
                <a:solidFill>
                  <a:srgbClr val="6B7280"/>
                </a:solidFill>
                <a:latin typeface="Calibri" charset="0"/>
                <a:ea typeface="Calibri" charset="0"/>
                <a:cs typeface="Calibri" charset="0"/>
              </a:rPr>
              <a:t>🎓 For Novice AI Users in Academia</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432085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AF7"/>
        </a:solidFill>
        <a:effectLst/>
      </p:bgPr>
    </p:bg>
    <p:spTree>
      <p:nvGrpSpPr>
        <p:cNvPr id="1" name=""/>
        <p:cNvGrpSpPr/>
        <p:nvPr/>
      </p:nvGrpSpPr>
      <p:grpSpPr>
        <a:xfrm>
          <a:off x="0" y="0"/>
          <a:ext cx="0" cy="0"/>
          <a:chOff x="0" y="0"/>
          <a:chExt cx="0" cy="0"/>
        </a:xfrm>
      </p:grpSpPr>
      <p:sp>
        <p:nvSpPr>
          <p:cNvPr id="21" name="Rectangle"/>
          <p:cNvSpPr>
            <a:spLocks/>
          </p:cNvSpPr>
          <p:nvPr/>
        </p:nvSpPr>
        <p:spPr>
          <a:xfrm>
            <a:off x="0" y="0"/>
            <a:ext cx="9144000" cy="960120"/>
          </a:xfrm>
          <a:prstGeom prst="rect">
            <a:avLst/>
          </a:prstGeom>
          <a:solidFill>
            <a:srgbClr val="0D2137"/>
          </a:solidFill>
          <a:ln w="12700" cap="flat" cmpd="sng">
            <a:solidFill>
              <a:srgbClr val="0D2137"/>
            </a:solidFill>
            <a:prstDash val="solid"/>
            <a:round/>
          </a:ln>
        </p:spPr>
        <p:txBody>
          <a:bodyPr/>
          <a:lstStyle/>
          <a:p>
            <a:endParaRPr lang="en-GB"/>
          </a:p>
        </p:txBody>
      </p:sp>
      <p:sp>
        <p:nvSpPr>
          <p:cNvPr id="22" name="Rectangle"/>
          <p:cNvSpPr>
            <a:spLocks/>
          </p:cNvSpPr>
          <p:nvPr/>
        </p:nvSpPr>
        <p:spPr>
          <a:xfrm>
            <a:off x="365760" y="0"/>
            <a:ext cx="822960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600" b="1" i="0" u="none" strike="noStrike" kern="1200" cap="none" spc="0" baseline="0">
                <a:solidFill>
                  <a:srgbClr val="FFFFFF"/>
                </a:solidFill>
                <a:latin typeface="Arial Black" pitchFamily="34" charset="0"/>
                <a:ea typeface="Arial Black" pitchFamily="34" charset="0"/>
                <a:cs typeface="Arial Black" pitchFamily="34" charset="0"/>
              </a:rPr>
              <a:t>The Big Question</a:t>
            </a:r>
            <a:endParaRPr lang="zh-CN" altLang="en-US" sz="2600" b="0" i="0" u="none" strike="noStrike" kern="1200" cap="none" spc="0" baseline="0">
              <a:solidFill>
                <a:schemeClr val="tx1"/>
              </a:solidFill>
              <a:latin typeface="Calibri" charset="0"/>
              <a:ea typeface="等线" charset="0"/>
              <a:cs typeface="Calibri" charset="0"/>
            </a:endParaRPr>
          </a:p>
        </p:txBody>
      </p:sp>
      <p:sp>
        <p:nvSpPr>
          <p:cNvPr id="23" name="Rectangle"/>
          <p:cNvSpPr>
            <a:spLocks/>
          </p:cNvSpPr>
          <p:nvPr/>
        </p:nvSpPr>
        <p:spPr>
          <a:xfrm>
            <a:off x="457200" y="1097280"/>
            <a:ext cx="8229600" cy="1371600"/>
          </a:xfrm>
          <a:prstGeom prst="rect">
            <a:avLst/>
          </a:prstGeom>
          <a:solidFill>
            <a:srgbClr val="0A7C6E"/>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24" name="Rectangle"/>
          <p:cNvSpPr>
            <a:spLocks/>
          </p:cNvSpPr>
          <p:nvPr/>
        </p:nvSpPr>
        <p:spPr>
          <a:xfrm>
            <a:off x="548640" y="1143000"/>
            <a:ext cx="8046719" cy="128016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ctr">
              <a:lnSpc>
                <a:spcPct val="100000"/>
              </a:lnSpc>
              <a:spcBef>
                <a:spcPts val="0"/>
              </a:spcBef>
              <a:spcAft>
                <a:spcPts val="0"/>
              </a:spcAft>
              <a:buNone/>
            </a:pPr>
            <a:r>
              <a:rPr lang="en-US" altLang="zh-CN" sz="2000" b="0" i="1" u="none" strike="noStrike" kern="1200" cap="none" spc="0" baseline="0">
                <a:solidFill>
                  <a:srgbClr val="FFFFFF"/>
                </a:solidFill>
                <a:latin typeface="Georgia" pitchFamily="34" charset="0"/>
                <a:ea typeface="Georgia" pitchFamily="34" charset="0"/>
                <a:cs typeface="Georgia" pitchFamily="34" charset="0"/>
              </a:rPr>
              <a:t>Are you using AI yet - or is AI already using your time without you knowing?</a:t>
            </a:r>
            <a:endParaRPr lang="zh-CN" altLang="en-US" sz="2000" b="0" i="0" u="none" strike="noStrike" kern="1200" cap="none" spc="0" baseline="0">
              <a:solidFill>
                <a:schemeClr val="tx1"/>
              </a:solidFill>
              <a:latin typeface="Calibri" charset="0"/>
              <a:ea typeface="等线" charset="0"/>
              <a:cs typeface="Calibri" charset="0"/>
            </a:endParaRPr>
          </a:p>
        </p:txBody>
      </p:sp>
      <p:sp>
        <p:nvSpPr>
          <p:cNvPr id="25" name="Rectangle"/>
          <p:cNvSpPr>
            <a:spLocks/>
          </p:cNvSpPr>
          <p:nvPr/>
        </p:nvSpPr>
        <p:spPr>
          <a:xfrm>
            <a:off x="457200" y="2743200"/>
            <a:ext cx="2606040" cy="2011679"/>
          </a:xfrm>
          <a:prstGeom prst="rect">
            <a:avLst/>
          </a:prstGeom>
          <a:solidFill>
            <a:srgbClr val="FFFFFF"/>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26" name="Rectangle"/>
          <p:cNvSpPr>
            <a:spLocks/>
          </p:cNvSpPr>
          <p:nvPr/>
        </p:nvSpPr>
        <p:spPr>
          <a:xfrm>
            <a:off x="457200" y="2743200"/>
            <a:ext cx="2606040" cy="109727"/>
          </a:xfrm>
          <a:prstGeom prst="rect">
            <a:avLst/>
          </a:prstGeom>
          <a:solidFill>
            <a:srgbClr val="0A7C6E"/>
          </a:solidFill>
          <a:ln w="12700" cap="flat" cmpd="sng">
            <a:solidFill>
              <a:srgbClr val="0A7C6E"/>
            </a:solidFill>
            <a:prstDash val="solid"/>
            <a:round/>
          </a:ln>
        </p:spPr>
        <p:txBody>
          <a:bodyPr/>
          <a:lstStyle/>
          <a:p>
            <a:endParaRPr lang="en-GB"/>
          </a:p>
        </p:txBody>
      </p:sp>
      <p:sp>
        <p:nvSpPr>
          <p:cNvPr id="27" name="Rectangle"/>
          <p:cNvSpPr>
            <a:spLocks/>
          </p:cNvSpPr>
          <p:nvPr/>
        </p:nvSpPr>
        <p:spPr>
          <a:xfrm>
            <a:off x="457200" y="2880360"/>
            <a:ext cx="2606040" cy="8229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4200" b="1" i="0" u="none" strike="noStrike" kern="1200" cap="none" spc="0" baseline="0">
                <a:solidFill>
                  <a:srgbClr val="0A7C6E"/>
                </a:solidFill>
                <a:latin typeface="Arial Black" pitchFamily="34" charset="0"/>
                <a:ea typeface="Arial Black" pitchFamily="34" charset="0"/>
                <a:cs typeface="Arial Black" pitchFamily="34" charset="0"/>
              </a:rPr>
              <a:t>73%</a:t>
            </a:r>
            <a:endParaRPr lang="zh-CN" altLang="en-US" sz="4200" b="0" i="0" u="none" strike="noStrike" kern="1200" cap="none" spc="0" baseline="0">
              <a:solidFill>
                <a:schemeClr val="tx1"/>
              </a:solidFill>
              <a:latin typeface="Calibri" charset="0"/>
              <a:ea typeface="等线" charset="0"/>
              <a:cs typeface="Calibri" charset="0"/>
            </a:endParaRPr>
          </a:p>
        </p:txBody>
      </p:sp>
      <p:sp>
        <p:nvSpPr>
          <p:cNvPr id="28" name="Rectangle"/>
          <p:cNvSpPr>
            <a:spLocks/>
          </p:cNvSpPr>
          <p:nvPr/>
        </p:nvSpPr>
        <p:spPr>
          <a:xfrm>
            <a:off x="548640" y="3703319"/>
            <a:ext cx="2423160" cy="96012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of global researchers use AI tools weekly</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9" name="Rectangle"/>
          <p:cNvSpPr>
            <a:spLocks/>
          </p:cNvSpPr>
          <p:nvPr/>
        </p:nvSpPr>
        <p:spPr>
          <a:xfrm>
            <a:off x="3291840" y="2743200"/>
            <a:ext cx="2606040" cy="2011679"/>
          </a:xfrm>
          <a:prstGeom prst="rect">
            <a:avLst/>
          </a:prstGeom>
          <a:solidFill>
            <a:srgbClr val="FFFFFF"/>
          </a:solidFill>
          <a:ln w="12700" cap="flat" cmpd="sng">
            <a:solidFill>
              <a:srgbClr val="3B82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30" name="Rectangle"/>
          <p:cNvSpPr>
            <a:spLocks/>
          </p:cNvSpPr>
          <p:nvPr/>
        </p:nvSpPr>
        <p:spPr>
          <a:xfrm>
            <a:off x="3291840" y="2743200"/>
            <a:ext cx="2606040" cy="109727"/>
          </a:xfrm>
          <a:prstGeom prst="rect">
            <a:avLst/>
          </a:prstGeom>
          <a:solidFill>
            <a:srgbClr val="3B82F6"/>
          </a:solidFill>
          <a:ln w="12700" cap="flat" cmpd="sng">
            <a:solidFill>
              <a:srgbClr val="3B82F6"/>
            </a:solidFill>
            <a:prstDash val="solid"/>
            <a:round/>
          </a:ln>
        </p:spPr>
        <p:txBody>
          <a:bodyPr/>
          <a:lstStyle/>
          <a:p>
            <a:endParaRPr lang="en-GB"/>
          </a:p>
        </p:txBody>
      </p:sp>
      <p:sp>
        <p:nvSpPr>
          <p:cNvPr id="31" name="Rectangle"/>
          <p:cNvSpPr>
            <a:spLocks/>
          </p:cNvSpPr>
          <p:nvPr/>
        </p:nvSpPr>
        <p:spPr>
          <a:xfrm>
            <a:off x="3291840" y="2880360"/>
            <a:ext cx="2606040" cy="8229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4200" b="1" i="0" u="none" strike="noStrike" kern="1200" cap="none" spc="0" baseline="0">
                <a:solidFill>
                  <a:srgbClr val="3B82F6"/>
                </a:solidFill>
                <a:latin typeface="Arial Black" pitchFamily="34" charset="0"/>
                <a:ea typeface="Arial Black" pitchFamily="34" charset="0"/>
                <a:cs typeface="Arial Black" pitchFamily="34" charset="0"/>
              </a:rPr>
              <a:t>5×</a:t>
            </a:r>
            <a:endParaRPr lang="zh-CN" altLang="en-US" sz="4200" b="0" i="0" u="none" strike="noStrike" kern="1200" cap="none" spc="0" baseline="0">
              <a:solidFill>
                <a:schemeClr val="tx1"/>
              </a:solidFill>
              <a:latin typeface="Calibri" charset="0"/>
              <a:ea typeface="等线" charset="0"/>
              <a:cs typeface="Calibri" charset="0"/>
            </a:endParaRPr>
          </a:p>
        </p:txBody>
      </p:sp>
      <p:sp>
        <p:nvSpPr>
          <p:cNvPr id="32" name="Rectangle"/>
          <p:cNvSpPr>
            <a:spLocks/>
          </p:cNvSpPr>
          <p:nvPr/>
        </p:nvSpPr>
        <p:spPr>
          <a:xfrm>
            <a:off x="3383279" y="3703319"/>
            <a:ext cx="2423160" cy="96012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faster literature reviews with AI assistance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33" name="Rectangle"/>
          <p:cNvSpPr>
            <a:spLocks/>
          </p:cNvSpPr>
          <p:nvPr/>
        </p:nvSpPr>
        <p:spPr>
          <a:xfrm>
            <a:off x="6126479" y="2743200"/>
            <a:ext cx="2606040" cy="2011679"/>
          </a:xfrm>
          <a:prstGeom prst="rect">
            <a:avLst/>
          </a:prstGeom>
          <a:solidFill>
            <a:srgbClr val="FFFFFF"/>
          </a:solidFill>
          <a:ln w="12700" cap="flat" cmpd="sng">
            <a:solidFill>
              <a:srgbClr val="8B5C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34" name="Rectangle"/>
          <p:cNvSpPr>
            <a:spLocks/>
          </p:cNvSpPr>
          <p:nvPr/>
        </p:nvSpPr>
        <p:spPr>
          <a:xfrm>
            <a:off x="6126479" y="2743200"/>
            <a:ext cx="2606040" cy="109727"/>
          </a:xfrm>
          <a:prstGeom prst="rect">
            <a:avLst/>
          </a:prstGeom>
          <a:solidFill>
            <a:srgbClr val="8B5CF6"/>
          </a:solidFill>
          <a:ln w="12700" cap="flat" cmpd="sng">
            <a:solidFill>
              <a:srgbClr val="8B5CF6"/>
            </a:solidFill>
            <a:prstDash val="solid"/>
            <a:round/>
          </a:ln>
        </p:spPr>
        <p:txBody>
          <a:bodyPr/>
          <a:lstStyle/>
          <a:p>
            <a:endParaRPr lang="en-GB"/>
          </a:p>
        </p:txBody>
      </p:sp>
      <p:sp>
        <p:nvSpPr>
          <p:cNvPr id="35" name="Rectangle"/>
          <p:cNvSpPr>
            <a:spLocks/>
          </p:cNvSpPr>
          <p:nvPr/>
        </p:nvSpPr>
        <p:spPr>
          <a:xfrm>
            <a:off x="6126479" y="2880360"/>
            <a:ext cx="2606040" cy="8229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4200" b="1" i="0" u="none" strike="noStrike" kern="1200" cap="none" spc="0" baseline="0">
                <a:solidFill>
                  <a:srgbClr val="8B5CF6"/>
                </a:solidFill>
                <a:latin typeface="Arial Black" pitchFamily="34" charset="0"/>
                <a:ea typeface="Arial Black" pitchFamily="34" charset="0"/>
                <a:cs typeface="Arial Black" pitchFamily="34" charset="0"/>
              </a:rPr>
              <a:t>60%</a:t>
            </a:r>
            <a:endParaRPr lang="zh-CN" altLang="en-US" sz="4200" b="0" i="0" u="none" strike="noStrike" kern="1200" cap="none" spc="0" baseline="0">
              <a:solidFill>
                <a:schemeClr val="tx1"/>
              </a:solidFill>
              <a:latin typeface="Calibri" charset="0"/>
              <a:ea typeface="等线" charset="0"/>
              <a:cs typeface="Calibri" charset="0"/>
            </a:endParaRPr>
          </a:p>
        </p:txBody>
      </p:sp>
      <p:sp>
        <p:nvSpPr>
          <p:cNvPr id="36" name="Rectangle"/>
          <p:cNvSpPr>
            <a:spLocks/>
          </p:cNvSpPr>
          <p:nvPr/>
        </p:nvSpPr>
        <p:spPr>
          <a:xfrm>
            <a:off x="6217920" y="3703319"/>
            <a:ext cx="2423160" cy="96012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of lecturers save hours weekly using AI for content prep</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37" name="Rectangle"/>
          <p:cNvSpPr>
            <a:spLocks/>
          </p:cNvSpPr>
          <p:nvPr/>
        </p:nvSpPr>
        <p:spPr>
          <a:xfrm>
            <a:off x="457200" y="4846320"/>
            <a:ext cx="8229600" cy="22859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900" b="0" i="1" u="none" strike="noStrike" kern="1200" cap="none" spc="0" baseline="0">
                <a:solidFill>
                  <a:srgbClr val="6B7280"/>
                </a:solidFill>
                <a:latin typeface="Calibri" charset="0"/>
                <a:ea typeface="Calibri" charset="0"/>
                <a:cs typeface="Calibri" charset="0"/>
              </a:rPr>
              <a:t>Source: Nature, Springer &amp; Educause Research Reports, 2024</a:t>
            </a:r>
            <a:endParaRPr lang="zh-CN" altLang="en-US" sz="9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55009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p:cNvSpPr>
            <a:spLocks/>
          </p:cNvSpPr>
          <p:nvPr/>
        </p:nvSpPr>
        <p:spPr>
          <a:xfrm>
            <a:off x="0" y="0"/>
            <a:ext cx="9144000" cy="960120"/>
          </a:xfrm>
          <a:prstGeom prst="rect">
            <a:avLst/>
          </a:prstGeom>
          <a:solidFill>
            <a:srgbClr val="0A7C6E"/>
          </a:solidFill>
          <a:ln w="12700" cap="flat" cmpd="sng">
            <a:solidFill>
              <a:srgbClr val="0A7C6E"/>
            </a:solidFill>
            <a:prstDash val="solid"/>
            <a:round/>
          </a:ln>
        </p:spPr>
        <p:txBody>
          <a:bodyPr/>
          <a:lstStyle/>
          <a:p>
            <a:endParaRPr lang="en-GB"/>
          </a:p>
        </p:txBody>
      </p:sp>
      <p:sp>
        <p:nvSpPr>
          <p:cNvPr id="42" name="Rectangle"/>
          <p:cNvSpPr>
            <a:spLocks/>
          </p:cNvSpPr>
          <p:nvPr/>
        </p:nvSpPr>
        <p:spPr>
          <a:xfrm>
            <a:off x="365760" y="0"/>
            <a:ext cx="822960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400" b="1" i="0" u="none" strike="noStrike" kern="1200" cap="none" spc="0" baseline="0">
                <a:solidFill>
                  <a:srgbClr val="FFFFFF"/>
                </a:solidFill>
                <a:latin typeface="Arial Black" pitchFamily="34" charset="0"/>
                <a:ea typeface="Arial Black" pitchFamily="34" charset="0"/>
                <a:cs typeface="Arial Black" pitchFamily="34" charset="0"/>
              </a:rPr>
              <a:t>What Exactly Is AI? (No Jargon, Promise!)</a:t>
            </a:r>
            <a:endParaRPr lang="zh-CN" altLang="en-US" sz="2400" b="0" i="0" u="none" strike="noStrike" kern="1200" cap="none" spc="0" baseline="0">
              <a:solidFill>
                <a:schemeClr val="tx1"/>
              </a:solidFill>
              <a:latin typeface="Calibri" charset="0"/>
              <a:ea typeface="等线" charset="0"/>
              <a:cs typeface="Calibri" charset="0"/>
            </a:endParaRPr>
          </a:p>
        </p:txBody>
      </p:sp>
      <p:sp>
        <p:nvSpPr>
          <p:cNvPr id="43" name="Rectangle"/>
          <p:cNvSpPr>
            <a:spLocks/>
          </p:cNvSpPr>
          <p:nvPr/>
        </p:nvSpPr>
        <p:spPr>
          <a:xfrm>
            <a:off x="365760" y="1051560"/>
            <a:ext cx="8412480" cy="868679"/>
          </a:xfrm>
          <a:prstGeom prst="rect">
            <a:avLst/>
          </a:prstGeom>
          <a:solidFill>
            <a:srgbClr val="FEF3C7"/>
          </a:solidFill>
          <a:ln w="12700" cap="flat" cmpd="sng">
            <a:solidFill>
              <a:srgbClr val="F59E0B"/>
            </a:solidFill>
            <a:prstDash val="solid"/>
            <a:round/>
          </a:ln>
          <a:effectLst>
            <a:outerShdw blurRad="101600" dist="38100" dir="8100000" algn="bl" rotWithShape="0">
              <a:srgbClr val="000000">
                <a:alpha val="11764"/>
              </a:srgbClr>
            </a:outerShdw>
          </a:effectLst>
        </p:spPr>
        <p:txBody>
          <a:bodyPr/>
          <a:lstStyle/>
          <a:p>
            <a:endParaRPr lang="en-GB"/>
          </a:p>
        </p:txBody>
      </p:sp>
      <p:sp>
        <p:nvSpPr>
          <p:cNvPr id="44" name="Rectangle"/>
          <p:cNvSpPr>
            <a:spLocks/>
          </p:cNvSpPr>
          <p:nvPr/>
        </p:nvSpPr>
        <p:spPr>
          <a:xfrm>
            <a:off x="502919" y="1097280"/>
            <a:ext cx="8229600" cy="77724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l">
              <a:lnSpc>
                <a:spcPct val="100000"/>
              </a:lnSpc>
              <a:spcBef>
                <a:spcPts val="0"/>
              </a:spcBef>
              <a:spcAft>
                <a:spcPts val="0"/>
              </a:spcAft>
              <a:buNone/>
            </a:pPr>
            <a:r>
              <a:rPr lang="zh-CN" altLang="en-US" sz="1300" b="0" i="0" u="none" strike="noStrike" kern="1200" cap="none" spc="0" baseline="0">
                <a:solidFill>
                  <a:srgbClr val="92400E"/>
                </a:solidFill>
                <a:latin typeface="Calibri" charset="0"/>
                <a:ea typeface="Calibri" charset="0"/>
                <a:cs typeface="Calibri" charset="0"/>
              </a:rPr>
              <a:t>💡  Think of AI as a very well-read, very fast research assistant who has read millions of books  -  but still needs YOU to ask the right questions.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45" name="Rectangle"/>
          <p:cNvSpPr>
            <a:spLocks/>
          </p:cNvSpPr>
          <p:nvPr/>
        </p:nvSpPr>
        <p:spPr>
          <a:xfrm>
            <a:off x="274320" y="2103120"/>
            <a:ext cx="4114800" cy="1234440"/>
          </a:xfrm>
          <a:prstGeom prst="rect">
            <a:avLst/>
          </a:prstGeom>
          <a:solidFill>
            <a:srgbClr val="F0FAF7"/>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46" name="Rectangle"/>
          <p:cNvSpPr>
            <a:spLocks/>
          </p:cNvSpPr>
          <p:nvPr/>
        </p:nvSpPr>
        <p:spPr>
          <a:xfrm>
            <a:off x="274320" y="2103120"/>
            <a:ext cx="64007" cy="1234440"/>
          </a:xfrm>
          <a:prstGeom prst="rect">
            <a:avLst/>
          </a:prstGeom>
          <a:solidFill>
            <a:srgbClr val="10B981"/>
          </a:solidFill>
          <a:ln w="12700" cap="flat" cmpd="sng">
            <a:solidFill>
              <a:srgbClr val="10B981"/>
            </a:solidFill>
            <a:prstDash val="solid"/>
            <a:round/>
          </a:ln>
        </p:spPr>
        <p:txBody>
          <a:bodyPr/>
          <a:lstStyle/>
          <a:p>
            <a:endParaRPr lang="en-GB"/>
          </a:p>
        </p:txBody>
      </p:sp>
      <p:sp>
        <p:nvSpPr>
          <p:cNvPr id="47" name="Rectangle"/>
          <p:cNvSpPr>
            <a:spLocks/>
          </p:cNvSpPr>
          <p:nvPr/>
        </p:nvSpPr>
        <p:spPr>
          <a:xfrm>
            <a:off x="411480" y="2148840"/>
            <a:ext cx="3840480" cy="36576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400" b="1" i="0" u="none" strike="noStrike" kern="1200" cap="none" spc="0" baseline="0">
                <a:solidFill>
                  <a:srgbClr val="0D2137"/>
                </a:solidFill>
                <a:latin typeface="Arial Black" pitchFamily="34" charset="0"/>
                <a:ea typeface="Arial Black" pitchFamily="34" charset="0"/>
                <a:cs typeface="Arial Black" pitchFamily="34" charset="0"/>
              </a:rPr>
              <a:t>📊  Machine Learning</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48" name="Rectangle"/>
          <p:cNvSpPr>
            <a:spLocks/>
          </p:cNvSpPr>
          <p:nvPr/>
        </p:nvSpPr>
        <p:spPr>
          <a:xfrm>
            <a:off x="411480" y="2514600"/>
            <a:ext cx="3840480" cy="7772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AI learns patterns from data  -  like how it learns to recognize spam emails from millions of examples.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49" name="Rectangle"/>
          <p:cNvSpPr>
            <a:spLocks/>
          </p:cNvSpPr>
          <p:nvPr/>
        </p:nvSpPr>
        <p:spPr>
          <a:xfrm>
            <a:off x="4709160" y="2103120"/>
            <a:ext cx="4114799" cy="1234440"/>
          </a:xfrm>
          <a:prstGeom prst="rect">
            <a:avLst/>
          </a:prstGeom>
          <a:solidFill>
            <a:srgbClr val="F0FAF7"/>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50" name="Rectangle"/>
          <p:cNvSpPr>
            <a:spLocks/>
          </p:cNvSpPr>
          <p:nvPr/>
        </p:nvSpPr>
        <p:spPr>
          <a:xfrm>
            <a:off x="4709160" y="2103120"/>
            <a:ext cx="64007" cy="1234440"/>
          </a:xfrm>
          <a:prstGeom prst="rect">
            <a:avLst/>
          </a:prstGeom>
          <a:solidFill>
            <a:srgbClr val="10B981"/>
          </a:solidFill>
          <a:ln w="12700" cap="flat" cmpd="sng">
            <a:solidFill>
              <a:srgbClr val="10B981"/>
            </a:solidFill>
            <a:prstDash val="solid"/>
            <a:round/>
          </a:ln>
        </p:spPr>
        <p:txBody>
          <a:bodyPr/>
          <a:lstStyle/>
          <a:p>
            <a:endParaRPr lang="en-GB"/>
          </a:p>
        </p:txBody>
      </p:sp>
      <p:sp>
        <p:nvSpPr>
          <p:cNvPr id="51" name="Rectangle"/>
          <p:cNvSpPr>
            <a:spLocks/>
          </p:cNvSpPr>
          <p:nvPr/>
        </p:nvSpPr>
        <p:spPr>
          <a:xfrm>
            <a:off x="4846320" y="2148840"/>
            <a:ext cx="3840480" cy="36576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400" b="1" i="0" u="none" strike="noStrike" kern="1200" cap="none" spc="0" baseline="0">
                <a:solidFill>
                  <a:srgbClr val="0D2137"/>
                </a:solidFill>
                <a:latin typeface="Arial Black" pitchFamily="34" charset="0"/>
                <a:ea typeface="Arial Black" pitchFamily="34" charset="0"/>
                <a:cs typeface="Arial Black" pitchFamily="34" charset="0"/>
              </a:rPr>
              <a:t>🗣️  Large Language Models</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52" name="Rectangle"/>
          <p:cNvSpPr>
            <a:spLocks/>
          </p:cNvSpPr>
          <p:nvPr/>
        </p:nvSpPr>
        <p:spPr>
          <a:xfrm>
            <a:off x="4846320" y="2514600"/>
            <a:ext cx="3840480" cy="7772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The tech behind ChatGPT &amp; Claude. Trained on vast text to understand and generate human-like language.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53" name="Rectangle"/>
          <p:cNvSpPr>
            <a:spLocks/>
          </p:cNvSpPr>
          <p:nvPr/>
        </p:nvSpPr>
        <p:spPr>
          <a:xfrm>
            <a:off x="274320" y="3520440"/>
            <a:ext cx="4114800" cy="1234439"/>
          </a:xfrm>
          <a:prstGeom prst="rect">
            <a:avLst/>
          </a:prstGeom>
          <a:solidFill>
            <a:srgbClr val="F0FAF7"/>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54" name="Rectangle"/>
          <p:cNvSpPr>
            <a:spLocks/>
          </p:cNvSpPr>
          <p:nvPr/>
        </p:nvSpPr>
        <p:spPr>
          <a:xfrm>
            <a:off x="274320" y="3520440"/>
            <a:ext cx="64007" cy="1234439"/>
          </a:xfrm>
          <a:prstGeom prst="rect">
            <a:avLst/>
          </a:prstGeom>
          <a:solidFill>
            <a:srgbClr val="10B981"/>
          </a:solidFill>
          <a:ln w="12700" cap="flat" cmpd="sng">
            <a:solidFill>
              <a:srgbClr val="10B981"/>
            </a:solidFill>
            <a:prstDash val="solid"/>
            <a:round/>
          </a:ln>
        </p:spPr>
        <p:txBody>
          <a:bodyPr/>
          <a:lstStyle/>
          <a:p>
            <a:endParaRPr lang="en-GB"/>
          </a:p>
        </p:txBody>
      </p:sp>
      <p:sp>
        <p:nvSpPr>
          <p:cNvPr id="55" name="Rectangle"/>
          <p:cNvSpPr>
            <a:spLocks/>
          </p:cNvSpPr>
          <p:nvPr/>
        </p:nvSpPr>
        <p:spPr>
          <a:xfrm>
            <a:off x="411480" y="3566160"/>
            <a:ext cx="384048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0D2137"/>
                </a:solidFill>
                <a:latin typeface="Arial Black" pitchFamily="34" charset="0"/>
                <a:ea typeface="Arial Black" pitchFamily="34" charset="0"/>
                <a:cs typeface="Arial Black" pitchFamily="34" charset="0"/>
              </a:rPr>
              <a:t>✨  Generative AI</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56" name="Rectangle"/>
          <p:cNvSpPr>
            <a:spLocks/>
          </p:cNvSpPr>
          <p:nvPr/>
        </p:nvSpPr>
        <p:spPr>
          <a:xfrm>
            <a:off x="411480" y="3931920"/>
            <a:ext cx="3840480" cy="77723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AI that creates  -  text, images, code, audio. Your new creative collaborator in research &amp; teaching.</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57" name="Rectangle"/>
          <p:cNvSpPr>
            <a:spLocks/>
          </p:cNvSpPr>
          <p:nvPr/>
        </p:nvSpPr>
        <p:spPr>
          <a:xfrm>
            <a:off x="4709160" y="3520440"/>
            <a:ext cx="4114799" cy="1234439"/>
          </a:xfrm>
          <a:prstGeom prst="rect">
            <a:avLst/>
          </a:prstGeom>
          <a:solidFill>
            <a:srgbClr val="F0FAF7"/>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58" name="Rectangle"/>
          <p:cNvSpPr>
            <a:spLocks/>
          </p:cNvSpPr>
          <p:nvPr/>
        </p:nvSpPr>
        <p:spPr>
          <a:xfrm>
            <a:off x="4709160" y="3520440"/>
            <a:ext cx="64007" cy="1234439"/>
          </a:xfrm>
          <a:prstGeom prst="rect">
            <a:avLst/>
          </a:prstGeom>
          <a:solidFill>
            <a:srgbClr val="10B981"/>
          </a:solidFill>
          <a:ln w="12700" cap="flat" cmpd="sng">
            <a:solidFill>
              <a:srgbClr val="10B981"/>
            </a:solidFill>
            <a:prstDash val="solid"/>
            <a:round/>
          </a:ln>
        </p:spPr>
        <p:txBody>
          <a:bodyPr/>
          <a:lstStyle/>
          <a:p>
            <a:endParaRPr lang="en-GB"/>
          </a:p>
        </p:txBody>
      </p:sp>
      <p:sp>
        <p:nvSpPr>
          <p:cNvPr id="59" name="Rectangle"/>
          <p:cNvSpPr>
            <a:spLocks/>
          </p:cNvSpPr>
          <p:nvPr/>
        </p:nvSpPr>
        <p:spPr>
          <a:xfrm>
            <a:off x="4846320" y="3566160"/>
            <a:ext cx="3840480"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400" b="1" i="0" u="none" strike="noStrike" kern="1200" cap="none" spc="0" baseline="0">
                <a:solidFill>
                  <a:srgbClr val="0D2137"/>
                </a:solidFill>
                <a:latin typeface="Arial Black" pitchFamily="34" charset="0"/>
                <a:ea typeface="Arial Black" pitchFamily="34" charset="0"/>
                <a:cs typeface="Arial Black" pitchFamily="34" charset="0"/>
              </a:rPr>
              <a:t>🤖  AI Agents</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60" name="Rectangle"/>
          <p:cNvSpPr>
            <a:spLocks/>
          </p:cNvSpPr>
          <p:nvPr/>
        </p:nvSpPr>
        <p:spPr>
          <a:xfrm>
            <a:off x="4846320" y="3931920"/>
            <a:ext cx="3840480" cy="77723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AI that takes actions: searches the web, writes code, and completes multi-step tasks for you.</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950513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64" name="Rectangle"/>
          <p:cNvSpPr>
            <a:spLocks/>
          </p:cNvSpPr>
          <p:nvPr/>
        </p:nvSpPr>
        <p:spPr>
          <a:xfrm>
            <a:off x="457200" y="137160"/>
            <a:ext cx="8229600" cy="64007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3000" b="1" i="0" u="none" strike="noStrike" kern="1200" cap="none" spc="0" baseline="0">
                <a:solidFill>
                  <a:srgbClr val="FFFFFF"/>
                </a:solidFill>
                <a:latin typeface="Arial Black" pitchFamily="34" charset="0"/>
                <a:ea typeface="Arial Black" pitchFamily="34" charset="0"/>
                <a:cs typeface="Arial Black" pitchFamily="34" charset="0"/>
              </a:rPr>
              <a:t>The Academic AI Landscape</a:t>
            </a:r>
            <a:endParaRPr lang="zh-CN" altLang="en-US" sz="3000" b="0" i="0" u="none" strike="noStrike" kern="1200" cap="none" spc="0" baseline="0">
              <a:solidFill>
                <a:schemeClr val="tx1"/>
              </a:solidFill>
              <a:latin typeface="Calibri" charset="0"/>
              <a:ea typeface="等线" charset="0"/>
              <a:cs typeface="Calibri" charset="0"/>
            </a:endParaRPr>
          </a:p>
        </p:txBody>
      </p:sp>
      <p:sp>
        <p:nvSpPr>
          <p:cNvPr id="65" name="Rectangle"/>
          <p:cNvSpPr>
            <a:spLocks/>
          </p:cNvSpPr>
          <p:nvPr/>
        </p:nvSpPr>
        <p:spPr>
          <a:xfrm>
            <a:off x="457200" y="749808"/>
            <a:ext cx="8229600" cy="3200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400" b="0" i="1" u="none" strike="noStrike" kern="1200" cap="none" spc="0" baseline="0">
                <a:solidFill>
                  <a:srgbClr val="10B981"/>
                </a:solidFill>
                <a:latin typeface="Calibri" charset="0"/>
                <a:ea typeface="Calibri" charset="0"/>
                <a:cs typeface="Calibri" charset="0"/>
              </a:rPr>
              <a:t>6 Domains Where AI Transforms Your Work</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66" name="Rectangle"/>
          <p:cNvSpPr>
            <a:spLocks/>
          </p:cNvSpPr>
          <p:nvPr/>
        </p:nvSpPr>
        <p:spPr>
          <a:xfrm>
            <a:off x="228600" y="1234440"/>
            <a:ext cx="2788920" cy="1691639"/>
          </a:xfrm>
          <a:prstGeom prst="rect">
            <a:avLst/>
          </a:prstGeom>
          <a:solidFill>
            <a:srgbClr val="FFFFFF">
              <a:alpha val="12000"/>
            </a:srgbClr>
          </a:solidFill>
          <a:ln w="12700" cap="flat" cmpd="sng">
            <a:solidFill>
              <a:srgbClr val="10B981">
                <a:alpha val="6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67" name="Rectangle"/>
          <p:cNvSpPr>
            <a:spLocks/>
          </p:cNvSpPr>
          <p:nvPr/>
        </p:nvSpPr>
        <p:spPr>
          <a:xfrm>
            <a:off x="228600" y="1234440"/>
            <a:ext cx="2788920" cy="384048"/>
          </a:xfrm>
          <a:prstGeom prst="rect">
            <a:avLst/>
          </a:prstGeom>
          <a:solidFill>
            <a:srgbClr val="10B981">
              <a:alpha val="80000"/>
            </a:srgbClr>
          </a:solidFill>
          <a:ln w="12700" cap="flat" cmpd="sng">
            <a:solidFill>
              <a:srgbClr val="10B981">
                <a:alpha val="80000"/>
              </a:srgbClr>
            </a:solidFill>
            <a:prstDash val="solid"/>
            <a:round/>
          </a:ln>
        </p:spPr>
        <p:txBody>
          <a:bodyPr/>
          <a:lstStyle/>
          <a:p>
            <a:endParaRPr lang="en-GB"/>
          </a:p>
        </p:txBody>
      </p:sp>
      <p:sp>
        <p:nvSpPr>
          <p:cNvPr id="68" name="Rectangle"/>
          <p:cNvSpPr>
            <a:spLocks/>
          </p:cNvSpPr>
          <p:nvPr/>
        </p:nvSpPr>
        <p:spPr>
          <a:xfrm>
            <a:off x="320040" y="1261872"/>
            <a:ext cx="2606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400" b="1" i="0" u="none" strike="noStrike" kern="1200" cap="none" spc="0" baseline="0">
                <a:solidFill>
                  <a:srgbClr val="FFFFFF"/>
                </a:solidFill>
                <a:latin typeface="Arial Black" pitchFamily="34" charset="0"/>
                <a:ea typeface="Arial Black" pitchFamily="34" charset="0"/>
                <a:cs typeface="Arial Black" pitchFamily="34" charset="0"/>
              </a:rPr>
              <a:t>📚 Research</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69" name="Rectangle"/>
          <p:cNvSpPr>
            <a:spLocks/>
          </p:cNvSpPr>
          <p:nvPr/>
        </p:nvSpPr>
        <p:spPr>
          <a:xfrm>
            <a:off x="338328" y="1673352"/>
            <a:ext cx="2606040" cy="1188720"/>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Literature review</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Hypothesis generation</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Data analysis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70" name="Rectangle"/>
          <p:cNvSpPr>
            <a:spLocks/>
          </p:cNvSpPr>
          <p:nvPr/>
        </p:nvSpPr>
        <p:spPr>
          <a:xfrm>
            <a:off x="3200400" y="1234440"/>
            <a:ext cx="2788920" cy="1691639"/>
          </a:xfrm>
          <a:prstGeom prst="rect">
            <a:avLst/>
          </a:prstGeom>
          <a:solidFill>
            <a:srgbClr val="FFFFFF">
              <a:alpha val="12000"/>
            </a:srgbClr>
          </a:solidFill>
          <a:ln w="12700" cap="flat" cmpd="sng">
            <a:solidFill>
              <a:srgbClr val="3B82F6">
                <a:alpha val="6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71" name="Rectangle"/>
          <p:cNvSpPr>
            <a:spLocks/>
          </p:cNvSpPr>
          <p:nvPr/>
        </p:nvSpPr>
        <p:spPr>
          <a:xfrm>
            <a:off x="3200400" y="1234440"/>
            <a:ext cx="2788920" cy="384048"/>
          </a:xfrm>
          <a:prstGeom prst="rect">
            <a:avLst/>
          </a:prstGeom>
          <a:solidFill>
            <a:srgbClr val="3B82F6">
              <a:alpha val="80000"/>
            </a:srgbClr>
          </a:solidFill>
          <a:ln w="12700" cap="flat" cmpd="sng">
            <a:solidFill>
              <a:srgbClr val="3B82F6">
                <a:alpha val="80000"/>
              </a:srgbClr>
            </a:solidFill>
            <a:prstDash val="solid"/>
            <a:round/>
          </a:ln>
        </p:spPr>
        <p:txBody>
          <a:bodyPr/>
          <a:lstStyle/>
          <a:p>
            <a:endParaRPr lang="en-GB"/>
          </a:p>
        </p:txBody>
      </p:sp>
      <p:sp>
        <p:nvSpPr>
          <p:cNvPr id="72" name="Rectangle"/>
          <p:cNvSpPr>
            <a:spLocks/>
          </p:cNvSpPr>
          <p:nvPr/>
        </p:nvSpPr>
        <p:spPr>
          <a:xfrm>
            <a:off x="3291840" y="1261872"/>
            <a:ext cx="2606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FFFFFF"/>
                </a:solidFill>
                <a:latin typeface="Arial Black" pitchFamily="34" charset="0"/>
                <a:ea typeface="Arial Black" pitchFamily="34" charset="0"/>
                <a:cs typeface="Arial Black" pitchFamily="34" charset="0"/>
              </a:rPr>
              <a:t>✍️ Writing</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73" name="Rectangle"/>
          <p:cNvSpPr>
            <a:spLocks/>
          </p:cNvSpPr>
          <p:nvPr/>
        </p:nvSpPr>
        <p:spPr>
          <a:xfrm>
            <a:off x="3310127" y="1673352"/>
            <a:ext cx="2606040" cy="1188720"/>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Draft papers</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Editing &amp; grammar</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Paraphrasing</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74" name="Rectangle"/>
          <p:cNvSpPr>
            <a:spLocks/>
          </p:cNvSpPr>
          <p:nvPr/>
        </p:nvSpPr>
        <p:spPr>
          <a:xfrm>
            <a:off x="6172200" y="1234440"/>
            <a:ext cx="2788920" cy="1691639"/>
          </a:xfrm>
          <a:prstGeom prst="rect">
            <a:avLst/>
          </a:prstGeom>
          <a:solidFill>
            <a:srgbClr val="FFFFFF">
              <a:alpha val="12000"/>
            </a:srgbClr>
          </a:solidFill>
          <a:ln w="12700" cap="flat" cmpd="sng">
            <a:solidFill>
              <a:srgbClr val="F59E0B">
                <a:alpha val="6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75" name="Rectangle"/>
          <p:cNvSpPr>
            <a:spLocks/>
          </p:cNvSpPr>
          <p:nvPr/>
        </p:nvSpPr>
        <p:spPr>
          <a:xfrm>
            <a:off x="6172200" y="1234440"/>
            <a:ext cx="2788920" cy="384048"/>
          </a:xfrm>
          <a:prstGeom prst="rect">
            <a:avLst/>
          </a:prstGeom>
          <a:solidFill>
            <a:srgbClr val="F59E0B">
              <a:alpha val="80000"/>
            </a:srgbClr>
          </a:solidFill>
          <a:ln w="12700" cap="flat" cmpd="sng">
            <a:solidFill>
              <a:srgbClr val="F59E0B">
                <a:alpha val="80000"/>
              </a:srgbClr>
            </a:solidFill>
            <a:prstDash val="solid"/>
            <a:round/>
          </a:ln>
        </p:spPr>
        <p:txBody>
          <a:bodyPr/>
          <a:lstStyle/>
          <a:p>
            <a:endParaRPr lang="en-GB"/>
          </a:p>
        </p:txBody>
      </p:sp>
      <p:sp>
        <p:nvSpPr>
          <p:cNvPr id="76" name="Rectangle"/>
          <p:cNvSpPr>
            <a:spLocks/>
          </p:cNvSpPr>
          <p:nvPr/>
        </p:nvSpPr>
        <p:spPr>
          <a:xfrm>
            <a:off x="6263640" y="1261872"/>
            <a:ext cx="2606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400" b="1" i="0" u="none" strike="noStrike" kern="1200" cap="none" spc="0" baseline="0">
                <a:solidFill>
                  <a:srgbClr val="FFFFFF"/>
                </a:solidFill>
                <a:latin typeface="Arial Black" pitchFamily="34" charset="0"/>
                <a:ea typeface="Arial Black" pitchFamily="34" charset="0"/>
                <a:cs typeface="Arial Black" pitchFamily="34" charset="0"/>
              </a:rPr>
              <a:t>🎓 Teaching</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77" name="Rectangle"/>
          <p:cNvSpPr>
            <a:spLocks/>
          </p:cNvSpPr>
          <p:nvPr/>
        </p:nvSpPr>
        <p:spPr>
          <a:xfrm>
            <a:off x="6281928" y="1673352"/>
            <a:ext cx="2606040" cy="1188720"/>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Lesson planning</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Quiz generation</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Student feedback</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78" name="Rectangle"/>
          <p:cNvSpPr>
            <a:spLocks/>
          </p:cNvSpPr>
          <p:nvPr/>
        </p:nvSpPr>
        <p:spPr>
          <a:xfrm>
            <a:off x="228600" y="3154680"/>
            <a:ext cx="2788920" cy="1691639"/>
          </a:xfrm>
          <a:prstGeom prst="rect">
            <a:avLst/>
          </a:prstGeom>
          <a:solidFill>
            <a:srgbClr val="FFFFFF">
              <a:alpha val="12000"/>
            </a:srgbClr>
          </a:solidFill>
          <a:ln w="12700" cap="flat" cmpd="sng">
            <a:solidFill>
              <a:srgbClr val="8B5CF6">
                <a:alpha val="6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79" name="Rectangle"/>
          <p:cNvSpPr>
            <a:spLocks/>
          </p:cNvSpPr>
          <p:nvPr/>
        </p:nvSpPr>
        <p:spPr>
          <a:xfrm>
            <a:off x="228600" y="3154680"/>
            <a:ext cx="2788920" cy="384048"/>
          </a:xfrm>
          <a:prstGeom prst="rect">
            <a:avLst/>
          </a:prstGeom>
          <a:solidFill>
            <a:srgbClr val="8B5CF6">
              <a:alpha val="80000"/>
            </a:srgbClr>
          </a:solidFill>
          <a:ln w="12700" cap="flat" cmpd="sng">
            <a:solidFill>
              <a:srgbClr val="8B5CF6">
                <a:alpha val="80000"/>
              </a:srgbClr>
            </a:solidFill>
            <a:prstDash val="solid"/>
            <a:round/>
          </a:ln>
        </p:spPr>
        <p:txBody>
          <a:bodyPr/>
          <a:lstStyle/>
          <a:p>
            <a:endParaRPr lang="en-GB"/>
          </a:p>
        </p:txBody>
      </p:sp>
      <p:sp>
        <p:nvSpPr>
          <p:cNvPr id="80" name="Rectangle"/>
          <p:cNvSpPr>
            <a:spLocks/>
          </p:cNvSpPr>
          <p:nvPr/>
        </p:nvSpPr>
        <p:spPr>
          <a:xfrm>
            <a:off x="320040" y="3182112"/>
            <a:ext cx="2606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400" b="1" i="0" u="none" strike="noStrike" kern="1200" cap="none" spc="0" baseline="0">
                <a:solidFill>
                  <a:srgbClr val="FFFFFF"/>
                </a:solidFill>
                <a:latin typeface="Arial Black" pitchFamily="34" charset="0"/>
                <a:ea typeface="Arial Black" pitchFamily="34" charset="0"/>
                <a:cs typeface="Arial Black" pitchFamily="34" charset="0"/>
              </a:rPr>
              <a:t>💡 Ideation</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81" name="Rectangle"/>
          <p:cNvSpPr>
            <a:spLocks/>
          </p:cNvSpPr>
          <p:nvPr/>
        </p:nvSpPr>
        <p:spPr>
          <a:xfrm>
            <a:off x="338328" y="3593592"/>
            <a:ext cx="2606040" cy="1188720"/>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Brainstorming</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Grant proposal ideas</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Project planning</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82" name="Rectangle"/>
          <p:cNvSpPr>
            <a:spLocks/>
          </p:cNvSpPr>
          <p:nvPr/>
        </p:nvSpPr>
        <p:spPr>
          <a:xfrm>
            <a:off x="3200400" y="3154680"/>
            <a:ext cx="2788920" cy="1691639"/>
          </a:xfrm>
          <a:prstGeom prst="rect">
            <a:avLst/>
          </a:prstGeom>
          <a:solidFill>
            <a:srgbClr val="FFFFFF">
              <a:alpha val="12000"/>
            </a:srgbClr>
          </a:solidFill>
          <a:ln w="12700" cap="flat" cmpd="sng">
            <a:solidFill>
              <a:srgbClr val="F97316">
                <a:alpha val="6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83" name="Rectangle"/>
          <p:cNvSpPr>
            <a:spLocks/>
          </p:cNvSpPr>
          <p:nvPr/>
        </p:nvSpPr>
        <p:spPr>
          <a:xfrm>
            <a:off x="3200400" y="3154680"/>
            <a:ext cx="2788920" cy="384048"/>
          </a:xfrm>
          <a:prstGeom prst="rect">
            <a:avLst/>
          </a:prstGeom>
          <a:solidFill>
            <a:srgbClr val="F97316">
              <a:alpha val="80000"/>
            </a:srgbClr>
          </a:solidFill>
          <a:ln w="12700" cap="flat" cmpd="sng">
            <a:solidFill>
              <a:srgbClr val="F97316">
                <a:alpha val="80000"/>
              </a:srgbClr>
            </a:solidFill>
            <a:prstDash val="solid"/>
            <a:round/>
          </a:ln>
        </p:spPr>
        <p:txBody>
          <a:bodyPr/>
          <a:lstStyle/>
          <a:p>
            <a:endParaRPr lang="en-GB"/>
          </a:p>
        </p:txBody>
      </p:sp>
      <p:sp>
        <p:nvSpPr>
          <p:cNvPr id="84" name="Rectangle"/>
          <p:cNvSpPr>
            <a:spLocks/>
          </p:cNvSpPr>
          <p:nvPr/>
        </p:nvSpPr>
        <p:spPr>
          <a:xfrm>
            <a:off x="3291840" y="3182112"/>
            <a:ext cx="2606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400" b="1" i="0" u="none" strike="noStrike" kern="1200" cap="none" spc="0" baseline="0">
                <a:solidFill>
                  <a:srgbClr val="FFFFFF"/>
                </a:solidFill>
                <a:latin typeface="Arial Black" pitchFamily="34" charset="0"/>
                <a:ea typeface="Arial Black" pitchFamily="34" charset="0"/>
                <a:cs typeface="Arial Black" pitchFamily="34" charset="0"/>
              </a:rPr>
              <a:t>📊 Data</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85" name="Rectangle"/>
          <p:cNvSpPr>
            <a:spLocks/>
          </p:cNvSpPr>
          <p:nvPr/>
        </p:nvSpPr>
        <p:spPr>
          <a:xfrm>
            <a:off x="3310127" y="3593592"/>
            <a:ext cx="2606040" cy="1188720"/>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Statistical insights</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Chart creation</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Coding assistance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86" name="Rectangle"/>
          <p:cNvSpPr>
            <a:spLocks/>
          </p:cNvSpPr>
          <p:nvPr/>
        </p:nvSpPr>
        <p:spPr>
          <a:xfrm>
            <a:off x="6172200" y="3154680"/>
            <a:ext cx="2788920" cy="1691639"/>
          </a:xfrm>
          <a:prstGeom prst="rect">
            <a:avLst/>
          </a:prstGeom>
          <a:solidFill>
            <a:srgbClr val="FFFFFF">
              <a:alpha val="12000"/>
            </a:srgbClr>
          </a:solidFill>
          <a:ln w="12700" cap="flat" cmpd="sng">
            <a:solidFill>
              <a:srgbClr val="EC4899">
                <a:alpha val="6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87" name="Rectangle"/>
          <p:cNvSpPr>
            <a:spLocks/>
          </p:cNvSpPr>
          <p:nvPr/>
        </p:nvSpPr>
        <p:spPr>
          <a:xfrm>
            <a:off x="6172200" y="3154680"/>
            <a:ext cx="2788920" cy="384048"/>
          </a:xfrm>
          <a:prstGeom prst="rect">
            <a:avLst/>
          </a:prstGeom>
          <a:solidFill>
            <a:srgbClr val="EC4899">
              <a:alpha val="80000"/>
            </a:srgbClr>
          </a:solidFill>
          <a:ln w="12700" cap="flat" cmpd="sng">
            <a:solidFill>
              <a:srgbClr val="EC4899">
                <a:alpha val="80000"/>
              </a:srgbClr>
            </a:solidFill>
            <a:prstDash val="solid"/>
            <a:round/>
          </a:ln>
        </p:spPr>
        <p:txBody>
          <a:bodyPr/>
          <a:lstStyle/>
          <a:p>
            <a:endParaRPr lang="en-GB"/>
          </a:p>
        </p:txBody>
      </p:sp>
      <p:sp>
        <p:nvSpPr>
          <p:cNvPr id="88" name="Rectangle"/>
          <p:cNvSpPr>
            <a:spLocks/>
          </p:cNvSpPr>
          <p:nvPr/>
        </p:nvSpPr>
        <p:spPr>
          <a:xfrm>
            <a:off x="6263640" y="3182112"/>
            <a:ext cx="2606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400" b="1" i="0" u="none" strike="noStrike" kern="1200" cap="none" spc="0" baseline="0">
                <a:solidFill>
                  <a:srgbClr val="FFFFFF"/>
                </a:solidFill>
                <a:latin typeface="Arial Black" pitchFamily="34" charset="0"/>
                <a:ea typeface="Arial Black" pitchFamily="34" charset="0"/>
                <a:cs typeface="Arial Black" pitchFamily="34" charset="0"/>
              </a:rPr>
              <a:t>🌍 Communication</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89" name="Rectangle"/>
          <p:cNvSpPr>
            <a:spLocks/>
          </p:cNvSpPr>
          <p:nvPr/>
        </p:nvSpPr>
        <p:spPr>
          <a:xfrm>
            <a:off x="6281928" y="3593592"/>
            <a:ext cx="2606040" cy="1188720"/>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Translation</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Presentation design</a:t>
            </a:r>
            <a:endParaRPr lang="en-US" altLang="zh-CN" sz="11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100" b="0" i="0" u="none" strike="noStrike" kern="1200" cap="none" spc="0" baseline="0">
                <a:solidFill>
                  <a:srgbClr val="FFFFFF"/>
                </a:solidFill>
                <a:latin typeface="Calibri" charset="0"/>
                <a:ea typeface="Calibri" charset="0"/>
                <a:cs typeface="Calibri" charset="0"/>
              </a:rPr>
              <a:t>Email drafting</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924175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AF7"/>
        </a:solidFill>
        <a:effectLst/>
      </p:bgPr>
    </p:bg>
    <p:spTree>
      <p:nvGrpSpPr>
        <p:cNvPr id="1" name=""/>
        <p:cNvGrpSpPr/>
        <p:nvPr/>
      </p:nvGrpSpPr>
      <p:grpSpPr>
        <a:xfrm>
          <a:off x="0" y="0"/>
          <a:ext cx="0" cy="0"/>
          <a:chOff x="0" y="0"/>
          <a:chExt cx="0" cy="0"/>
        </a:xfrm>
      </p:grpSpPr>
      <p:sp>
        <p:nvSpPr>
          <p:cNvPr id="93" name="Rectangle"/>
          <p:cNvSpPr>
            <a:spLocks/>
          </p:cNvSpPr>
          <p:nvPr/>
        </p:nvSpPr>
        <p:spPr>
          <a:xfrm>
            <a:off x="0" y="0"/>
            <a:ext cx="9144000" cy="960120"/>
          </a:xfrm>
          <a:prstGeom prst="rect">
            <a:avLst/>
          </a:prstGeom>
          <a:solidFill>
            <a:srgbClr val="0D2137"/>
          </a:solidFill>
          <a:ln w="12700" cap="flat" cmpd="sng">
            <a:solidFill>
              <a:srgbClr val="0D2137"/>
            </a:solidFill>
            <a:prstDash val="solid"/>
            <a:round/>
          </a:ln>
        </p:spPr>
        <p:txBody>
          <a:bodyPr/>
          <a:lstStyle/>
          <a:p>
            <a:endParaRPr lang="en-GB"/>
          </a:p>
        </p:txBody>
      </p:sp>
      <p:sp>
        <p:nvSpPr>
          <p:cNvPr id="94" name="Rectangle"/>
          <p:cNvSpPr>
            <a:spLocks/>
          </p:cNvSpPr>
          <p:nvPr/>
        </p:nvSpPr>
        <p:spPr>
          <a:xfrm>
            <a:off x="365760" y="0"/>
            <a:ext cx="841248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600" b="1" i="0" u="none" strike="noStrike" kern="1200" cap="none" spc="0" baseline="0">
                <a:solidFill>
                  <a:srgbClr val="FFFFFF"/>
                </a:solidFill>
                <a:latin typeface="Arial Black" pitchFamily="34" charset="0"/>
                <a:ea typeface="Arial Black" pitchFamily="34" charset="0"/>
                <a:cs typeface="Arial Black" pitchFamily="34" charset="0"/>
              </a:rPr>
              <a:t>Right Tool. Right Task. Right Results.</a:t>
            </a:r>
            <a:endParaRPr lang="zh-CN" altLang="en-US" sz="2600" b="0" i="0" u="none" strike="noStrike" kern="1200" cap="none" spc="0" baseline="0">
              <a:solidFill>
                <a:schemeClr val="tx1"/>
              </a:solidFill>
              <a:latin typeface="Calibri" charset="0"/>
              <a:ea typeface="等线" charset="0"/>
              <a:cs typeface="Calibri" charset="0"/>
            </a:endParaRPr>
          </a:p>
        </p:txBody>
      </p:sp>
      <p:sp>
        <p:nvSpPr>
          <p:cNvPr id="95" name="Rectangle"/>
          <p:cNvSpPr>
            <a:spLocks/>
          </p:cNvSpPr>
          <p:nvPr/>
        </p:nvSpPr>
        <p:spPr>
          <a:xfrm>
            <a:off x="274320" y="1051560"/>
            <a:ext cx="4114800" cy="1234440"/>
          </a:xfrm>
          <a:prstGeom prst="rect">
            <a:avLst/>
          </a:prstGeom>
          <a:solidFill>
            <a:srgbClr val="FFFFFF"/>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96" name="Rectangle"/>
          <p:cNvSpPr>
            <a:spLocks/>
          </p:cNvSpPr>
          <p:nvPr/>
        </p:nvSpPr>
        <p:spPr>
          <a:xfrm>
            <a:off x="274320" y="1051560"/>
            <a:ext cx="73151" cy="1234440"/>
          </a:xfrm>
          <a:prstGeom prst="rect">
            <a:avLst/>
          </a:prstGeom>
          <a:solidFill>
            <a:srgbClr val="0A7C6E"/>
          </a:solidFill>
          <a:ln w="12700" cap="flat" cmpd="sng">
            <a:solidFill>
              <a:srgbClr val="0A7C6E"/>
            </a:solidFill>
            <a:prstDash val="solid"/>
            <a:round/>
          </a:ln>
        </p:spPr>
        <p:txBody>
          <a:bodyPr/>
          <a:lstStyle/>
          <a:p>
            <a:endParaRPr lang="en-GB"/>
          </a:p>
        </p:txBody>
      </p:sp>
      <p:sp>
        <p:nvSpPr>
          <p:cNvPr id="97" name="Rectangle"/>
          <p:cNvSpPr>
            <a:spLocks/>
          </p:cNvSpPr>
          <p:nvPr/>
        </p:nvSpPr>
        <p:spPr>
          <a:xfrm>
            <a:off x="429768" y="1106424"/>
            <a:ext cx="374904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dirty="0">
                <a:solidFill>
                  <a:srgbClr val="0D2137"/>
                </a:solidFill>
                <a:latin typeface="Arial Black" pitchFamily="34" charset="0"/>
                <a:ea typeface="Arial Black" pitchFamily="34" charset="0"/>
                <a:cs typeface="Arial Black" pitchFamily="34" charset="0"/>
              </a:rPr>
              <a:t>💬 ChatGPT</a:t>
            </a:r>
            <a:r>
              <a:rPr lang="en-GB" altLang="zh-CN" sz="1300" b="1" i="0" u="none" strike="noStrike" kern="1200" cap="none" spc="0" baseline="0" dirty="0">
                <a:solidFill>
                  <a:srgbClr val="0D2137"/>
                </a:solidFill>
                <a:latin typeface="Arial Black" pitchFamily="34" charset="0"/>
                <a:ea typeface="Arial Black" pitchFamily="34" charset="0"/>
                <a:cs typeface="Arial Black" pitchFamily="34" charset="0"/>
              </a:rPr>
              <a:t>/Gemini</a:t>
            </a:r>
            <a:r>
              <a:rPr lang="zh-CN" altLang="en-US" sz="1300" b="1" i="0" u="none" strike="noStrike" kern="1200" cap="none" spc="0" baseline="0" dirty="0">
                <a:solidFill>
                  <a:srgbClr val="0D2137"/>
                </a:solidFill>
                <a:latin typeface="Arial Black" pitchFamily="34" charset="0"/>
                <a:ea typeface="Arial Black" pitchFamily="34" charset="0"/>
                <a:cs typeface="Arial Black" pitchFamily="34" charset="0"/>
              </a:rPr>
              <a:t> (OpenAI)</a:t>
            </a:r>
            <a:endParaRPr lang="zh-CN" altLang="en-US" sz="1300" b="0" i="0" u="none" strike="noStrike" kern="1200" cap="none" spc="0" baseline="0" dirty="0">
              <a:solidFill>
                <a:schemeClr val="tx1"/>
              </a:solidFill>
              <a:latin typeface="Calibri" charset="0"/>
              <a:ea typeface="等线" charset="0"/>
              <a:cs typeface="Calibri" charset="0"/>
            </a:endParaRPr>
          </a:p>
        </p:txBody>
      </p:sp>
      <p:sp>
        <p:nvSpPr>
          <p:cNvPr id="98" name="Rectangle"/>
          <p:cNvSpPr>
            <a:spLocks/>
          </p:cNvSpPr>
          <p:nvPr/>
        </p:nvSpPr>
        <p:spPr>
          <a:xfrm>
            <a:off x="429768" y="1399032"/>
            <a:ext cx="3749040" cy="23774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USE FOR: Brainstorming, drafting, Q&amp;A</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99" name="Rectangle"/>
          <p:cNvSpPr>
            <a:spLocks/>
          </p:cNvSpPr>
          <p:nvPr/>
        </p:nvSpPr>
        <p:spPr>
          <a:xfrm>
            <a:off x="429768" y="1636776"/>
            <a:ext cx="3749040"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6B7280"/>
                </a:solidFill>
                <a:latin typeface="Calibri" charset="0"/>
                <a:ea typeface="Calibri" charset="0"/>
                <a:cs typeface="Calibri" charset="0"/>
              </a:rPr>
              <a:t>e.g. "Help me brainstorm 10 research gaps in renewable energy policy"</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00" name="Rectangle"/>
          <p:cNvSpPr>
            <a:spLocks/>
          </p:cNvSpPr>
          <p:nvPr/>
        </p:nvSpPr>
        <p:spPr>
          <a:xfrm>
            <a:off x="4709160" y="1051560"/>
            <a:ext cx="4114799" cy="1234440"/>
          </a:xfrm>
          <a:prstGeom prst="rect">
            <a:avLst/>
          </a:prstGeom>
          <a:solidFill>
            <a:srgbClr val="FFFFFF"/>
          </a:solidFill>
          <a:ln w="12700" cap="flat" cmpd="sng">
            <a:solidFill>
              <a:srgbClr val="3B82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101" name="Rectangle"/>
          <p:cNvSpPr>
            <a:spLocks/>
          </p:cNvSpPr>
          <p:nvPr/>
        </p:nvSpPr>
        <p:spPr>
          <a:xfrm>
            <a:off x="4709160" y="1051560"/>
            <a:ext cx="73151" cy="1234440"/>
          </a:xfrm>
          <a:prstGeom prst="rect">
            <a:avLst/>
          </a:prstGeom>
          <a:solidFill>
            <a:srgbClr val="3B82F6"/>
          </a:solidFill>
          <a:ln w="12700" cap="flat" cmpd="sng">
            <a:solidFill>
              <a:srgbClr val="3B82F6"/>
            </a:solidFill>
            <a:prstDash val="solid"/>
            <a:round/>
          </a:ln>
        </p:spPr>
        <p:txBody>
          <a:bodyPr/>
          <a:lstStyle/>
          <a:p>
            <a:endParaRPr lang="en-GB"/>
          </a:p>
        </p:txBody>
      </p:sp>
      <p:sp>
        <p:nvSpPr>
          <p:cNvPr id="102" name="Rectangle"/>
          <p:cNvSpPr>
            <a:spLocks/>
          </p:cNvSpPr>
          <p:nvPr/>
        </p:nvSpPr>
        <p:spPr>
          <a:xfrm>
            <a:off x="4864608" y="1106424"/>
            <a:ext cx="3749039"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0D2137"/>
                </a:solidFill>
                <a:latin typeface="Arial Black" pitchFamily="34" charset="0"/>
                <a:ea typeface="Arial Black" pitchFamily="34" charset="0"/>
                <a:cs typeface="Arial Black" pitchFamily="34" charset="0"/>
              </a:rPr>
              <a:t>📄 Claude (Anthropic)</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03" name="Rectangle"/>
          <p:cNvSpPr>
            <a:spLocks/>
          </p:cNvSpPr>
          <p:nvPr/>
        </p:nvSpPr>
        <p:spPr>
          <a:xfrm>
            <a:off x="4864608" y="1399032"/>
            <a:ext cx="3749039" cy="23774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3B82F6"/>
                </a:solidFill>
                <a:latin typeface="Calibri" charset="0"/>
                <a:ea typeface="Calibri" charset="0"/>
                <a:cs typeface="Calibri" charset="0"/>
              </a:rPr>
              <a:t>USE FOR: Long document analysis, nuanced writing, research summaries</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04" name="Rectangle"/>
          <p:cNvSpPr>
            <a:spLocks/>
          </p:cNvSpPr>
          <p:nvPr/>
        </p:nvSpPr>
        <p:spPr>
          <a:xfrm>
            <a:off x="4864608" y="1636776"/>
            <a:ext cx="3749039"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6B7280"/>
                </a:solidFill>
                <a:latin typeface="Calibri" charset="0"/>
                <a:ea typeface="Calibri" charset="0"/>
                <a:cs typeface="Calibri" charset="0"/>
              </a:rPr>
              <a:t>e.g. Upload a 50-page paper → "Summarize key findings and critique methodology"</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05" name="Rectangle"/>
          <p:cNvSpPr>
            <a:spLocks/>
          </p:cNvSpPr>
          <p:nvPr/>
        </p:nvSpPr>
        <p:spPr>
          <a:xfrm>
            <a:off x="274320" y="2423160"/>
            <a:ext cx="4114800" cy="1234440"/>
          </a:xfrm>
          <a:prstGeom prst="rect">
            <a:avLst/>
          </a:prstGeom>
          <a:solidFill>
            <a:srgbClr val="FFFFFF"/>
          </a:solidFill>
          <a:ln w="12700" cap="flat" cmpd="sng">
            <a:solidFill>
              <a:srgbClr val="8B5C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106" name="Rectangle"/>
          <p:cNvSpPr>
            <a:spLocks/>
          </p:cNvSpPr>
          <p:nvPr/>
        </p:nvSpPr>
        <p:spPr>
          <a:xfrm>
            <a:off x="274320" y="2423160"/>
            <a:ext cx="73151" cy="1234440"/>
          </a:xfrm>
          <a:prstGeom prst="rect">
            <a:avLst/>
          </a:prstGeom>
          <a:solidFill>
            <a:srgbClr val="8B5CF6"/>
          </a:solidFill>
          <a:ln w="12700" cap="flat" cmpd="sng">
            <a:solidFill>
              <a:srgbClr val="8B5CF6"/>
            </a:solidFill>
            <a:prstDash val="solid"/>
            <a:round/>
          </a:ln>
        </p:spPr>
        <p:txBody>
          <a:bodyPr/>
          <a:lstStyle/>
          <a:p>
            <a:endParaRPr lang="en-GB"/>
          </a:p>
        </p:txBody>
      </p:sp>
      <p:sp>
        <p:nvSpPr>
          <p:cNvPr id="107" name="Rectangle"/>
          <p:cNvSpPr>
            <a:spLocks/>
          </p:cNvSpPr>
          <p:nvPr/>
        </p:nvSpPr>
        <p:spPr>
          <a:xfrm>
            <a:off x="429768" y="2478024"/>
            <a:ext cx="374904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0D2137"/>
                </a:solidFill>
                <a:latin typeface="Arial Black" pitchFamily="34" charset="0"/>
                <a:ea typeface="Arial Black" pitchFamily="34" charset="0"/>
                <a:cs typeface="Arial Black" pitchFamily="34" charset="0"/>
              </a:rPr>
              <a:t>🔬 Elicit</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08" name="Rectangle"/>
          <p:cNvSpPr>
            <a:spLocks/>
          </p:cNvSpPr>
          <p:nvPr/>
        </p:nvSpPr>
        <p:spPr>
          <a:xfrm>
            <a:off x="429768" y="2770632"/>
            <a:ext cx="3749040"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8B5CF6"/>
                </a:solidFill>
                <a:latin typeface="Calibri" charset="0"/>
                <a:ea typeface="Calibri" charset="0"/>
                <a:cs typeface="Calibri" charset="0"/>
              </a:rPr>
              <a:t>USE FOR: AI research assistant  -  finds &amp; summarizes papers</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09" name="Rectangle"/>
          <p:cNvSpPr>
            <a:spLocks/>
          </p:cNvSpPr>
          <p:nvPr/>
        </p:nvSpPr>
        <p:spPr>
          <a:xfrm>
            <a:off x="429768" y="3008376"/>
            <a:ext cx="3749040"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6B7280"/>
                </a:solidFill>
                <a:latin typeface="Calibri" charset="0"/>
                <a:ea typeface="Calibri" charset="0"/>
                <a:cs typeface="Calibri" charset="0"/>
              </a:rPr>
              <a:t>e.g. "Find empirical studies on student mental health in West Africa"</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10" name="Rectangle"/>
          <p:cNvSpPr>
            <a:spLocks/>
          </p:cNvSpPr>
          <p:nvPr/>
        </p:nvSpPr>
        <p:spPr>
          <a:xfrm>
            <a:off x="4709160" y="2423160"/>
            <a:ext cx="4114799" cy="1234440"/>
          </a:xfrm>
          <a:prstGeom prst="rect">
            <a:avLst/>
          </a:prstGeom>
          <a:solidFill>
            <a:srgbClr val="FFFFFF"/>
          </a:solidFill>
          <a:ln w="12700" cap="flat" cmpd="sng">
            <a:solidFill>
              <a:srgbClr val="F59E0B"/>
            </a:solidFill>
            <a:prstDash val="solid"/>
            <a:round/>
          </a:ln>
          <a:effectLst>
            <a:outerShdw blurRad="101600" dist="38100" dir="8100000" algn="bl" rotWithShape="0">
              <a:srgbClr val="000000">
                <a:alpha val="11764"/>
              </a:srgbClr>
            </a:outerShdw>
          </a:effectLst>
        </p:spPr>
        <p:txBody>
          <a:bodyPr/>
          <a:lstStyle/>
          <a:p>
            <a:endParaRPr lang="en-GB"/>
          </a:p>
        </p:txBody>
      </p:sp>
      <p:sp>
        <p:nvSpPr>
          <p:cNvPr id="111" name="Rectangle"/>
          <p:cNvSpPr>
            <a:spLocks/>
          </p:cNvSpPr>
          <p:nvPr/>
        </p:nvSpPr>
        <p:spPr>
          <a:xfrm>
            <a:off x="4709160" y="2423160"/>
            <a:ext cx="73151" cy="1234440"/>
          </a:xfrm>
          <a:prstGeom prst="rect">
            <a:avLst/>
          </a:prstGeom>
          <a:solidFill>
            <a:srgbClr val="F59E0B"/>
          </a:solidFill>
          <a:ln w="12700" cap="flat" cmpd="sng">
            <a:solidFill>
              <a:srgbClr val="F59E0B"/>
            </a:solidFill>
            <a:prstDash val="solid"/>
            <a:round/>
          </a:ln>
        </p:spPr>
        <p:txBody>
          <a:bodyPr/>
          <a:lstStyle/>
          <a:p>
            <a:endParaRPr lang="en-GB"/>
          </a:p>
        </p:txBody>
      </p:sp>
      <p:sp>
        <p:nvSpPr>
          <p:cNvPr id="112" name="Rectangle"/>
          <p:cNvSpPr>
            <a:spLocks/>
          </p:cNvSpPr>
          <p:nvPr/>
        </p:nvSpPr>
        <p:spPr>
          <a:xfrm>
            <a:off x="4864608" y="2478024"/>
            <a:ext cx="3749039"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0D2137"/>
                </a:solidFill>
                <a:latin typeface="Arial Black" pitchFamily="34" charset="0"/>
                <a:ea typeface="Arial Black" pitchFamily="34" charset="0"/>
                <a:cs typeface="Arial Black" pitchFamily="34" charset="0"/>
              </a:rPr>
              <a:t>✅ Consensus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13" name="Rectangle"/>
          <p:cNvSpPr>
            <a:spLocks/>
          </p:cNvSpPr>
          <p:nvPr/>
        </p:nvSpPr>
        <p:spPr>
          <a:xfrm>
            <a:off x="4864608" y="2770632"/>
            <a:ext cx="3749039"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USE FOR: Evidence-based answers from research papers</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14" name="Rectangle"/>
          <p:cNvSpPr>
            <a:spLocks/>
          </p:cNvSpPr>
          <p:nvPr/>
        </p:nvSpPr>
        <p:spPr>
          <a:xfrm>
            <a:off x="4864608" y="3008376"/>
            <a:ext cx="3749039"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6B7280"/>
                </a:solidFill>
                <a:latin typeface="Calibri" charset="0"/>
                <a:ea typeface="Calibri" charset="0"/>
                <a:cs typeface="Calibri" charset="0"/>
              </a:rPr>
              <a:t>e.g. "Does active learning improve STEM outcomes?" → see what studies say</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15" name="Rectangle"/>
          <p:cNvSpPr>
            <a:spLocks/>
          </p:cNvSpPr>
          <p:nvPr/>
        </p:nvSpPr>
        <p:spPr>
          <a:xfrm>
            <a:off x="274320" y="3794760"/>
            <a:ext cx="4114800" cy="1234440"/>
          </a:xfrm>
          <a:prstGeom prst="rect">
            <a:avLst/>
          </a:prstGeom>
          <a:solidFill>
            <a:srgbClr val="FFFFFF"/>
          </a:solidFill>
          <a:ln w="12700" cap="flat" cmpd="sng">
            <a:solidFill>
              <a:srgbClr val="F97316"/>
            </a:solidFill>
            <a:prstDash val="solid"/>
            <a:round/>
          </a:ln>
          <a:effectLst>
            <a:outerShdw blurRad="101600" dist="38100" dir="8100000" algn="bl" rotWithShape="0">
              <a:srgbClr val="000000">
                <a:alpha val="11764"/>
              </a:srgbClr>
            </a:outerShdw>
          </a:effectLst>
        </p:spPr>
        <p:txBody>
          <a:bodyPr/>
          <a:lstStyle/>
          <a:p>
            <a:endParaRPr lang="en-GB"/>
          </a:p>
        </p:txBody>
      </p:sp>
      <p:sp>
        <p:nvSpPr>
          <p:cNvPr id="116" name="Rectangle"/>
          <p:cNvSpPr>
            <a:spLocks/>
          </p:cNvSpPr>
          <p:nvPr/>
        </p:nvSpPr>
        <p:spPr>
          <a:xfrm>
            <a:off x="274320" y="3794760"/>
            <a:ext cx="73151" cy="1234440"/>
          </a:xfrm>
          <a:prstGeom prst="rect">
            <a:avLst/>
          </a:prstGeom>
          <a:solidFill>
            <a:srgbClr val="F97316"/>
          </a:solidFill>
          <a:ln w="12700" cap="flat" cmpd="sng">
            <a:solidFill>
              <a:srgbClr val="F97316"/>
            </a:solidFill>
            <a:prstDash val="solid"/>
            <a:round/>
          </a:ln>
        </p:spPr>
        <p:txBody>
          <a:bodyPr/>
          <a:lstStyle/>
          <a:p>
            <a:endParaRPr lang="en-GB"/>
          </a:p>
        </p:txBody>
      </p:sp>
      <p:sp>
        <p:nvSpPr>
          <p:cNvPr id="117" name="Rectangle"/>
          <p:cNvSpPr>
            <a:spLocks/>
          </p:cNvSpPr>
          <p:nvPr/>
        </p:nvSpPr>
        <p:spPr>
          <a:xfrm>
            <a:off x="429768" y="3849623"/>
            <a:ext cx="374904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0D2137"/>
                </a:solidFill>
                <a:latin typeface="Arial Black" pitchFamily="34" charset="0"/>
                <a:ea typeface="Arial Black" pitchFamily="34" charset="0"/>
                <a:cs typeface="Arial Black" pitchFamily="34" charset="0"/>
              </a:rPr>
              <a:t>📊 Gamma / Beautiful.ai</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18" name="Rectangle"/>
          <p:cNvSpPr>
            <a:spLocks/>
          </p:cNvSpPr>
          <p:nvPr/>
        </p:nvSpPr>
        <p:spPr>
          <a:xfrm>
            <a:off x="429768" y="4142232"/>
            <a:ext cx="3749040"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F97316"/>
                </a:solidFill>
                <a:latin typeface="Calibri" charset="0"/>
                <a:ea typeface="Calibri" charset="0"/>
                <a:cs typeface="Calibri" charset="0"/>
              </a:rPr>
              <a:t>USE FOR: AI-powered presentations &amp; slides</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19" name="Rectangle"/>
          <p:cNvSpPr>
            <a:spLocks/>
          </p:cNvSpPr>
          <p:nvPr/>
        </p:nvSpPr>
        <p:spPr>
          <a:xfrm>
            <a:off x="429768" y="4379976"/>
            <a:ext cx="3749040"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6B7280"/>
                </a:solidFill>
                <a:latin typeface="Calibri" charset="0"/>
                <a:ea typeface="Calibri" charset="0"/>
                <a:cs typeface="Calibri" charset="0"/>
              </a:rPr>
              <a:t>e.g. "Create a 10-slide deck on climate change for undergraduate students"</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20" name="Rectangle"/>
          <p:cNvSpPr>
            <a:spLocks/>
          </p:cNvSpPr>
          <p:nvPr/>
        </p:nvSpPr>
        <p:spPr>
          <a:xfrm>
            <a:off x="4709160" y="3794760"/>
            <a:ext cx="4114799" cy="1234440"/>
          </a:xfrm>
          <a:prstGeom prst="rect">
            <a:avLst/>
          </a:prstGeom>
          <a:solidFill>
            <a:srgbClr val="FFFFFF"/>
          </a:solidFill>
          <a:ln w="12700" cap="flat" cmpd="sng">
            <a:solidFill>
              <a:srgbClr val="10B981"/>
            </a:solidFill>
            <a:prstDash val="solid"/>
            <a:round/>
          </a:ln>
          <a:effectLst>
            <a:outerShdw blurRad="101600" dist="38100" dir="8100000" algn="bl" rotWithShape="0">
              <a:srgbClr val="000000">
                <a:alpha val="11764"/>
              </a:srgbClr>
            </a:outerShdw>
          </a:effectLst>
        </p:spPr>
        <p:txBody>
          <a:bodyPr/>
          <a:lstStyle/>
          <a:p>
            <a:endParaRPr lang="en-GB"/>
          </a:p>
        </p:txBody>
      </p:sp>
      <p:sp>
        <p:nvSpPr>
          <p:cNvPr id="121" name="Rectangle"/>
          <p:cNvSpPr>
            <a:spLocks/>
          </p:cNvSpPr>
          <p:nvPr/>
        </p:nvSpPr>
        <p:spPr>
          <a:xfrm>
            <a:off x="4709160" y="3794760"/>
            <a:ext cx="73151" cy="1234440"/>
          </a:xfrm>
          <a:prstGeom prst="rect">
            <a:avLst/>
          </a:prstGeom>
          <a:solidFill>
            <a:srgbClr val="10B981"/>
          </a:solidFill>
          <a:ln w="12700" cap="flat" cmpd="sng">
            <a:solidFill>
              <a:srgbClr val="10B981"/>
            </a:solidFill>
            <a:prstDash val="solid"/>
            <a:round/>
          </a:ln>
        </p:spPr>
        <p:txBody>
          <a:bodyPr/>
          <a:lstStyle/>
          <a:p>
            <a:endParaRPr lang="en-GB"/>
          </a:p>
        </p:txBody>
      </p:sp>
      <p:sp>
        <p:nvSpPr>
          <p:cNvPr id="122" name="Rectangle"/>
          <p:cNvSpPr>
            <a:spLocks/>
          </p:cNvSpPr>
          <p:nvPr/>
        </p:nvSpPr>
        <p:spPr>
          <a:xfrm>
            <a:off x="4864608" y="3849623"/>
            <a:ext cx="3749039"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0D2137"/>
                </a:solidFill>
                <a:latin typeface="Arial Black" pitchFamily="34" charset="0"/>
                <a:ea typeface="Arial Black" pitchFamily="34" charset="0"/>
                <a:cs typeface="Arial Black" pitchFamily="34" charset="0"/>
              </a:rPr>
              <a:t>✍️ Grammarly / QuillBot</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23" name="Rectangle"/>
          <p:cNvSpPr>
            <a:spLocks/>
          </p:cNvSpPr>
          <p:nvPr/>
        </p:nvSpPr>
        <p:spPr>
          <a:xfrm>
            <a:off x="4864608" y="4142232"/>
            <a:ext cx="3749039"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10B981"/>
                </a:solidFill>
                <a:latin typeface="Calibri" charset="0"/>
                <a:ea typeface="Calibri" charset="0"/>
                <a:cs typeface="Calibri" charset="0"/>
              </a:rPr>
              <a:t>USE FOR: Academic writing polish &amp; paraphrasing</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24" name="Rectangle"/>
          <p:cNvSpPr>
            <a:spLocks/>
          </p:cNvSpPr>
          <p:nvPr/>
        </p:nvSpPr>
        <p:spPr>
          <a:xfrm>
            <a:off x="4864608" y="4379976"/>
            <a:ext cx="3749039"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6B7280"/>
                </a:solidFill>
                <a:latin typeface="Calibri" charset="0"/>
                <a:ea typeface="Calibri" charset="0"/>
                <a:cs typeface="Calibri" charset="0"/>
              </a:rPr>
              <a:t>e.g. Paste your paragraph → improve grammar, reduce plagiarism risk</a:t>
            </a:r>
            <a:endParaRPr lang="zh-CN" altLang="en-US" sz="10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446774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 name="Rectangle"/>
          <p:cNvSpPr>
            <a:spLocks/>
          </p:cNvSpPr>
          <p:nvPr/>
        </p:nvSpPr>
        <p:spPr>
          <a:xfrm>
            <a:off x="0" y="0"/>
            <a:ext cx="9144000" cy="960120"/>
          </a:xfrm>
          <a:prstGeom prst="rect">
            <a:avLst/>
          </a:prstGeom>
          <a:solidFill>
            <a:srgbClr val="0A7C6E"/>
          </a:solidFill>
          <a:ln w="12700" cap="flat" cmpd="sng">
            <a:solidFill>
              <a:srgbClr val="0A7C6E"/>
            </a:solidFill>
            <a:prstDash val="solid"/>
            <a:round/>
          </a:ln>
        </p:spPr>
        <p:txBody>
          <a:bodyPr/>
          <a:lstStyle/>
          <a:p>
            <a:endParaRPr lang="en-GB"/>
          </a:p>
        </p:txBody>
      </p:sp>
      <p:sp>
        <p:nvSpPr>
          <p:cNvPr id="129" name="Rectangle"/>
          <p:cNvSpPr>
            <a:spLocks/>
          </p:cNvSpPr>
          <p:nvPr/>
        </p:nvSpPr>
        <p:spPr>
          <a:xfrm>
            <a:off x="365760" y="0"/>
            <a:ext cx="841248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2400" b="1" i="0" u="none" strike="noStrike" kern="1200" cap="none" spc="0" baseline="0">
                <a:solidFill>
                  <a:srgbClr val="FFFFFF"/>
                </a:solidFill>
                <a:latin typeface="Arial Black" pitchFamily="34" charset="0"/>
                <a:ea typeface="Arial Black" pitchFamily="34" charset="0"/>
                <a:cs typeface="Arial Black" pitchFamily="34" charset="0"/>
              </a:rPr>
              <a:t>🔬  AI for Research: From Idea to Publication</a:t>
            </a:r>
            <a:endParaRPr lang="zh-CN" altLang="en-US" sz="2400" b="0" i="0" u="none" strike="noStrike" kern="1200" cap="none" spc="0" baseline="0">
              <a:solidFill>
                <a:schemeClr val="tx1"/>
              </a:solidFill>
              <a:latin typeface="Calibri" charset="0"/>
              <a:ea typeface="等线" charset="0"/>
              <a:cs typeface="Calibri" charset="0"/>
            </a:endParaRPr>
          </a:p>
        </p:txBody>
      </p:sp>
      <p:sp>
        <p:nvSpPr>
          <p:cNvPr id="130" name="Oval"/>
          <p:cNvSpPr>
            <a:spLocks/>
          </p:cNvSpPr>
          <p:nvPr/>
        </p:nvSpPr>
        <p:spPr>
          <a:xfrm>
            <a:off x="274320" y="1234440"/>
            <a:ext cx="594360" cy="594360"/>
          </a:xfrm>
          <a:prstGeom prst="ellipse">
            <a:avLst/>
          </a:prstGeom>
          <a:solidFill>
            <a:srgbClr val="0A7C6E"/>
          </a:solidFill>
          <a:ln w="12700" cap="flat" cmpd="sng">
            <a:solidFill>
              <a:srgbClr val="0A7C6E"/>
            </a:solidFill>
            <a:prstDash val="solid"/>
            <a:round/>
          </a:ln>
        </p:spPr>
        <p:txBody>
          <a:bodyPr/>
          <a:lstStyle/>
          <a:p>
            <a:endParaRPr lang="en-GB"/>
          </a:p>
        </p:txBody>
      </p:sp>
      <p:sp>
        <p:nvSpPr>
          <p:cNvPr id="131" name="Rectangle"/>
          <p:cNvSpPr>
            <a:spLocks/>
          </p:cNvSpPr>
          <p:nvPr/>
        </p:nvSpPr>
        <p:spPr>
          <a:xfrm>
            <a:off x="274320" y="1234440"/>
            <a:ext cx="594360" cy="59436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1200" cap="none" spc="0" baseline="0">
                <a:solidFill>
                  <a:srgbClr val="FFFFFF"/>
                </a:solidFill>
                <a:latin typeface="Arial Black" pitchFamily="34" charset="0"/>
                <a:ea typeface="Arial Black" pitchFamily="34" charset="0"/>
                <a:cs typeface="Arial Black" pitchFamily="34" charset="0"/>
              </a:rPr>
              <a:t>1</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132" name="Straight line"/>
          <p:cNvSpPr>
            <a:spLocks/>
          </p:cNvSpPr>
          <p:nvPr/>
        </p:nvSpPr>
        <p:spPr>
          <a:xfrm>
            <a:off x="571500" y="1828800"/>
            <a:ext cx="0" cy="274320"/>
          </a:xfrm>
          <a:prstGeom prst="line">
            <a:avLst/>
          </a:prstGeom>
          <a:noFill/>
          <a:ln w="31750" cap="flat" cmpd="sng">
            <a:solidFill>
              <a:srgbClr val="0A7C6E"/>
            </a:solidFill>
            <a:prstDash val="sysDot"/>
            <a:round/>
          </a:ln>
        </p:spPr>
        <p:txBody>
          <a:bodyPr/>
          <a:lstStyle/>
          <a:p>
            <a:endParaRPr lang="en-GB"/>
          </a:p>
        </p:txBody>
      </p:sp>
      <p:sp>
        <p:nvSpPr>
          <p:cNvPr id="133" name="Rectangle"/>
          <p:cNvSpPr>
            <a:spLocks/>
          </p:cNvSpPr>
          <p:nvPr/>
        </p:nvSpPr>
        <p:spPr>
          <a:xfrm>
            <a:off x="1051560" y="1143000"/>
            <a:ext cx="7680960" cy="822960"/>
          </a:xfrm>
          <a:prstGeom prst="rect">
            <a:avLst/>
          </a:prstGeom>
          <a:solidFill>
            <a:srgbClr val="F0FAF7"/>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134" name="Rectangle"/>
          <p:cNvSpPr>
            <a:spLocks/>
          </p:cNvSpPr>
          <p:nvPr/>
        </p:nvSpPr>
        <p:spPr>
          <a:xfrm>
            <a:off x="1051560" y="1143000"/>
            <a:ext cx="64007" cy="822960"/>
          </a:xfrm>
          <a:prstGeom prst="rect">
            <a:avLst/>
          </a:prstGeom>
          <a:solidFill>
            <a:srgbClr val="0A7C6E"/>
          </a:solidFill>
          <a:ln w="12700" cap="flat" cmpd="sng">
            <a:solidFill>
              <a:srgbClr val="0A7C6E"/>
            </a:solidFill>
            <a:prstDash val="solid"/>
            <a:round/>
          </a:ln>
        </p:spPr>
        <p:txBody>
          <a:bodyPr/>
          <a:lstStyle/>
          <a:p>
            <a:endParaRPr lang="en-GB"/>
          </a:p>
        </p:txBody>
      </p:sp>
      <p:sp>
        <p:nvSpPr>
          <p:cNvPr id="135" name="Rectangle"/>
          <p:cNvSpPr>
            <a:spLocks/>
          </p:cNvSpPr>
          <p:nvPr/>
        </p:nvSpPr>
        <p:spPr>
          <a:xfrm>
            <a:off x="1188720" y="1188720"/>
            <a:ext cx="2286000" cy="3200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0D2137"/>
                </a:solidFill>
                <a:latin typeface="Arial Black" pitchFamily="34" charset="0"/>
                <a:ea typeface="Arial Black" pitchFamily="34" charset="0"/>
                <a:cs typeface="Arial Black" pitchFamily="34" charset="0"/>
              </a:rPr>
              <a:t>Find the Gap</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136" name="Rectangle"/>
          <p:cNvSpPr>
            <a:spLocks/>
          </p:cNvSpPr>
          <p:nvPr/>
        </p:nvSpPr>
        <p:spPr>
          <a:xfrm>
            <a:off x="3474720" y="1216152"/>
            <a:ext cx="256031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100" b="1" i="1" u="none" strike="noStrike" kern="1200" cap="none" spc="0" baseline="0">
                <a:solidFill>
                  <a:srgbClr val="0A7C6E"/>
                </a:solidFill>
                <a:latin typeface="Calibri" charset="0"/>
                <a:ea typeface="Calibri" charset="0"/>
                <a:cs typeface="Calibri" charset="0"/>
              </a:rPr>
              <a:t>🛠 Elicit + Consensus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37" name="Rectangle"/>
          <p:cNvSpPr>
            <a:spLocks/>
          </p:cNvSpPr>
          <p:nvPr/>
        </p:nvSpPr>
        <p:spPr>
          <a:xfrm>
            <a:off x="1188720" y="1527047"/>
            <a:ext cx="7406639"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Search thousands of papers. Ask: "What is still unknown about X?"</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38" name="Oval"/>
          <p:cNvSpPr>
            <a:spLocks/>
          </p:cNvSpPr>
          <p:nvPr/>
        </p:nvSpPr>
        <p:spPr>
          <a:xfrm>
            <a:off x="274320" y="2194560"/>
            <a:ext cx="594360" cy="594359"/>
          </a:xfrm>
          <a:prstGeom prst="ellipse">
            <a:avLst/>
          </a:prstGeom>
          <a:solidFill>
            <a:srgbClr val="3B82F6"/>
          </a:solidFill>
          <a:ln w="12700" cap="flat" cmpd="sng">
            <a:solidFill>
              <a:srgbClr val="3B82F6"/>
            </a:solidFill>
            <a:prstDash val="solid"/>
            <a:round/>
          </a:ln>
        </p:spPr>
        <p:txBody>
          <a:bodyPr/>
          <a:lstStyle/>
          <a:p>
            <a:endParaRPr lang="en-GB"/>
          </a:p>
        </p:txBody>
      </p:sp>
      <p:sp>
        <p:nvSpPr>
          <p:cNvPr id="139" name="Rectangle"/>
          <p:cNvSpPr>
            <a:spLocks/>
          </p:cNvSpPr>
          <p:nvPr/>
        </p:nvSpPr>
        <p:spPr>
          <a:xfrm>
            <a:off x="274320" y="2194560"/>
            <a:ext cx="59436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1200" cap="none" spc="0" baseline="0">
                <a:solidFill>
                  <a:srgbClr val="FFFFFF"/>
                </a:solidFill>
                <a:latin typeface="Arial Black" pitchFamily="34" charset="0"/>
                <a:ea typeface="Arial Black" pitchFamily="34" charset="0"/>
                <a:cs typeface="Arial Black" pitchFamily="34" charset="0"/>
              </a:rPr>
              <a:t>2</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140" name="Straight line"/>
          <p:cNvSpPr>
            <a:spLocks/>
          </p:cNvSpPr>
          <p:nvPr/>
        </p:nvSpPr>
        <p:spPr>
          <a:xfrm>
            <a:off x="571500" y="2788920"/>
            <a:ext cx="0" cy="274320"/>
          </a:xfrm>
          <a:prstGeom prst="line">
            <a:avLst/>
          </a:prstGeom>
          <a:noFill/>
          <a:ln w="31750" cap="flat" cmpd="sng">
            <a:solidFill>
              <a:srgbClr val="3B82F6"/>
            </a:solidFill>
            <a:prstDash val="sysDot"/>
            <a:round/>
          </a:ln>
        </p:spPr>
        <p:txBody>
          <a:bodyPr/>
          <a:lstStyle/>
          <a:p>
            <a:endParaRPr lang="en-GB"/>
          </a:p>
        </p:txBody>
      </p:sp>
      <p:sp>
        <p:nvSpPr>
          <p:cNvPr id="141" name="Rectangle"/>
          <p:cNvSpPr>
            <a:spLocks/>
          </p:cNvSpPr>
          <p:nvPr/>
        </p:nvSpPr>
        <p:spPr>
          <a:xfrm>
            <a:off x="1051560" y="2103120"/>
            <a:ext cx="7680960" cy="822960"/>
          </a:xfrm>
          <a:prstGeom prst="rect">
            <a:avLst/>
          </a:prstGeom>
          <a:solidFill>
            <a:srgbClr val="F0FAF7"/>
          </a:solidFill>
          <a:ln w="12700" cap="flat" cmpd="sng">
            <a:solidFill>
              <a:srgbClr val="3B82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142" name="Rectangle"/>
          <p:cNvSpPr>
            <a:spLocks/>
          </p:cNvSpPr>
          <p:nvPr/>
        </p:nvSpPr>
        <p:spPr>
          <a:xfrm>
            <a:off x="1051560" y="2103120"/>
            <a:ext cx="64007" cy="822960"/>
          </a:xfrm>
          <a:prstGeom prst="rect">
            <a:avLst/>
          </a:prstGeom>
          <a:solidFill>
            <a:srgbClr val="3B82F6"/>
          </a:solidFill>
          <a:ln w="12700" cap="flat" cmpd="sng">
            <a:solidFill>
              <a:srgbClr val="3B82F6"/>
            </a:solidFill>
            <a:prstDash val="solid"/>
            <a:round/>
          </a:ln>
        </p:spPr>
        <p:txBody>
          <a:bodyPr/>
          <a:lstStyle/>
          <a:p>
            <a:endParaRPr lang="en-GB"/>
          </a:p>
        </p:txBody>
      </p:sp>
      <p:sp>
        <p:nvSpPr>
          <p:cNvPr id="143" name="Rectangle"/>
          <p:cNvSpPr>
            <a:spLocks/>
          </p:cNvSpPr>
          <p:nvPr/>
        </p:nvSpPr>
        <p:spPr>
          <a:xfrm>
            <a:off x="1188720" y="2148840"/>
            <a:ext cx="2286000" cy="32003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0D2137"/>
                </a:solidFill>
                <a:latin typeface="Arial Black" pitchFamily="34" charset="0"/>
                <a:ea typeface="Arial Black" pitchFamily="34" charset="0"/>
                <a:cs typeface="Arial Black" pitchFamily="34" charset="0"/>
              </a:rPr>
              <a:t>Design Study</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144" name="Rectangle"/>
          <p:cNvSpPr>
            <a:spLocks/>
          </p:cNvSpPr>
          <p:nvPr/>
        </p:nvSpPr>
        <p:spPr>
          <a:xfrm>
            <a:off x="3474720" y="2176272"/>
            <a:ext cx="256031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100" b="1" i="1" u="none" strike="noStrike" kern="1200" cap="none" spc="0" baseline="0" dirty="0">
                <a:solidFill>
                  <a:srgbClr val="3B82F6"/>
                </a:solidFill>
                <a:latin typeface="Calibri" charset="0"/>
                <a:ea typeface="Calibri" charset="0"/>
                <a:cs typeface="Calibri" charset="0"/>
              </a:rPr>
              <a:t>🛠 ChatGPT </a:t>
            </a:r>
            <a:r>
              <a:rPr lang="en-GB" altLang="zh-CN" sz="1100" b="1" i="1" u="none" strike="noStrike" kern="1200" cap="none" spc="0" baseline="0" dirty="0">
                <a:solidFill>
                  <a:srgbClr val="3B82F6"/>
                </a:solidFill>
                <a:latin typeface="Calibri" charset="0"/>
                <a:ea typeface="Calibri" charset="0"/>
                <a:cs typeface="Calibri" charset="0"/>
              </a:rPr>
              <a:t>/ Gemini </a:t>
            </a:r>
            <a:r>
              <a:rPr lang="zh-CN" altLang="en-US" sz="1100" b="1" i="1" u="none" strike="noStrike" kern="1200" cap="none" spc="0" baseline="0" dirty="0">
                <a:solidFill>
                  <a:srgbClr val="3B82F6"/>
                </a:solidFill>
                <a:latin typeface="Calibri" charset="0"/>
                <a:ea typeface="Calibri" charset="0"/>
                <a:cs typeface="Calibri" charset="0"/>
              </a:rPr>
              <a:t>/ Claude</a:t>
            </a:r>
            <a:endParaRPr lang="zh-CN" altLang="en-US" sz="1100" b="0" i="0" u="none" strike="noStrike" kern="1200" cap="none" spc="0" baseline="0" dirty="0">
              <a:solidFill>
                <a:schemeClr val="tx1"/>
              </a:solidFill>
              <a:latin typeface="Calibri" charset="0"/>
              <a:ea typeface="等线" charset="0"/>
              <a:cs typeface="Calibri" charset="0"/>
            </a:endParaRPr>
          </a:p>
        </p:txBody>
      </p:sp>
      <p:sp>
        <p:nvSpPr>
          <p:cNvPr id="145" name="Rectangle"/>
          <p:cNvSpPr>
            <a:spLocks/>
          </p:cNvSpPr>
          <p:nvPr/>
        </p:nvSpPr>
        <p:spPr>
          <a:xfrm>
            <a:off x="1188720" y="2487167"/>
            <a:ext cx="7406639"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Generate methodology frameworks, suggest research designs &amp; variables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46" name="Oval"/>
          <p:cNvSpPr>
            <a:spLocks/>
          </p:cNvSpPr>
          <p:nvPr/>
        </p:nvSpPr>
        <p:spPr>
          <a:xfrm>
            <a:off x="274320" y="3154680"/>
            <a:ext cx="594360" cy="594359"/>
          </a:xfrm>
          <a:prstGeom prst="ellipse">
            <a:avLst/>
          </a:prstGeom>
          <a:solidFill>
            <a:srgbClr val="8B5CF6"/>
          </a:solidFill>
          <a:ln w="12700" cap="flat" cmpd="sng">
            <a:solidFill>
              <a:srgbClr val="8B5CF6"/>
            </a:solidFill>
            <a:prstDash val="solid"/>
            <a:round/>
          </a:ln>
        </p:spPr>
        <p:txBody>
          <a:bodyPr/>
          <a:lstStyle/>
          <a:p>
            <a:endParaRPr lang="en-GB"/>
          </a:p>
        </p:txBody>
      </p:sp>
      <p:sp>
        <p:nvSpPr>
          <p:cNvPr id="147" name="Rectangle"/>
          <p:cNvSpPr>
            <a:spLocks/>
          </p:cNvSpPr>
          <p:nvPr/>
        </p:nvSpPr>
        <p:spPr>
          <a:xfrm>
            <a:off x="274320" y="3154680"/>
            <a:ext cx="59436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1200" cap="none" spc="0" baseline="0">
                <a:solidFill>
                  <a:srgbClr val="FFFFFF"/>
                </a:solidFill>
                <a:latin typeface="Arial Black" pitchFamily="34" charset="0"/>
                <a:ea typeface="Arial Black" pitchFamily="34" charset="0"/>
                <a:cs typeface="Arial Black" pitchFamily="34" charset="0"/>
              </a:rPr>
              <a:t>3</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148" name="Straight line"/>
          <p:cNvSpPr>
            <a:spLocks/>
          </p:cNvSpPr>
          <p:nvPr/>
        </p:nvSpPr>
        <p:spPr>
          <a:xfrm>
            <a:off x="571500" y="3749040"/>
            <a:ext cx="0" cy="274320"/>
          </a:xfrm>
          <a:prstGeom prst="line">
            <a:avLst/>
          </a:prstGeom>
          <a:noFill/>
          <a:ln w="31750" cap="flat" cmpd="sng">
            <a:solidFill>
              <a:srgbClr val="8B5CF6"/>
            </a:solidFill>
            <a:prstDash val="sysDot"/>
            <a:round/>
          </a:ln>
        </p:spPr>
        <p:txBody>
          <a:bodyPr/>
          <a:lstStyle/>
          <a:p>
            <a:endParaRPr lang="en-GB"/>
          </a:p>
        </p:txBody>
      </p:sp>
      <p:sp>
        <p:nvSpPr>
          <p:cNvPr id="149" name="Rectangle"/>
          <p:cNvSpPr>
            <a:spLocks/>
          </p:cNvSpPr>
          <p:nvPr/>
        </p:nvSpPr>
        <p:spPr>
          <a:xfrm>
            <a:off x="1051560" y="3063239"/>
            <a:ext cx="7680960" cy="822960"/>
          </a:xfrm>
          <a:prstGeom prst="rect">
            <a:avLst/>
          </a:prstGeom>
          <a:solidFill>
            <a:srgbClr val="F0FAF7"/>
          </a:solidFill>
          <a:ln w="12700" cap="flat" cmpd="sng">
            <a:solidFill>
              <a:srgbClr val="8B5C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150" name="Rectangle"/>
          <p:cNvSpPr>
            <a:spLocks/>
          </p:cNvSpPr>
          <p:nvPr/>
        </p:nvSpPr>
        <p:spPr>
          <a:xfrm>
            <a:off x="1051560" y="3063239"/>
            <a:ext cx="64007" cy="822960"/>
          </a:xfrm>
          <a:prstGeom prst="rect">
            <a:avLst/>
          </a:prstGeom>
          <a:solidFill>
            <a:srgbClr val="8B5CF6"/>
          </a:solidFill>
          <a:ln w="12700" cap="flat" cmpd="sng">
            <a:solidFill>
              <a:srgbClr val="8B5CF6"/>
            </a:solidFill>
            <a:prstDash val="solid"/>
            <a:round/>
          </a:ln>
        </p:spPr>
        <p:txBody>
          <a:bodyPr/>
          <a:lstStyle/>
          <a:p>
            <a:endParaRPr lang="en-GB"/>
          </a:p>
        </p:txBody>
      </p:sp>
      <p:sp>
        <p:nvSpPr>
          <p:cNvPr id="151" name="Rectangle"/>
          <p:cNvSpPr>
            <a:spLocks/>
          </p:cNvSpPr>
          <p:nvPr/>
        </p:nvSpPr>
        <p:spPr>
          <a:xfrm>
            <a:off x="1188720" y="3108960"/>
            <a:ext cx="2286000" cy="3200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0D2137"/>
                </a:solidFill>
                <a:latin typeface="Arial Black" pitchFamily="34" charset="0"/>
                <a:ea typeface="Arial Black" pitchFamily="34" charset="0"/>
                <a:cs typeface="Arial Black" pitchFamily="34" charset="0"/>
              </a:rPr>
              <a:t>Collect &amp; Analyze</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152" name="Rectangle"/>
          <p:cNvSpPr>
            <a:spLocks/>
          </p:cNvSpPr>
          <p:nvPr/>
        </p:nvSpPr>
        <p:spPr>
          <a:xfrm>
            <a:off x="3474720" y="3136392"/>
            <a:ext cx="256031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100" b="1" i="1" u="none" strike="noStrike" kern="1200" cap="none" spc="0" baseline="0">
                <a:solidFill>
                  <a:srgbClr val="8B5CF6"/>
                </a:solidFill>
                <a:latin typeface="Calibri" charset="0"/>
                <a:ea typeface="Calibri" charset="0"/>
                <a:cs typeface="Calibri" charset="0"/>
              </a:rPr>
              <a:t>🛠 Claude + Code Interpreter</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53" name="Rectangle"/>
          <p:cNvSpPr>
            <a:spLocks/>
          </p:cNvSpPr>
          <p:nvPr/>
        </p:nvSpPr>
        <p:spPr>
          <a:xfrm>
            <a:off x="1188720" y="3447288"/>
            <a:ext cx="7406639"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Upload datasets. Ask for statistical summaries, correlations, visualizations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54" name="Oval"/>
          <p:cNvSpPr>
            <a:spLocks/>
          </p:cNvSpPr>
          <p:nvPr/>
        </p:nvSpPr>
        <p:spPr>
          <a:xfrm>
            <a:off x="274320" y="4114800"/>
            <a:ext cx="594360" cy="594359"/>
          </a:xfrm>
          <a:prstGeom prst="ellipse">
            <a:avLst/>
          </a:prstGeom>
          <a:solidFill>
            <a:srgbClr val="F59E0B"/>
          </a:solidFill>
          <a:ln w="12700" cap="flat" cmpd="sng">
            <a:solidFill>
              <a:srgbClr val="F59E0B"/>
            </a:solidFill>
            <a:prstDash val="solid"/>
            <a:round/>
          </a:ln>
        </p:spPr>
        <p:txBody>
          <a:bodyPr/>
          <a:lstStyle/>
          <a:p>
            <a:endParaRPr lang="en-GB"/>
          </a:p>
        </p:txBody>
      </p:sp>
      <p:sp>
        <p:nvSpPr>
          <p:cNvPr id="155" name="Rectangle"/>
          <p:cNvSpPr>
            <a:spLocks/>
          </p:cNvSpPr>
          <p:nvPr/>
        </p:nvSpPr>
        <p:spPr>
          <a:xfrm>
            <a:off x="274320" y="4114800"/>
            <a:ext cx="59436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1200" cap="none" spc="0" baseline="0">
                <a:solidFill>
                  <a:srgbClr val="FFFFFF"/>
                </a:solidFill>
                <a:latin typeface="Arial Black" pitchFamily="34" charset="0"/>
                <a:ea typeface="Arial Black" pitchFamily="34" charset="0"/>
                <a:cs typeface="Arial Black" pitchFamily="34" charset="0"/>
              </a:rPr>
              <a:t>4</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156" name="Rectangle"/>
          <p:cNvSpPr>
            <a:spLocks/>
          </p:cNvSpPr>
          <p:nvPr/>
        </p:nvSpPr>
        <p:spPr>
          <a:xfrm>
            <a:off x="1051560" y="4023359"/>
            <a:ext cx="7680960" cy="822960"/>
          </a:xfrm>
          <a:prstGeom prst="rect">
            <a:avLst/>
          </a:prstGeom>
          <a:solidFill>
            <a:srgbClr val="F0FAF7"/>
          </a:solidFill>
          <a:ln w="12700" cap="flat" cmpd="sng">
            <a:solidFill>
              <a:srgbClr val="F59E0B"/>
            </a:solidFill>
            <a:prstDash val="solid"/>
            <a:round/>
          </a:ln>
          <a:effectLst>
            <a:outerShdw blurRad="101600" dist="38100" dir="8100000" algn="bl" rotWithShape="0">
              <a:srgbClr val="000000">
                <a:alpha val="11764"/>
              </a:srgbClr>
            </a:outerShdw>
          </a:effectLst>
        </p:spPr>
        <p:txBody>
          <a:bodyPr/>
          <a:lstStyle/>
          <a:p>
            <a:endParaRPr lang="en-GB"/>
          </a:p>
        </p:txBody>
      </p:sp>
      <p:sp>
        <p:nvSpPr>
          <p:cNvPr id="157" name="Rectangle"/>
          <p:cNvSpPr>
            <a:spLocks/>
          </p:cNvSpPr>
          <p:nvPr/>
        </p:nvSpPr>
        <p:spPr>
          <a:xfrm>
            <a:off x="1051560" y="4023359"/>
            <a:ext cx="64007" cy="822960"/>
          </a:xfrm>
          <a:prstGeom prst="rect">
            <a:avLst/>
          </a:prstGeom>
          <a:solidFill>
            <a:srgbClr val="F59E0B"/>
          </a:solidFill>
          <a:ln w="12700" cap="flat" cmpd="sng">
            <a:solidFill>
              <a:srgbClr val="F59E0B"/>
            </a:solidFill>
            <a:prstDash val="solid"/>
            <a:round/>
          </a:ln>
        </p:spPr>
        <p:txBody>
          <a:bodyPr/>
          <a:lstStyle/>
          <a:p>
            <a:endParaRPr lang="en-GB"/>
          </a:p>
        </p:txBody>
      </p:sp>
      <p:sp>
        <p:nvSpPr>
          <p:cNvPr id="158" name="Rectangle"/>
          <p:cNvSpPr>
            <a:spLocks/>
          </p:cNvSpPr>
          <p:nvPr/>
        </p:nvSpPr>
        <p:spPr>
          <a:xfrm>
            <a:off x="1188720" y="4069080"/>
            <a:ext cx="2286000" cy="3200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0D2137"/>
                </a:solidFill>
                <a:latin typeface="Arial Black" pitchFamily="34" charset="0"/>
                <a:ea typeface="Arial Black" pitchFamily="34" charset="0"/>
                <a:cs typeface="Arial Black" pitchFamily="34" charset="0"/>
              </a:rPr>
              <a:t>Write &amp; Refine</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159" name="Rectangle"/>
          <p:cNvSpPr>
            <a:spLocks/>
          </p:cNvSpPr>
          <p:nvPr/>
        </p:nvSpPr>
        <p:spPr>
          <a:xfrm>
            <a:off x="3474720" y="4096511"/>
            <a:ext cx="256031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100" b="1" i="1" u="none" strike="noStrike" kern="1200" cap="none" spc="0" baseline="0">
                <a:solidFill>
                  <a:srgbClr val="F59E0B"/>
                </a:solidFill>
                <a:latin typeface="Calibri" charset="0"/>
                <a:ea typeface="Calibri" charset="0"/>
                <a:cs typeface="Calibri" charset="0"/>
              </a:rPr>
              <a:t>🛠 Claude + Grammarly</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160" name="Rectangle"/>
          <p:cNvSpPr>
            <a:spLocks/>
          </p:cNvSpPr>
          <p:nvPr/>
        </p:nvSpPr>
        <p:spPr>
          <a:xfrm>
            <a:off x="1188720" y="4407408"/>
            <a:ext cx="7406639"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E4D3B"/>
                </a:solidFill>
                <a:latin typeface="Calibri" charset="0"/>
                <a:ea typeface="Calibri" charset="0"/>
                <a:cs typeface="Calibri" charset="0"/>
              </a:rPr>
              <a:t>Draft sections, get critique, paraphrase, ensure academic tone</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052120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AF7"/>
        </a:solidFill>
        <a:effectLst/>
      </p:bgPr>
    </p:bg>
    <p:spTree>
      <p:nvGrpSpPr>
        <p:cNvPr id="1" name=""/>
        <p:cNvGrpSpPr/>
        <p:nvPr/>
      </p:nvGrpSpPr>
      <p:grpSpPr>
        <a:xfrm>
          <a:off x="0" y="0"/>
          <a:ext cx="0" cy="0"/>
          <a:chOff x="0" y="0"/>
          <a:chExt cx="0" cy="0"/>
        </a:xfrm>
      </p:grpSpPr>
      <p:sp>
        <p:nvSpPr>
          <p:cNvPr id="164" name="Rectangle"/>
          <p:cNvSpPr>
            <a:spLocks/>
          </p:cNvSpPr>
          <p:nvPr/>
        </p:nvSpPr>
        <p:spPr>
          <a:xfrm>
            <a:off x="0" y="0"/>
            <a:ext cx="9144000" cy="960120"/>
          </a:xfrm>
          <a:prstGeom prst="rect">
            <a:avLst/>
          </a:prstGeom>
          <a:solidFill>
            <a:srgbClr val="0D2137"/>
          </a:solidFill>
          <a:ln w="12700" cap="flat" cmpd="sng">
            <a:solidFill>
              <a:srgbClr val="0D2137"/>
            </a:solidFill>
            <a:prstDash val="solid"/>
            <a:round/>
          </a:ln>
        </p:spPr>
        <p:txBody>
          <a:bodyPr/>
          <a:lstStyle/>
          <a:p>
            <a:endParaRPr lang="en-GB"/>
          </a:p>
        </p:txBody>
      </p:sp>
      <p:sp>
        <p:nvSpPr>
          <p:cNvPr id="165" name="Rectangle"/>
          <p:cNvSpPr>
            <a:spLocks/>
          </p:cNvSpPr>
          <p:nvPr/>
        </p:nvSpPr>
        <p:spPr>
          <a:xfrm>
            <a:off x="365760" y="0"/>
            <a:ext cx="841248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2400" b="1" i="0" u="none" strike="noStrike" kern="1200" cap="none" spc="0" baseline="0">
                <a:solidFill>
                  <a:srgbClr val="FFFFFF"/>
                </a:solidFill>
                <a:latin typeface="Arial Black" pitchFamily="34" charset="0"/>
                <a:ea typeface="Arial Black" pitchFamily="34" charset="0"/>
                <a:cs typeface="Arial Black" pitchFamily="34" charset="0"/>
              </a:rPr>
              <a:t>🎓  AI for Teaching &amp; Lecture Preparation</a:t>
            </a:r>
            <a:endParaRPr lang="zh-CN" altLang="en-US" sz="2400" b="0" i="0" u="none" strike="noStrike" kern="1200" cap="none" spc="0" baseline="0">
              <a:solidFill>
                <a:schemeClr val="tx1"/>
              </a:solidFill>
              <a:latin typeface="Calibri" charset="0"/>
              <a:ea typeface="等线" charset="0"/>
              <a:cs typeface="Calibri" charset="0"/>
            </a:endParaRPr>
          </a:p>
        </p:txBody>
      </p:sp>
      <p:sp>
        <p:nvSpPr>
          <p:cNvPr id="166" name="Rectangle"/>
          <p:cNvSpPr>
            <a:spLocks/>
          </p:cNvSpPr>
          <p:nvPr/>
        </p:nvSpPr>
        <p:spPr>
          <a:xfrm>
            <a:off x="365760" y="1005839"/>
            <a:ext cx="8412480" cy="594360"/>
          </a:xfrm>
          <a:prstGeom prst="rect">
            <a:avLst/>
          </a:prstGeom>
          <a:solidFill>
            <a:srgbClr val="0A7C6E">
              <a:alpha val="85000"/>
            </a:srgbClr>
          </a:solidFill>
          <a:ln w="12700" cap="flat" cmpd="sng">
            <a:solidFill>
              <a:srgbClr val="0A7C6E"/>
            </a:solidFill>
            <a:prstDash val="solid"/>
            <a:round/>
          </a:ln>
        </p:spPr>
        <p:txBody>
          <a:bodyPr/>
          <a:lstStyle/>
          <a:p>
            <a:endParaRPr lang="en-GB"/>
          </a:p>
        </p:txBody>
      </p:sp>
      <p:sp>
        <p:nvSpPr>
          <p:cNvPr id="167" name="Rectangle"/>
          <p:cNvSpPr>
            <a:spLocks/>
          </p:cNvSpPr>
          <p:nvPr/>
        </p:nvSpPr>
        <p:spPr>
          <a:xfrm>
            <a:off x="502919" y="1051560"/>
            <a:ext cx="8229600" cy="502919"/>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zh-CN" altLang="en-US" sz="1250" b="0" i="1" u="none" strike="noStrike" kern="1200" cap="none" spc="0" baseline="0">
                <a:solidFill>
                  <a:srgbClr val="FFFFFF"/>
                </a:solidFill>
                <a:latin typeface="Calibri" charset="0"/>
                <a:ea typeface="Calibri" charset="0"/>
                <a:cs typeface="Calibri" charset="0"/>
              </a:rPr>
              <a:t>📖 REAL SCENARIO: You need to teach a 2-hour lecture on Machine Learning to final-year students by tomorrow morning...</a:t>
            </a:r>
            <a:endParaRPr lang="zh-CN" altLang="en-US" sz="1250" b="0" i="0" u="none" strike="noStrike" kern="1200" cap="none" spc="0" baseline="0">
              <a:solidFill>
                <a:schemeClr val="tx1"/>
              </a:solidFill>
              <a:latin typeface="Calibri" charset="0"/>
              <a:ea typeface="等线" charset="0"/>
              <a:cs typeface="Calibri" charset="0"/>
            </a:endParaRPr>
          </a:p>
        </p:txBody>
      </p:sp>
      <p:sp>
        <p:nvSpPr>
          <p:cNvPr id="168" name="Rectangle"/>
          <p:cNvSpPr>
            <a:spLocks/>
          </p:cNvSpPr>
          <p:nvPr/>
        </p:nvSpPr>
        <p:spPr>
          <a:xfrm>
            <a:off x="274320" y="1755648"/>
            <a:ext cx="4114800" cy="1005839"/>
          </a:xfrm>
          <a:prstGeom prst="rect">
            <a:avLst/>
          </a:prstGeom>
          <a:solidFill>
            <a:srgbClr val="FFFFFF"/>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169" name="Rectangle"/>
          <p:cNvSpPr>
            <a:spLocks/>
          </p:cNvSpPr>
          <p:nvPr/>
        </p:nvSpPr>
        <p:spPr>
          <a:xfrm>
            <a:off x="384048" y="1810512"/>
            <a:ext cx="2743200" cy="29260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0A7C6E"/>
                </a:solidFill>
                <a:latin typeface="Arial Black" pitchFamily="34" charset="0"/>
                <a:ea typeface="Arial Black" pitchFamily="34" charset="0"/>
                <a:cs typeface="Arial Black" pitchFamily="34" charset="0"/>
              </a:rPr>
              <a:t>📋 Generate Lecture Outline</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70" name="Rectangle"/>
          <p:cNvSpPr>
            <a:spLocks/>
          </p:cNvSpPr>
          <p:nvPr/>
        </p:nvSpPr>
        <p:spPr>
          <a:xfrm>
            <a:off x="3108960" y="1828800"/>
            <a:ext cx="1143000" cy="23774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00" b="1" i="1" u="none" strike="noStrike" kern="1200" cap="none" spc="0" baseline="0" dirty="0">
                <a:solidFill>
                  <a:srgbClr val="3B82F6"/>
                </a:solidFill>
                <a:latin typeface="Calibri" charset="0"/>
                <a:ea typeface="Calibri" charset="0"/>
                <a:cs typeface="Calibri" charset="0"/>
              </a:rPr>
              <a:t>[ChatGPT or Gemini or </a:t>
            </a:r>
            <a:r>
              <a:rPr lang="en-US" altLang="zh-CN" sz="900" b="1" i="1" u="none" strike="noStrike" kern="1200" cap="none" spc="0" baseline="0" dirty="0" err="1">
                <a:solidFill>
                  <a:srgbClr val="3B82F6"/>
                </a:solidFill>
                <a:latin typeface="Calibri" charset="0"/>
                <a:ea typeface="Calibri" charset="0"/>
                <a:cs typeface="Calibri" charset="0"/>
              </a:rPr>
              <a:t>or</a:t>
            </a:r>
            <a:r>
              <a:rPr lang="en-US" altLang="zh-CN" sz="900" b="1" i="1" u="none" strike="noStrike" kern="1200" cap="none" spc="0" baseline="0" dirty="0">
                <a:solidFill>
                  <a:srgbClr val="3B82F6"/>
                </a:solidFill>
                <a:latin typeface="Calibri" charset="0"/>
                <a:ea typeface="Calibri" charset="0"/>
                <a:cs typeface="Calibri" charset="0"/>
              </a:rPr>
              <a:t> Claude]</a:t>
            </a:r>
            <a:endParaRPr lang="zh-CN" altLang="en-US" sz="900" b="0" i="0" u="none" strike="noStrike" kern="1200" cap="none" spc="0" baseline="0" dirty="0">
              <a:solidFill>
                <a:schemeClr val="tx1"/>
              </a:solidFill>
              <a:latin typeface="Calibri" charset="0"/>
              <a:ea typeface="等线" charset="0"/>
              <a:cs typeface="Calibri" charset="0"/>
            </a:endParaRPr>
          </a:p>
        </p:txBody>
      </p:sp>
      <p:sp>
        <p:nvSpPr>
          <p:cNvPr id="171" name="Rectangle"/>
          <p:cNvSpPr>
            <a:spLocks/>
          </p:cNvSpPr>
          <p:nvPr/>
        </p:nvSpPr>
        <p:spPr>
          <a:xfrm>
            <a:off x="384048" y="2121408"/>
            <a:ext cx="388620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1E4D3B"/>
                </a:solidFill>
                <a:latin typeface="Calibri" charset="0"/>
                <a:ea typeface="Calibri" charset="0"/>
                <a:cs typeface="Calibri" charset="0"/>
              </a:rPr>
              <a:t>"Create a 2-hour lecture plan on Intro to ML for 400-level students. Include learning objectives, activities and timing."</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72" name="Rectangle"/>
          <p:cNvSpPr>
            <a:spLocks/>
          </p:cNvSpPr>
          <p:nvPr/>
        </p:nvSpPr>
        <p:spPr>
          <a:xfrm>
            <a:off x="4709160" y="1755648"/>
            <a:ext cx="4114799" cy="1005839"/>
          </a:xfrm>
          <a:prstGeom prst="rect">
            <a:avLst/>
          </a:prstGeom>
          <a:solidFill>
            <a:srgbClr val="FFFFFF"/>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173" name="Rectangle"/>
          <p:cNvSpPr>
            <a:spLocks/>
          </p:cNvSpPr>
          <p:nvPr/>
        </p:nvSpPr>
        <p:spPr>
          <a:xfrm>
            <a:off x="4818888" y="1810512"/>
            <a:ext cx="2743200" cy="29260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0A7C6E"/>
                </a:solidFill>
                <a:latin typeface="Arial Black" pitchFamily="34" charset="0"/>
                <a:ea typeface="Arial Black" pitchFamily="34" charset="0"/>
                <a:cs typeface="Arial Black" pitchFamily="34" charset="0"/>
              </a:rPr>
              <a:t>❓ Create Quiz Questions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74" name="Rectangle"/>
          <p:cNvSpPr>
            <a:spLocks/>
          </p:cNvSpPr>
          <p:nvPr/>
        </p:nvSpPr>
        <p:spPr>
          <a:xfrm>
            <a:off x="7543800" y="1828800"/>
            <a:ext cx="1143000" cy="23774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00" b="1" i="1" u="none" strike="noStrike" kern="1200" cap="none" spc="0" baseline="0">
                <a:solidFill>
                  <a:srgbClr val="3B82F6"/>
                </a:solidFill>
                <a:latin typeface="Calibri" charset="0"/>
                <a:ea typeface="Calibri" charset="0"/>
                <a:cs typeface="Calibri" charset="0"/>
              </a:rPr>
              <a:t>[ChatGPT]</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75" name="Rectangle"/>
          <p:cNvSpPr>
            <a:spLocks/>
          </p:cNvSpPr>
          <p:nvPr/>
        </p:nvSpPr>
        <p:spPr>
          <a:xfrm>
            <a:off x="4818888" y="2121408"/>
            <a:ext cx="388620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1E4D3B"/>
                </a:solidFill>
                <a:latin typeface="Calibri" charset="0"/>
                <a:ea typeface="Calibri" charset="0"/>
                <a:cs typeface="Calibri" charset="0"/>
              </a:rPr>
              <a:t>"Generate 20 MCQs on supervised learning with answer keys and difficulty levels (easy/medium/hard)."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76" name="Rectangle"/>
          <p:cNvSpPr>
            <a:spLocks/>
          </p:cNvSpPr>
          <p:nvPr/>
        </p:nvSpPr>
        <p:spPr>
          <a:xfrm>
            <a:off x="274320" y="2871216"/>
            <a:ext cx="4114800" cy="1005839"/>
          </a:xfrm>
          <a:prstGeom prst="rect">
            <a:avLst/>
          </a:prstGeom>
          <a:solidFill>
            <a:srgbClr val="FFFFFF"/>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177" name="Rectangle"/>
          <p:cNvSpPr>
            <a:spLocks/>
          </p:cNvSpPr>
          <p:nvPr/>
        </p:nvSpPr>
        <p:spPr>
          <a:xfrm>
            <a:off x="384048" y="2926080"/>
            <a:ext cx="274320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0A7C6E"/>
                </a:solidFill>
                <a:latin typeface="Arial Black" pitchFamily="34" charset="0"/>
                <a:ea typeface="Arial Black" pitchFamily="34" charset="0"/>
                <a:cs typeface="Arial Black" pitchFamily="34" charset="0"/>
              </a:rPr>
              <a:t>📑 Simplify Complex Papers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78" name="Rectangle"/>
          <p:cNvSpPr>
            <a:spLocks/>
          </p:cNvSpPr>
          <p:nvPr/>
        </p:nvSpPr>
        <p:spPr>
          <a:xfrm>
            <a:off x="3108960" y="2944367"/>
            <a:ext cx="1143000"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00" b="1" i="1" u="none" strike="noStrike" kern="1200" cap="none" spc="0" baseline="0">
                <a:solidFill>
                  <a:srgbClr val="3B82F6"/>
                </a:solidFill>
                <a:latin typeface="Calibri" charset="0"/>
                <a:ea typeface="Calibri" charset="0"/>
                <a:cs typeface="Calibri" charset="0"/>
              </a:rPr>
              <a:t>[Claude]</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79" name="Rectangle"/>
          <p:cNvSpPr>
            <a:spLocks/>
          </p:cNvSpPr>
          <p:nvPr/>
        </p:nvSpPr>
        <p:spPr>
          <a:xfrm>
            <a:off x="384048" y="3236975"/>
            <a:ext cx="388620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1E4D3B"/>
                </a:solidFill>
                <a:latin typeface="Calibri" charset="0"/>
                <a:ea typeface="Calibri" charset="0"/>
                <a:cs typeface="Calibri" charset="0"/>
              </a:rPr>
              <a:t>Upload research paper → "Explain this in simple terms I can use for undergraduate teaching."</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80" name="Rectangle"/>
          <p:cNvSpPr>
            <a:spLocks/>
          </p:cNvSpPr>
          <p:nvPr/>
        </p:nvSpPr>
        <p:spPr>
          <a:xfrm>
            <a:off x="4709160" y="2871216"/>
            <a:ext cx="4114799" cy="1005839"/>
          </a:xfrm>
          <a:prstGeom prst="rect">
            <a:avLst/>
          </a:prstGeom>
          <a:solidFill>
            <a:srgbClr val="FFFFFF"/>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181" name="Rectangle"/>
          <p:cNvSpPr>
            <a:spLocks/>
          </p:cNvSpPr>
          <p:nvPr/>
        </p:nvSpPr>
        <p:spPr>
          <a:xfrm>
            <a:off x="4818888" y="2926080"/>
            <a:ext cx="274320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0A7C6E"/>
                </a:solidFill>
                <a:latin typeface="Arial Black" pitchFamily="34" charset="0"/>
                <a:ea typeface="Arial Black" pitchFamily="34" charset="0"/>
                <a:cs typeface="Arial Black" pitchFamily="34" charset="0"/>
              </a:rPr>
              <a:t>🌍 Translate Materials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82" name="Rectangle"/>
          <p:cNvSpPr>
            <a:spLocks/>
          </p:cNvSpPr>
          <p:nvPr/>
        </p:nvSpPr>
        <p:spPr>
          <a:xfrm>
            <a:off x="7543800" y="2944367"/>
            <a:ext cx="1143000"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00" b="1" i="1" u="none" strike="noStrike" kern="1200" cap="none" spc="0" baseline="0">
                <a:solidFill>
                  <a:srgbClr val="3B82F6"/>
                </a:solidFill>
                <a:latin typeface="Calibri" charset="0"/>
                <a:ea typeface="Calibri" charset="0"/>
                <a:cs typeface="Calibri" charset="0"/>
              </a:rPr>
              <a:t>[ChatGPT / DeepL]</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83" name="Rectangle"/>
          <p:cNvSpPr>
            <a:spLocks/>
          </p:cNvSpPr>
          <p:nvPr/>
        </p:nvSpPr>
        <p:spPr>
          <a:xfrm>
            <a:off x="4818888" y="3236975"/>
            <a:ext cx="388620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1E4D3B"/>
                </a:solidFill>
                <a:latin typeface="Calibri" charset="0"/>
                <a:ea typeface="Calibri" charset="0"/>
                <a:cs typeface="Calibri" charset="0"/>
              </a:rPr>
              <a:t>"Translate these lecture notes into Yoruba/Hausa for better student comprehension."</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84" name="Rectangle"/>
          <p:cNvSpPr>
            <a:spLocks/>
          </p:cNvSpPr>
          <p:nvPr/>
        </p:nvSpPr>
        <p:spPr>
          <a:xfrm>
            <a:off x="274320" y="3986784"/>
            <a:ext cx="4114800" cy="1005839"/>
          </a:xfrm>
          <a:prstGeom prst="rect">
            <a:avLst/>
          </a:prstGeom>
          <a:solidFill>
            <a:srgbClr val="FFFFFF"/>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185" name="Rectangle"/>
          <p:cNvSpPr>
            <a:spLocks/>
          </p:cNvSpPr>
          <p:nvPr/>
        </p:nvSpPr>
        <p:spPr>
          <a:xfrm>
            <a:off x="384048" y="4041648"/>
            <a:ext cx="274320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0A7C6E"/>
                </a:solidFill>
                <a:latin typeface="Arial Black" pitchFamily="34" charset="0"/>
                <a:ea typeface="Arial Black" pitchFamily="34" charset="0"/>
                <a:cs typeface="Arial Black" pitchFamily="34" charset="0"/>
              </a:rPr>
              <a:t>🖼️ Create Visual Aids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86" name="Rectangle"/>
          <p:cNvSpPr>
            <a:spLocks/>
          </p:cNvSpPr>
          <p:nvPr/>
        </p:nvSpPr>
        <p:spPr>
          <a:xfrm>
            <a:off x="3108960" y="4059936"/>
            <a:ext cx="1143000"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00" b="1" i="1" u="none" strike="noStrike" kern="1200" cap="none" spc="0" baseline="0">
                <a:solidFill>
                  <a:srgbClr val="3B82F6"/>
                </a:solidFill>
                <a:latin typeface="Calibri" charset="0"/>
                <a:ea typeface="Calibri" charset="0"/>
                <a:cs typeface="Calibri" charset="0"/>
              </a:rPr>
              <a:t>[Claude / ChatGPT]</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87" name="Rectangle"/>
          <p:cNvSpPr>
            <a:spLocks/>
          </p:cNvSpPr>
          <p:nvPr/>
        </p:nvSpPr>
        <p:spPr>
          <a:xfrm>
            <a:off x="384048" y="4352544"/>
            <a:ext cx="388620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1E4D3B"/>
                </a:solidFill>
                <a:latin typeface="Calibri" charset="0"/>
                <a:ea typeface="Calibri" charset="0"/>
                <a:cs typeface="Calibri" charset="0"/>
              </a:rPr>
              <a:t>"Suggest 5 analogies to explain neural networks to students unfamiliar with mathematics."</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188" name="Rectangle"/>
          <p:cNvSpPr>
            <a:spLocks/>
          </p:cNvSpPr>
          <p:nvPr/>
        </p:nvSpPr>
        <p:spPr>
          <a:xfrm>
            <a:off x="4709160" y="3986784"/>
            <a:ext cx="4114799" cy="1005839"/>
          </a:xfrm>
          <a:prstGeom prst="rect">
            <a:avLst/>
          </a:prstGeom>
          <a:solidFill>
            <a:srgbClr val="FFFFFF"/>
          </a:solidFill>
          <a:ln w="12700" cap="flat" cmpd="sng">
            <a:solidFill>
              <a:srgbClr val="D1FAE5"/>
            </a:solidFill>
            <a:prstDash val="solid"/>
            <a:round/>
          </a:ln>
          <a:effectLst>
            <a:outerShdw blurRad="101600" dist="38100" dir="8100000" algn="bl" rotWithShape="0">
              <a:srgbClr val="000000">
                <a:alpha val="11764"/>
              </a:srgbClr>
            </a:outerShdw>
          </a:effectLst>
        </p:spPr>
        <p:txBody>
          <a:bodyPr/>
          <a:lstStyle/>
          <a:p>
            <a:endParaRPr lang="en-GB"/>
          </a:p>
        </p:txBody>
      </p:sp>
      <p:sp>
        <p:nvSpPr>
          <p:cNvPr id="189" name="Rectangle"/>
          <p:cNvSpPr>
            <a:spLocks/>
          </p:cNvSpPr>
          <p:nvPr/>
        </p:nvSpPr>
        <p:spPr>
          <a:xfrm>
            <a:off x="4818888" y="4041648"/>
            <a:ext cx="274320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0A7C6E"/>
                </a:solidFill>
                <a:latin typeface="Arial Black" pitchFamily="34" charset="0"/>
                <a:ea typeface="Arial Black" pitchFamily="34" charset="0"/>
                <a:cs typeface="Arial Black" pitchFamily="34" charset="0"/>
              </a:rPr>
              <a:t>📊 Build Slides Fast</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190" name="Rectangle"/>
          <p:cNvSpPr>
            <a:spLocks/>
          </p:cNvSpPr>
          <p:nvPr/>
        </p:nvSpPr>
        <p:spPr>
          <a:xfrm>
            <a:off x="7543800" y="4059936"/>
            <a:ext cx="1143000"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00" b="1" i="1" u="none" strike="noStrike" kern="1200" cap="none" spc="0" baseline="0">
                <a:solidFill>
                  <a:srgbClr val="3B82F6"/>
                </a:solidFill>
                <a:latin typeface="Calibri" charset="0"/>
                <a:ea typeface="Calibri" charset="0"/>
                <a:cs typeface="Calibri" charset="0"/>
              </a:rPr>
              <a:t>[Gamma.app]</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191" name="Rectangle"/>
          <p:cNvSpPr>
            <a:spLocks/>
          </p:cNvSpPr>
          <p:nvPr/>
        </p:nvSpPr>
        <p:spPr>
          <a:xfrm>
            <a:off x="4818888" y="4352544"/>
            <a:ext cx="388620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1E4D3B"/>
                </a:solidFill>
                <a:latin typeface="Calibri" charset="0"/>
                <a:ea typeface="Calibri" charset="0"/>
                <a:cs typeface="Calibri" charset="0"/>
              </a:rPr>
              <a:t>"Create a 15-slide presentation on climate change impacts on agriculture in Nigeria."</a:t>
            </a:r>
            <a:endParaRPr lang="zh-CN" altLang="en-US" sz="10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301841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195" name="Rectangle"/>
          <p:cNvSpPr>
            <a:spLocks/>
          </p:cNvSpPr>
          <p:nvPr/>
        </p:nvSpPr>
        <p:spPr>
          <a:xfrm>
            <a:off x="457200" y="109728"/>
            <a:ext cx="8229600" cy="59436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3000" b="1" i="0" u="none" strike="noStrike" kern="1200" cap="none" spc="0" baseline="0">
                <a:solidFill>
                  <a:srgbClr val="FFFFFF"/>
                </a:solidFill>
                <a:latin typeface="Arial Black" pitchFamily="34" charset="0"/>
                <a:ea typeface="Arial Black" pitchFamily="34" charset="0"/>
                <a:cs typeface="Arial Black" pitchFamily="34" charset="0"/>
              </a:rPr>
              <a:t>The Art of the Perfect AI Prompt</a:t>
            </a:r>
            <a:endParaRPr lang="zh-CN" altLang="en-US" sz="3000" b="0" i="0" u="none" strike="noStrike" kern="1200" cap="none" spc="0" baseline="0">
              <a:solidFill>
                <a:schemeClr val="tx1"/>
              </a:solidFill>
              <a:latin typeface="Calibri" charset="0"/>
              <a:ea typeface="等线" charset="0"/>
              <a:cs typeface="Calibri" charset="0"/>
            </a:endParaRPr>
          </a:p>
        </p:txBody>
      </p:sp>
      <p:sp>
        <p:nvSpPr>
          <p:cNvPr id="196" name="Rectangle"/>
          <p:cNvSpPr>
            <a:spLocks/>
          </p:cNvSpPr>
          <p:nvPr/>
        </p:nvSpPr>
        <p:spPr>
          <a:xfrm>
            <a:off x="457200" y="685800"/>
            <a:ext cx="8229600" cy="32003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400" b="0" i="1" u="none" strike="noStrike" kern="1200" cap="none" spc="0" baseline="0">
                <a:solidFill>
                  <a:srgbClr val="F59E0B"/>
                </a:solidFill>
                <a:latin typeface="Georgia" pitchFamily="34" charset="0"/>
                <a:ea typeface="Georgia" pitchFamily="34" charset="0"/>
                <a:cs typeface="Georgia" pitchFamily="34" charset="0"/>
              </a:rPr>
              <a:t>Garbage in = Garbage out. Gold in = Gold out.</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197" name="Rectangle"/>
          <p:cNvSpPr>
            <a:spLocks/>
          </p:cNvSpPr>
          <p:nvPr/>
        </p:nvSpPr>
        <p:spPr>
          <a:xfrm>
            <a:off x="365760" y="1097280"/>
            <a:ext cx="8412480" cy="621791"/>
          </a:xfrm>
          <a:prstGeom prst="rect">
            <a:avLst/>
          </a:prstGeom>
          <a:solidFill>
            <a:srgbClr val="0A7C6E">
              <a:alpha val="80000"/>
            </a:srgbClr>
          </a:solidFill>
          <a:ln w="12700" cap="flat" cmpd="sng">
            <a:solidFill>
              <a:srgbClr val="10B981"/>
            </a:solidFill>
            <a:prstDash val="solid"/>
            <a:round/>
          </a:ln>
        </p:spPr>
        <p:txBody>
          <a:bodyPr/>
          <a:lstStyle/>
          <a:p>
            <a:endParaRPr lang="en-GB"/>
          </a:p>
        </p:txBody>
      </p:sp>
      <p:sp>
        <p:nvSpPr>
          <p:cNvPr id="198" name="Rectangle"/>
          <p:cNvSpPr>
            <a:spLocks/>
          </p:cNvSpPr>
          <p:nvPr/>
        </p:nvSpPr>
        <p:spPr>
          <a:xfrm>
            <a:off x="457200" y="1143000"/>
            <a:ext cx="8229600" cy="5029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500" b="1" i="0" u="none" strike="noStrike" kern="1200" cap="none" spc="0" baseline="0">
                <a:solidFill>
                  <a:srgbClr val="FFFFFF"/>
                </a:solidFill>
                <a:latin typeface="Calibri" charset="0"/>
                <a:ea typeface="Calibri" charset="0"/>
                <a:cs typeface="Calibri" charset="0"/>
              </a:rPr>
              <a:t>PROMPT FORMULA:  Role  +  Context  +  Task  +  Format  +  Constraints</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199" name="Rectangle"/>
          <p:cNvSpPr>
            <a:spLocks/>
          </p:cNvSpPr>
          <p:nvPr/>
        </p:nvSpPr>
        <p:spPr>
          <a:xfrm>
            <a:off x="274320" y="1874520"/>
            <a:ext cx="4023359" cy="2926080"/>
          </a:xfrm>
          <a:prstGeom prst="rect">
            <a:avLst/>
          </a:prstGeom>
          <a:solidFill>
            <a:srgbClr val="FFFFFF">
              <a:alpha val="12000"/>
            </a:srgbClr>
          </a:solidFill>
          <a:ln w="12700" cap="flat" cmpd="sng">
            <a:solidFill>
              <a:srgbClr val="EF4444">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00" name="Rectangle"/>
          <p:cNvSpPr>
            <a:spLocks/>
          </p:cNvSpPr>
          <p:nvPr/>
        </p:nvSpPr>
        <p:spPr>
          <a:xfrm>
            <a:off x="274320" y="1874520"/>
            <a:ext cx="4023359" cy="411480"/>
          </a:xfrm>
          <a:prstGeom prst="rect">
            <a:avLst/>
          </a:prstGeom>
          <a:solidFill>
            <a:srgbClr val="EF4444">
              <a:alpha val="80000"/>
            </a:srgbClr>
          </a:solidFill>
          <a:ln w="12700" cap="flat" cmpd="sng">
            <a:solidFill>
              <a:srgbClr val="EF4444">
                <a:alpha val="80000"/>
              </a:srgbClr>
            </a:solidFill>
            <a:prstDash val="solid"/>
            <a:round/>
          </a:ln>
        </p:spPr>
        <p:txBody>
          <a:bodyPr/>
          <a:lstStyle/>
          <a:p>
            <a:endParaRPr lang="en-GB"/>
          </a:p>
        </p:txBody>
      </p:sp>
      <p:sp>
        <p:nvSpPr>
          <p:cNvPr id="201" name="Rectangle"/>
          <p:cNvSpPr>
            <a:spLocks/>
          </p:cNvSpPr>
          <p:nvPr/>
        </p:nvSpPr>
        <p:spPr>
          <a:xfrm>
            <a:off x="365760" y="1901951"/>
            <a:ext cx="3749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FFFFFF"/>
                </a:solidFill>
                <a:latin typeface="Arial Black" pitchFamily="34" charset="0"/>
                <a:ea typeface="Arial Black" pitchFamily="34" charset="0"/>
                <a:cs typeface="Arial Black" pitchFamily="34" charset="0"/>
              </a:rPr>
              <a:t>❌  WEAK PROMPT</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02" name="Rectangle"/>
          <p:cNvSpPr>
            <a:spLocks/>
          </p:cNvSpPr>
          <p:nvPr/>
        </p:nvSpPr>
        <p:spPr>
          <a:xfrm>
            <a:off x="411480" y="2331720"/>
            <a:ext cx="3794760" cy="237744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FCA5A5"/>
                </a:solidFill>
                <a:latin typeface="Calibri" charset="0"/>
                <a:ea typeface="Calibri" charset="0"/>
                <a:cs typeface="Calibri" charset="0"/>
              </a:rPr>
              <a:t>"Write about climate change"</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1" i="0" u="none" strike="noStrike" kern="1200" cap="none" spc="0" baseline="0">
                <a:solidFill>
                  <a:srgbClr val="FCA5A5"/>
                </a:solidFill>
                <a:latin typeface="Calibri" charset="0"/>
                <a:ea typeface="Calibri" charset="0"/>
                <a:cs typeface="Calibri" charset="0"/>
              </a:rPr>
              <a:t>Problems:</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0" i="0" u="none" strike="noStrike" kern="1200" cap="none" spc="0" baseline="0">
                <a:solidFill>
                  <a:srgbClr val="FCA5A5"/>
                </a:solidFill>
                <a:latin typeface="Calibri" charset="0"/>
                <a:ea typeface="Calibri" charset="0"/>
                <a:cs typeface="Calibri" charset="0"/>
              </a:rPr>
              <a:t>• No audience specified</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0" i="0" u="none" strike="noStrike" kern="1200" cap="none" spc="0" baseline="0">
                <a:solidFill>
                  <a:srgbClr val="FCA5A5"/>
                </a:solidFill>
                <a:latin typeface="Calibri" charset="0"/>
                <a:ea typeface="Calibri" charset="0"/>
                <a:cs typeface="Calibri" charset="0"/>
              </a:rPr>
              <a:t>• No length/format</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0" i="0" u="none" strike="noStrike" kern="1200" cap="none" spc="0" baseline="0">
                <a:solidFill>
                  <a:srgbClr val="FCA5A5"/>
                </a:solidFill>
                <a:latin typeface="Calibri" charset="0"/>
                <a:ea typeface="Calibri" charset="0"/>
                <a:cs typeface="Calibri" charset="0"/>
              </a:rPr>
              <a:t>• No purpose stated</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0" i="0" u="none" strike="noStrike" kern="1200" cap="none" spc="0" baseline="0">
                <a:solidFill>
                  <a:srgbClr val="FCA5A5"/>
                </a:solidFill>
                <a:latin typeface="Calibri" charset="0"/>
                <a:ea typeface="Calibri" charset="0"/>
                <a:cs typeface="Calibri" charset="0"/>
              </a:rPr>
              <a:t>• No depth/level</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0" i="1" u="none" strike="noStrike" kern="1200" cap="none" spc="0" baseline="0">
                <a:solidFill>
                  <a:srgbClr val="FCA5A5"/>
                </a:solidFill>
                <a:latin typeface="Calibri" charset="0"/>
                <a:ea typeface="Calibri" charset="0"/>
                <a:cs typeface="Calibri" charset="0"/>
              </a:rPr>
              <a:t>Result: Generic, shallow, possibly useless content</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03" name="Rectangle"/>
          <p:cNvSpPr>
            <a:spLocks/>
          </p:cNvSpPr>
          <p:nvPr/>
        </p:nvSpPr>
        <p:spPr>
          <a:xfrm>
            <a:off x="4846320" y="1874520"/>
            <a:ext cx="4023359" cy="2926080"/>
          </a:xfrm>
          <a:prstGeom prst="rect">
            <a:avLst/>
          </a:prstGeom>
          <a:solidFill>
            <a:srgbClr val="FFFFFF">
              <a:alpha val="12000"/>
            </a:srgbClr>
          </a:solidFill>
          <a:ln w="12700" cap="flat" cmpd="sng">
            <a:solidFill>
              <a:srgbClr val="10B981">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04" name="Rectangle"/>
          <p:cNvSpPr>
            <a:spLocks/>
          </p:cNvSpPr>
          <p:nvPr/>
        </p:nvSpPr>
        <p:spPr>
          <a:xfrm>
            <a:off x="4846320" y="1874520"/>
            <a:ext cx="4023359" cy="411480"/>
          </a:xfrm>
          <a:prstGeom prst="rect">
            <a:avLst/>
          </a:prstGeom>
          <a:solidFill>
            <a:srgbClr val="0A7C6E">
              <a:alpha val="80000"/>
            </a:srgbClr>
          </a:solidFill>
          <a:ln w="12700" cap="flat" cmpd="sng">
            <a:solidFill>
              <a:srgbClr val="0A7C6E">
                <a:alpha val="80000"/>
              </a:srgbClr>
            </a:solidFill>
            <a:prstDash val="solid"/>
            <a:round/>
          </a:ln>
        </p:spPr>
        <p:txBody>
          <a:bodyPr/>
          <a:lstStyle/>
          <a:p>
            <a:endParaRPr lang="en-GB"/>
          </a:p>
        </p:txBody>
      </p:sp>
      <p:sp>
        <p:nvSpPr>
          <p:cNvPr id="205" name="Rectangle"/>
          <p:cNvSpPr>
            <a:spLocks/>
          </p:cNvSpPr>
          <p:nvPr/>
        </p:nvSpPr>
        <p:spPr>
          <a:xfrm>
            <a:off x="4937760" y="1901951"/>
            <a:ext cx="3749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FFFFFF"/>
                </a:solidFill>
                <a:latin typeface="Arial Black" pitchFamily="34" charset="0"/>
                <a:ea typeface="Arial Black" pitchFamily="34" charset="0"/>
                <a:cs typeface="Arial Black" pitchFamily="34" charset="0"/>
              </a:rPr>
              <a:t>✅  POWER PROMPT</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06" name="Rectangle"/>
          <p:cNvSpPr>
            <a:spLocks/>
          </p:cNvSpPr>
          <p:nvPr/>
        </p:nvSpPr>
        <p:spPr>
          <a:xfrm>
            <a:off x="4937760" y="2331720"/>
            <a:ext cx="3840479" cy="237744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l">
              <a:lnSpc>
                <a:spcPct val="100000"/>
              </a:lnSpc>
              <a:spcBef>
                <a:spcPts val="0"/>
              </a:spcBef>
              <a:spcAft>
                <a:spcPts val="0"/>
              </a:spcAft>
              <a:buNone/>
            </a:pPr>
            <a:r>
              <a:rPr lang="en-US" altLang="zh-CN" sz="1100" b="0" i="1" u="none" strike="noStrike" kern="1200" cap="none" spc="0" baseline="0">
                <a:solidFill>
                  <a:srgbClr val="A7F3D0"/>
                </a:solidFill>
                <a:latin typeface="Calibri" charset="0"/>
                <a:ea typeface="Calibri" charset="0"/>
                <a:cs typeface="Calibri" charset="0"/>
              </a:rPr>
              <a:t>"Act as a climate scientist. Write a 500-word blog post on how rising temperatures affect food security in sub-Saharan Africa. Use simple language for a non-expert audience. Include 3 practical adaptation strategies."</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0" i="0" u="none" strike="noStrike" kern="1200" cap="none" spc="0" baseline="0">
                <a:solidFill>
                  <a:srgbClr val="A7F3D0"/>
                </a:solidFill>
                <a:latin typeface="Calibri" charset="0"/>
                <a:ea typeface="Calibri" charset="0"/>
                <a:cs typeface="Calibri" charset="0"/>
              </a:rPr>
              <a:t>✔ Role defined  ✔ Word count  ✔ Topic focused</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0" i="0" u="none" strike="noStrike" kern="1200" cap="none" spc="0" baseline="0">
                <a:solidFill>
                  <a:srgbClr val="A7F3D0"/>
                </a:solidFill>
                <a:latin typeface="Calibri" charset="0"/>
                <a:ea typeface="Calibri" charset="0"/>
                <a:cs typeface="Calibri" charset="0"/>
              </a:rPr>
              <a:t>✔ Audience specified  ✔ Output format</a:t>
            </a:r>
            <a:endParaRPr lang="en-US" altLang="zh-CN" sz="1100" b="0" i="0" u="none" strike="noStrike" kern="1200" cap="none" spc="0" baseline="0">
              <a:solidFill>
                <a:schemeClr val="tx1"/>
              </a:solidFill>
              <a:latin typeface="Calibri" charset="0"/>
              <a:ea typeface="等线" charset="0"/>
              <a:cs typeface="Calibri" charset="0"/>
            </a:endParaRPr>
          </a:p>
          <a:p>
            <a:pPr marL="0" indent="0" algn="l">
              <a:lnSpc>
                <a:spcPct val="100000"/>
              </a:lnSpc>
              <a:spcBef>
                <a:spcPts val="0"/>
              </a:spcBef>
              <a:spcAft>
                <a:spcPts val="0"/>
              </a:spcAft>
              <a:buNone/>
            </a:pPr>
            <a:r>
              <a:rPr lang="en-US" altLang="zh-CN" sz="1100" b="0" i="0" u="none" strike="noStrike" kern="1200" cap="none" spc="0" baseline="0">
                <a:solidFill>
                  <a:srgbClr val="A7F3D0"/>
                </a:solidFill>
                <a:latin typeface="Calibri" charset="0"/>
                <a:ea typeface="Calibri" charset="0"/>
                <a:cs typeface="Calibri" charset="0"/>
              </a:rPr>
              <a:t>✔ Actionable outcome requested</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349277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0" name="Rectangle"/>
          <p:cNvSpPr>
            <a:spLocks/>
          </p:cNvSpPr>
          <p:nvPr/>
        </p:nvSpPr>
        <p:spPr>
          <a:xfrm>
            <a:off x="0" y="0"/>
            <a:ext cx="9144000" cy="960120"/>
          </a:xfrm>
          <a:prstGeom prst="rect">
            <a:avLst/>
          </a:prstGeom>
          <a:solidFill>
            <a:srgbClr val="7C3AED"/>
          </a:solidFill>
          <a:ln w="12700" cap="flat" cmpd="sng">
            <a:solidFill>
              <a:srgbClr val="7C3AED"/>
            </a:solidFill>
            <a:prstDash val="solid"/>
            <a:round/>
          </a:ln>
        </p:spPr>
        <p:txBody>
          <a:bodyPr/>
          <a:lstStyle/>
          <a:p>
            <a:endParaRPr lang="en-GB"/>
          </a:p>
        </p:txBody>
      </p:sp>
      <p:sp>
        <p:nvSpPr>
          <p:cNvPr id="211" name="Rectangle"/>
          <p:cNvSpPr>
            <a:spLocks/>
          </p:cNvSpPr>
          <p:nvPr/>
        </p:nvSpPr>
        <p:spPr>
          <a:xfrm>
            <a:off x="365760" y="0"/>
            <a:ext cx="841248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600" b="1" i="0" u="none" strike="noStrike" kern="1200" cap="none" spc="0" baseline="0">
                <a:solidFill>
                  <a:srgbClr val="FFFFFF"/>
                </a:solidFill>
                <a:latin typeface="Arial Black" pitchFamily="34" charset="0"/>
                <a:ea typeface="Arial Black" pitchFamily="34" charset="0"/>
                <a:cs typeface="Arial Black" pitchFamily="34" charset="0"/>
              </a:rPr>
              <a:t>⚖️  Academic Integrity &amp; AI Ethics</a:t>
            </a:r>
            <a:endParaRPr lang="zh-CN" altLang="en-US" sz="2600" b="0" i="0" u="none" strike="noStrike" kern="1200" cap="none" spc="0" baseline="0">
              <a:solidFill>
                <a:schemeClr val="tx1"/>
              </a:solidFill>
              <a:latin typeface="Calibri" charset="0"/>
              <a:ea typeface="等线" charset="0"/>
              <a:cs typeface="Calibri" charset="0"/>
            </a:endParaRPr>
          </a:p>
        </p:txBody>
      </p:sp>
      <p:sp>
        <p:nvSpPr>
          <p:cNvPr id="212" name="Rectangle"/>
          <p:cNvSpPr>
            <a:spLocks/>
          </p:cNvSpPr>
          <p:nvPr/>
        </p:nvSpPr>
        <p:spPr>
          <a:xfrm>
            <a:off x="457200" y="1005839"/>
            <a:ext cx="8229600" cy="4114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500" b="0" i="1" u="none" strike="noStrike" kern="1200" cap="none" spc="0" baseline="0">
                <a:solidFill>
                  <a:srgbClr val="7C3AED"/>
                </a:solidFill>
                <a:latin typeface="Georgia" pitchFamily="34" charset="0"/>
                <a:ea typeface="Georgia" pitchFamily="34" charset="0"/>
                <a:cs typeface="Georgia" pitchFamily="34" charset="0"/>
              </a:rPr>
              <a:t>AI is a powerful tool  -  but power comes with responsibility.</a:t>
            </a:r>
            <a:endParaRPr lang="zh-CN" altLang="en-US" sz="1500" b="0" i="0" u="none" strike="noStrike" kern="1200" cap="none" spc="0" baseline="0">
              <a:solidFill>
                <a:schemeClr val="tx1"/>
              </a:solidFill>
              <a:latin typeface="Calibri" charset="0"/>
              <a:ea typeface="等线" charset="0"/>
              <a:cs typeface="Calibri" charset="0"/>
            </a:endParaRPr>
          </a:p>
        </p:txBody>
      </p:sp>
      <p:sp>
        <p:nvSpPr>
          <p:cNvPr id="213" name="Rectangle"/>
          <p:cNvSpPr>
            <a:spLocks/>
          </p:cNvSpPr>
          <p:nvPr/>
        </p:nvSpPr>
        <p:spPr>
          <a:xfrm>
            <a:off x="274320" y="1508759"/>
            <a:ext cx="4023359" cy="3337560"/>
          </a:xfrm>
          <a:prstGeom prst="rect">
            <a:avLst/>
          </a:prstGeom>
          <a:solidFill>
            <a:srgbClr val="F0FDF4"/>
          </a:solidFill>
          <a:ln w="12700" cap="flat" cmpd="sng">
            <a:solidFill>
              <a:srgbClr val="10B981"/>
            </a:solidFill>
            <a:prstDash val="solid"/>
            <a:round/>
          </a:ln>
          <a:effectLst>
            <a:outerShdw blurRad="101600" dist="38100" dir="8100000" algn="bl" rotWithShape="0">
              <a:srgbClr val="000000">
                <a:alpha val="11764"/>
              </a:srgbClr>
            </a:outerShdw>
          </a:effectLst>
        </p:spPr>
        <p:txBody>
          <a:bodyPr/>
          <a:lstStyle/>
          <a:p>
            <a:endParaRPr lang="en-GB"/>
          </a:p>
        </p:txBody>
      </p:sp>
      <p:sp>
        <p:nvSpPr>
          <p:cNvPr id="214" name="Rectangle"/>
          <p:cNvSpPr>
            <a:spLocks/>
          </p:cNvSpPr>
          <p:nvPr/>
        </p:nvSpPr>
        <p:spPr>
          <a:xfrm>
            <a:off x="274320" y="1508759"/>
            <a:ext cx="4023359" cy="457200"/>
          </a:xfrm>
          <a:prstGeom prst="rect">
            <a:avLst/>
          </a:prstGeom>
          <a:solidFill>
            <a:srgbClr val="10B981"/>
          </a:solidFill>
          <a:ln w="12700" cap="flat" cmpd="sng">
            <a:solidFill>
              <a:srgbClr val="10B981"/>
            </a:solidFill>
            <a:prstDash val="solid"/>
            <a:round/>
          </a:ln>
        </p:spPr>
        <p:txBody>
          <a:bodyPr/>
          <a:lstStyle/>
          <a:p>
            <a:endParaRPr lang="en-GB"/>
          </a:p>
        </p:txBody>
      </p:sp>
      <p:sp>
        <p:nvSpPr>
          <p:cNvPr id="215" name="Rectangle"/>
          <p:cNvSpPr>
            <a:spLocks/>
          </p:cNvSpPr>
          <p:nvPr/>
        </p:nvSpPr>
        <p:spPr>
          <a:xfrm>
            <a:off x="365760" y="1536192"/>
            <a:ext cx="3840480"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1200" cap="none" spc="0" baseline="0">
                <a:solidFill>
                  <a:srgbClr val="FFFFFF"/>
                </a:solidFill>
                <a:latin typeface="Arial Black" pitchFamily="34" charset="0"/>
                <a:ea typeface="Arial Black" pitchFamily="34" charset="0"/>
                <a:cs typeface="Arial Black" pitchFamily="34" charset="0"/>
              </a:rPr>
              <a:t>✅  DO</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216" name="Rectangle"/>
          <p:cNvSpPr>
            <a:spLocks/>
          </p:cNvSpPr>
          <p:nvPr/>
        </p:nvSpPr>
        <p:spPr>
          <a:xfrm>
            <a:off x="411480" y="2011679"/>
            <a:ext cx="3794760" cy="274320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Use AI to brainstorm, then write in your own voice</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Disclose AI use as required by your institution</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Verify all AI-generated facts against trusted sources</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Use AI to improve your thinking, not replace it</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Cite sources that AI points you to independently</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217" name="Rectangle"/>
          <p:cNvSpPr>
            <a:spLocks/>
          </p:cNvSpPr>
          <p:nvPr/>
        </p:nvSpPr>
        <p:spPr>
          <a:xfrm>
            <a:off x="4846320" y="1508759"/>
            <a:ext cx="4023359" cy="3337560"/>
          </a:xfrm>
          <a:prstGeom prst="rect">
            <a:avLst/>
          </a:prstGeom>
          <a:solidFill>
            <a:srgbClr val="FFF1F2"/>
          </a:solidFill>
          <a:ln w="12700" cap="flat" cmpd="sng">
            <a:solidFill>
              <a:srgbClr val="EF4444"/>
            </a:solidFill>
            <a:prstDash val="solid"/>
            <a:round/>
          </a:ln>
          <a:effectLst>
            <a:outerShdw blurRad="101600" dist="38100" dir="8100000" algn="bl" rotWithShape="0">
              <a:srgbClr val="000000">
                <a:alpha val="11764"/>
              </a:srgbClr>
            </a:outerShdw>
          </a:effectLst>
        </p:spPr>
        <p:txBody>
          <a:bodyPr/>
          <a:lstStyle/>
          <a:p>
            <a:endParaRPr lang="en-GB"/>
          </a:p>
        </p:txBody>
      </p:sp>
      <p:sp>
        <p:nvSpPr>
          <p:cNvPr id="218" name="Rectangle"/>
          <p:cNvSpPr>
            <a:spLocks/>
          </p:cNvSpPr>
          <p:nvPr/>
        </p:nvSpPr>
        <p:spPr>
          <a:xfrm>
            <a:off x="4846320" y="1508759"/>
            <a:ext cx="4023359" cy="457200"/>
          </a:xfrm>
          <a:prstGeom prst="rect">
            <a:avLst/>
          </a:prstGeom>
          <a:solidFill>
            <a:srgbClr val="EF4444"/>
          </a:solidFill>
          <a:ln w="12700" cap="flat" cmpd="sng">
            <a:solidFill>
              <a:srgbClr val="EF4444"/>
            </a:solidFill>
            <a:prstDash val="solid"/>
            <a:round/>
          </a:ln>
        </p:spPr>
        <p:txBody>
          <a:bodyPr/>
          <a:lstStyle/>
          <a:p>
            <a:endParaRPr lang="en-GB"/>
          </a:p>
        </p:txBody>
      </p:sp>
      <p:sp>
        <p:nvSpPr>
          <p:cNvPr id="219" name="Rectangle"/>
          <p:cNvSpPr>
            <a:spLocks/>
          </p:cNvSpPr>
          <p:nvPr/>
        </p:nvSpPr>
        <p:spPr>
          <a:xfrm>
            <a:off x="4937760" y="1536192"/>
            <a:ext cx="3840479" cy="38404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800" b="1" i="0" u="none" strike="noStrike" kern="1200" cap="none" spc="0" baseline="0">
                <a:solidFill>
                  <a:srgbClr val="FFFFFF"/>
                </a:solidFill>
                <a:latin typeface="Arial Black" pitchFamily="34" charset="0"/>
                <a:ea typeface="Arial Black" pitchFamily="34" charset="0"/>
                <a:cs typeface="Arial Black" pitchFamily="34" charset="0"/>
              </a:rPr>
              <a:t>❌  DON'T</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220" name="Rectangle"/>
          <p:cNvSpPr>
            <a:spLocks/>
          </p:cNvSpPr>
          <p:nvPr/>
        </p:nvSpPr>
        <p:spPr>
          <a:xfrm>
            <a:off x="4983480" y="2011679"/>
            <a:ext cx="3794760" cy="274320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Submit AI-generated text as entirely your own work</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Trust AI outputs blindly  -  they hallucinate facts</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Use AI to fabricate data or research findings</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Share confidential student/research data with AI</a:t>
            </a:r>
            <a:endParaRPr lang="en-US" altLang="zh-CN" sz="1200" b="0" i="0" u="none" strike="noStrike" kern="1200" cap="none" spc="0" baseline="0">
              <a:solidFill>
                <a:schemeClr val="tx1"/>
              </a:solidFill>
              <a:latin typeface="Calibri" charset="0"/>
              <a:ea typeface="等线" charset="0"/>
              <a:cs typeface="Calibri" charset="0"/>
            </a:endParaRPr>
          </a:p>
          <a:p>
            <a:pPr marL="342900" indent="-342900" algn="l">
              <a:lnSpc>
                <a:spcPct val="100000"/>
              </a:lnSpc>
              <a:spcBef>
                <a:spcPts val="0"/>
              </a:spcBef>
              <a:spcAft>
                <a:spcPts val="0"/>
              </a:spcAft>
              <a:buClrTx/>
              <a:buChar char="•"/>
            </a:pPr>
            <a:r>
              <a:rPr lang="en-US" altLang="zh-CN" sz="1200" b="0" i="0" u="none" strike="noStrike" kern="1200" cap="none" spc="0" baseline="0">
                <a:solidFill>
                  <a:srgbClr val="1E4D3B"/>
                </a:solidFill>
                <a:latin typeface="Calibri" charset="0"/>
                <a:ea typeface="Calibri" charset="0"/>
                <a:cs typeface="Calibri" charset="0"/>
              </a:rPr>
              <a:t>Rely on AI to replace critical academic thinking</a:t>
            </a:r>
            <a:endParaRPr lang="zh-CN" altLang="en-US" sz="12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966182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AF7"/>
        </a:solidFill>
        <a:effectLst/>
      </p:bgPr>
    </p:bg>
    <p:spTree>
      <p:nvGrpSpPr>
        <p:cNvPr id="1" name=""/>
        <p:cNvGrpSpPr/>
        <p:nvPr/>
      </p:nvGrpSpPr>
      <p:grpSpPr>
        <a:xfrm>
          <a:off x="0" y="0"/>
          <a:ext cx="0" cy="0"/>
          <a:chOff x="0" y="0"/>
          <a:chExt cx="0" cy="0"/>
        </a:xfrm>
      </p:grpSpPr>
      <p:sp>
        <p:nvSpPr>
          <p:cNvPr id="224" name="Rectangle"/>
          <p:cNvSpPr>
            <a:spLocks/>
          </p:cNvSpPr>
          <p:nvPr/>
        </p:nvSpPr>
        <p:spPr>
          <a:xfrm>
            <a:off x="0" y="0"/>
            <a:ext cx="9144000" cy="960120"/>
          </a:xfrm>
          <a:prstGeom prst="rect">
            <a:avLst/>
          </a:prstGeom>
          <a:solidFill>
            <a:srgbClr val="F59E0B"/>
          </a:solidFill>
          <a:ln w="12700" cap="flat" cmpd="sng">
            <a:solidFill>
              <a:srgbClr val="F59E0B"/>
            </a:solidFill>
            <a:prstDash val="solid"/>
            <a:round/>
          </a:ln>
        </p:spPr>
        <p:txBody>
          <a:bodyPr/>
          <a:lstStyle/>
          <a:p>
            <a:endParaRPr lang="en-GB"/>
          </a:p>
        </p:txBody>
      </p:sp>
      <p:sp>
        <p:nvSpPr>
          <p:cNvPr id="225" name="Rectangle"/>
          <p:cNvSpPr>
            <a:spLocks/>
          </p:cNvSpPr>
          <p:nvPr/>
        </p:nvSpPr>
        <p:spPr>
          <a:xfrm>
            <a:off x="365760" y="0"/>
            <a:ext cx="841248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2800" b="1" i="0" u="none" strike="noStrike" kern="1200" cap="none" spc="0" baseline="0">
                <a:solidFill>
                  <a:srgbClr val="0D2137"/>
                </a:solidFill>
                <a:latin typeface="Arial Black" pitchFamily="34" charset="0"/>
                <a:ea typeface="Arial Black" pitchFamily="34" charset="0"/>
                <a:cs typeface="Arial Black" pitchFamily="34" charset="0"/>
              </a:rPr>
              <a:t>🛠  Let's Try It Right Now!</a:t>
            </a:r>
            <a:endParaRPr lang="zh-CN" altLang="en-US" sz="2800" b="0" i="0" u="none" strike="noStrike" kern="1200" cap="none" spc="0" baseline="0">
              <a:solidFill>
                <a:schemeClr val="tx1"/>
              </a:solidFill>
              <a:latin typeface="Calibri" charset="0"/>
              <a:ea typeface="等线" charset="0"/>
              <a:cs typeface="Calibri" charset="0"/>
            </a:endParaRPr>
          </a:p>
        </p:txBody>
      </p:sp>
      <p:sp>
        <p:nvSpPr>
          <p:cNvPr id="226" name="Rectangle"/>
          <p:cNvSpPr>
            <a:spLocks/>
          </p:cNvSpPr>
          <p:nvPr/>
        </p:nvSpPr>
        <p:spPr>
          <a:xfrm>
            <a:off x="457200" y="1005839"/>
            <a:ext cx="8229600" cy="4114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400" b="1" i="0" u="none" strike="noStrike" kern="1200" cap="none" spc="0" baseline="0">
                <a:solidFill>
                  <a:srgbClr val="0A7C6E"/>
                </a:solidFill>
                <a:latin typeface="Calibri" charset="0"/>
                <a:ea typeface="Calibri" charset="0"/>
                <a:cs typeface="Calibri" charset="0"/>
              </a:rPr>
              <a:t>Open ChatGPT.com or Claude.ai on your device  -  free accounts available!</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27" name="Rectangle"/>
          <p:cNvSpPr>
            <a:spLocks/>
          </p:cNvSpPr>
          <p:nvPr/>
        </p:nvSpPr>
        <p:spPr>
          <a:xfrm>
            <a:off x="274320" y="1536192"/>
            <a:ext cx="8595360" cy="1051560"/>
          </a:xfrm>
          <a:prstGeom prst="rect">
            <a:avLst/>
          </a:prstGeom>
          <a:solidFill>
            <a:srgbClr val="FFFFFF"/>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228" name="Oval"/>
          <p:cNvSpPr>
            <a:spLocks/>
          </p:cNvSpPr>
          <p:nvPr/>
        </p:nvSpPr>
        <p:spPr>
          <a:xfrm>
            <a:off x="292608" y="1755648"/>
            <a:ext cx="594360" cy="594360"/>
          </a:xfrm>
          <a:prstGeom prst="ellipse">
            <a:avLst/>
          </a:prstGeom>
          <a:solidFill>
            <a:srgbClr val="0A7C6E"/>
          </a:solidFill>
          <a:ln w="12700" cap="flat" cmpd="sng">
            <a:solidFill>
              <a:srgbClr val="0A7C6E"/>
            </a:solidFill>
            <a:prstDash val="solid"/>
            <a:round/>
          </a:ln>
        </p:spPr>
        <p:txBody>
          <a:bodyPr/>
          <a:lstStyle/>
          <a:p>
            <a:endParaRPr lang="en-GB"/>
          </a:p>
        </p:txBody>
      </p:sp>
      <p:sp>
        <p:nvSpPr>
          <p:cNvPr id="229" name="Rectangle"/>
          <p:cNvSpPr>
            <a:spLocks/>
          </p:cNvSpPr>
          <p:nvPr/>
        </p:nvSpPr>
        <p:spPr>
          <a:xfrm>
            <a:off x="292608" y="1755648"/>
            <a:ext cx="594360" cy="59436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Arial Black" pitchFamily="34" charset="0"/>
                <a:ea typeface="Arial Black" pitchFamily="34" charset="0"/>
                <a:cs typeface="Arial Black" pitchFamily="34" charset="0"/>
              </a:rPr>
              <a:t>01</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30" name="Rectangle"/>
          <p:cNvSpPr>
            <a:spLocks/>
          </p:cNvSpPr>
          <p:nvPr/>
        </p:nvSpPr>
        <p:spPr>
          <a:xfrm>
            <a:off x="1005839" y="1591056"/>
            <a:ext cx="64008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0A7C6E"/>
                </a:solidFill>
                <a:latin typeface="Arial Black" pitchFamily="34" charset="0"/>
                <a:ea typeface="Arial Black" pitchFamily="34" charset="0"/>
                <a:cs typeface="Arial Black" pitchFamily="34" charset="0"/>
              </a:rPr>
              <a:t>The Research Challenge</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31" name="Rectangle"/>
          <p:cNvSpPr>
            <a:spLocks/>
          </p:cNvSpPr>
          <p:nvPr/>
        </p:nvSpPr>
        <p:spPr>
          <a:xfrm>
            <a:off x="7406639" y="1627632"/>
            <a:ext cx="128015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1100" b="1" i="0" u="none" strike="noStrike" kern="1200" cap="none" spc="0" baseline="0">
                <a:solidFill>
                  <a:srgbClr val="6B7280"/>
                </a:solidFill>
                <a:latin typeface="Calibri" charset="0"/>
                <a:ea typeface="Calibri" charset="0"/>
                <a:cs typeface="Calibri" charset="0"/>
              </a:rPr>
              <a:t>⏱ 3 mins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32" name="Rectangle"/>
          <p:cNvSpPr>
            <a:spLocks/>
          </p:cNvSpPr>
          <p:nvPr/>
        </p:nvSpPr>
        <p:spPr>
          <a:xfrm>
            <a:off x="1005839" y="1956816"/>
            <a:ext cx="7315200"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1" u="none" strike="noStrike" kern="1200" cap="none" spc="0" baseline="0">
                <a:solidFill>
                  <a:srgbClr val="1E4D3B"/>
                </a:solidFill>
                <a:latin typeface="Calibri" charset="0"/>
                <a:ea typeface="Calibri" charset="0"/>
                <a:cs typeface="Calibri" charset="0"/>
              </a:rPr>
              <a:t>Type: "I am a lecturer in [your department]. Suggest 5 underexplored research topics that have high impact potential in Nigeria/Africa."</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33" name="Rectangle"/>
          <p:cNvSpPr>
            <a:spLocks/>
          </p:cNvSpPr>
          <p:nvPr/>
        </p:nvSpPr>
        <p:spPr>
          <a:xfrm>
            <a:off x="274320" y="2706624"/>
            <a:ext cx="8595360" cy="1051559"/>
          </a:xfrm>
          <a:prstGeom prst="rect">
            <a:avLst/>
          </a:prstGeom>
          <a:solidFill>
            <a:srgbClr val="FFFFFF"/>
          </a:solidFill>
          <a:ln w="12700" cap="flat" cmpd="sng">
            <a:solidFill>
              <a:srgbClr val="3B82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234" name="Oval"/>
          <p:cNvSpPr>
            <a:spLocks/>
          </p:cNvSpPr>
          <p:nvPr/>
        </p:nvSpPr>
        <p:spPr>
          <a:xfrm>
            <a:off x="292608" y="2926080"/>
            <a:ext cx="594360" cy="594359"/>
          </a:xfrm>
          <a:prstGeom prst="ellipse">
            <a:avLst/>
          </a:prstGeom>
          <a:solidFill>
            <a:srgbClr val="3B82F6"/>
          </a:solidFill>
          <a:ln w="12700" cap="flat" cmpd="sng">
            <a:solidFill>
              <a:srgbClr val="3B82F6"/>
            </a:solidFill>
            <a:prstDash val="solid"/>
            <a:round/>
          </a:ln>
        </p:spPr>
        <p:txBody>
          <a:bodyPr/>
          <a:lstStyle/>
          <a:p>
            <a:endParaRPr lang="en-GB"/>
          </a:p>
        </p:txBody>
      </p:sp>
      <p:sp>
        <p:nvSpPr>
          <p:cNvPr id="235" name="Rectangle"/>
          <p:cNvSpPr>
            <a:spLocks/>
          </p:cNvSpPr>
          <p:nvPr/>
        </p:nvSpPr>
        <p:spPr>
          <a:xfrm>
            <a:off x="292608" y="2926080"/>
            <a:ext cx="59436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Arial Black" pitchFamily="34" charset="0"/>
                <a:ea typeface="Arial Black" pitchFamily="34" charset="0"/>
                <a:cs typeface="Arial Black" pitchFamily="34" charset="0"/>
              </a:rPr>
              <a:t>02</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36" name="Rectangle"/>
          <p:cNvSpPr>
            <a:spLocks/>
          </p:cNvSpPr>
          <p:nvPr/>
        </p:nvSpPr>
        <p:spPr>
          <a:xfrm>
            <a:off x="1005839" y="2761488"/>
            <a:ext cx="64008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3B82F6"/>
                </a:solidFill>
                <a:latin typeface="Arial Black" pitchFamily="34" charset="0"/>
                <a:ea typeface="Arial Black" pitchFamily="34" charset="0"/>
                <a:cs typeface="Arial Black" pitchFamily="34" charset="0"/>
              </a:rPr>
              <a:t>The Lecture Builder</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37" name="Rectangle"/>
          <p:cNvSpPr>
            <a:spLocks/>
          </p:cNvSpPr>
          <p:nvPr/>
        </p:nvSpPr>
        <p:spPr>
          <a:xfrm>
            <a:off x="7406639" y="2798064"/>
            <a:ext cx="128015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1100" b="1" i="0" u="none" strike="noStrike" kern="1200" cap="none" spc="0" baseline="0">
                <a:solidFill>
                  <a:srgbClr val="6B7280"/>
                </a:solidFill>
                <a:latin typeface="Calibri" charset="0"/>
                <a:ea typeface="Calibri" charset="0"/>
                <a:cs typeface="Calibri" charset="0"/>
              </a:rPr>
              <a:t>⏱ 3 mins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38" name="Rectangle"/>
          <p:cNvSpPr>
            <a:spLocks/>
          </p:cNvSpPr>
          <p:nvPr/>
        </p:nvSpPr>
        <p:spPr>
          <a:xfrm>
            <a:off x="1005839" y="3127248"/>
            <a:ext cx="7315200"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1" u="none" strike="noStrike" kern="1200" cap="none" spc="0" baseline="0">
                <a:solidFill>
                  <a:srgbClr val="1E4D3B"/>
                </a:solidFill>
                <a:latin typeface="Calibri" charset="0"/>
                <a:ea typeface="Calibri" charset="0"/>
                <a:cs typeface="Calibri" charset="0"/>
              </a:rPr>
              <a:t>Type: "Create a 45-minute lesson plan on [your topic] for 200-level students. Include learning objectives and one group activity."</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39" name="Rectangle"/>
          <p:cNvSpPr>
            <a:spLocks/>
          </p:cNvSpPr>
          <p:nvPr/>
        </p:nvSpPr>
        <p:spPr>
          <a:xfrm>
            <a:off x="274320" y="3877055"/>
            <a:ext cx="8595360" cy="1051560"/>
          </a:xfrm>
          <a:prstGeom prst="rect">
            <a:avLst/>
          </a:prstGeom>
          <a:solidFill>
            <a:srgbClr val="FFFFFF"/>
          </a:solidFill>
          <a:ln w="12700" cap="flat" cmpd="sng">
            <a:solidFill>
              <a:srgbClr val="8B5C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240" name="Oval"/>
          <p:cNvSpPr>
            <a:spLocks/>
          </p:cNvSpPr>
          <p:nvPr/>
        </p:nvSpPr>
        <p:spPr>
          <a:xfrm>
            <a:off x="292608" y="4096511"/>
            <a:ext cx="594360" cy="594359"/>
          </a:xfrm>
          <a:prstGeom prst="ellipse">
            <a:avLst/>
          </a:prstGeom>
          <a:solidFill>
            <a:srgbClr val="8B5CF6"/>
          </a:solidFill>
          <a:ln w="12700" cap="flat" cmpd="sng">
            <a:solidFill>
              <a:srgbClr val="8B5CF6"/>
            </a:solidFill>
            <a:prstDash val="solid"/>
            <a:round/>
          </a:ln>
        </p:spPr>
        <p:txBody>
          <a:bodyPr/>
          <a:lstStyle/>
          <a:p>
            <a:endParaRPr lang="en-GB"/>
          </a:p>
        </p:txBody>
      </p:sp>
      <p:sp>
        <p:nvSpPr>
          <p:cNvPr id="241" name="Rectangle"/>
          <p:cNvSpPr>
            <a:spLocks/>
          </p:cNvSpPr>
          <p:nvPr/>
        </p:nvSpPr>
        <p:spPr>
          <a:xfrm>
            <a:off x="292608" y="4096511"/>
            <a:ext cx="594360" cy="5943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400" b="1" i="0" u="none" strike="noStrike" kern="1200" cap="none" spc="0" baseline="0">
                <a:solidFill>
                  <a:srgbClr val="FFFFFF"/>
                </a:solidFill>
                <a:latin typeface="Arial Black" pitchFamily="34" charset="0"/>
                <a:ea typeface="Arial Black" pitchFamily="34" charset="0"/>
                <a:cs typeface="Arial Black" pitchFamily="34" charset="0"/>
              </a:rPr>
              <a:t>03</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42" name="Rectangle"/>
          <p:cNvSpPr>
            <a:spLocks/>
          </p:cNvSpPr>
          <p:nvPr/>
        </p:nvSpPr>
        <p:spPr>
          <a:xfrm>
            <a:off x="1005839" y="3931920"/>
            <a:ext cx="64008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8B5CF6"/>
                </a:solidFill>
                <a:latin typeface="Arial Black" pitchFamily="34" charset="0"/>
                <a:ea typeface="Arial Black" pitchFamily="34" charset="0"/>
                <a:cs typeface="Arial Black" pitchFamily="34" charset="0"/>
              </a:rPr>
              <a:t>The Paper Analyzer</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243" name="Rectangle"/>
          <p:cNvSpPr>
            <a:spLocks/>
          </p:cNvSpPr>
          <p:nvPr/>
        </p:nvSpPr>
        <p:spPr>
          <a:xfrm>
            <a:off x="7406639" y="3968496"/>
            <a:ext cx="128015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1100" b="1" i="0" u="none" strike="noStrike" kern="1200" cap="none" spc="0" baseline="0">
                <a:solidFill>
                  <a:srgbClr val="6B7280"/>
                </a:solidFill>
                <a:latin typeface="Calibri" charset="0"/>
                <a:ea typeface="Calibri" charset="0"/>
                <a:cs typeface="Calibri" charset="0"/>
              </a:rPr>
              <a:t>⏱ 4 mins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44" name="Rectangle"/>
          <p:cNvSpPr>
            <a:spLocks/>
          </p:cNvSpPr>
          <p:nvPr/>
        </p:nvSpPr>
        <p:spPr>
          <a:xfrm>
            <a:off x="1005839" y="4297680"/>
            <a:ext cx="7315200" cy="56692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1" u="none" strike="noStrike" kern="1200" cap="none" spc="0" baseline="0">
                <a:solidFill>
                  <a:srgbClr val="1E4D3B"/>
                </a:solidFill>
                <a:latin typeface="Calibri" charset="0"/>
                <a:ea typeface="Calibri" charset="0"/>
                <a:cs typeface="Calibri" charset="0"/>
              </a:rPr>
              <a:t>Paste your abstract and type: "Critique this research abstract. What are its strengths, weaknesses, and how can it be improved?"</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45" name="Rectangle"/>
          <p:cNvSpPr>
            <a:spLocks/>
          </p:cNvSpPr>
          <p:nvPr/>
        </p:nvSpPr>
        <p:spPr>
          <a:xfrm>
            <a:off x="457200" y="4736592"/>
            <a:ext cx="82296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zh-CN" altLang="en-US" sz="1200" b="1" i="0" u="none" strike="noStrike" kern="1200" cap="none" spc="0" baseline="0">
                <a:solidFill>
                  <a:srgbClr val="0A7C6E"/>
                </a:solidFill>
                <a:latin typeface="Calibri" charset="0"/>
                <a:ea typeface="Calibri" charset="0"/>
                <a:cs typeface="Calibri" charset="0"/>
              </a:rPr>
              <a:t>💬 Share your results with a neighbor  -  what surprised you?</a:t>
            </a:r>
            <a:endParaRPr lang="zh-CN" altLang="en-US" sz="12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890718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49" name="Rectangle"/>
          <p:cNvSpPr>
            <a:spLocks/>
          </p:cNvSpPr>
          <p:nvPr/>
        </p:nvSpPr>
        <p:spPr>
          <a:xfrm>
            <a:off x="365760" y="91440"/>
            <a:ext cx="8412480" cy="54863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600" b="1" i="0" u="none" strike="noStrike" kern="1200" cap="none" spc="0" baseline="0">
                <a:solidFill>
                  <a:srgbClr val="FFFFFF"/>
                </a:solidFill>
                <a:latin typeface="Arial Black" pitchFamily="34" charset="0"/>
                <a:ea typeface="Arial Black" pitchFamily="34" charset="0"/>
                <a:cs typeface="Arial Black" pitchFamily="34" charset="0"/>
              </a:rPr>
              <a:t>Your Academic AI Toolkit  -  Quick Reference</a:t>
            </a:r>
            <a:endParaRPr lang="zh-CN" altLang="en-US" sz="2600" b="0" i="0" u="none" strike="noStrike" kern="1200" cap="none" spc="0" baseline="0">
              <a:solidFill>
                <a:schemeClr val="tx1"/>
              </a:solidFill>
              <a:latin typeface="Calibri" charset="0"/>
              <a:ea typeface="等线" charset="0"/>
              <a:cs typeface="Calibri" charset="0"/>
            </a:endParaRPr>
          </a:p>
        </p:txBody>
      </p:sp>
      <p:sp>
        <p:nvSpPr>
          <p:cNvPr id="250" name="Rectangle"/>
          <p:cNvSpPr>
            <a:spLocks/>
          </p:cNvSpPr>
          <p:nvPr/>
        </p:nvSpPr>
        <p:spPr>
          <a:xfrm>
            <a:off x="365760" y="621791"/>
            <a:ext cx="8412480" cy="29260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300" b="0" i="1" u="none" strike="noStrike" kern="1200" cap="none" spc="0" baseline="0">
                <a:solidFill>
                  <a:srgbClr val="F59E0B"/>
                </a:solidFill>
                <a:latin typeface="Calibri" charset="0"/>
                <a:ea typeface="Calibri" charset="0"/>
                <a:cs typeface="Calibri" charset="0"/>
              </a:rPr>
              <a:t>Bookmark these. Use them weekly.</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251" name="Rectangle"/>
          <p:cNvSpPr>
            <a:spLocks/>
          </p:cNvSpPr>
          <p:nvPr/>
        </p:nvSpPr>
        <p:spPr>
          <a:xfrm>
            <a:off x="274320" y="1051560"/>
            <a:ext cx="2743200" cy="1170431"/>
          </a:xfrm>
          <a:prstGeom prst="rect">
            <a:avLst/>
          </a:prstGeom>
          <a:solidFill>
            <a:srgbClr val="FFFFFF">
              <a:alpha val="10000"/>
            </a:srgbClr>
          </a:solidFill>
          <a:ln w="12700" cap="flat" cmpd="sng">
            <a:solidFill>
              <a:srgbClr val="0A7C6E">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52" name="Rectangle"/>
          <p:cNvSpPr>
            <a:spLocks/>
          </p:cNvSpPr>
          <p:nvPr/>
        </p:nvSpPr>
        <p:spPr>
          <a:xfrm>
            <a:off x="274320" y="1051560"/>
            <a:ext cx="2743200" cy="73151"/>
          </a:xfrm>
          <a:prstGeom prst="rect">
            <a:avLst/>
          </a:prstGeom>
          <a:solidFill>
            <a:srgbClr val="0A7C6E"/>
          </a:solidFill>
          <a:ln w="12700" cap="flat" cmpd="sng">
            <a:solidFill>
              <a:srgbClr val="0A7C6E"/>
            </a:solidFill>
            <a:prstDash val="solid"/>
            <a:round/>
          </a:ln>
        </p:spPr>
        <p:txBody>
          <a:bodyPr/>
          <a:lstStyle/>
          <a:p>
            <a:endParaRPr lang="en-GB"/>
          </a:p>
        </p:txBody>
      </p:sp>
      <p:sp>
        <p:nvSpPr>
          <p:cNvPr id="253" name="Rectangle"/>
          <p:cNvSpPr>
            <a:spLocks/>
          </p:cNvSpPr>
          <p:nvPr/>
        </p:nvSpPr>
        <p:spPr>
          <a:xfrm>
            <a:off x="384048" y="1161288"/>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Claude.ai</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54" name="Rectangle"/>
          <p:cNvSpPr>
            <a:spLocks/>
          </p:cNvSpPr>
          <p:nvPr/>
        </p:nvSpPr>
        <p:spPr>
          <a:xfrm>
            <a:off x="384048" y="1508759"/>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0A7C6E"/>
                </a:solidFill>
                <a:latin typeface="Calibri" charset="0"/>
                <a:ea typeface="Calibri" charset="0"/>
                <a:cs typeface="Calibri" charset="0"/>
              </a:rPr>
              <a:t>Writing &amp; Analysis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55" name="Rectangle"/>
          <p:cNvSpPr>
            <a:spLocks/>
          </p:cNvSpPr>
          <p:nvPr/>
        </p:nvSpPr>
        <p:spPr>
          <a:xfrm>
            <a:off x="384048" y="1801368"/>
            <a:ext cx="2523744"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claude.ai</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56" name="Rectangle"/>
          <p:cNvSpPr>
            <a:spLocks/>
          </p:cNvSpPr>
          <p:nvPr/>
        </p:nvSpPr>
        <p:spPr>
          <a:xfrm>
            <a:off x="3200400" y="1051560"/>
            <a:ext cx="2743200" cy="1170431"/>
          </a:xfrm>
          <a:prstGeom prst="rect">
            <a:avLst/>
          </a:prstGeom>
          <a:solidFill>
            <a:srgbClr val="FFFFFF">
              <a:alpha val="10000"/>
            </a:srgbClr>
          </a:solidFill>
          <a:ln w="12700" cap="flat" cmpd="sng">
            <a:solidFill>
              <a:srgbClr val="10B981">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57" name="Rectangle"/>
          <p:cNvSpPr>
            <a:spLocks/>
          </p:cNvSpPr>
          <p:nvPr/>
        </p:nvSpPr>
        <p:spPr>
          <a:xfrm>
            <a:off x="3200400" y="1051560"/>
            <a:ext cx="2743200" cy="73151"/>
          </a:xfrm>
          <a:prstGeom prst="rect">
            <a:avLst/>
          </a:prstGeom>
          <a:solidFill>
            <a:srgbClr val="10B981"/>
          </a:solidFill>
          <a:ln w="12700" cap="flat" cmpd="sng">
            <a:solidFill>
              <a:srgbClr val="10B981"/>
            </a:solidFill>
            <a:prstDash val="solid"/>
            <a:round/>
          </a:ln>
        </p:spPr>
        <p:txBody>
          <a:bodyPr/>
          <a:lstStyle/>
          <a:p>
            <a:endParaRPr lang="en-GB"/>
          </a:p>
        </p:txBody>
      </p:sp>
      <p:sp>
        <p:nvSpPr>
          <p:cNvPr id="258" name="Rectangle"/>
          <p:cNvSpPr>
            <a:spLocks/>
          </p:cNvSpPr>
          <p:nvPr/>
        </p:nvSpPr>
        <p:spPr>
          <a:xfrm>
            <a:off x="3310127" y="1161288"/>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ChatGPT</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59" name="Rectangle"/>
          <p:cNvSpPr>
            <a:spLocks/>
          </p:cNvSpPr>
          <p:nvPr/>
        </p:nvSpPr>
        <p:spPr>
          <a:xfrm>
            <a:off x="3310127" y="1508759"/>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10B981"/>
                </a:solidFill>
                <a:latin typeface="Calibri" charset="0"/>
                <a:ea typeface="Calibri" charset="0"/>
                <a:cs typeface="Calibri" charset="0"/>
              </a:rPr>
              <a:t>General AI Assistant</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60" name="Rectangle"/>
          <p:cNvSpPr>
            <a:spLocks/>
          </p:cNvSpPr>
          <p:nvPr/>
        </p:nvSpPr>
        <p:spPr>
          <a:xfrm>
            <a:off x="3310127" y="1801368"/>
            <a:ext cx="2523744"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chat.openai.com</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61" name="Rectangle"/>
          <p:cNvSpPr>
            <a:spLocks/>
          </p:cNvSpPr>
          <p:nvPr/>
        </p:nvSpPr>
        <p:spPr>
          <a:xfrm>
            <a:off x="6126479" y="1051560"/>
            <a:ext cx="2743200" cy="1170431"/>
          </a:xfrm>
          <a:prstGeom prst="rect">
            <a:avLst/>
          </a:prstGeom>
          <a:solidFill>
            <a:srgbClr val="FFFFFF">
              <a:alpha val="10000"/>
            </a:srgbClr>
          </a:solidFill>
          <a:ln w="12700" cap="flat" cmpd="sng">
            <a:solidFill>
              <a:srgbClr val="3B82F6">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62" name="Rectangle"/>
          <p:cNvSpPr>
            <a:spLocks/>
          </p:cNvSpPr>
          <p:nvPr/>
        </p:nvSpPr>
        <p:spPr>
          <a:xfrm>
            <a:off x="6126479" y="1051560"/>
            <a:ext cx="2743200" cy="73151"/>
          </a:xfrm>
          <a:prstGeom prst="rect">
            <a:avLst/>
          </a:prstGeom>
          <a:solidFill>
            <a:srgbClr val="3B82F6"/>
          </a:solidFill>
          <a:ln w="12700" cap="flat" cmpd="sng">
            <a:solidFill>
              <a:srgbClr val="3B82F6"/>
            </a:solidFill>
            <a:prstDash val="solid"/>
            <a:round/>
          </a:ln>
        </p:spPr>
        <p:txBody>
          <a:bodyPr/>
          <a:lstStyle/>
          <a:p>
            <a:endParaRPr lang="en-GB"/>
          </a:p>
        </p:txBody>
      </p:sp>
      <p:sp>
        <p:nvSpPr>
          <p:cNvPr id="263" name="Rectangle"/>
          <p:cNvSpPr>
            <a:spLocks/>
          </p:cNvSpPr>
          <p:nvPr/>
        </p:nvSpPr>
        <p:spPr>
          <a:xfrm>
            <a:off x="6236208" y="1161288"/>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Elicit</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64" name="Rectangle"/>
          <p:cNvSpPr>
            <a:spLocks/>
          </p:cNvSpPr>
          <p:nvPr/>
        </p:nvSpPr>
        <p:spPr>
          <a:xfrm>
            <a:off x="6236208" y="1508759"/>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3B82F6"/>
                </a:solidFill>
                <a:latin typeface="Calibri" charset="0"/>
                <a:ea typeface="Calibri" charset="0"/>
                <a:cs typeface="Calibri" charset="0"/>
              </a:rPr>
              <a:t>Research Papers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65" name="Rectangle"/>
          <p:cNvSpPr>
            <a:spLocks/>
          </p:cNvSpPr>
          <p:nvPr/>
        </p:nvSpPr>
        <p:spPr>
          <a:xfrm>
            <a:off x="6236208" y="1801368"/>
            <a:ext cx="2523744" cy="2743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elicit.com</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66" name="Rectangle"/>
          <p:cNvSpPr>
            <a:spLocks/>
          </p:cNvSpPr>
          <p:nvPr/>
        </p:nvSpPr>
        <p:spPr>
          <a:xfrm>
            <a:off x="274320" y="2377440"/>
            <a:ext cx="2743200" cy="1170431"/>
          </a:xfrm>
          <a:prstGeom prst="rect">
            <a:avLst/>
          </a:prstGeom>
          <a:solidFill>
            <a:srgbClr val="FFFFFF">
              <a:alpha val="10000"/>
            </a:srgbClr>
          </a:solidFill>
          <a:ln w="12700" cap="flat" cmpd="sng">
            <a:solidFill>
              <a:srgbClr val="8B5CF6">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67" name="Rectangle"/>
          <p:cNvSpPr>
            <a:spLocks/>
          </p:cNvSpPr>
          <p:nvPr/>
        </p:nvSpPr>
        <p:spPr>
          <a:xfrm>
            <a:off x="274320" y="2377440"/>
            <a:ext cx="2743200" cy="73152"/>
          </a:xfrm>
          <a:prstGeom prst="rect">
            <a:avLst/>
          </a:prstGeom>
          <a:solidFill>
            <a:srgbClr val="8B5CF6"/>
          </a:solidFill>
          <a:ln w="12700" cap="flat" cmpd="sng">
            <a:solidFill>
              <a:srgbClr val="8B5CF6"/>
            </a:solidFill>
            <a:prstDash val="solid"/>
            <a:round/>
          </a:ln>
        </p:spPr>
        <p:txBody>
          <a:bodyPr/>
          <a:lstStyle/>
          <a:p>
            <a:endParaRPr lang="en-GB"/>
          </a:p>
        </p:txBody>
      </p:sp>
      <p:sp>
        <p:nvSpPr>
          <p:cNvPr id="268" name="Rectangle"/>
          <p:cNvSpPr>
            <a:spLocks/>
          </p:cNvSpPr>
          <p:nvPr/>
        </p:nvSpPr>
        <p:spPr>
          <a:xfrm>
            <a:off x="384048" y="2487167"/>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Consensus</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69" name="Rectangle"/>
          <p:cNvSpPr>
            <a:spLocks/>
          </p:cNvSpPr>
          <p:nvPr/>
        </p:nvSpPr>
        <p:spPr>
          <a:xfrm>
            <a:off x="384048" y="2834640"/>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8B5CF6"/>
                </a:solidFill>
                <a:latin typeface="Calibri" charset="0"/>
                <a:ea typeface="Calibri" charset="0"/>
                <a:cs typeface="Calibri" charset="0"/>
              </a:rPr>
              <a:t>Evidence Synthesis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70" name="Rectangle"/>
          <p:cNvSpPr>
            <a:spLocks/>
          </p:cNvSpPr>
          <p:nvPr/>
        </p:nvSpPr>
        <p:spPr>
          <a:xfrm>
            <a:off x="384048" y="3127248"/>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consensus.app</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71" name="Rectangle"/>
          <p:cNvSpPr>
            <a:spLocks/>
          </p:cNvSpPr>
          <p:nvPr/>
        </p:nvSpPr>
        <p:spPr>
          <a:xfrm>
            <a:off x="3200400" y="2377440"/>
            <a:ext cx="2743200" cy="1170431"/>
          </a:xfrm>
          <a:prstGeom prst="rect">
            <a:avLst/>
          </a:prstGeom>
          <a:solidFill>
            <a:srgbClr val="FFFFFF">
              <a:alpha val="10000"/>
            </a:srgbClr>
          </a:solidFill>
          <a:ln w="12700" cap="flat" cmpd="sng">
            <a:solidFill>
              <a:srgbClr val="F97316">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72" name="Rectangle"/>
          <p:cNvSpPr>
            <a:spLocks/>
          </p:cNvSpPr>
          <p:nvPr/>
        </p:nvSpPr>
        <p:spPr>
          <a:xfrm>
            <a:off x="3200400" y="2377440"/>
            <a:ext cx="2743200" cy="73152"/>
          </a:xfrm>
          <a:prstGeom prst="rect">
            <a:avLst/>
          </a:prstGeom>
          <a:solidFill>
            <a:srgbClr val="F97316"/>
          </a:solidFill>
          <a:ln w="12700" cap="flat" cmpd="sng">
            <a:solidFill>
              <a:srgbClr val="F97316"/>
            </a:solidFill>
            <a:prstDash val="solid"/>
            <a:round/>
          </a:ln>
        </p:spPr>
        <p:txBody>
          <a:bodyPr/>
          <a:lstStyle/>
          <a:p>
            <a:endParaRPr lang="en-GB"/>
          </a:p>
        </p:txBody>
      </p:sp>
      <p:sp>
        <p:nvSpPr>
          <p:cNvPr id="273" name="Rectangle"/>
          <p:cNvSpPr>
            <a:spLocks/>
          </p:cNvSpPr>
          <p:nvPr/>
        </p:nvSpPr>
        <p:spPr>
          <a:xfrm>
            <a:off x="3310127" y="2487167"/>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Gamma.app</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74" name="Rectangle"/>
          <p:cNvSpPr>
            <a:spLocks/>
          </p:cNvSpPr>
          <p:nvPr/>
        </p:nvSpPr>
        <p:spPr>
          <a:xfrm>
            <a:off x="3310127" y="2834640"/>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F97316"/>
                </a:solidFill>
                <a:latin typeface="Calibri" charset="0"/>
                <a:ea typeface="Calibri" charset="0"/>
                <a:cs typeface="Calibri" charset="0"/>
              </a:rPr>
              <a:t>AI Presentations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75" name="Rectangle"/>
          <p:cNvSpPr>
            <a:spLocks/>
          </p:cNvSpPr>
          <p:nvPr/>
        </p:nvSpPr>
        <p:spPr>
          <a:xfrm>
            <a:off x="3310127" y="3127248"/>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gamma.app</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76" name="Rectangle"/>
          <p:cNvSpPr>
            <a:spLocks/>
          </p:cNvSpPr>
          <p:nvPr/>
        </p:nvSpPr>
        <p:spPr>
          <a:xfrm>
            <a:off x="6126479" y="2377440"/>
            <a:ext cx="2743200" cy="1170431"/>
          </a:xfrm>
          <a:prstGeom prst="rect">
            <a:avLst/>
          </a:prstGeom>
          <a:solidFill>
            <a:srgbClr val="FFFFFF">
              <a:alpha val="10000"/>
            </a:srgbClr>
          </a:solidFill>
          <a:ln w="12700" cap="flat" cmpd="sng">
            <a:solidFill>
              <a:srgbClr val="06B6D4">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77" name="Rectangle"/>
          <p:cNvSpPr>
            <a:spLocks/>
          </p:cNvSpPr>
          <p:nvPr/>
        </p:nvSpPr>
        <p:spPr>
          <a:xfrm>
            <a:off x="6126479" y="2377440"/>
            <a:ext cx="2743200" cy="73152"/>
          </a:xfrm>
          <a:prstGeom prst="rect">
            <a:avLst/>
          </a:prstGeom>
          <a:solidFill>
            <a:srgbClr val="06B6D4"/>
          </a:solidFill>
          <a:ln w="12700" cap="flat" cmpd="sng">
            <a:solidFill>
              <a:srgbClr val="06B6D4"/>
            </a:solidFill>
            <a:prstDash val="solid"/>
            <a:round/>
          </a:ln>
        </p:spPr>
        <p:txBody>
          <a:bodyPr/>
          <a:lstStyle/>
          <a:p>
            <a:endParaRPr lang="en-GB"/>
          </a:p>
        </p:txBody>
      </p:sp>
      <p:sp>
        <p:nvSpPr>
          <p:cNvPr id="278" name="Rectangle"/>
          <p:cNvSpPr>
            <a:spLocks/>
          </p:cNvSpPr>
          <p:nvPr/>
        </p:nvSpPr>
        <p:spPr>
          <a:xfrm>
            <a:off x="6236208" y="2487167"/>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Perplexity</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79" name="Rectangle"/>
          <p:cNvSpPr>
            <a:spLocks/>
          </p:cNvSpPr>
          <p:nvPr/>
        </p:nvSpPr>
        <p:spPr>
          <a:xfrm>
            <a:off x="6236208" y="2834640"/>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06B6D4"/>
                </a:solidFill>
                <a:latin typeface="Calibri" charset="0"/>
                <a:ea typeface="Calibri" charset="0"/>
                <a:cs typeface="Calibri" charset="0"/>
              </a:rPr>
              <a:t>AI Search Engine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80" name="Rectangle"/>
          <p:cNvSpPr>
            <a:spLocks/>
          </p:cNvSpPr>
          <p:nvPr/>
        </p:nvSpPr>
        <p:spPr>
          <a:xfrm>
            <a:off x="6236208" y="3127248"/>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perplexity.ai</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81" name="Rectangle"/>
          <p:cNvSpPr>
            <a:spLocks/>
          </p:cNvSpPr>
          <p:nvPr/>
        </p:nvSpPr>
        <p:spPr>
          <a:xfrm>
            <a:off x="274320" y="3703319"/>
            <a:ext cx="2743200" cy="1170432"/>
          </a:xfrm>
          <a:prstGeom prst="rect">
            <a:avLst/>
          </a:prstGeom>
          <a:solidFill>
            <a:srgbClr val="FFFFFF">
              <a:alpha val="10000"/>
            </a:srgbClr>
          </a:solidFill>
          <a:ln w="12700" cap="flat" cmpd="sng">
            <a:solidFill>
              <a:srgbClr val="EC4899">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82" name="Rectangle"/>
          <p:cNvSpPr>
            <a:spLocks/>
          </p:cNvSpPr>
          <p:nvPr/>
        </p:nvSpPr>
        <p:spPr>
          <a:xfrm>
            <a:off x="274320" y="3703319"/>
            <a:ext cx="2743200" cy="73151"/>
          </a:xfrm>
          <a:prstGeom prst="rect">
            <a:avLst/>
          </a:prstGeom>
          <a:solidFill>
            <a:srgbClr val="EC4899"/>
          </a:solidFill>
          <a:ln w="12700" cap="flat" cmpd="sng">
            <a:solidFill>
              <a:srgbClr val="EC4899"/>
            </a:solidFill>
            <a:prstDash val="solid"/>
            <a:round/>
          </a:ln>
        </p:spPr>
        <p:txBody>
          <a:bodyPr/>
          <a:lstStyle/>
          <a:p>
            <a:endParaRPr lang="en-GB"/>
          </a:p>
        </p:txBody>
      </p:sp>
      <p:sp>
        <p:nvSpPr>
          <p:cNvPr id="283" name="Rectangle"/>
          <p:cNvSpPr>
            <a:spLocks/>
          </p:cNvSpPr>
          <p:nvPr/>
        </p:nvSpPr>
        <p:spPr>
          <a:xfrm>
            <a:off x="384048" y="3813048"/>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Grammarly</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84" name="Rectangle"/>
          <p:cNvSpPr>
            <a:spLocks/>
          </p:cNvSpPr>
          <p:nvPr/>
        </p:nvSpPr>
        <p:spPr>
          <a:xfrm>
            <a:off x="384048" y="4160520"/>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EC4899"/>
                </a:solidFill>
                <a:latin typeface="Calibri" charset="0"/>
                <a:ea typeface="Calibri" charset="0"/>
                <a:cs typeface="Calibri" charset="0"/>
              </a:rPr>
              <a:t>Writing Quality</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85" name="Rectangle"/>
          <p:cNvSpPr>
            <a:spLocks/>
          </p:cNvSpPr>
          <p:nvPr/>
        </p:nvSpPr>
        <p:spPr>
          <a:xfrm>
            <a:off x="384048" y="4453128"/>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grammarly.com</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86" name="Rectangle"/>
          <p:cNvSpPr>
            <a:spLocks/>
          </p:cNvSpPr>
          <p:nvPr/>
        </p:nvSpPr>
        <p:spPr>
          <a:xfrm>
            <a:off x="3200400" y="3703319"/>
            <a:ext cx="2743200" cy="1170432"/>
          </a:xfrm>
          <a:prstGeom prst="rect">
            <a:avLst/>
          </a:prstGeom>
          <a:solidFill>
            <a:srgbClr val="FFFFFF">
              <a:alpha val="10000"/>
            </a:srgbClr>
          </a:solidFill>
          <a:ln w="12700" cap="flat" cmpd="sng">
            <a:solidFill>
              <a:srgbClr val="F59E0B">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87" name="Rectangle"/>
          <p:cNvSpPr>
            <a:spLocks/>
          </p:cNvSpPr>
          <p:nvPr/>
        </p:nvSpPr>
        <p:spPr>
          <a:xfrm>
            <a:off x="3200400" y="3703319"/>
            <a:ext cx="2743200" cy="73151"/>
          </a:xfrm>
          <a:prstGeom prst="rect">
            <a:avLst/>
          </a:prstGeom>
          <a:solidFill>
            <a:srgbClr val="F59E0B"/>
          </a:solidFill>
          <a:ln w="12700" cap="flat" cmpd="sng">
            <a:solidFill>
              <a:srgbClr val="F59E0B"/>
            </a:solidFill>
            <a:prstDash val="solid"/>
            <a:round/>
          </a:ln>
        </p:spPr>
        <p:txBody>
          <a:bodyPr/>
          <a:lstStyle/>
          <a:p>
            <a:endParaRPr lang="en-GB"/>
          </a:p>
        </p:txBody>
      </p:sp>
      <p:sp>
        <p:nvSpPr>
          <p:cNvPr id="288" name="Rectangle"/>
          <p:cNvSpPr>
            <a:spLocks/>
          </p:cNvSpPr>
          <p:nvPr/>
        </p:nvSpPr>
        <p:spPr>
          <a:xfrm>
            <a:off x="3310127" y="3813048"/>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QuillBot</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89" name="Rectangle"/>
          <p:cNvSpPr>
            <a:spLocks/>
          </p:cNvSpPr>
          <p:nvPr/>
        </p:nvSpPr>
        <p:spPr>
          <a:xfrm>
            <a:off x="3310127" y="4160520"/>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F59E0B"/>
                </a:solidFill>
                <a:latin typeface="Calibri" charset="0"/>
                <a:ea typeface="Calibri" charset="0"/>
                <a:cs typeface="Calibri" charset="0"/>
              </a:rPr>
              <a:t>Paraphrasing</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90" name="Rectangle"/>
          <p:cNvSpPr>
            <a:spLocks/>
          </p:cNvSpPr>
          <p:nvPr/>
        </p:nvSpPr>
        <p:spPr>
          <a:xfrm>
            <a:off x="3310127" y="4453128"/>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quillbot.com</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291" name="Rectangle"/>
          <p:cNvSpPr>
            <a:spLocks/>
          </p:cNvSpPr>
          <p:nvPr/>
        </p:nvSpPr>
        <p:spPr>
          <a:xfrm>
            <a:off x="6126479" y="3703319"/>
            <a:ext cx="2743200" cy="1170432"/>
          </a:xfrm>
          <a:prstGeom prst="rect">
            <a:avLst/>
          </a:prstGeom>
          <a:solidFill>
            <a:srgbClr val="FFFFFF">
              <a:alpha val="10000"/>
            </a:srgbClr>
          </a:solidFill>
          <a:ln w="12700" cap="flat" cmpd="sng">
            <a:solidFill>
              <a:srgbClr val="8B5CF6">
                <a:alpha val="70000"/>
              </a:srgbClr>
            </a:solidFill>
            <a:prstDash val="solid"/>
            <a:round/>
          </a:ln>
          <a:effectLst>
            <a:outerShdw blurRad="101600" dist="38100" dir="8100000" algn="bl" rotWithShape="0">
              <a:srgbClr val="000000">
                <a:alpha val="11764"/>
              </a:srgbClr>
            </a:outerShdw>
          </a:effectLst>
        </p:spPr>
        <p:txBody>
          <a:bodyPr/>
          <a:lstStyle/>
          <a:p>
            <a:endParaRPr lang="en-GB"/>
          </a:p>
        </p:txBody>
      </p:sp>
      <p:sp>
        <p:nvSpPr>
          <p:cNvPr id="292" name="Rectangle"/>
          <p:cNvSpPr>
            <a:spLocks/>
          </p:cNvSpPr>
          <p:nvPr/>
        </p:nvSpPr>
        <p:spPr>
          <a:xfrm>
            <a:off x="6126479" y="3703319"/>
            <a:ext cx="2743200" cy="73151"/>
          </a:xfrm>
          <a:prstGeom prst="rect">
            <a:avLst/>
          </a:prstGeom>
          <a:solidFill>
            <a:srgbClr val="8B5CF6"/>
          </a:solidFill>
          <a:ln w="12700" cap="flat" cmpd="sng">
            <a:solidFill>
              <a:srgbClr val="8B5CF6"/>
            </a:solidFill>
            <a:prstDash val="solid"/>
            <a:round/>
          </a:ln>
        </p:spPr>
        <p:txBody>
          <a:bodyPr/>
          <a:lstStyle/>
          <a:p>
            <a:endParaRPr lang="en-GB"/>
          </a:p>
        </p:txBody>
      </p:sp>
      <p:sp>
        <p:nvSpPr>
          <p:cNvPr id="293" name="Rectangle"/>
          <p:cNvSpPr>
            <a:spLocks/>
          </p:cNvSpPr>
          <p:nvPr/>
        </p:nvSpPr>
        <p:spPr>
          <a:xfrm>
            <a:off x="6236208" y="3813048"/>
            <a:ext cx="2523744"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Notion AI</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294" name="Rectangle"/>
          <p:cNvSpPr>
            <a:spLocks/>
          </p:cNvSpPr>
          <p:nvPr/>
        </p:nvSpPr>
        <p:spPr>
          <a:xfrm>
            <a:off x="6236208" y="4160520"/>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8B5CF6"/>
                </a:solidFill>
                <a:latin typeface="Calibri" charset="0"/>
                <a:ea typeface="Calibri" charset="0"/>
                <a:cs typeface="Calibri" charset="0"/>
              </a:rPr>
              <a:t>Notes &amp; Planning</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295" name="Rectangle"/>
          <p:cNvSpPr>
            <a:spLocks/>
          </p:cNvSpPr>
          <p:nvPr/>
        </p:nvSpPr>
        <p:spPr>
          <a:xfrm>
            <a:off x="6236208" y="4453128"/>
            <a:ext cx="2523744"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000" b="0" i="1" u="none" strike="noStrike" kern="1200" cap="none" spc="0" baseline="0">
                <a:solidFill>
                  <a:srgbClr val="94A3B8"/>
                </a:solidFill>
                <a:latin typeface="Calibri" charset="0"/>
                <a:ea typeface="Calibri" charset="0"/>
                <a:cs typeface="Calibri" charset="0"/>
              </a:rPr>
              <a:t>🔗 notion.so</a:t>
            </a:r>
            <a:endParaRPr lang="zh-CN" altLang="en-US" sz="10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6722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99" name="Oval"/>
          <p:cNvSpPr>
            <a:spLocks/>
          </p:cNvSpPr>
          <p:nvPr/>
        </p:nvSpPr>
        <p:spPr>
          <a:xfrm>
            <a:off x="-914400" y="3200400"/>
            <a:ext cx="3657600" cy="3657600"/>
          </a:xfrm>
          <a:prstGeom prst="ellipse">
            <a:avLst/>
          </a:prstGeom>
          <a:solidFill>
            <a:srgbClr val="0A7C6E">
              <a:alpha val="18000"/>
            </a:srgbClr>
          </a:solidFill>
          <a:ln w="12700" cap="flat" cmpd="sng">
            <a:solidFill>
              <a:srgbClr val="0A7C6E">
                <a:alpha val="18000"/>
              </a:srgbClr>
            </a:solidFill>
            <a:prstDash val="solid"/>
            <a:round/>
          </a:ln>
        </p:spPr>
        <p:txBody>
          <a:bodyPr/>
          <a:lstStyle/>
          <a:p>
            <a:endParaRPr lang="en-GB"/>
          </a:p>
        </p:txBody>
      </p:sp>
      <p:sp>
        <p:nvSpPr>
          <p:cNvPr id="300" name="Oval"/>
          <p:cNvSpPr>
            <a:spLocks/>
          </p:cNvSpPr>
          <p:nvPr/>
        </p:nvSpPr>
        <p:spPr>
          <a:xfrm>
            <a:off x="7315200" y="-914400"/>
            <a:ext cx="3200400" cy="3200400"/>
          </a:xfrm>
          <a:prstGeom prst="ellipse">
            <a:avLst/>
          </a:prstGeom>
          <a:solidFill>
            <a:srgbClr val="F59E0B">
              <a:alpha val="15000"/>
            </a:srgbClr>
          </a:solidFill>
          <a:ln w="12700" cap="flat" cmpd="sng">
            <a:solidFill>
              <a:srgbClr val="F59E0B">
                <a:alpha val="15000"/>
              </a:srgbClr>
            </a:solidFill>
            <a:prstDash val="solid"/>
            <a:round/>
          </a:ln>
        </p:spPr>
        <p:txBody>
          <a:bodyPr/>
          <a:lstStyle/>
          <a:p>
            <a:endParaRPr lang="en-GB"/>
          </a:p>
        </p:txBody>
      </p:sp>
      <p:sp>
        <p:nvSpPr>
          <p:cNvPr id="301" name="Rectangle"/>
          <p:cNvSpPr>
            <a:spLocks/>
          </p:cNvSpPr>
          <p:nvPr/>
        </p:nvSpPr>
        <p:spPr>
          <a:xfrm>
            <a:off x="457200" y="457200"/>
            <a:ext cx="8229600" cy="1371600"/>
          </a:xfrm>
          <a:prstGeom prst="rect">
            <a:avLst/>
          </a:prstGeom>
          <a:solidFill>
            <a:srgbClr val="0A7C6E">
              <a:alpha val="75000"/>
            </a:srgbClr>
          </a:solidFill>
          <a:ln w="12700" cap="flat" cmpd="sng">
            <a:solidFill>
              <a:srgbClr val="10B981"/>
            </a:solidFill>
            <a:prstDash val="solid"/>
            <a:round/>
          </a:ln>
        </p:spPr>
        <p:txBody>
          <a:bodyPr/>
          <a:lstStyle/>
          <a:p>
            <a:endParaRPr lang="en-GB"/>
          </a:p>
        </p:txBody>
      </p:sp>
      <p:sp>
        <p:nvSpPr>
          <p:cNvPr id="302" name="Rectangle"/>
          <p:cNvSpPr>
            <a:spLocks/>
          </p:cNvSpPr>
          <p:nvPr/>
        </p:nvSpPr>
        <p:spPr>
          <a:xfrm>
            <a:off x="548640" y="502919"/>
            <a:ext cx="8046719" cy="1280160"/>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ctr">
              <a:lnSpc>
                <a:spcPct val="100000"/>
              </a:lnSpc>
              <a:spcBef>
                <a:spcPts val="0"/>
              </a:spcBef>
              <a:spcAft>
                <a:spcPts val="0"/>
              </a:spcAft>
              <a:buNone/>
            </a:pPr>
            <a:r>
              <a:rPr lang="en-US" altLang="zh-CN" sz="1800" b="0" i="1" u="none" strike="noStrike" kern="1200" cap="none" spc="0" baseline="0">
                <a:solidFill>
                  <a:srgbClr val="FFFFFF"/>
                </a:solidFill>
                <a:latin typeface="Georgia" pitchFamily="34" charset="0"/>
                <a:ea typeface="Georgia" pitchFamily="34" charset="0"/>
                <a:cs typeface="Georgia" pitchFamily="34" charset="0"/>
              </a:rPr>
              <a:t>AI will not replace academics.</a:t>
            </a:r>
            <a:endParaRPr lang="en-US" altLang="zh-CN" sz="1800" b="0" i="0" u="none" strike="noStrike" kern="1200" cap="none" spc="0" baseline="0">
              <a:solidFill>
                <a:schemeClr val="tx1"/>
              </a:solidFill>
              <a:latin typeface="Calibri" charset="0"/>
              <a:ea typeface="等线" charset="0"/>
              <a:cs typeface="Calibri" charset="0"/>
            </a:endParaRPr>
          </a:p>
          <a:p>
            <a:pPr marL="0" indent="0" algn="ctr">
              <a:lnSpc>
                <a:spcPct val="100000"/>
              </a:lnSpc>
              <a:spcBef>
                <a:spcPts val="0"/>
              </a:spcBef>
              <a:spcAft>
                <a:spcPts val="0"/>
              </a:spcAft>
              <a:buNone/>
            </a:pPr>
            <a:r>
              <a:rPr lang="en-US" altLang="zh-CN" sz="1800" b="0" i="1" u="none" strike="noStrike" kern="1200" cap="none" spc="0" baseline="0">
                <a:solidFill>
                  <a:srgbClr val="FFFFFF"/>
                </a:solidFill>
                <a:latin typeface="Georgia" pitchFamily="34" charset="0"/>
                <a:ea typeface="Georgia" pitchFamily="34" charset="0"/>
                <a:cs typeface="Georgia" pitchFamily="34" charset="0"/>
              </a:rPr>
              <a:t>But academics who use AI will replace those who do not.</a:t>
            </a:r>
            <a:endParaRPr lang="zh-CN" altLang="en-US" sz="1800" b="0" i="0" u="none" strike="noStrike" kern="1200" cap="none" spc="0" baseline="0">
              <a:solidFill>
                <a:schemeClr val="tx1"/>
              </a:solidFill>
              <a:latin typeface="Calibri" charset="0"/>
              <a:ea typeface="等线" charset="0"/>
              <a:cs typeface="Calibri" charset="0"/>
            </a:endParaRPr>
          </a:p>
        </p:txBody>
      </p:sp>
      <p:sp>
        <p:nvSpPr>
          <p:cNvPr id="303" name="Rectangle"/>
          <p:cNvSpPr>
            <a:spLocks/>
          </p:cNvSpPr>
          <p:nvPr/>
        </p:nvSpPr>
        <p:spPr>
          <a:xfrm>
            <a:off x="457200" y="2011679"/>
            <a:ext cx="8229600" cy="4114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000" b="1" i="0" u="none" strike="noStrike" kern="1200" cap="none" spc="0" baseline="0">
                <a:solidFill>
                  <a:srgbClr val="F59E0B"/>
                </a:solidFill>
                <a:latin typeface="Arial Black" pitchFamily="34" charset="0"/>
                <a:ea typeface="Arial Black" pitchFamily="34" charset="0"/>
                <a:cs typeface="Arial Black" pitchFamily="34" charset="0"/>
              </a:rPr>
              <a:t>3 Things to Do This Week:</a:t>
            </a:r>
            <a:endParaRPr lang="zh-CN" altLang="en-US" sz="2000" b="0" i="0" u="none" strike="noStrike" kern="1200" cap="none" spc="0" baseline="0">
              <a:solidFill>
                <a:schemeClr val="tx1"/>
              </a:solidFill>
              <a:latin typeface="Calibri" charset="0"/>
              <a:ea typeface="等线" charset="0"/>
              <a:cs typeface="Calibri" charset="0"/>
            </a:endParaRPr>
          </a:p>
        </p:txBody>
      </p:sp>
      <p:sp>
        <p:nvSpPr>
          <p:cNvPr id="304" name="Oval"/>
          <p:cNvSpPr>
            <a:spLocks/>
          </p:cNvSpPr>
          <p:nvPr/>
        </p:nvSpPr>
        <p:spPr>
          <a:xfrm>
            <a:off x="457200" y="2606040"/>
            <a:ext cx="502919" cy="502920"/>
          </a:xfrm>
          <a:prstGeom prst="ellipse">
            <a:avLst/>
          </a:prstGeom>
          <a:solidFill>
            <a:srgbClr val="10B981"/>
          </a:solidFill>
          <a:ln w="12700" cap="flat" cmpd="sng">
            <a:solidFill>
              <a:srgbClr val="10B981"/>
            </a:solidFill>
            <a:prstDash val="solid"/>
            <a:round/>
          </a:ln>
        </p:spPr>
        <p:txBody>
          <a:bodyPr/>
          <a:lstStyle/>
          <a:p>
            <a:endParaRPr lang="en-GB"/>
          </a:p>
        </p:txBody>
      </p:sp>
      <p:sp>
        <p:nvSpPr>
          <p:cNvPr id="305" name="Rectangle"/>
          <p:cNvSpPr>
            <a:spLocks/>
          </p:cNvSpPr>
          <p:nvPr/>
        </p:nvSpPr>
        <p:spPr>
          <a:xfrm>
            <a:off x="457200" y="2606040"/>
            <a:ext cx="502919" cy="5029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1</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306" name="Rectangle"/>
          <p:cNvSpPr>
            <a:spLocks/>
          </p:cNvSpPr>
          <p:nvPr/>
        </p:nvSpPr>
        <p:spPr>
          <a:xfrm>
            <a:off x="1097280" y="2624328"/>
            <a:ext cx="7498079"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0" i="0" u="none" strike="noStrike" kern="1200" cap="none" spc="0" baseline="0">
                <a:solidFill>
                  <a:srgbClr val="FFFFFF"/>
                </a:solidFill>
                <a:latin typeface="Calibri" charset="0"/>
                <a:ea typeface="Calibri" charset="0"/>
                <a:cs typeface="Calibri" charset="0"/>
              </a:rPr>
              <a:t>Create a free account on Claude.ai OR ChatGPT  -  explore for 30 minutes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07" name="Oval"/>
          <p:cNvSpPr>
            <a:spLocks/>
          </p:cNvSpPr>
          <p:nvPr/>
        </p:nvSpPr>
        <p:spPr>
          <a:xfrm>
            <a:off x="457200" y="3291840"/>
            <a:ext cx="502919" cy="502920"/>
          </a:xfrm>
          <a:prstGeom prst="ellipse">
            <a:avLst/>
          </a:prstGeom>
          <a:solidFill>
            <a:srgbClr val="10B981"/>
          </a:solidFill>
          <a:ln w="12700" cap="flat" cmpd="sng">
            <a:solidFill>
              <a:srgbClr val="10B981"/>
            </a:solidFill>
            <a:prstDash val="solid"/>
            <a:round/>
          </a:ln>
        </p:spPr>
        <p:txBody>
          <a:bodyPr/>
          <a:lstStyle/>
          <a:p>
            <a:endParaRPr lang="en-GB"/>
          </a:p>
        </p:txBody>
      </p:sp>
      <p:sp>
        <p:nvSpPr>
          <p:cNvPr id="308" name="Rectangle"/>
          <p:cNvSpPr>
            <a:spLocks/>
          </p:cNvSpPr>
          <p:nvPr/>
        </p:nvSpPr>
        <p:spPr>
          <a:xfrm>
            <a:off x="457200" y="3291840"/>
            <a:ext cx="502919" cy="5029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2</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309" name="Rectangle"/>
          <p:cNvSpPr>
            <a:spLocks/>
          </p:cNvSpPr>
          <p:nvPr/>
        </p:nvSpPr>
        <p:spPr>
          <a:xfrm>
            <a:off x="1097280" y="3310127"/>
            <a:ext cx="7498079"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0" i="0" u="none" strike="noStrike" kern="1200" cap="none" spc="0" baseline="0">
                <a:solidFill>
                  <a:srgbClr val="FFFFFF"/>
                </a:solidFill>
                <a:latin typeface="Calibri" charset="0"/>
                <a:ea typeface="Calibri" charset="0"/>
                <a:cs typeface="Calibri" charset="0"/>
              </a:rPr>
              <a:t>Use Elicit to find 5 new papers on your research topic in under 10 minutes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10" name="Oval"/>
          <p:cNvSpPr>
            <a:spLocks/>
          </p:cNvSpPr>
          <p:nvPr/>
        </p:nvSpPr>
        <p:spPr>
          <a:xfrm>
            <a:off x="457200" y="3977640"/>
            <a:ext cx="502919" cy="502920"/>
          </a:xfrm>
          <a:prstGeom prst="ellipse">
            <a:avLst/>
          </a:prstGeom>
          <a:solidFill>
            <a:srgbClr val="10B981"/>
          </a:solidFill>
          <a:ln w="12700" cap="flat" cmpd="sng">
            <a:solidFill>
              <a:srgbClr val="10B981"/>
            </a:solidFill>
            <a:prstDash val="solid"/>
            <a:round/>
          </a:ln>
        </p:spPr>
        <p:txBody>
          <a:bodyPr/>
          <a:lstStyle/>
          <a:p>
            <a:endParaRPr lang="en-GB"/>
          </a:p>
        </p:txBody>
      </p:sp>
      <p:sp>
        <p:nvSpPr>
          <p:cNvPr id="311" name="Rectangle"/>
          <p:cNvSpPr>
            <a:spLocks/>
          </p:cNvSpPr>
          <p:nvPr/>
        </p:nvSpPr>
        <p:spPr>
          <a:xfrm>
            <a:off x="457200" y="3977640"/>
            <a:ext cx="502919" cy="5029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600" b="1" i="0" u="none" strike="noStrike" kern="1200" cap="none" spc="0" baseline="0">
                <a:solidFill>
                  <a:srgbClr val="FFFFFF"/>
                </a:solidFill>
                <a:latin typeface="Arial Black" pitchFamily="34" charset="0"/>
                <a:ea typeface="Arial Black" pitchFamily="34" charset="0"/>
                <a:cs typeface="Arial Black" pitchFamily="34" charset="0"/>
              </a:rPr>
              <a:t>3</a:t>
            </a:r>
            <a:endParaRPr lang="zh-CN" altLang="en-US" sz="1600" b="0" i="0" u="none" strike="noStrike" kern="1200" cap="none" spc="0" baseline="0">
              <a:solidFill>
                <a:schemeClr val="tx1"/>
              </a:solidFill>
              <a:latin typeface="Calibri" charset="0"/>
              <a:ea typeface="等线" charset="0"/>
              <a:cs typeface="Calibri" charset="0"/>
            </a:endParaRPr>
          </a:p>
        </p:txBody>
      </p:sp>
      <p:sp>
        <p:nvSpPr>
          <p:cNvPr id="312" name="Rectangle"/>
          <p:cNvSpPr>
            <a:spLocks/>
          </p:cNvSpPr>
          <p:nvPr/>
        </p:nvSpPr>
        <p:spPr>
          <a:xfrm>
            <a:off x="1097280" y="3995928"/>
            <a:ext cx="7498079"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0" i="0" u="none" strike="noStrike" kern="1200" cap="none" spc="0" baseline="0">
                <a:solidFill>
                  <a:srgbClr val="FFFFFF"/>
                </a:solidFill>
                <a:latin typeface="Calibri" charset="0"/>
                <a:ea typeface="Calibri" charset="0"/>
                <a:cs typeface="Calibri" charset="0"/>
              </a:rPr>
              <a:t>Ask AI to draft your next lecture outline  -  then improve it yourself</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13" name="Rectangle"/>
          <p:cNvSpPr>
            <a:spLocks/>
          </p:cNvSpPr>
          <p:nvPr/>
        </p:nvSpPr>
        <p:spPr>
          <a:xfrm>
            <a:off x="0" y="4663440"/>
            <a:ext cx="9144000" cy="480060"/>
          </a:xfrm>
          <a:prstGeom prst="rect">
            <a:avLst/>
          </a:prstGeom>
          <a:solidFill>
            <a:srgbClr val="0A7C6E">
              <a:alpha val="70000"/>
            </a:srgbClr>
          </a:solidFill>
          <a:ln w="12700" cap="flat" cmpd="sng">
            <a:solidFill>
              <a:srgbClr val="0A7C6E">
                <a:alpha val="70000"/>
              </a:srgbClr>
            </a:solidFill>
            <a:prstDash val="solid"/>
            <a:round/>
          </a:ln>
        </p:spPr>
        <p:txBody>
          <a:bodyPr/>
          <a:lstStyle/>
          <a:p>
            <a:endParaRPr lang="en-GB"/>
          </a:p>
        </p:txBody>
      </p:sp>
      <p:sp>
        <p:nvSpPr>
          <p:cNvPr id="314" name="Rectangle"/>
          <p:cNvSpPr>
            <a:spLocks/>
          </p:cNvSpPr>
          <p:nvPr/>
        </p:nvSpPr>
        <p:spPr>
          <a:xfrm>
            <a:off x="274320" y="4690872"/>
            <a:ext cx="8595360" cy="41148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0" i="0" u="none" strike="noStrike" kern="1200" cap="none" spc="0" baseline="0">
                <a:solidFill>
                  <a:srgbClr val="FFFFFF"/>
                </a:solidFill>
                <a:latin typeface="Calibri" charset="0"/>
                <a:ea typeface="Calibri" charset="0"/>
                <a:cs typeface="Calibri" charset="0"/>
              </a:rPr>
              <a:t>Thank You!  •  Questions?  •  AI &amp; Digital Community  •  Academia AI Literacy Workshop 2025</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22980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8" name="Rectangle"/>
          <p:cNvSpPr>
            <a:spLocks/>
          </p:cNvSpPr>
          <p:nvPr/>
        </p:nvSpPr>
        <p:spPr>
          <a:xfrm>
            <a:off x="0" y="0"/>
            <a:ext cx="9144000" cy="960120"/>
          </a:xfrm>
          <a:prstGeom prst="rect">
            <a:avLst/>
          </a:prstGeom>
          <a:solidFill>
            <a:srgbClr val="0A7C6E"/>
          </a:solidFill>
          <a:ln w="12700" cap="flat" cmpd="sng">
            <a:solidFill>
              <a:srgbClr val="0A7C6E"/>
            </a:solidFill>
            <a:prstDash val="solid"/>
            <a:round/>
          </a:ln>
        </p:spPr>
        <p:txBody>
          <a:bodyPr/>
          <a:lstStyle/>
          <a:p>
            <a:endParaRPr lang="en-GB"/>
          </a:p>
        </p:txBody>
      </p:sp>
      <p:sp>
        <p:nvSpPr>
          <p:cNvPr id="319"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FFFFFF"/>
                </a:solidFill>
                <a:latin typeface="Arial Black" pitchFamily="34" charset="0"/>
                <a:ea typeface="Arial Black" pitchFamily="34" charset="0"/>
                <a:cs typeface="Arial Black" pitchFamily="34" charset="0"/>
              </a:rPr>
              <a:t>Example 1: Brainstorming Research Topics with ChatGPT</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320" name="Rectangle"/>
          <p:cNvSpPr>
            <a:spLocks/>
          </p:cNvSpPr>
          <p:nvPr/>
        </p:nvSpPr>
        <p:spPr>
          <a:xfrm>
            <a:off x="320040" y="1051560"/>
            <a:ext cx="8503920" cy="438912"/>
          </a:xfrm>
          <a:prstGeom prst="rect">
            <a:avLst/>
          </a:prstGeom>
          <a:solidFill>
            <a:srgbClr val="FEF3C7"/>
          </a:solidFill>
          <a:ln w="12700" cap="flat" cmpd="sng">
            <a:solidFill>
              <a:srgbClr val="F59E0B"/>
            </a:solidFill>
            <a:prstDash val="solid"/>
            <a:round/>
          </a:ln>
        </p:spPr>
        <p:txBody>
          <a:bodyPr/>
          <a:lstStyle/>
          <a:p>
            <a:endParaRPr lang="en-GB"/>
          </a:p>
        </p:txBody>
      </p:sp>
      <p:sp>
        <p:nvSpPr>
          <p:cNvPr id="321" name="Rectangle"/>
          <p:cNvSpPr>
            <a:spLocks/>
          </p:cNvSpPr>
          <p:nvPr/>
        </p:nvSpPr>
        <p:spPr>
          <a:xfrm>
            <a:off x="411480" y="1078992"/>
            <a:ext cx="8321040" cy="384048"/>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150" b="0" i="1" u="none" strike="noStrike" kern="1200" cap="none" spc="0" baseline="0" dirty="0">
                <a:solidFill>
                  <a:srgbClr val="92400E"/>
                </a:solidFill>
                <a:latin typeface="Calibri" charset="0"/>
                <a:ea typeface="Calibri" charset="0"/>
                <a:cs typeface="Calibri" charset="0"/>
              </a:rPr>
              <a:t>SCENARIO: Dr. Sakinat  is a lecturer in Public Health at Olabisi Onabanjo University. She wants fresh research ideas but has limited time for deep literature search.</a:t>
            </a:r>
            <a:endParaRPr lang="zh-CN" altLang="en-US" sz="1150" b="0" i="0" u="none" strike="noStrike" kern="1200" cap="none" spc="0" baseline="0" dirty="0">
              <a:solidFill>
                <a:schemeClr val="tx1"/>
              </a:solidFill>
              <a:latin typeface="Calibri" charset="0"/>
              <a:ea typeface="等线" charset="0"/>
              <a:cs typeface="Calibri" charset="0"/>
            </a:endParaRPr>
          </a:p>
        </p:txBody>
      </p:sp>
      <p:sp>
        <p:nvSpPr>
          <p:cNvPr id="322" name="Rectangle"/>
          <p:cNvSpPr>
            <a:spLocks/>
          </p:cNvSpPr>
          <p:nvPr/>
        </p:nvSpPr>
        <p:spPr>
          <a:xfrm>
            <a:off x="320040" y="1627632"/>
            <a:ext cx="8503920" cy="1389887"/>
          </a:xfrm>
          <a:prstGeom prst="rect">
            <a:avLst/>
          </a:prstGeom>
          <a:solidFill>
            <a:srgbClr val="F0FAF7"/>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323" name="Rectangle"/>
          <p:cNvSpPr>
            <a:spLocks/>
          </p:cNvSpPr>
          <p:nvPr/>
        </p:nvSpPr>
        <p:spPr>
          <a:xfrm>
            <a:off x="320040" y="1627632"/>
            <a:ext cx="73152" cy="1389887"/>
          </a:xfrm>
          <a:prstGeom prst="rect">
            <a:avLst/>
          </a:prstGeom>
          <a:solidFill>
            <a:srgbClr val="0A7C6E"/>
          </a:solidFill>
          <a:ln w="12700" cap="flat" cmpd="sng">
            <a:solidFill>
              <a:srgbClr val="0A7C6E"/>
            </a:solidFill>
            <a:prstDash val="solid"/>
            <a:round/>
          </a:ln>
        </p:spPr>
        <p:txBody>
          <a:bodyPr/>
          <a:lstStyle/>
          <a:p>
            <a:endParaRPr lang="en-GB"/>
          </a:p>
        </p:txBody>
      </p:sp>
      <p:sp>
        <p:nvSpPr>
          <p:cNvPr id="324" name="Rectangle"/>
          <p:cNvSpPr>
            <a:spLocks/>
          </p:cNvSpPr>
          <p:nvPr/>
        </p:nvSpPr>
        <p:spPr>
          <a:xfrm>
            <a:off x="475487" y="1673352"/>
            <a:ext cx="82296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1200" cap="none" spc="0" baseline="0" dirty="0">
                <a:solidFill>
                  <a:srgbClr val="0A7C6E"/>
                </a:solidFill>
                <a:latin typeface="Arial Black" pitchFamily="34" charset="0"/>
                <a:ea typeface="Arial Black" pitchFamily="34" charset="0"/>
                <a:cs typeface="Arial Black" pitchFamily="34" charset="0"/>
              </a:rPr>
              <a:t>STEP 1 - Dr. Sakinat types this prompt into ChatGPT:</a:t>
            </a:r>
            <a:endParaRPr lang="zh-CN" altLang="en-US" sz="1200" b="0" i="0" u="none" strike="noStrike" kern="1200" cap="none" spc="0" baseline="0" dirty="0">
              <a:solidFill>
                <a:schemeClr val="tx1"/>
              </a:solidFill>
              <a:latin typeface="Calibri" charset="0"/>
              <a:ea typeface="等线" charset="0"/>
              <a:cs typeface="Calibri" charset="0"/>
            </a:endParaRPr>
          </a:p>
        </p:txBody>
      </p:sp>
      <p:sp>
        <p:nvSpPr>
          <p:cNvPr id="325" name="Rectangle"/>
          <p:cNvSpPr>
            <a:spLocks/>
          </p:cNvSpPr>
          <p:nvPr/>
        </p:nvSpPr>
        <p:spPr>
          <a:xfrm>
            <a:off x="502919" y="1984248"/>
            <a:ext cx="8138160" cy="960119"/>
          </a:xfrm>
          <a:prstGeom prst="rect">
            <a:avLst/>
          </a:prstGeom>
          <a:solidFill>
            <a:srgbClr val="0D2137"/>
          </a:solidFill>
          <a:ln w="12700" cap="flat" cmpd="sng">
            <a:solidFill>
              <a:srgbClr val="0D2137"/>
            </a:solidFill>
            <a:prstDash val="solid"/>
            <a:round/>
          </a:ln>
        </p:spPr>
        <p:txBody>
          <a:bodyPr/>
          <a:lstStyle/>
          <a:p>
            <a:endParaRPr lang="en-GB"/>
          </a:p>
        </p:txBody>
      </p:sp>
      <p:sp>
        <p:nvSpPr>
          <p:cNvPr id="326" name="Rectangle"/>
          <p:cNvSpPr>
            <a:spLocks/>
          </p:cNvSpPr>
          <p:nvPr/>
        </p:nvSpPr>
        <p:spPr>
          <a:xfrm>
            <a:off x="594360" y="2011679"/>
            <a:ext cx="7955280" cy="896112"/>
          </a:xfrm>
          <a:prstGeom prst="rect">
            <a:avLst/>
          </a:prstGeom>
          <a:noFill/>
          <a:ln w="12700" cap="flat" cmpd="sng">
            <a:noFill/>
            <a:prstDash val="solid"/>
            <a:miter/>
          </a:ln>
        </p:spPr>
        <p:txBody>
          <a:bodyPr vert="horz" wrap="square" lIns="63500" tIns="63500" rIns="63500" bIns="63500" anchor="ctr" anchorCtr="0">
            <a:prstTxWarp prst="textNoShape">
              <a:avLst/>
            </a:prstTxWarp>
          </a:bodyPr>
          <a:lstStyle/>
          <a:p>
            <a:pPr marL="0" indent="0" algn="l">
              <a:lnSpc>
                <a:spcPct val="100000"/>
              </a:lnSpc>
              <a:spcBef>
                <a:spcPts val="0"/>
              </a:spcBef>
              <a:spcAft>
                <a:spcPts val="0"/>
              </a:spcAft>
              <a:buNone/>
            </a:pPr>
            <a:r>
              <a:rPr lang="en-US" altLang="zh-CN" sz="1100" b="0" i="1" u="none" strike="noStrike" kern="1200" cap="none" spc="0" baseline="0">
                <a:solidFill>
                  <a:srgbClr val="10B981"/>
                </a:solidFill>
                <a:latin typeface="Calibri" charset="0"/>
                <a:ea typeface="Calibri" charset="0"/>
                <a:cs typeface="Calibri" charset="0"/>
              </a:rPr>
              <a:t>"Act as a public health research expert. I am a lecturer in Nigeria interested in maternal health. Suggest 5 underexplored research topics with high publication potential in sub-Saharan Africa. For each topic, give: (1) the research gap, (2) suggested methodology, (3) one potential journal to target."</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327" name="Rectangle"/>
          <p:cNvSpPr>
            <a:spLocks/>
          </p:cNvSpPr>
          <p:nvPr/>
        </p:nvSpPr>
        <p:spPr>
          <a:xfrm>
            <a:off x="320040" y="3108960"/>
            <a:ext cx="8503920" cy="1783079"/>
          </a:xfrm>
          <a:prstGeom prst="rect">
            <a:avLst/>
          </a:prstGeom>
          <a:solidFill>
            <a:srgbClr val="F0FDF4"/>
          </a:solidFill>
          <a:ln w="12700" cap="flat" cmpd="sng">
            <a:solidFill>
              <a:srgbClr val="10B981"/>
            </a:solidFill>
            <a:prstDash val="solid"/>
            <a:round/>
          </a:ln>
          <a:effectLst>
            <a:outerShdw blurRad="101600" dist="38100" dir="8100000" algn="bl" rotWithShape="0">
              <a:srgbClr val="000000">
                <a:alpha val="11764"/>
              </a:srgbClr>
            </a:outerShdw>
          </a:effectLst>
        </p:spPr>
        <p:txBody>
          <a:bodyPr/>
          <a:lstStyle/>
          <a:p>
            <a:endParaRPr lang="en-GB"/>
          </a:p>
        </p:txBody>
      </p:sp>
      <p:sp>
        <p:nvSpPr>
          <p:cNvPr id="328" name="Rectangle"/>
          <p:cNvSpPr>
            <a:spLocks/>
          </p:cNvSpPr>
          <p:nvPr/>
        </p:nvSpPr>
        <p:spPr>
          <a:xfrm>
            <a:off x="320040" y="3108960"/>
            <a:ext cx="73152" cy="1783079"/>
          </a:xfrm>
          <a:prstGeom prst="rect">
            <a:avLst/>
          </a:prstGeom>
          <a:solidFill>
            <a:srgbClr val="10B981"/>
          </a:solidFill>
          <a:ln w="12700" cap="flat" cmpd="sng">
            <a:solidFill>
              <a:srgbClr val="10B981"/>
            </a:solidFill>
            <a:prstDash val="solid"/>
            <a:round/>
          </a:ln>
        </p:spPr>
        <p:txBody>
          <a:bodyPr/>
          <a:lstStyle/>
          <a:p>
            <a:endParaRPr lang="en-GB"/>
          </a:p>
        </p:txBody>
      </p:sp>
      <p:sp>
        <p:nvSpPr>
          <p:cNvPr id="329" name="Rectangle"/>
          <p:cNvSpPr>
            <a:spLocks/>
          </p:cNvSpPr>
          <p:nvPr/>
        </p:nvSpPr>
        <p:spPr>
          <a:xfrm>
            <a:off x="475487" y="3145536"/>
            <a:ext cx="82296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1200" cap="none" spc="0" baseline="0">
                <a:solidFill>
                  <a:srgbClr val="10B981"/>
                </a:solidFill>
                <a:latin typeface="Arial Black" pitchFamily="34" charset="0"/>
                <a:ea typeface="Arial Black" pitchFamily="34" charset="0"/>
                <a:cs typeface="Arial Black" pitchFamily="34" charset="0"/>
              </a:rPr>
              <a:t>STEP 2 - ChatGPT responds with (sample):</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330" name="Rectangle"/>
          <p:cNvSpPr>
            <a:spLocks/>
          </p:cNvSpPr>
          <p:nvPr/>
        </p:nvSpPr>
        <p:spPr>
          <a:xfrm>
            <a:off x="502919" y="3474720"/>
            <a:ext cx="1005839"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0A7C6E"/>
                </a:solidFill>
                <a:latin typeface="Calibri" charset="0"/>
                <a:ea typeface="Calibri" charset="0"/>
                <a:cs typeface="Calibri" charset="0"/>
              </a:rPr>
              <a:t>Topic 1:</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31" name="Rectangle"/>
          <p:cNvSpPr>
            <a:spLocks/>
          </p:cNvSpPr>
          <p:nvPr/>
        </p:nvSpPr>
        <p:spPr>
          <a:xfrm>
            <a:off x="1508759" y="3474720"/>
            <a:ext cx="713232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0D2137"/>
                </a:solidFill>
                <a:latin typeface="Calibri" charset="0"/>
                <a:ea typeface="Calibri" charset="0"/>
                <a:cs typeface="Calibri" charset="0"/>
              </a:rPr>
              <a:t>Community-level predictors of antenatal dropout in rural Nigeria</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32" name="Rectangle"/>
          <p:cNvSpPr>
            <a:spLocks/>
          </p:cNvSpPr>
          <p:nvPr/>
        </p:nvSpPr>
        <p:spPr>
          <a:xfrm>
            <a:off x="502919" y="3803903"/>
            <a:ext cx="1005839"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0A7C6E"/>
                </a:solidFill>
                <a:latin typeface="Calibri" charset="0"/>
                <a:ea typeface="Calibri" charset="0"/>
                <a:cs typeface="Calibri" charset="0"/>
              </a:rPr>
              <a:t>Gap:</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33" name="Rectangle"/>
          <p:cNvSpPr>
            <a:spLocks/>
          </p:cNvSpPr>
          <p:nvPr/>
        </p:nvSpPr>
        <p:spPr>
          <a:xfrm>
            <a:off x="1508759" y="3803903"/>
            <a:ext cx="713232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0D2137"/>
                </a:solidFill>
                <a:latin typeface="Calibri" charset="0"/>
                <a:ea typeface="Calibri" charset="0"/>
                <a:cs typeface="Calibri" charset="0"/>
              </a:rPr>
              <a:t>Most studies focus on urban centers; rural access barriers understudied</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34" name="Rectangle"/>
          <p:cNvSpPr>
            <a:spLocks/>
          </p:cNvSpPr>
          <p:nvPr/>
        </p:nvSpPr>
        <p:spPr>
          <a:xfrm>
            <a:off x="502919" y="4133088"/>
            <a:ext cx="1005839"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0A7C6E"/>
                </a:solidFill>
                <a:latin typeface="Calibri" charset="0"/>
                <a:ea typeface="Calibri" charset="0"/>
                <a:cs typeface="Calibri" charset="0"/>
              </a:rPr>
              <a:t>Method:</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35" name="Rectangle"/>
          <p:cNvSpPr>
            <a:spLocks/>
          </p:cNvSpPr>
          <p:nvPr/>
        </p:nvSpPr>
        <p:spPr>
          <a:xfrm>
            <a:off x="1508759" y="4133088"/>
            <a:ext cx="713232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0D2137"/>
                </a:solidFill>
                <a:latin typeface="Calibri" charset="0"/>
                <a:ea typeface="Calibri" charset="0"/>
                <a:cs typeface="Calibri" charset="0"/>
              </a:rPr>
              <a:t>Mixed-methods: survey + focus groups in 3 LGAs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36" name="Rectangle"/>
          <p:cNvSpPr>
            <a:spLocks/>
          </p:cNvSpPr>
          <p:nvPr/>
        </p:nvSpPr>
        <p:spPr>
          <a:xfrm>
            <a:off x="502919" y="4462272"/>
            <a:ext cx="1005839"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0A7C6E"/>
                </a:solidFill>
                <a:latin typeface="Calibri" charset="0"/>
                <a:ea typeface="Calibri" charset="0"/>
                <a:cs typeface="Calibri" charset="0"/>
              </a:rPr>
              <a:t>Journal:</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37" name="Rectangle"/>
          <p:cNvSpPr>
            <a:spLocks/>
          </p:cNvSpPr>
          <p:nvPr/>
        </p:nvSpPr>
        <p:spPr>
          <a:xfrm>
            <a:off x="1508759" y="4462272"/>
            <a:ext cx="713232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0D2137"/>
                </a:solidFill>
                <a:latin typeface="Calibri" charset="0"/>
                <a:ea typeface="Calibri" charset="0"/>
                <a:cs typeface="Calibri" charset="0"/>
              </a:rPr>
              <a:t>BMC Pregnancy &amp; Childbirth (Open Access, Impact Factor 3.1)</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38" name="Rectangle"/>
          <p:cNvSpPr>
            <a:spLocks/>
          </p:cNvSpPr>
          <p:nvPr/>
        </p:nvSpPr>
        <p:spPr>
          <a:xfrm>
            <a:off x="320040" y="4864608"/>
            <a:ext cx="8503920" cy="24688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dirty="0">
                <a:solidFill>
                  <a:srgbClr val="0A7C6E"/>
                </a:solidFill>
                <a:latin typeface="Calibri" charset="0"/>
                <a:ea typeface="Calibri" charset="0"/>
                <a:cs typeface="Calibri" charset="0"/>
              </a:rPr>
              <a:t>Result: In under 30 seconds, Dr. Sakinat has 5 structured research directions with methodology and journal targets!</a:t>
            </a:r>
            <a:endParaRPr lang="zh-CN" altLang="en-US" sz="1100" b="0" i="0" u="none" strike="noStrike" kern="1200" cap="none" spc="0" baseline="0" dirty="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780778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AF7"/>
        </a:solidFill>
        <a:effectLst/>
      </p:bgPr>
    </p:bg>
    <p:spTree>
      <p:nvGrpSpPr>
        <p:cNvPr id="1" name=""/>
        <p:cNvGrpSpPr/>
        <p:nvPr/>
      </p:nvGrpSpPr>
      <p:grpSpPr>
        <a:xfrm>
          <a:off x="0" y="0"/>
          <a:ext cx="0" cy="0"/>
          <a:chOff x="0" y="0"/>
          <a:chExt cx="0" cy="0"/>
        </a:xfrm>
      </p:grpSpPr>
      <p:sp>
        <p:nvSpPr>
          <p:cNvPr id="339" name="Rectangle"/>
          <p:cNvSpPr>
            <a:spLocks/>
          </p:cNvSpPr>
          <p:nvPr/>
        </p:nvSpPr>
        <p:spPr>
          <a:xfrm>
            <a:off x="0" y="0"/>
            <a:ext cx="9144000" cy="960120"/>
          </a:xfrm>
          <a:prstGeom prst="rect">
            <a:avLst/>
          </a:prstGeom>
          <a:solidFill>
            <a:srgbClr val="0D2137"/>
          </a:solidFill>
          <a:ln w="12700" cap="flat" cmpd="sng">
            <a:solidFill>
              <a:srgbClr val="0D2137"/>
            </a:solidFill>
            <a:prstDash val="solid"/>
            <a:round/>
          </a:ln>
        </p:spPr>
        <p:txBody>
          <a:bodyPr/>
          <a:lstStyle/>
          <a:p>
            <a:endParaRPr lang="en-GB"/>
          </a:p>
        </p:txBody>
      </p:sp>
      <p:sp>
        <p:nvSpPr>
          <p:cNvPr id="340"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FFFFFF"/>
                </a:solidFill>
                <a:latin typeface="Arial Black" pitchFamily="34" charset="0"/>
                <a:ea typeface="Arial Black" pitchFamily="34" charset="0"/>
                <a:cs typeface="Arial Black" pitchFamily="34" charset="0"/>
              </a:rPr>
              <a:t>Example 2: Analyzing a Research Paper with Claude</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341" name="Rectangle"/>
          <p:cNvSpPr>
            <a:spLocks/>
          </p:cNvSpPr>
          <p:nvPr/>
        </p:nvSpPr>
        <p:spPr>
          <a:xfrm>
            <a:off x="320040" y="1024127"/>
            <a:ext cx="8503920" cy="438912"/>
          </a:xfrm>
          <a:prstGeom prst="rect">
            <a:avLst/>
          </a:prstGeom>
          <a:solidFill>
            <a:srgbClr val="FEF3C7"/>
          </a:solidFill>
          <a:ln w="12700" cap="flat" cmpd="sng">
            <a:solidFill>
              <a:srgbClr val="F59E0B"/>
            </a:solidFill>
            <a:prstDash val="solid"/>
            <a:round/>
          </a:ln>
        </p:spPr>
        <p:txBody>
          <a:bodyPr/>
          <a:lstStyle/>
          <a:p>
            <a:endParaRPr lang="en-GB"/>
          </a:p>
        </p:txBody>
      </p:sp>
      <p:sp>
        <p:nvSpPr>
          <p:cNvPr id="342" name="Rectangle"/>
          <p:cNvSpPr>
            <a:spLocks/>
          </p:cNvSpPr>
          <p:nvPr/>
        </p:nvSpPr>
        <p:spPr>
          <a:xfrm>
            <a:off x="411480" y="1051560"/>
            <a:ext cx="8321040" cy="384047"/>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150" b="0" i="1" u="none" strike="noStrike" kern="1200" cap="none" spc="0" baseline="0" dirty="0">
                <a:solidFill>
                  <a:srgbClr val="92400E"/>
                </a:solidFill>
                <a:latin typeface="Calibri" charset="0"/>
                <a:ea typeface="Calibri" charset="0"/>
                <a:cs typeface="Calibri" charset="0"/>
              </a:rPr>
              <a:t>SCENARIO: Prof. Sakinat Tijani downloaded a 40-page journal article but has only 20 minutes before his postgraduate seminar. He needs the key insights FAST.</a:t>
            </a:r>
            <a:endParaRPr lang="zh-CN" altLang="en-US" sz="1150" b="0" i="0" u="none" strike="noStrike" kern="1200" cap="none" spc="0" baseline="0" dirty="0">
              <a:solidFill>
                <a:schemeClr val="tx1"/>
              </a:solidFill>
              <a:latin typeface="Calibri" charset="0"/>
              <a:ea typeface="等线" charset="0"/>
              <a:cs typeface="Calibri" charset="0"/>
            </a:endParaRPr>
          </a:p>
        </p:txBody>
      </p:sp>
      <p:sp>
        <p:nvSpPr>
          <p:cNvPr id="343" name="Rectangle"/>
          <p:cNvSpPr>
            <a:spLocks/>
          </p:cNvSpPr>
          <p:nvPr/>
        </p:nvSpPr>
        <p:spPr>
          <a:xfrm>
            <a:off x="320040" y="1572768"/>
            <a:ext cx="4160520" cy="3383279"/>
          </a:xfrm>
          <a:prstGeom prst="rect">
            <a:avLst/>
          </a:prstGeom>
          <a:solidFill>
            <a:srgbClr val="FFFFFF"/>
          </a:solidFill>
          <a:ln w="12700" cap="flat" cmpd="sng">
            <a:solidFill>
              <a:srgbClr val="3B82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344" name="Rectangle"/>
          <p:cNvSpPr>
            <a:spLocks/>
          </p:cNvSpPr>
          <p:nvPr/>
        </p:nvSpPr>
        <p:spPr>
          <a:xfrm>
            <a:off x="320040" y="1572768"/>
            <a:ext cx="4160520" cy="411480"/>
          </a:xfrm>
          <a:prstGeom prst="rect">
            <a:avLst/>
          </a:prstGeom>
          <a:solidFill>
            <a:srgbClr val="3B82F6"/>
          </a:solidFill>
          <a:ln w="12700" cap="flat" cmpd="sng">
            <a:solidFill>
              <a:srgbClr val="3B82F6"/>
            </a:solidFill>
            <a:prstDash val="solid"/>
            <a:round/>
          </a:ln>
        </p:spPr>
        <p:txBody>
          <a:bodyPr/>
          <a:lstStyle/>
          <a:p>
            <a:endParaRPr lang="en-GB"/>
          </a:p>
        </p:txBody>
      </p:sp>
      <p:sp>
        <p:nvSpPr>
          <p:cNvPr id="345" name="Rectangle"/>
          <p:cNvSpPr>
            <a:spLocks/>
          </p:cNvSpPr>
          <p:nvPr/>
        </p:nvSpPr>
        <p:spPr>
          <a:xfrm>
            <a:off x="411480" y="1609344"/>
            <a:ext cx="406908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dirty="0">
                <a:solidFill>
                  <a:srgbClr val="FFFFFF"/>
                </a:solidFill>
                <a:latin typeface="Arial Black" pitchFamily="34" charset="0"/>
                <a:ea typeface="Arial Black" pitchFamily="34" charset="0"/>
                <a:cs typeface="Arial Black" pitchFamily="34" charset="0"/>
              </a:rPr>
              <a:t>What Prof. Sakinat Tijani Does</a:t>
            </a:r>
            <a:endParaRPr lang="zh-CN" altLang="en-US" sz="1400" b="0" i="0" u="none" strike="noStrike" kern="1200" cap="none" spc="0" baseline="0" dirty="0">
              <a:solidFill>
                <a:schemeClr val="tx1"/>
              </a:solidFill>
              <a:latin typeface="Calibri" charset="0"/>
              <a:ea typeface="等线" charset="0"/>
              <a:cs typeface="Calibri" charset="0"/>
            </a:endParaRPr>
          </a:p>
        </p:txBody>
      </p:sp>
      <p:sp>
        <p:nvSpPr>
          <p:cNvPr id="346" name="Rectangle"/>
          <p:cNvSpPr>
            <a:spLocks/>
          </p:cNvSpPr>
          <p:nvPr/>
        </p:nvSpPr>
        <p:spPr>
          <a:xfrm>
            <a:off x="457200" y="2075688"/>
            <a:ext cx="3931920" cy="640080"/>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dirty="0">
                <a:solidFill>
                  <a:srgbClr val="0D2137"/>
                </a:solidFill>
                <a:latin typeface="Calibri" charset="0"/>
                <a:ea typeface="Calibri" charset="0"/>
                <a:cs typeface="Calibri" charset="0"/>
              </a:rPr>
              <a:t>1.  Opens Claude.ai and uploads the PDF</a:t>
            </a:r>
            <a:endParaRPr lang="zh-CN" altLang="en-US" sz="1100" b="0" i="0" u="none" strike="noStrike" kern="1200" cap="none" spc="0" baseline="0" dirty="0">
              <a:solidFill>
                <a:schemeClr val="tx1"/>
              </a:solidFill>
              <a:latin typeface="Calibri" charset="0"/>
              <a:ea typeface="等线" charset="0"/>
              <a:cs typeface="Calibri" charset="0"/>
            </a:endParaRPr>
          </a:p>
        </p:txBody>
      </p:sp>
      <p:sp>
        <p:nvSpPr>
          <p:cNvPr id="347" name="Rectangle"/>
          <p:cNvSpPr>
            <a:spLocks/>
          </p:cNvSpPr>
          <p:nvPr/>
        </p:nvSpPr>
        <p:spPr>
          <a:xfrm>
            <a:off x="457200" y="2770632"/>
            <a:ext cx="3931920" cy="640079"/>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0D2137"/>
                </a:solidFill>
                <a:latin typeface="Calibri" charset="0"/>
                <a:ea typeface="Calibri" charset="0"/>
                <a:cs typeface="Calibri" charset="0"/>
              </a:rPr>
              <a:t>2.  Types: "Summarize this paper in 5 bullet points. What is the main argument? What methodology did the authors use? What are 2 weaknesses you notice?"</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348" name="Rectangle"/>
          <p:cNvSpPr>
            <a:spLocks/>
          </p:cNvSpPr>
          <p:nvPr/>
        </p:nvSpPr>
        <p:spPr>
          <a:xfrm>
            <a:off x="457200" y="3465576"/>
            <a:ext cx="3931920" cy="640079"/>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0D2137"/>
                </a:solidFill>
                <a:latin typeface="Calibri" charset="0"/>
                <a:ea typeface="Calibri" charset="0"/>
                <a:cs typeface="Calibri" charset="0"/>
              </a:rPr>
              <a:t>3.  Follows up: "How does this relate to healthcare delivery in low-income countries?"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349" name="Rectangle"/>
          <p:cNvSpPr>
            <a:spLocks/>
          </p:cNvSpPr>
          <p:nvPr/>
        </p:nvSpPr>
        <p:spPr>
          <a:xfrm>
            <a:off x="457200" y="4160520"/>
            <a:ext cx="3931920" cy="640079"/>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100" b="0" i="0" u="none" strike="noStrike" kern="1200" cap="none" spc="0" baseline="0">
                <a:solidFill>
                  <a:srgbClr val="0D2137"/>
                </a:solidFill>
                <a:latin typeface="Calibri" charset="0"/>
                <a:ea typeface="Calibri" charset="0"/>
                <a:cs typeface="Calibri" charset="0"/>
              </a:rPr>
              <a:t>4.  Finally: "Generate 3 discussion questions I can ask my postgraduate students about this paper"</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350" name="Rectangle"/>
          <p:cNvSpPr>
            <a:spLocks/>
          </p:cNvSpPr>
          <p:nvPr/>
        </p:nvSpPr>
        <p:spPr>
          <a:xfrm>
            <a:off x="4709160" y="1572768"/>
            <a:ext cx="4160520" cy="3383279"/>
          </a:xfrm>
          <a:prstGeom prst="rect">
            <a:avLst/>
          </a:prstGeom>
          <a:solidFill>
            <a:srgbClr val="FFFFFF"/>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351" name="Rectangle"/>
          <p:cNvSpPr>
            <a:spLocks/>
          </p:cNvSpPr>
          <p:nvPr/>
        </p:nvSpPr>
        <p:spPr>
          <a:xfrm>
            <a:off x="4709160" y="1572768"/>
            <a:ext cx="4160520" cy="411480"/>
          </a:xfrm>
          <a:prstGeom prst="rect">
            <a:avLst/>
          </a:prstGeom>
          <a:solidFill>
            <a:srgbClr val="0A7C6E"/>
          </a:solidFill>
          <a:ln w="12700" cap="flat" cmpd="sng">
            <a:solidFill>
              <a:srgbClr val="0A7C6E"/>
            </a:solidFill>
            <a:prstDash val="solid"/>
            <a:round/>
          </a:ln>
        </p:spPr>
        <p:txBody>
          <a:bodyPr/>
          <a:lstStyle/>
          <a:p>
            <a:endParaRPr lang="en-GB"/>
          </a:p>
        </p:txBody>
      </p:sp>
      <p:sp>
        <p:nvSpPr>
          <p:cNvPr id="352" name="Rectangle"/>
          <p:cNvSpPr>
            <a:spLocks/>
          </p:cNvSpPr>
          <p:nvPr/>
        </p:nvSpPr>
        <p:spPr>
          <a:xfrm>
            <a:off x="4800600" y="1609344"/>
            <a:ext cx="406908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400" b="1" i="0" u="none" strike="noStrike" kern="1200" cap="none" spc="0" baseline="0">
                <a:solidFill>
                  <a:srgbClr val="FFFFFF"/>
                </a:solidFill>
                <a:latin typeface="Arial Black" pitchFamily="34" charset="0"/>
                <a:ea typeface="Arial Black" pitchFamily="34" charset="0"/>
                <a:cs typeface="Arial Black" pitchFamily="34" charset="0"/>
              </a:rPr>
              <a:t>Claude's Output (excerpt)</a:t>
            </a:r>
            <a:endParaRPr lang="zh-CN" altLang="en-US" sz="1400" b="0" i="0" u="none" strike="noStrike" kern="1200" cap="none" spc="0" baseline="0">
              <a:solidFill>
                <a:schemeClr val="tx1"/>
              </a:solidFill>
              <a:latin typeface="Calibri" charset="0"/>
              <a:ea typeface="等线" charset="0"/>
              <a:cs typeface="Calibri" charset="0"/>
            </a:endParaRPr>
          </a:p>
        </p:txBody>
      </p:sp>
      <p:sp>
        <p:nvSpPr>
          <p:cNvPr id="353" name="Rectangle"/>
          <p:cNvSpPr>
            <a:spLocks/>
          </p:cNvSpPr>
          <p:nvPr/>
        </p:nvSpPr>
        <p:spPr>
          <a:xfrm>
            <a:off x="4846320" y="2084832"/>
            <a:ext cx="91439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0A7C6E"/>
                </a:solidFill>
                <a:latin typeface="Calibri" charset="0"/>
                <a:ea typeface="Calibri" charset="0"/>
                <a:cs typeface="Calibri" charset="0"/>
              </a:rPr>
              <a:t>Summary:</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54" name="Rectangle"/>
          <p:cNvSpPr>
            <a:spLocks/>
          </p:cNvSpPr>
          <p:nvPr/>
        </p:nvSpPr>
        <p:spPr>
          <a:xfrm>
            <a:off x="4846320" y="2322576"/>
            <a:ext cx="3931920" cy="40233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1" u="none" strike="noStrike" kern="1200" cap="none" spc="0" baseline="0">
                <a:solidFill>
                  <a:srgbClr val="1E4D3B"/>
                </a:solidFill>
                <a:latin typeface="Calibri" charset="0"/>
                <a:ea typeface="Calibri" charset="0"/>
                <a:cs typeface="Calibri" charset="0"/>
              </a:rPr>
              <a:t>The paper examines how community health worker programs reduce maternal mortality in 3 West African nations...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55" name="Rectangle"/>
          <p:cNvSpPr>
            <a:spLocks/>
          </p:cNvSpPr>
          <p:nvPr/>
        </p:nvSpPr>
        <p:spPr>
          <a:xfrm>
            <a:off x="4846320" y="2788920"/>
            <a:ext cx="91439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0A7C6E"/>
                </a:solidFill>
                <a:latin typeface="Calibri" charset="0"/>
                <a:ea typeface="Calibri" charset="0"/>
                <a:cs typeface="Calibri" charset="0"/>
              </a:rPr>
              <a:t>Method:</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56" name="Rectangle"/>
          <p:cNvSpPr>
            <a:spLocks/>
          </p:cNvSpPr>
          <p:nvPr/>
        </p:nvSpPr>
        <p:spPr>
          <a:xfrm>
            <a:off x="4846320" y="3026663"/>
            <a:ext cx="3931920" cy="4023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1" u="none" strike="noStrike" kern="1200" cap="none" spc="0" baseline="0">
                <a:solidFill>
                  <a:srgbClr val="1E4D3B"/>
                </a:solidFill>
                <a:latin typeface="Calibri" charset="0"/>
                <a:ea typeface="Calibri" charset="0"/>
                <a:cs typeface="Calibri" charset="0"/>
              </a:rPr>
              <a:t>Quasi-experimental design with 1,200 participants across 6 districts, 2018-2022.</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57" name="Rectangle"/>
          <p:cNvSpPr>
            <a:spLocks/>
          </p:cNvSpPr>
          <p:nvPr/>
        </p:nvSpPr>
        <p:spPr>
          <a:xfrm>
            <a:off x="4846320" y="3493008"/>
            <a:ext cx="91439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0A7C6E"/>
                </a:solidFill>
                <a:latin typeface="Calibri" charset="0"/>
                <a:ea typeface="Calibri" charset="0"/>
                <a:cs typeface="Calibri" charset="0"/>
              </a:rPr>
              <a:t>Weakness 1:</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58" name="Rectangle"/>
          <p:cNvSpPr>
            <a:spLocks/>
          </p:cNvSpPr>
          <p:nvPr/>
        </p:nvSpPr>
        <p:spPr>
          <a:xfrm>
            <a:off x="4846320" y="3730752"/>
            <a:ext cx="3931920" cy="402336"/>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1" u="none" strike="noStrike" kern="1200" cap="none" spc="0" baseline="0">
                <a:solidFill>
                  <a:srgbClr val="1E4D3B"/>
                </a:solidFill>
                <a:latin typeface="Calibri" charset="0"/>
                <a:ea typeface="Calibri" charset="0"/>
                <a:cs typeface="Calibri" charset="0"/>
              </a:rPr>
              <a:t>Selection bias - only volunteers participated; may not represent reluctant community members.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59" name="Rectangle"/>
          <p:cNvSpPr>
            <a:spLocks/>
          </p:cNvSpPr>
          <p:nvPr/>
        </p:nvSpPr>
        <p:spPr>
          <a:xfrm>
            <a:off x="4846320" y="4197096"/>
            <a:ext cx="91439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0A7C6E"/>
                </a:solidFill>
                <a:latin typeface="Calibri" charset="0"/>
                <a:ea typeface="Calibri" charset="0"/>
                <a:cs typeface="Calibri" charset="0"/>
              </a:rPr>
              <a:t>Discussion Q:</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60" name="Rectangle"/>
          <p:cNvSpPr>
            <a:spLocks/>
          </p:cNvSpPr>
          <p:nvPr/>
        </p:nvSpPr>
        <p:spPr>
          <a:xfrm>
            <a:off x="4846320" y="4434840"/>
            <a:ext cx="3931920" cy="40233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1" u="none" strike="noStrike" kern="1200" cap="none" spc="0" baseline="0">
                <a:solidFill>
                  <a:srgbClr val="1E4D3B"/>
                </a:solidFill>
                <a:latin typeface="Calibri" charset="0"/>
                <a:ea typeface="Calibri" charset="0"/>
                <a:cs typeface="Calibri" charset="0"/>
              </a:rPr>
              <a:t>"To what extent can this model be replicated in Nigeria's primary health care system?"</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61" name="Rectangle"/>
          <p:cNvSpPr>
            <a:spLocks/>
          </p:cNvSpPr>
          <p:nvPr/>
        </p:nvSpPr>
        <p:spPr>
          <a:xfrm>
            <a:off x="320040" y="4873752"/>
            <a:ext cx="8503920" cy="24688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0D2137"/>
                </a:solidFill>
                <a:latin typeface="Calibri" charset="0"/>
                <a:ea typeface="Calibri" charset="0"/>
                <a:cs typeface="Calibri" charset="0"/>
              </a:rPr>
              <a:t>Time saved: ~60 minutes of reading condensed into 3 minutes of AI-assisted extraction!</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611440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2" name="Rectangle"/>
          <p:cNvSpPr>
            <a:spLocks/>
          </p:cNvSpPr>
          <p:nvPr/>
        </p:nvSpPr>
        <p:spPr>
          <a:xfrm>
            <a:off x="0" y="0"/>
            <a:ext cx="9144000" cy="960120"/>
          </a:xfrm>
          <a:prstGeom prst="rect">
            <a:avLst/>
          </a:prstGeom>
          <a:solidFill>
            <a:srgbClr val="8B5CF6"/>
          </a:solidFill>
          <a:ln w="12700" cap="flat" cmpd="sng">
            <a:solidFill>
              <a:srgbClr val="8B5CF6"/>
            </a:solidFill>
            <a:prstDash val="solid"/>
            <a:round/>
          </a:ln>
        </p:spPr>
        <p:txBody>
          <a:bodyPr/>
          <a:lstStyle/>
          <a:p>
            <a:endParaRPr lang="en-GB"/>
          </a:p>
        </p:txBody>
      </p:sp>
      <p:sp>
        <p:nvSpPr>
          <p:cNvPr id="363"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FFFFFF"/>
                </a:solidFill>
                <a:latin typeface="Arial Black" pitchFamily="34" charset="0"/>
                <a:ea typeface="Arial Black" pitchFamily="34" charset="0"/>
                <a:cs typeface="Arial Black" pitchFamily="34" charset="0"/>
              </a:rPr>
              <a:t>Example 3: Literature Review in 10 Minutes Using Elicit</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364" name="Rectangle"/>
          <p:cNvSpPr>
            <a:spLocks/>
          </p:cNvSpPr>
          <p:nvPr/>
        </p:nvSpPr>
        <p:spPr>
          <a:xfrm>
            <a:off x="320040" y="1024127"/>
            <a:ext cx="8503920" cy="438912"/>
          </a:xfrm>
          <a:prstGeom prst="rect">
            <a:avLst/>
          </a:prstGeom>
          <a:solidFill>
            <a:srgbClr val="FEF3C7"/>
          </a:solidFill>
          <a:ln w="12700" cap="flat" cmpd="sng">
            <a:solidFill>
              <a:srgbClr val="F59E0B"/>
            </a:solidFill>
            <a:prstDash val="solid"/>
            <a:round/>
          </a:ln>
        </p:spPr>
        <p:txBody>
          <a:bodyPr/>
          <a:lstStyle/>
          <a:p>
            <a:endParaRPr lang="en-GB"/>
          </a:p>
        </p:txBody>
      </p:sp>
      <p:sp>
        <p:nvSpPr>
          <p:cNvPr id="365" name="Rectangle"/>
          <p:cNvSpPr>
            <a:spLocks/>
          </p:cNvSpPr>
          <p:nvPr/>
        </p:nvSpPr>
        <p:spPr>
          <a:xfrm>
            <a:off x="411480" y="1051560"/>
            <a:ext cx="8321040" cy="384047"/>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150" b="0" i="1" u="none" strike="noStrike" kern="1200" cap="none" spc="0" baseline="0">
                <a:solidFill>
                  <a:srgbClr val="92400E"/>
                </a:solidFill>
                <a:latin typeface="Calibri" charset="0"/>
                <a:ea typeface="Calibri" charset="0"/>
                <a:cs typeface="Calibri" charset="0"/>
              </a:rPr>
              <a:t>SCENARIO: PhD student Fatima needs to write the literature review section for her proposal on "AI adoption in Nigerian secondary schools." She has no idea where to start.</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366" name="Rectangle"/>
          <p:cNvSpPr>
            <a:spLocks/>
          </p:cNvSpPr>
          <p:nvPr/>
        </p:nvSpPr>
        <p:spPr>
          <a:xfrm>
            <a:off x="320040" y="1581911"/>
            <a:ext cx="4160520" cy="1508759"/>
          </a:xfrm>
          <a:prstGeom prst="rect">
            <a:avLst/>
          </a:prstGeom>
          <a:solidFill>
            <a:srgbClr val="F0FAF7"/>
          </a:solidFill>
          <a:ln w="12700" cap="flat" cmpd="sng">
            <a:solidFill>
              <a:srgbClr val="8B5C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367" name="Rectangle"/>
          <p:cNvSpPr>
            <a:spLocks/>
          </p:cNvSpPr>
          <p:nvPr/>
        </p:nvSpPr>
        <p:spPr>
          <a:xfrm>
            <a:off x="320040" y="1581911"/>
            <a:ext cx="73152" cy="1508759"/>
          </a:xfrm>
          <a:prstGeom prst="rect">
            <a:avLst/>
          </a:prstGeom>
          <a:solidFill>
            <a:srgbClr val="8B5CF6"/>
          </a:solidFill>
          <a:ln w="12700" cap="flat" cmpd="sng">
            <a:solidFill>
              <a:srgbClr val="8B5CF6"/>
            </a:solidFill>
            <a:prstDash val="solid"/>
            <a:round/>
          </a:ln>
        </p:spPr>
        <p:txBody>
          <a:bodyPr/>
          <a:lstStyle/>
          <a:p>
            <a:endParaRPr lang="en-GB"/>
          </a:p>
        </p:txBody>
      </p:sp>
      <p:sp>
        <p:nvSpPr>
          <p:cNvPr id="368" name="Oval"/>
          <p:cNvSpPr>
            <a:spLocks/>
          </p:cNvSpPr>
          <p:nvPr/>
        </p:nvSpPr>
        <p:spPr>
          <a:xfrm>
            <a:off x="484631" y="1691639"/>
            <a:ext cx="502919" cy="502919"/>
          </a:xfrm>
          <a:prstGeom prst="ellipse">
            <a:avLst/>
          </a:prstGeom>
          <a:solidFill>
            <a:srgbClr val="8B5CF6"/>
          </a:solidFill>
          <a:ln w="12700" cap="flat" cmpd="sng">
            <a:solidFill>
              <a:srgbClr val="8B5CF6"/>
            </a:solidFill>
            <a:prstDash val="solid"/>
            <a:round/>
          </a:ln>
        </p:spPr>
        <p:txBody>
          <a:bodyPr/>
          <a:lstStyle/>
          <a:p>
            <a:endParaRPr lang="en-GB"/>
          </a:p>
        </p:txBody>
      </p:sp>
      <p:sp>
        <p:nvSpPr>
          <p:cNvPr id="369" name="Rectangle"/>
          <p:cNvSpPr>
            <a:spLocks/>
          </p:cNvSpPr>
          <p:nvPr/>
        </p:nvSpPr>
        <p:spPr>
          <a:xfrm>
            <a:off x="484631" y="1691639"/>
            <a:ext cx="502919" cy="5029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300" b="1" i="0" u="none" strike="noStrike" kern="1200" cap="none" spc="0" baseline="0">
                <a:solidFill>
                  <a:srgbClr val="FFFFFF"/>
                </a:solidFill>
                <a:latin typeface="Arial Black" pitchFamily="34" charset="0"/>
                <a:ea typeface="Arial Black" pitchFamily="34" charset="0"/>
                <a:cs typeface="Arial Black" pitchFamily="34" charset="0"/>
              </a:rPr>
              <a:t>01</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70" name="Rectangle"/>
          <p:cNvSpPr>
            <a:spLocks/>
          </p:cNvSpPr>
          <p:nvPr/>
        </p:nvSpPr>
        <p:spPr>
          <a:xfrm>
            <a:off x="1124712" y="1691639"/>
            <a:ext cx="32004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0D2137"/>
                </a:solidFill>
                <a:latin typeface="Arial Black" pitchFamily="34" charset="0"/>
                <a:ea typeface="Arial Black" pitchFamily="34" charset="0"/>
                <a:cs typeface="Arial Black" pitchFamily="34" charset="0"/>
              </a:rPr>
              <a:t>Go to elicit.com</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71" name="Rectangle"/>
          <p:cNvSpPr>
            <a:spLocks/>
          </p:cNvSpPr>
          <p:nvPr/>
        </p:nvSpPr>
        <p:spPr>
          <a:xfrm>
            <a:off x="484631" y="2240280"/>
            <a:ext cx="3886200" cy="804672"/>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Type her research question: "What factors affect AI adoption in secondary education in developing countries?" — Elicit searches 200M+ papers automatically.</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72" name="Rectangle"/>
          <p:cNvSpPr>
            <a:spLocks/>
          </p:cNvSpPr>
          <p:nvPr/>
        </p:nvSpPr>
        <p:spPr>
          <a:xfrm>
            <a:off x="4754880" y="1581911"/>
            <a:ext cx="4160520" cy="1508759"/>
          </a:xfrm>
          <a:prstGeom prst="rect">
            <a:avLst/>
          </a:prstGeom>
          <a:solidFill>
            <a:srgbClr val="F0FAF7"/>
          </a:solidFill>
          <a:ln w="12700" cap="flat" cmpd="sng">
            <a:solidFill>
              <a:srgbClr val="3B82F6"/>
            </a:solidFill>
            <a:prstDash val="solid"/>
            <a:round/>
          </a:ln>
          <a:effectLst>
            <a:outerShdw blurRad="101600" dist="38100" dir="8100000" algn="bl" rotWithShape="0">
              <a:srgbClr val="000000">
                <a:alpha val="11764"/>
              </a:srgbClr>
            </a:outerShdw>
          </a:effectLst>
        </p:spPr>
        <p:txBody>
          <a:bodyPr/>
          <a:lstStyle/>
          <a:p>
            <a:endParaRPr lang="en-GB"/>
          </a:p>
        </p:txBody>
      </p:sp>
      <p:sp>
        <p:nvSpPr>
          <p:cNvPr id="373" name="Rectangle"/>
          <p:cNvSpPr>
            <a:spLocks/>
          </p:cNvSpPr>
          <p:nvPr/>
        </p:nvSpPr>
        <p:spPr>
          <a:xfrm>
            <a:off x="4754880" y="1581911"/>
            <a:ext cx="73151" cy="1508759"/>
          </a:xfrm>
          <a:prstGeom prst="rect">
            <a:avLst/>
          </a:prstGeom>
          <a:solidFill>
            <a:srgbClr val="3B82F6"/>
          </a:solidFill>
          <a:ln w="12700" cap="flat" cmpd="sng">
            <a:solidFill>
              <a:srgbClr val="3B82F6"/>
            </a:solidFill>
            <a:prstDash val="solid"/>
            <a:round/>
          </a:ln>
        </p:spPr>
        <p:txBody>
          <a:bodyPr/>
          <a:lstStyle/>
          <a:p>
            <a:endParaRPr lang="en-GB"/>
          </a:p>
        </p:txBody>
      </p:sp>
      <p:sp>
        <p:nvSpPr>
          <p:cNvPr id="374" name="Oval"/>
          <p:cNvSpPr>
            <a:spLocks/>
          </p:cNvSpPr>
          <p:nvPr/>
        </p:nvSpPr>
        <p:spPr>
          <a:xfrm>
            <a:off x="4919471" y="1691639"/>
            <a:ext cx="502919" cy="502919"/>
          </a:xfrm>
          <a:prstGeom prst="ellipse">
            <a:avLst/>
          </a:prstGeom>
          <a:solidFill>
            <a:srgbClr val="3B82F6"/>
          </a:solidFill>
          <a:ln w="12700" cap="flat" cmpd="sng">
            <a:solidFill>
              <a:srgbClr val="3B82F6"/>
            </a:solidFill>
            <a:prstDash val="solid"/>
            <a:round/>
          </a:ln>
        </p:spPr>
        <p:txBody>
          <a:bodyPr/>
          <a:lstStyle/>
          <a:p>
            <a:endParaRPr lang="en-GB"/>
          </a:p>
        </p:txBody>
      </p:sp>
      <p:sp>
        <p:nvSpPr>
          <p:cNvPr id="375" name="Rectangle"/>
          <p:cNvSpPr>
            <a:spLocks/>
          </p:cNvSpPr>
          <p:nvPr/>
        </p:nvSpPr>
        <p:spPr>
          <a:xfrm>
            <a:off x="4919471" y="1691639"/>
            <a:ext cx="502919" cy="50291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300" b="1" i="0" u="none" strike="noStrike" kern="1200" cap="none" spc="0" baseline="0">
                <a:solidFill>
                  <a:srgbClr val="FFFFFF"/>
                </a:solidFill>
                <a:latin typeface="Arial Black" pitchFamily="34" charset="0"/>
                <a:ea typeface="Arial Black" pitchFamily="34" charset="0"/>
                <a:cs typeface="Arial Black" pitchFamily="34" charset="0"/>
              </a:rPr>
              <a:t>02</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76" name="Rectangle"/>
          <p:cNvSpPr>
            <a:spLocks/>
          </p:cNvSpPr>
          <p:nvPr/>
        </p:nvSpPr>
        <p:spPr>
          <a:xfrm>
            <a:off x="5559552" y="1691639"/>
            <a:ext cx="32004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0D2137"/>
                </a:solidFill>
                <a:latin typeface="Arial Black" pitchFamily="34" charset="0"/>
                <a:ea typeface="Arial Black" pitchFamily="34" charset="0"/>
                <a:cs typeface="Arial Black" pitchFamily="34" charset="0"/>
              </a:rPr>
              <a:t>Filter Results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77" name="Rectangle"/>
          <p:cNvSpPr>
            <a:spLocks/>
          </p:cNvSpPr>
          <p:nvPr/>
        </p:nvSpPr>
        <p:spPr>
          <a:xfrm>
            <a:off x="4919471" y="2240280"/>
            <a:ext cx="3886200" cy="804672"/>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Elicit shows 30+ relevant papers ranked by relevance. Fatima filters by year (2019-2024) and study type (empirical). She gets 12 high-quality papers in seconds.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78" name="Rectangle"/>
          <p:cNvSpPr>
            <a:spLocks/>
          </p:cNvSpPr>
          <p:nvPr/>
        </p:nvSpPr>
        <p:spPr>
          <a:xfrm>
            <a:off x="320040" y="3209543"/>
            <a:ext cx="4160520" cy="1508759"/>
          </a:xfrm>
          <a:prstGeom prst="rect">
            <a:avLst/>
          </a:prstGeom>
          <a:solidFill>
            <a:srgbClr val="F0FAF7"/>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379" name="Rectangle"/>
          <p:cNvSpPr>
            <a:spLocks/>
          </p:cNvSpPr>
          <p:nvPr/>
        </p:nvSpPr>
        <p:spPr>
          <a:xfrm>
            <a:off x="320040" y="3209543"/>
            <a:ext cx="73152" cy="1508759"/>
          </a:xfrm>
          <a:prstGeom prst="rect">
            <a:avLst/>
          </a:prstGeom>
          <a:solidFill>
            <a:srgbClr val="0A7C6E"/>
          </a:solidFill>
          <a:ln w="12700" cap="flat" cmpd="sng">
            <a:solidFill>
              <a:srgbClr val="0A7C6E"/>
            </a:solidFill>
            <a:prstDash val="solid"/>
            <a:round/>
          </a:ln>
        </p:spPr>
        <p:txBody>
          <a:bodyPr/>
          <a:lstStyle/>
          <a:p>
            <a:endParaRPr lang="en-GB"/>
          </a:p>
        </p:txBody>
      </p:sp>
      <p:sp>
        <p:nvSpPr>
          <p:cNvPr id="380" name="Oval"/>
          <p:cNvSpPr>
            <a:spLocks/>
          </p:cNvSpPr>
          <p:nvPr/>
        </p:nvSpPr>
        <p:spPr>
          <a:xfrm>
            <a:off x="484631" y="3319272"/>
            <a:ext cx="502919" cy="502920"/>
          </a:xfrm>
          <a:prstGeom prst="ellipse">
            <a:avLst/>
          </a:prstGeom>
          <a:solidFill>
            <a:srgbClr val="0A7C6E"/>
          </a:solidFill>
          <a:ln w="12700" cap="flat" cmpd="sng">
            <a:solidFill>
              <a:srgbClr val="0A7C6E"/>
            </a:solidFill>
            <a:prstDash val="solid"/>
            <a:round/>
          </a:ln>
        </p:spPr>
        <p:txBody>
          <a:bodyPr/>
          <a:lstStyle/>
          <a:p>
            <a:endParaRPr lang="en-GB"/>
          </a:p>
        </p:txBody>
      </p:sp>
      <p:sp>
        <p:nvSpPr>
          <p:cNvPr id="381" name="Rectangle"/>
          <p:cNvSpPr>
            <a:spLocks/>
          </p:cNvSpPr>
          <p:nvPr/>
        </p:nvSpPr>
        <p:spPr>
          <a:xfrm>
            <a:off x="484631" y="3319272"/>
            <a:ext cx="502919" cy="5029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300" b="1" i="0" u="none" strike="noStrike" kern="1200" cap="none" spc="0" baseline="0">
                <a:solidFill>
                  <a:srgbClr val="FFFFFF"/>
                </a:solidFill>
                <a:latin typeface="Arial Black" pitchFamily="34" charset="0"/>
                <a:ea typeface="Arial Black" pitchFamily="34" charset="0"/>
                <a:cs typeface="Arial Black" pitchFamily="34" charset="0"/>
              </a:rPr>
              <a:t>03</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82" name="Rectangle"/>
          <p:cNvSpPr>
            <a:spLocks/>
          </p:cNvSpPr>
          <p:nvPr/>
        </p:nvSpPr>
        <p:spPr>
          <a:xfrm>
            <a:off x="1124712" y="3319272"/>
            <a:ext cx="32004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0D2137"/>
                </a:solidFill>
                <a:latin typeface="Arial Black" pitchFamily="34" charset="0"/>
                <a:ea typeface="Arial Black" pitchFamily="34" charset="0"/>
                <a:cs typeface="Arial Black" pitchFamily="34" charset="0"/>
              </a:rPr>
              <a:t>Extract Key Data</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83" name="Rectangle"/>
          <p:cNvSpPr>
            <a:spLocks/>
          </p:cNvSpPr>
          <p:nvPr/>
        </p:nvSpPr>
        <p:spPr>
          <a:xfrm>
            <a:off x="484631" y="3867912"/>
            <a:ext cx="3886200" cy="804672"/>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She clicks "Extract data" and Elicit automatically pulls: findings, sample size, country, limitations — from all 12 papers at once. No manual reading needed yet.</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84" name="Rectangle"/>
          <p:cNvSpPr>
            <a:spLocks/>
          </p:cNvSpPr>
          <p:nvPr/>
        </p:nvSpPr>
        <p:spPr>
          <a:xfrm>
            <a:off x="4754880" y="3209543"/>
            <a:ext cx="4160520" cy="1508759"/>
          </a:xfrm>
          <a:prstGeom prst="rect">
            <a:avLst/>
          </a:prstGeom>
          <a:solidFill>
            <a:srgbClr val="F0FAF7"/>
          </a:solidFill>
          <a:ln w="12700" cap="flat" cmpd="sng">
            <a:solidFill>
              <a:srgbClr val="10B981"/>
            </a:solidFill>
            <a:prstDash val="solid"/>
            <a:round/>
          </a:ln>
          <a:effectLst>
            <a:outerShdw blurRad="101600" dist="38100" dir="8100000" algn="bl" rotWithShape="0">
              <a:srgbClr val="000000">
                <a:alpha val="11764"/>
              </a:srgbClr>
            </a:outerShdw>
          </a:effectLst>
        </p:spPr>
        <p:txBody>
          <a:bodyPr/>
          <a:lstStyle/>
          <a:p>
            <a:endParaRPr lang="en-GB"/>
          </a:p>
        </p:txBody>
      </p:sp>
      <p:sp>
        <p:nvSpPr>
          <p:cNvPr id="385" name="Rectangle"/>
          <p:cNvSpPr>
            <a:spLocks/>
          </p:cNvSpPr>
          <p:nvPr/>
        </p:nvSpPr>
        <p:spPr>
          <a:xfrm>
            <a:off x="4754880" y="3209543"/>
            <a:ext cx="73151" cy="1508759"/>
          </a:xfrm>
          <a:prstGeom prst="rect">
            <a:avLst/>
          </a:prstGeom>
          <a:solidFill>
            <a:srgbClr val="10B981"/>
          </a:solidFill>
          <a:ln w="12700" cap="flat" cmpd="sng">
            <a:solidFill>
              <a:srgbClr val="10B981"/>
            </a:solidFill>
            <a:prstDash val="solid"/>
            <a:round/>
          </a:ln>
        </p:spPr>
        <p:txBody>
          <a:bodyPr/>
          <a:lstStyle/>
          <a:p>
            <a:endParaRPr lang="en-GB"/>
          </a:p>
        </p:txBody>
      </p:sp>
      <p:sp>
        <p:nvSpPr>
          <p:cNvPr id="386" name="Oval"/>
          <p:cNvSpPr>
            <a:spLocks/>
          </p:cNvSpPr>
          <p:nvPr/>
        </p:nvSpPr>
        <p:spPr>
          <a:xfrm>
            <a:off x="4919471" y="3319272"/>
            <a:ext cx="502919" cy="502920"/>
          </a:xfrm>
          <a:prstGeom prst="ellipse">
            <a:avLst/>
          </a:prstGeom>
          <a:solidFill>
            <a:srgbClr val="10B981"/>
          </a:solidFill>
          <a:ln w="12700" cap="flat" cmpd="sng">
            <a:solidFill>
              <a:srgbClr val="10B981"/>
            </a:solidFill>
            <a:prstDash val="solid"/>
            <a:round/>
          </a:ln>
        </p:spPr>
        <p:txBody>
          <a:bodyPr/>
          <a:lstStyle/>
          <a:p>
            <a:endParaRPr lang="en-GB"/>
          </a:p>
        </p:txBody>
      </p:sp>
      <p:sp>
        <p:nvSpPr>
          <p:cNvPr id="387" name="Rectangle"/>
          <p:cNvSpPr>
            <a:spLocks/>
          </p:cNvSpPr>
          <p:nvPr/>
        </p:nvSpPr>
        <p:spPr>
          <a:xfrm>
            <a:off x="4919471" y="3319272"/>
            <a:ext cx="502919" cy="5029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300" b="1" i="0" u="none" strike="noStrike" kern="1200" cap="none" spc="0" baseline="0">
                <a:solidFill>
                  <a:srgbClr val="FFFFFF"/>
                </a:solidFill>
                <a:latin typeface="Arial Black" pitchFamily="34" charset="0"/>
                <a:ea typeface="Arial Black" pitchFamily="34" charset="0"/>
                <a:cs typeface="Arial Black" pitchFamily="34" charset="0"/>
              </a:rPr>
              <a:t>04</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88" name="Rectangle"/>
          <p:cNvSpPr>
            <a:spLocks/>
          </p:cNvSpPr>
          <p:nvPr/>
        </p:nvSpPr>
        <p:spPr>
          <a:xfrm>
            <a:off x="5559552" y="3319272"/>
            <a:ext cx="32004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0D2137"/>
                </a:solidFill>
                <a:latin typeface="Arial Black" pitchFamily="34" charset="0"/>
                <a:ea typeface="Arial Black" pitchFamily="34" charset="0"/>
                <a:cs typeface="Arial Black" pitchFamily="34" charset="0"/>
              </a:rPr>
              <a:t>Generate Summary</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389" name="Rectangle"/>
          <p:cNvSpPr>
            <a:spLocks/>
          </p:cNvSpPr>
          <p:nvPr/>
        </p:nvSpPr>
        <p:spPr>
          <a:xfrm>
            <a:off x="4919471" y="3867912"/>
            <a:ext cx="3886200" cy="804672"/>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She asks Elicit: "Summarize the main themes across these papers." It identifies 3 recurring themes: infrastructure gaps, teacher training, and curriculum misalignment.</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90" name="Rectangle"/>
          <p:cNvSpPr>
            <a:spLocks/>
          </p:cNvSpPr>
          <p:nvPr/>
        </p:nvSpPr>
        <p:spPr>
          <a:xfrm>
            <a:off x="320040" y="4864608"/>
            <a:ext cx="8503920" cy="24688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8B5CF6"/>
                </a:solidFill>
                <a:latin typeface="Calibri" charset="0"/>
                <a:ea typeface="Calibri" charset="0"/>
                <a:cs typeface="Calibri" charset="0"/>
              </a:rPr>
              <a:t>Result: A structured, evidence-based literature map in 10 minutes — ready to write from.</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2386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AF7"/>
        </a:solidFill>
        <a:effectLst/>
      </p:bgPr>
    </p:bg>
    <p:spTree>
      <p:nvGrpSpPr>
        <p:cNvPr id="1" name=""/>
        <p:cNvGrpSpPr/>
        <p:nvPr/>
      </p:nvGrpSpPr>
      <p:grpSpPr>
        <a:xfrm>
          <a:off x="0" y="0"/>
          <a:ext cx="0" cy="0"/>
          <a:chOff x="0" y="0"/>
          <a:chExt cx="0" cy="0"/>
        </a:xfrm>
      </p:grpSpPr>
      <p:sp>
        <p:nvSpPr>
          <p:cNvPr id="391" name="Rectangle"/>
          <p:cNvSpPr>
            <a:spLocks/>
          </p:cNvSpPr>
          <p:nvPr/>
        </p:nvSpPr>
        <p:spPr>
          <a:xfrm>
            <a:off x="0" y="0"/>
            <a:ext cx="9144000" cy="960120"/>
          </a:xfrm>
          <a:prstGeom prst="rect">
            <a:avLst/>
          </a:prstGeom>
          <a:solidFill>
            <a:srgbClr val="F59E0B"/>
          </a:solidFill>
          <a:ln w="12700" cap="flat" cmpd="sng">
            <a:solidFill>
              <a:srgbClr val="F59E0B"/>
            </a:solidFill>
            <a:prstDash val="solid"/>
            <a:round/>
          </a:ln>
        </p:spPr>
        <p:txBody>
          <a:bodyPr/>
          <a:lstStyle/>
          <a:p>
            <a:endParaRPr lang="en-GB"/>
          </a:p>
        </p:txBody>
      </p:sp>
      <p:sp>
        <p:nvSpPr>
          <p:cNvPr id="392"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0D2137"/>
                </a:solidFill>
                <a:latin typeface="Arial Black" pitchFamily="34" charset="0"/>
                <a:ea typeface="Arial Black" pitchFamily="34" charset="0"/>
                <a:cs typeface="Arial Black" pitchFamily="34" charset="0"/>
              </a:rPr>
              <a:t>Example 4: Building a Full Lesson Plan with ChatGPT</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393" name="Rectangle"/>
          <p:cNvSpPr>
            <a:spLocks/>
          </p:cNvSpPr>
          <p:nvPr/>
        </p:nvSpPr>
        <p:spPr>
          <a:xfrm>
            <a:off x="320040" y="1024127"/>
            <a:ext cx="8503920" cy="438912"/>
          </a:xfrm>
          <a:prstGeom prst="rect">
            <a:avLst/>
          </a:prstGeom>
          <a:solidFill>
            <a:srgbClr val="FEF3C7"/>
          </a:solidFill>
          <a:ln w="12700" cap="flat" cmpd="sng">
            <a:solidFill>
              <a:srgbClr val="F59E0B"/>
            </a:solidFill>
            <a:prstDash val="solid"/>
            <a:round/>
          </a:ln>
        </p:spPr>
        <p:txBody>
          <a:bodyPr/>
          <a:lstStyle/>
          <a:p>
            <a:endParaRPr lang="en-GB"/>
          </a:p>
        </p:txBody>
      </p:sp>
      <p:sp>
        <p:nvSpPr>
          <p:cNvPr id="394" name="Rectangle"/>
          <p:cNvSpPr>
            <a:spLocks/>
          </p:cNvSpPr>
          <p:nvPr/>
        </p:nvSpPr>
        <p:spPr>
          <a:xfrm>
            <a:off x="411480" y="1051560"/>
            <a:ext cx="8321040" cy="384047"/>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150" b="0" i="1" u="none" strike="noStrike" kern="1200" cap="none" spc="0" baseline="0" dirty="0">
                <a:solidFill>
                  <a:srgbClr val="92400E"/>
                </a:solidFill>
                <a:latin typeface="Calibri" charset="0"/>
                <a:ea typeface="Calibri" charset="0"/>
                <a:cs typeface="Calibri" charset="0"/>
              </a:rPr>
              <a:t>SCENARIO: Dr. </a:t>
            </a:r>
            <a:r>
              <a:rPr lang="en-US" altLang="zh-CN" sz="1150" b="0" i="1" u="none" strike="noStrike" kern="1200" cap="none" spc="0" baseline="0" dirty="0" err="1">
                <a:solidFill>
                  <a:srgbClr val="92400E"/>
                </a:solidFill>
                <a:latin typeface="Calibri" charset="0"/>
                <a:ea typeface="Calibri" charset="0"/>
                <a:cs typeface="Calibri" charset="0"/>
              </a:rPr>
              <a:t>Oluwabukonla</a:t>
            </a:r>
            <a:r>
              <a:rPr lang="en-US" altLang="zh-CN" sz="1150" b="0" i="1" u="none" strike="noStrike" kern="1200" cap="none" spc="0" baseline="0" dirty="0">
                <a:solidFill>
                  <a:srgbClr val="92400E"/>
                </a:solidFill>
                <a:latin typeface="Calibri" charset="0"/>
                <a:ea typeface="Calibri" charset="0"/>
                <a:cs typeface="Calibri" charset="0"/>
              </a:rPr>
              <a:t> teaches Environmental Science. He needs a 2-hour lesson on "Climate Change &amp; Agriculture" for 300-level students by 8am tomorrow.</a:t>
            </a:r>
            <a:endParaRPr lang="zh-CN" altLang="en-US" sz="1150" b="0" i="0" u="none" strike="noStrike" kern="1200" cap="none" spc="0" baseline="0" dirty="0">
              <a:solidFill>
                <a:schemeClr val="tx1"/>
              </a:solidFill>
              <a:latin typeface="Calibri" charset="0"/>
              <a:ea typeface="等线" charset="0"/>
              <a:cs typeface="Calibri" charset="0"/>
            </a:endParaRPr>
          </a:p>
        </p:txBody>
      </p:sp>
      <p:sp>
        <p:nvSpPr>
          <p:cNvPr id="395" name="Rectangle"/>
          <p:cNvSpPr>
            <a:spLocks/>
          </p:cNvSpPr>
          <p:nvPr/>
        </p:nvSpPr>
        <p:spPr>
          <a:xfrm>
            <a:off x="320040" y="1581911"/>
            <a:ext cx="8503920" cy="914400"/>
          </a:xfrm>
          <a:prstGeom prst="rect">
            <a:avLst/>
          </a:prstGeom>
          <a:solidFill>
            <a:srgbClr val="0D2137"/>
          </a:solidFill>
          <a:ln w="12700" cap="flat" cmpd="sng">
            <a:solidFill>
              <a:srgbClr val="0D2137"/>
            </a:solidFill>
            <a:prstDash val="solid"/>
            <a:round/>
          </a:ln>
          <a:effectLst>
            <a:outerShdw blurRad="101600" dist="38100" dir="8100000" algn="bl" rotWithShape="0">
              <a:srgbClr val="000000">
                <a:alpha val="11764"/>
              </a:srgbClr>
            </a:outerShdw>
          </a:effectLst>
        </p:spPr>
        <p:txBody>
          <a:bodyPr/>
          <a:lstStyle/>
          <a:p>
            <a:endParaRPr lang="en-GB"/>
          </a:p>
        </p:txBody>
      </p:sp>
      <p:sp>
        <p:nvSpPr>
          <p:cNvPr id="396" name="Rectangle"/>
          <p:cNvSpPr>
            <a:spLocks/>
          </p:cNvSpPr>
          <p:nvPr/>
        </p:nvSpPr>
        <p:spPr>
          <a:xfrm>
            <a:off x="457200" y="1618487"/>
            <a:ext cx="2743200"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F59E0B"/>
                </a:solidFill>
                <a:latin typeface="Calibri" charset="0"/>
                <a:ea typeface="Calibri" charset="0"/>
                <a:cs typeface="Calibri" charset="0"/>
              </a:rPr>
              <a:t>The Prompt He Uses:</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397" name="Rectangle"/>
          <p:cNvSpPr>
            <a:spLocks/>
          </p:cNvSpPr>
          <p:nvPr/>
        </p:nvSpPr>
        <p:spPr>
          <a:xfrm>
            <a:off x="457200" y="1874520"/>
            <a:ext cx="8321040" cy="594360"/>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050" b="0" i="1" u="none" strike="noStrike" kern="1200" cap="none" spc="0" baseline="0">
                <a:solidFill>
                  <a:srgbClr val="10B981"/>
                </a:solidFill>
                <a:latin typeface="Calibri" charset="0"/>
                <a:ea typeface="Calibri" charset="0"/>
                <a:cs typeface="Calibri" charset="0"/>
              </a:rPr>
              <a:t>"Act as an experienced university environmental science lecturer in Nigeria. Create a detailed 2-hour lesson plan on Climate Change and its impact on agriculture. Students are 300-level. Include: learning objectives (3), lecture outline with timing, one group activity, 5 exam-style questions, and one recommended YouTube video or resource."</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398" name="Rectangle"/>
          <p:cNvSpPr>
            <a:spLocks/>
          </p:cNvSpPr>
          <p:nvPr/>
        </p:nvSpPr>
        <p:spPr>
          <a:xfrm>
            <a:off x="320040" y="2578608"/>
            <a:ext cx="1005839" cy="292607"/>
          </a:xfrm>
          <a:prstGeom prst="rect">
            <a:avLst/>
          </a:prstGeom>
          <a:solidFill>
            <a:srgbClr val="0A7C6E"/>
          </a:solidFill>
          <a:ln w="12700" cap="flat" cmpd="sng">
            <a:solidFill>
              <a:srgbClr val="0A7C6E"/>
            </a:solidFill>
            <a:prstDash val="solid"/>
            <a:round/>
          </a:ln>
        </p:spPr>
        <p:txBody>
          <a:bodyPr/>
          <a:lstStyle/>
          <a:p>
            <a:endParaRPr lang="en-GB"/>
          </a:p>
        </p:txBody>
      </p:sp>
      <p:sp>
        <p:nvSpPr>
          <p:cNvPr id="399" name="Rectangle"/>
          <p:cNvSpPr>
            <a:spLocks/>
          </p:cNvSpPr>
          <p:nvPr/>
        </p:nvSpPr>
        <p:spPr>
          <a:xfrm>
            <a:off x="356616" y="2587752"/>
            <a:ext cx="96012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Time</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00" name="Rectangle"/>
          <p:cNvSpPr>
            <a:spLocks/>
          </p:cNvSpPr>
          <p:nvPr/>
        </p:nvSpPr>
        <p:spPr>
          <a:xfrm>
            <a:off x="1353312" y="2578608"/>
            <a:ext cx="1280160" cy="292607"/>
          </a:xfrm>
          <a:prstGeom prst="rect">
            <a:avLst/>
          </a:prstGeom>
          <a:solidFill>
            <a:srgbClr val="0A7C6E"/>
          </a:solidFill>
          <a:ln w="12700" cap="flat" cmpd="sng">
            <a:solidFill>
              <a:srgbClr val="0A7C6E"/>
            </a:solidFill>
            <a:prstDash val="solid"/>
            <a:round/>
          </a:ln>
        </p:spPr>
        <p:txBody>
          <a:bodyPr/>
          <a:lstStyle/>
          <a:p>
            <a:endParaRPr lang="en-GB"/>
          </a:p>
        </p:txBody>
      </p:sp>
      <p:sp>
        <p:nvSpPr>
          <p:cNvPr id="401" name="Rectangle"/>
          <p:cNvSpPr>
            <a:spLocks/>
          </p:cNvSpPr>
          <p:nvPr/>
        </p:nvSpPr>
        <p:spPr>
          <a:xfrm>
            <a:off x="1389888" y="2587752"/>
            <a:ext cx="123444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Section</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02" name="Rectangle"/>
          <p:cNvSpPr>
            <a:spLocks/>
          </p:cNvSpPr>
          <p:nvPr/>
        </p:nvSpPr>
        <p:spPr>
          <a:xfrm>
            <a:off x="2670048" y="2578608"/>
            <a:ext cx="6035039" cy="292607"/>
          </a:xfrm>
          <a:prstGeom prst="rect">
            <a:avLst/>
          </a:prstGeom>
          <a:solidFill>
            <a:srgbClr val="0A7C6E"/>
          </a:solidFill>
          <a:ln w="12700" cap="flat" cmpd="sng">
            <a:solidFill>
              <a:srgbClr val="0A7C6E"/>
            </a:solidFill>
            <a:prstDash val="solid"/>
            <a:round/>
          </a:ln>
        </p:spPr>
        <p:txBody>
          <a:bodyPr/>
          <a:lstStyle/>
          <a:p>
            <a:endParaRPr lang="en-GB"/>
          </a:p>
        </p:txBody>
      </p:sp>
      <p:sp>
        <p:nvSpPr>
          <p:cNvPr id="403" name="Rectangle"/>
          <p:cNvSpPr>
            <a:spLocks/>
          </p:cNvSpPr>
          <p:nvPr/>
        </p:nvSpPr>
        <p:spPr>
          <a:xfrm>
            <a:off x="2706624" y="2587752"/>
            <a:ext cx="598932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Detail</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04" name="Rectangle"/>
          <p:cNvSpPr>
            <a:spLocks/>
          </p:cNvSpPr>
          <p:nvPr/>
        </p:nvSpPr>
        <p:spPr>
          <a:xfrm>
            <a:off x="320040" y="2871216"/>
            <a:ext cx="1005839"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05" name="Rectangle"/>
          <p:cNvSpPr>
            <a:spLocks/>
          </p:cNvSpPr>
          <p:nvPr/>
        </p:nvSpPr>
        <p:spPr>
          <a:xfrm>
            <a:off x="365760" y="2889504"/>
            <a:ext cx="932688"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0:00-0:15</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06" name="Rectangle"/>
          <p:cNvSpPr>
            <a:spLocks/>
          </p:cNvSpPr>
          <p:nvPr/>
        </p:nvSpPr>
        <p:spPr>
          <a:xfrm>
            <a:off x="1353312" y="2871216"/>
            <a:ext cx="1280160"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07" name="Rectangle"/>
          <p:cNvSpPr>
            <a:spLocks/>
          </p:cNvSpPr>
          <p:nvPr/>
        </p:nvSpPr>
        <p:spPr>
          <a:xfrm>
            <a:off x="1399032" y="2889504"/>
            <a:ext cx="120700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Introduction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08" name="Rectangle"/>
          <p:cNvSpPr>
            <a:spLocks/>
          </p:cNvSpPr>
          <p:nvPr/>
        </p:nvSpPr>
        <p:spPr>
          <a:xfrm>
            <a:off x="2670048" y="2871216"/>
            <a:ext cx="6035039"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09" name="Rectangle"/>
          <p:cNvSpPr>
            <a:spLocks/>
          </p:cNvSpPr>
          <p:nvPr/>
        </p:nvSpPr>
        <p:spPr>
          <a:xfrm>
            <a:off x="2715768" y="2889504"/>
            <a:ext cx="596188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Hook: Show a 2-min video of drought in Northern Nigeria. Ask: "Have you noticed food prices rising?"</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10" name="Rectangle"/>
          <p:cNvSpPr>
            <a:spLocks/>
          </p:cNvSpPr>
          <p:nvPr/>
        </p:nvSpPr>
        <p:spPr>
          <a:xfrm>
            <a:off x="320040" y="3255264"/>
            <a:ext cx="1005839" cy="365759"/>
          </a:xfrm>
          <a:prstGeom prst="rect">
            <a:avLst/>
          </a:prstGeom>
          <a:solidFill>
            <a:srgbClr val="F0FAF7"/>
          </a:solidFill>
          <a:ln w="12700" cap="flat" cmpd="sng">
            <a:solidFill>
              <a:srgbClr val="D1FAE5"/>
            </a:solidFill>
            <a:prstDash val="solid"/>
            <a:round/>
          </a:ln>
        </p:spPr>
        <p:txBody>
          <a:bodyPr/>
          <a:lstStyle/>
          <a:p>
            <a:endParaRPr lang="en-GB"/>
          </a:p>
        </p:txBody>
      </p:sp>
      <p:sp>
        <p:nvSpPr>
          <p:cNvPr id="411" name="Rectangle"/>
          <p:cNvSpPr>
            <a:spLocks/>
          </p:cNvSpPr>
          <p:nvPr/>
        </p:nvSpPr>
        <p:spPr>
          <a:xfrm>
            <a:off x="365760" y="3273552"/>
            <a:ext cx="932688"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0:15-0:45</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12" name="Rectangle"/>
          <p:cNvSpPr>
            <a:spLocks/>
          </p:cNvSpPr>
          <p:nvPr/>
        </p:nvSpPr>
        <p:spPr>
          <a:xfrm>
            <a:off x="1353312" y="3255264"/>
            <a:ext cx="1280160" cy="365759"/>
          </a:xfrm>
          <a:prstGeom prst="rect">
            <a:avLst/>
          </a:prstGeom>
          <a:solidFill>
            <a:srgbClr val="F0FAF7"/>
          </a:solidFill>
          <a:ln w="12700" cap="flat" cmpd="sng">
            <a:solidFill>
              <a:srgbClr val="D1FAE5"/>
            </a:solidFill>
            <a:prstDash val="solid"/>
            <a:round/>
          </a:ln>
        </p:spPr>
        <p:txBody>
          <a:bodyPr/>
          <a:lstStyle/>
          <a:p>
            <a:endParaRPr lang="en-GB"/>
          </a:p>
        </p:txBody>
      </p:sp>
      <p:sp>
        <p:nvSpPr>
          <p:cNvPr id="413" name="Rectangle"/>
          <p:cNvSpPr>
            <a:spLocks/>
          </p:cNvSpPr>
          <p:nvPr/>
        </p:nvSpPr>
        <p:spPr>
          <a:xfrm>
            <a:off x="1399032" y="3273552"/>
            <a:ext cx="120700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Core Lecture</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14" name="Rectangle"/>
          <p:cNvSpPr>
            <a:spLocks/>
          </p:cNvSpPr>
          <p:nvPr/>
        </p:nvSpPr>
        <p:spPr>
          <a:xfrm>
            <a:off x="2670048" y="3255264"/>
            <a:ext cx="6035039" cy="365759"/>
          </a:xfrm>
          <a:prstGeom prst="rect">
            <a:avLst/>
          </a:prstGeom>
          <a:solidFill>
            <a:srgbClr val="F0FAF7"/>
          </a:solidFill>
          <a:ln w="12700" cap="flat" cmpd="sng">
            <a:solidFill>
              <a:srgbClr val="D1FAE5"/>
            </a:solidFill>
            <a:prstDash val="solid"/>
            <a:round/>
          </a:ln>
        </p:spPr>
        <p:txBody>
          <a:bodyPr/>
          <a:lstStyle/>
          <a:p>
            <a:endParaRPr lang="en-GB"/>
          </a:p>
        </p:txBody>
      </p:sp>
      <p:sp>
        <p:nvSpPr>
          <p:cNvPr id="415" name="Rectangle"/>
          <p:cNvSpPr>
            <a:spLocks/>
          </p:cNvSpPr>
          <p:nvPr/>
        </p:nvSpPr>
        <p:spPr>
          <a:xfrm>
            <a:off x="2715768" y="3273552"/>
            <a:ext cx="596188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Content: Greenhouse effect, CO2 rise, crop yield impact. Key stat: 25% yield decline projected by 2050.</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16" name="Rectangle"/>
          <p:cNvSpPr>
            <a:spLocks/>
          </p:cNvSpPr>
          <p:nvPr/>
        </p:nvSpPr>
        <p:spPr>
          <a:xfrm>
            <a:off x="320040" y="3639312"/>
            <a:ext cx="1005839"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17" name="Rectangle"/>
          <p:cNvSpPr>
            <a:spLocks/>
          </p:cNvSpPr>
          <p:nvPr/>
        </p:nvSpPr>
        <p:spPr>
          <a:xfrm>
            <a:off x="365760" y="3657600"/>
            <a:ext cx="932688"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0:45-1:15</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18" name="Rectangle"/>
          <p:cNvSpPr>
            <a:spLocks/>
          </p:cNvSpPr>
          <p:nvPr/>
        </p:nvSpPr>
        <p:spPr>
          <a:xfrm>
            <a:off x="1353312" y="3639312"/>
            <a:ext cx="1280160"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19" name="Rectangle"/>
          <p:cNvSpPr>
            <a:spLocks/>
          </p:cNvSpPr>
          <p:nvPr/>
        </p:nvSpPr>
        <p:spPr>
          <a:xfrm>
            <a:off x="1399032" y="3657600"/>
            <a:ext cx="120700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Group Activity</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20" name="Rectangle"/>
          <p:cNvSpPr>
            <a:spLocks/>
          </p:cNvSpPr>
          <p:nvPr/>
        </p:nvSpPr>
        <p:spPr>
          <a:xfrm>
            <a:off x="2670048" y="3639312"/>
            <a:ext cx="6035039"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21" name="Rectangle"/>
          <p:cNvSpPr>
            <a:spLocks/>
          </p:cNvSpPr>
          <p:nvPr/>
        </p:nvSpPr>
        <p:spPr>
          <a:xfrm>
            <a:off x="2715768" y="3657600"/>
            <a:ext cx="596188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Students in groups of 4 map local crops vs. predicted rainfall changes using provided data cards.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22" name="Rectangle"/>
          <p:cNvSpPr>
            <a:spLocks/>
          </p:cNvSpPr>
          <p:nvPr/>
        </p:nvSpPr>
        <p:spPr>
          <a:xfrm>
            <a:off x="320040" y="4023359"/>
            <a:ext cx="1005839" cy="365759"/>
          </a:xfrm>
          <a:prstGeom prst="rect">
            <a:avLst/>
          </a:prstGeom>
          <a:solidFill>
            <a:srgbClr val="F0FAF7"/>
          </a:solidFill>
          <a:ln w="12700" cap="flat" cmpd="sng">
            <a:solidFill>
              <a:srgbClr val="D1FAE5"/>
            </a:solidFill>
            <a:prstDash val="solid"/>
            <a:round/>
          </a:ln>
        </p:spPr>
        <p:txBody>
          <a:bodyPr/>
          <a:lstStyle/>
          <a:p>
            <a:endParaRPr lang="en-GB"/>
          </a:p>
        </p:txBody>
      </p:sp>
      <p:sp>
        <p:nvSpPr>
          <p:cNvPr id="423" name="Rectangle"/>
          <p:cNvSpPr>
            <a:spLocks/>
          </p:cNvSpPr>
          <p:nvPr/>
        </p:nvSpPr>
        <p:spPr>
          <a:xfrm>
            <a:off x="365760" y="4041648"/>
            <a:ext cx="932688"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1:15-1:45</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24" name="Rectangle"/>
          <p:cNvSpPr>
            <a:spLocks/>
          </p:cNvSpPr>
          <p:nvPr/>
        </p:nvSpPr>
        <p:spPr>
          <a:xfrm>
            <a:off x="1353312" y="4023359"/>
            <a:ext cx="1280160" cy="365759"/>
          </a:xfrm>
          <a:prstGeom prst="rect">
            <a:avLst/>
          </a:prstGeom>
          <a:solidFill>
            <a:srgbClr val="F0FAF7"/>
          </a:solidFill>
          <a:ln w="12700" cap="flat" cmpd="sng">
            <a:solidFill>
              <a:srgbClr val="D1FAE5"/>
            </a:solidFill>
            <a:prstDash val="solid"/>
            <a:round/>
          </a:ln>
        </p:spPr>
        <p:txBody>
          <a:bodyPr/>
          <a:lstStyle/>
          <a:p>
            <a:endParaRPr lang="en-GB"/>
          </a:p>
        </p:txBody>
      </p:sp>
      <p:sp>
        <p:nvSpPr>
          <p:cNvPr id="425" name="Rectangle"/>
          <p:cNvSpPr>
            <a:spLocks/>
          </p:cNvSpPr>
          <p:nvPr/>
        </p:nvSpPr>
        <p:spPr>
          <a:xfrm>
            <a:off x="1399032" y="4041648"/>
            <a:ext cx="120700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Case Study</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26" name="Rectangle"/>
          <p:cNvSpPr>
            <a:spLocks/>
          </p:cNvSpPr>
          <p:nvPr/>
        </p:nvSpPr>
        <p:spPr>
          <a:xfrm>
            <a:off x="2670048" y="4023359"/>
            <a:ext cx="6035039" cy="365759"/>
          </a:xfrm>
          <a:prstGeom prst="rect">
            <a:avLst/>
          </a:prstGeom>
          <a:solidFill>
            <a:srgbClr val="F0FAF7"/>
          </a:solidFill>
          <a:ln w="12700" cap="flat" cmpd="sng">
            <a:solidFill>
              <a:srgbClr val="D1FAE5"/>
            </a:solidFill>
            <a:prstDash val="solid"/>
            <a:round/>
          </a:ln>
        </p:spPr>
        <p:txBody>
          <a:bodyPr/>
          <a:lstStyle/>
          <a:p>
            <a:endParaRPr lang="en-GB"/>
          </a:p>
        </p:txBody>
      </p:sp>
      <p:sp>
        <p:nvSpPr>
          <p:cNvPr id="427" name="Rectangle"/>
          <p:cNvSpPr>
            <a:spLocks/>
          </p:cNvSpPr>
          <p:nvPr/>
        </p:nvSpPr>
        <p:spPr>
          <a:xfrm>
            <a:off x="2715768" y="4041648"/>
            <a:ext cx="596188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Nigeria's food import surge 2015-2023. Students identify which crops are most at risk in their regions.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28" name="Rectangle"/>
          <p:cNvSpPr>
            <a:spLocks/>
          </p:cNvSpPr>
          <p:nvPr/>
        </p:nvSpPr>
        <p:spPr>
          <a:xfrm>
            <a:off x="320040" y="4407408"/>
            <a:ext cx="1005839"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29" name="Rectangle"/>
          <p:cNvSpPr>
            <a:spLocks/>
          </p:cNvSpPr>
          <p:nvPr/>
        </p:nvSpPr>
        <p:spPr>
          <a:xfrm>
            <a:off x="365760" y="4425696"/>
            <a:ext cx="932688"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1:45-2:00</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30" name="Rectangle"/>
          <p:cNvSpPr>
            <a:spLocks/>
          </p:cNvSpPr>
          <p:nvPr/>
        </p:nvSpPr>
        <p:spPr>
          <a:xfrm>
            <a:off x="1353312" y="4407408"/>
            <a:ext cx="1280160"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31" name="Rectangle"/>
          <p:cNvSpPr>
            <a:spLocks/>
          </p:cNvSpPr>
          <p:nvPr/>
        </p:nvSpPr>
        <p:spPr>
          <a:xfrm>
            <a:off x="1399032" y="4425696"/>
            <a:ext cx="120700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Wrap-Up &amp; Q&amp;A</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32" name="Rectangle"/>
          <p:cNvSpPr>
            <a:spLocks/>
          </p:cNvSpPr>
          <p:nvPr/>
        </p:nvSpPr>
        <p:spPr>
          <a:xfrm>
            <a:off x="2670048" y="4407408"/>
            <a:ext cx="6035039" cy="365759"/>
          </a:xfrm>
          <a:prstGeom prst="rect">
            <a:avLst/>
          </a:prstGeom>
          <a:solidFill>
            <a:srgbClr val="FFFFFF"/>
          </a:solidFill>
          <a:ln w="12700" cap="flat" cmpd="sng">
            <a:solidFill>
              <a:srgbClr val="D1FAE5"/>
            </a:solidFill>
            <a:prstDash val="solid"/>
            <a:round/>
          </a:ln>
        </p:spPr>
        <p:txBody>
          <a:bodyPr/>
          <a:lstStyle/>
          <a:p>
            <a:endParaRPr lang="en-GB"/>
          </a:p>
        </p:txBody>
      </p:sp>
      <p:sp>
        <p:nvSpPr>
          <p:cNvPr id="433" name="Rectangle"/>
          <p:cNvSpPr>
            <a:spLocks/>
          </p:cNvSpPr>
          <p:nvPr/>
        </p:nvSpPr>
        <p:spPr>
          <a:xfrm>
            <a:off x="2715768" y="4425696"/>
            <a:ext cx="5961887" cy="33832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D2137"/>
                </a:solidFill>
                <a:latin typeface="Calibri" charset="0"/>
                <a:ea typeface="Calibri" charset="0"/>
                <a:cs typeface="Calibri" charset="0"/>
              </a:rPr>
              <a:t>Summary of 3 adaptation strategies. Preview next week. 2 exam questions distributed as practice.</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34" name="Rectangle"/>
          <p:cNvSpPr>
            <a:spLocks/>
          </p:cNvSpPr>
          <p:nvPr/>
        </p:nvSpPr>
        <p:spPr>
          <a:xfrm>
            <a:off x="320040" y="4864608"/>
            <a:ext cx="8503920" cy="24688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dirty="0">
                <a:solidFill>
                  <a:srgbClr val="0A7C6E"/>
                </a:solidFill>
                <a:latin typeface="Calibri" charset="0"/>
                <a:ea typeface="Calibri" charset="0"/>
                <a:cs typeface="Calibri" charset="0"/>
              </a:rPr>
              <a:t>Full lesson plan generated in ~25 seconds. Dr. </a:t>
            </a:r>
            <a:r>
              <a:rPr lang="en-US" altLang="zh-CN" sz="1100" b="1" i="0" u="none" strike="noStrike" kern="1200" cap="none" spc="0" baseline="0" dirty="0" err="1">
                <a:solidFill>
                  <a:srgbClr val="0A7C6E"/>
                </a:solidFill>
                <a:latin typeface="Calibri" charset="0"/>
                <a:ea typeface="Calibri" charset="0"/>
                <a:cs typeface="Calibri" charset="0"/>
              </a:rPr>
              <a:t>Oluwabukonla</a:t>
            </a:r>
            <a:r>
              <a:rPr lang="en-US" altLang="zh-CN" sz="1100" b="1" i="0" u="none" strike="noStrike" kern="1200" cap="none" spc="0" baseline="0" dirty="0">
                <a:solidFill>
                  <a:srgbClr val="0A7C6E"/>
                </a:solidFill>
                <a:latin typeface="Calibri" charset="0"/>
                <a:ea typeface="Calibri" charset="0"/>
                <a:cs typeface="Calibri" charset="0"/>
              </a:rPr>
              <a:t> now spends his time refining, not starting from scratch.</a:t>
            </a:r>
            <a:endParaRPr lang="zh-CN" altLang="en-US" sz="1100" b="0" i="0" u="none" strike="noStrike" kern="1200" cap="none" spc="0" baseline="0" dirty="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31333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5" name="Rectangle"/>
          <p:cNvSpPr>
            <a:spLocks/>
          </p:cNvSpPr>
          <p:nvPr/>
        </p:nvSpPr>
        <p:spPr>
          <a:xfrm>
            <a:off x="0" y="0"/>
            <a:ext cx="9144000" cy="960120"/>
          </a:xfrm>
          <a:prstGeom prst="rect">
            <a:avLst/>
          </a:prstGeom>
          <a:solidFill>
            <a:srgbClr val="F97316"/>
          </a:solidFill>
          <a:ln w="12700" cap="flat" cmpd="sng">
            <a:solidFill>
              <a:srgbClr val="F97316"/>
            </a:solidFill>
            <a:prstDash val="solid"/>
            <a:round/>
          </a:ln>
        </p:spPr>
        <p:txBody>
          <a:bodyPr/>
          <a:lstStyle/>
          <a:p>
            <a:endParaRPr lang="en-GB"/>
          </a:p>
        </p:txBody>
      </p:sp>
      <p:sp>
        <p:nvSpPr>
          <p:cNvPr id="436"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FFFFFF"/>
                </a:solidFill>
                <a:latin typeface="Arial Black" pitchFamily="34" charset="0"/>
                <a:ea typeface="Arial Black" pitchFamily="34" charset="0"/>
                <a:cs typeface="Arial Black" pitchFamily="34" charset="0"/>
              </a:rPr>
              <a:t>Example 5: Drafting a Grant Proposal Abstract with Claude</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437" name="Rectangle"/>
          <p:cNvSpPr>
            <a:spLocks/>
          </p:cNvSpPr>
          <p:nvPr/>
        </p:nvSpPr>
        <p:spPr>
          <a:xfrm>
            <a:off x="320040" y="1024127"/>
            <a:ext cx="8503920" cy="438912"/>
          </a:xfrm>
          <a:prstGeom prst="rect">
            <a:avLst/>
          </a:prstGeom>
          <a:solidFill>
            <a:srgbClr val="FEF3C7"/>
          </a:solidFill>
          <a:ln w="12700" cap="flat" cmpd="sng">
            <a:solidFill>
              <a:srgbClr val="F59E0B"/>
            </a:solidFill>
            <a:prstDash val="solid"/>
            <a:round/>
          </a:ln>
        </p:spPr>
        <p:txBody>
          <a:bodyPr/>
          <a:lstStyle/>
          <a:p>
            <a:endParaRPr lang="en-GB"/>
          </a:p>
        </p:txBody>
      </p:sp>
      <p:sp>
        <p:nvSpPr>
          <p:cNvPr id="438" name="Rectangle"/>
          <p:cNvSpPr>
            <a:spLocks/>
          </p:cNvSpPr>
          <p:nvPr/>
        </p:nvSpPr>
        <p:spPr>
          <a:xfrm>
            <a:off x="411480" y="1051560"/>
            <a:ext cx="8321040" cy="384047"/>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150" b="0" i="1" u="none" strike="noStrike" kern="1200" cap="none" spc="0" baseline="0">
                <a:solidFill>
                  <a:srgbClr val="92400E"/>
                </a:solidFill>
                <a:latin typeface="Calibri" charset="0"/>
                <a:ea typeface="Calibri" charset="0"/>
                <a:cs typeface="Calibri" charset="0"/>
              </a:rPr>
              <a:t>SCENARIO: Associate Prof. Ngozi has a grant deadline in 48 hours. She has the ideas but struggles with academic writing in English. She needs a polished abstract.</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439" name="Rectangle"/>
          <p:cNvSpPr>
            <a:spLocks/>
          </p:cNvSpPr>
          <p:nvPr/>
        </p:nvSpPr>
        <p:spPr>
          <a:xfrm>
            <a:off x="320040" y="1581911"/>
            <a:ext cx="8503920" cy="1078992"/>
          </a:xfrm>
          <a:prstGeom prst="rect">
            <a:avLst/>
          </a:prstGeom>
          <a:solidFill>
            <a:srgbClr val="FFF1F2"/>
          </a:solidFill>
          <a:ln w="12700" cap="flat" cmpd="sng">
            <a:solidFill>
              <a:srgbClr val="EF4444"/>
            </a:solidFill>
            <a:prstDash val="solid"/>
            <a:round/>
          </a:ln>
          <a:effectLst>
            <a:outerShdw blurRad="101600" dist="38100" dir="8100000" algn="bl" rotWithShape="0">
              <a:srgbClr val="000000">
                <a:alpha val="11764"/>
              </a:srgbClr>
            </a:outerShdw>
          </a:effectLst>
        </p:spPr>
        <p:txBody>
          <a:bodyPr/>
          <a:lstStyle/>
          <a:p>
            <a:endParaRPr lang="en-GB"/>
          </a:p>
        </p:txBody>
      </p:sp>
      <p:sp>
        <p:nvSpPr>
          <p:cNvPr id="440" name="Rectangle"/>
          <p:cNvSpPr>
            <a:spLocks/>
          </p:cNvSpPr>
          <p:nvPr/>
        </p:nvSpPr>
        <p:spPr>
          <a:xfrm>
            <a:off x="320040" y="1581911"/>
            <a:ext cx="73152" cy="1078992"/>
          </a:xfrm>
          <a:prstGeom prst="rect">
            <a:avLst/>
          </a:prstGeom>
          <a:solidFill>
            <a:srgbClr val="EF4444"/>
          </a:solidFill>
          <a:ln w="12700" cap="flat" cmpd="sng">
            <a:solidFill>
              <a:srgbClr val="EF4444"/>
            </a:solidFill>
            <a:prstDash val="solid"/>
            <a:round/>
          </a:ln>
        </p:spPr>
        <p:txBody>
          <a:bodyPr/>
          <a:lstStyle/>
          <a:p>
            <a:endParaRPr lang="en-GB"/>
          </a:p>
        </p:txBody>
      </p:sp>
      <p:sp>
        <p:nvSpPr>
          <p:cNvPr id="441" name="Straight line"/>
          <p:cNvSpPr>
            <a:spLocks/>
          </p:cNvSpPr>
          <p:nvPr/>
        </p:nvSpPr>
        <p:spPr>
          <a:xfrm>
            <a:off x="4389120" y="2660904"/>
            <a:ext cx="0" cy="64007"/>
          </a:xfrm>
          <a:prstGeom prst="line">
            <a:avLst/>
          </a:prstGeom>
          <a:noFill/>
          <a:ln w="25400" cap="flat" cmpd="sng">
            <a:solidFill>
              <a:srgbClr val="EF4444"/>
            </a:solidFill>
            <a:prstDash val="sysDot"/>
            <a:round/>
          </a:ln>
        </p:spPr>
        <p:txBody>
          <a:bodyPr/>
          <a:lstStyle/>
          <a:p>
            <a:endParaRPr lang="en-GB"/>
          </a:p>
        </p:txBody>
      </p:sp>
      <p:sp>
        <p:nvSpPr>
          <p:cNvPr id="442" name="Rectangle"/>
          <p:cNvSpPr>
            <a:spLocks/>
          </p:cNvSpPr>
          <p:nvPr/>
        </p:nvSpPr>
        <p:spPr>
          <a:xfrm>
            <a:off x="475487" y="1645920"/>
            <a:ext cx="82296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EF4444"/>
                </a:solidFill>
                <a:latin typeface="Arial Black" pitchFamily="34" charset="0"/>
                <a:ea typeface="Arial Black" pitchFamily="34" charset="0"/>
                <a:cs typeface="Arial Black" pitchFamily="34" charset="0"/>
              </a:rPr>
              <a:t>📝 Her Raw Notes (rough ideas)</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443" name="Rectangle"/>
          <p:cNvSpPr>
            <a:spLocks/>
          </p:cNvSpPr>
          <p:nvPr/>
        </p:nvSpPr>
        <p:spPr>
          <a:xfrm>
            <a:off x="475487" y="1965960"/>
            <a:ext cx="8229600" cy="658367"/>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50" b="0" i="1" u="none" strike="noStrike" kern="1200" cap="none" spc="0" baseline="0">
                <a:solidFill>
                  <a:srgbClr val="0D2137"/>
                </a:solidFill>
                <a:latin typeface="Calibri" charset="0"/>
                <a:ea typeface="Calibri" charset="0"/>
                <a:cs typeface="Calibri" charset="0"/>
              </a:rPr>
              <a:t>"Study wants to look at how mobile phone use in rural areas helps women know more about breast cancer early signs. Survey 400 women in Ogun State. Hope to find that phone-based health messages work better than paper flyers."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44" name="Rectangle"/>
          <p:cNvSpPr>
            <a:spLocks/>
          </p:cNvSpPr>
          <p:nvPr/>
        </p:nvSpPr>
        <p:spPr>
          <a:xfrm>
            <a:off x="320040" y="2724912"/>
            <a:ext cx="8503920" cy="1078992"/>
          </a:xfrm>
          <a:prstGeom prst="rect">
            <a:avLst/>
          </a:prstGeom>
          <a:solidFill>
            <a:srgbClr val="FFF7ED"/>
          </a:solidFill>
          <a:ln w="12700" cap="flat" cmpd="sng">
            <a:solidFill>
              <a:srgbClr val="F97316"/>
            </a:solidFill>
            <a:prstDash val="solid"/>
            <a:round/>
          </a:ln>
          <a:effectLst>
            <a:outerShdw blurRad="101600" dist="38100" dir="8100000" algn="bl" rotWithShape="0">
              <a:srgbClr val="000000">
                <a:alpha val="11764"/>
              </a:srgbClr>
            </a:outerShdw>
          </a:effectLst>
        </p:spPr>
        <p:txBody>
          <a:bodyPr/>
          <a:lstStyle/>
          <a:p>
            <a:endParaRPr lang="en-GB"/>
          </a:p>
        </p:txBody>
      </p:sp>
      <p:sp>
        <p:nvSpPr>
          <p:cNvPr id="445" name="Rectangle"/>
          <p:cNvSpPr>
            <a:spLocks/>
          </p:cNvSpPr>
          <p:nvPr/>
        </p:nvSpPr>
        <p:spPr>
          <a:xfrm>
            <a:off x="320040" y="2724912"/>
            <a:ext cx="73152" cy="1078992"/>
          </a:xfrm>
          <a:prstGeom prst="rect">
            <a:avLst/>
          </a:prstGeom>
          <a:solidFill>
            <a:srgbClr val="F97316"/>
          </a:solidFill>
          <a:ln w="12700" cap="flat" cmpd="sng">
            <a:solidFill>
              <a:srgbClr val="F97316"/>
            </a:solidFill>
            <a:prstDash val="solid"/>
            <a:round/>
          </a:ln>
        </p:spPr>
        <p:txBody>
          <a:bodyPr/>
          <a:lstStyle/>
          <a:p>
            <a:endParaRPr lang="en-GB"/>
          </a:p>
        </p:txBody>
      </p:sp>
      <p:sp>
        <p:nvSpPr>
          <p:cNvPr id="446" name="Straight line"/>
          <p:cNvSpPr>
            <a:spLocks/>
          </p:cNvSpPr>
          <p:nvPr/>
        </p:nvSpPr>
        <p:spPr>
          <a:xfrm>
            <a:off x="4389120" y="3803903"/>
            <a:ext cx="0" cy="64007"/>
          </a:xfrm>
          <a:prstGeom prst="line">
            <a:avLst/>
          </a:prstGeom>
          <a:noFill/>
          <a:ln w="25400" cap="flat" cmpd="sng">
            <a:solidFill>
              <a:srgbClr val="F97316"/>
            </a:solidFill>
            <a:prstDash val="sysDot"/>
            <a:round/>
          </a:ln>
        </p:spPr>
        <p:txBody>
          <a:bodyPr/>
          <a:lstStyle/>
          <a:p>
            <a:endParaRPr lang="en-GB"/>
          </a:p>
        </p:txBody>
      </p:sp>
      <p:sp>
        <p:nvSpPr>
          <p:cNvPr id="447" name="Rectangle"/>
          <p:cNvSpPr>
            <a:spLocks/>
          </p:cNvSpPr>
          <p:nvPr/>
        </p:nvSpPr>
        <p:spPr>
          <a:xfrm>
            <a:off x="475487" y="2788920"/>
            <a:ext cx="82296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1300" b="1" i="0" u="none" strike="noStrike" kern="1200" cap="none" spc="0" baseline="0">
                <a:solidFill>
                  <a:srgbClr val="F97316"/>
                </a:solidFill>
                <a:latin typeface="Arial Black" pitchFamily="34" charset="0"/>
                <a:ea typeface="Arial Black" pitchFamily="34" charset="0"/>
                <a:cs typeface="Arial Black" pitchFamily="34" charset="0"/>
              </a:rPr>
              <a:t>💬 Her Prompt to Claude</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448" name="Rectangle"/>
          <p:cNvSpPr>
            <a:spLocks/>
          </p:cNvSpPr>
          <p:nvPr/>
        </p:nvSpPr>
        <p:spPr>
          <a:xfrm>
            <a:off x="475487" y="3108960"/>
            <a:ext cx="8229600" cy="658368"/>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0D2137"/>
                </a:solidFill>
                <a:latin typeface="Calibri" charset="0"/>
                <a:ea typeface="Calibri" charset="0"/>
                <a:cs typeface="Calibri" charset="0"/>
              </a:rPr>
              <a:t>"Rewrite this as a formal academic grant abstract (250 words) for submission to the African Research Council. Use formal academic tone. Include: background, objectives, methodology, expected outcomes, significance."</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49" name="Rectangle"/>
          <p:cNvSpPr>
            <a:spLocks/>
          </p:cNvSpPr>
          <p:nvPr/>
        </p:nvSpPr>
        <p:spPr>
          <a:xfrm>
            <a:off x="320040" y="3867912"/>
            <a:ext cx="8503920" cy="1078992"/>
          </a:xfrm>
          <a:prstGeom prst="rect">
            <a:avLst/>
          </a:prstGeom>
          <a:solidFill>
            <a:srgbClr val="F0FDF4"/>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450" name="Rectangle"/>
          <p:cNvSpPr>
            <a:spLocks/>
          </p:cNvSpPr>
          <p:nvPr/>
        </p:nvSpPr>
        <p:spPr>
          <a:xfrm>
            <a:off x="320040" y="3867912"/>
            <a:ext cx="73152" cy="1078992"/>
          </a:xfrm>
          <a:prstGeom prst="rect">
            <a:avLst/>
          </a:prstGeom>
          <a:solidFill>
            <a:srgbClr val="0A7C6E"/>
          </a:solidFill>
          <a:ln w="12700" cap="flat" cmpd="sng">
            <a:solidFill>
              <a:srgbClr val="0A7C6E"/>
            </a:solidFill>
            <a:prstDash val="solid"/>
            <a:round/>
          </a:ln>
        </p:spPr>
        <p:txBody>
          <a:bodyPr/>
          <a:lstStyle/>
          <a:p>
            <a:endParaRPr lang="en-GB"/>
          </a:p>
        </p:txBody>
      </p:sp>
      <p:sp>
        <p:nvSpPr>
          <p:cNvPr id="451" name="Rectangle"/>
          <p:cNvSpPr>
            <a:spLocks/>
          </p:cNvSpPr>
          <p:nvPr/>
        </p:nvSpPr>
        <p:spPr>
          <a:xfrm>
            <a:off x="475487" y="3931920"/>
            <a:ext cx="8229600" cy="2743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0A7C6E"/>
                </a:solidFill>
                <a:latin typeface="Arial Black" pitchFamily="34" charset="0"/>
                <a:ea typeface="Arial Black" pitchFamily="34" charset="0"/>
                <a:cs typeface="Arial Black" pitchFamily="34" charset="0"/>
              </a:rPr>
              <a:t>✅ Claude Output (excerpt)</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452" name="Rectangle"/>
          <p:cNvSpPr>
            <a:spLocks/>
          </p:cNvSpPr>
          <p:nvPr/>
        </p:nvSpPr>
        <p:spPr>
          <a:xfrm>
            <a:off x="475487" y="4251960"/>
            <a:ext cx="8229600" cy="658367"/>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50" b="0" i="1" u="none" strike="noStrike" kern="1200" cap="none" spc="0" baseline="0">
                <a:solidFill>
                  <a:srgbClr val="1E4D3B"/>
                </a:solidFill>
                <a:latin typeface="Calibri" charset="0"/>
                <a:ea typeface="Calibri" charset="0"/>
                <a:cs typeface="Calibri" charset="0"/>
              </a:rPr>
              <a:t>Background: Breast cancer constitutes the leading cause of cancer mortality among women in sub-Saharan Africa, with late-stage diagnosis attributed to limited health literacy... Objectives: This study examines the efficacy of mobile health (mHealth) interventions in improving breast cancer screening awareness among rural women in Ogun State, Nigeria... Methodology: A cross-sectional survey design will be employed with a stratified random sample of 400 women aged 25-60...</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53" name="Rectangle"/>
          <p:cNvSpPr>
            <a:spLocks/>
          </p:cNvSpPr>
          <p:nvPr/>
        </p:nvSpPr>
        <p:spPr>
          <a:xfrm>
            <a:off x="320040" y="4873752"/>
            <a:ext cx="8503920" cy="24688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F97316"/>
                </a:solidFill>
                <a:latin typeface="Calibri" charset="0"/>
                <a:ea typeface="Calibri" charset="0"/>
                <a:cs typeface="Calibri" charset="0"/>
              </a:rPr>
              <a:t>Bonus: Ask Claude to also generate a project budget justification, objectives matrix, or logframe!</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2105961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AF7"/>
        </a:solidFill>
        <a:effectLst/>
      </p:bgPr>
    </p:bg>
    <p:spTree>
      <p:nvGrpSpPr>
        <p:cNvPr id="1" name=""/>
        <p:cNvGrpSpPr/>
        <p:nvPr/>
      </p:nvGrpSpPr>
      <p:grpSpPr>
        <a:xfrm>
          <a:off x="0" y="0"/>
          <a:ext cx="0" cy="0"/>
          <a:chOff x="0" y="0"/>
          <a:chExt cx="0" cy="0"/>
        </a:xfrm>
      </p:grpSpPr>
      <p:sp>
        <p:nvSpPr>
          <p:cNvPr id="454" name="Rectangle"/>
          <p:cNvSpPr>
            <a:spLocks/>
          </p:cNvSpPr>
          <p:nvPr/>
        </p:nvSpPr>
        <p:spPr>
          <a:xfrm>
            <a:off x="0" y="0"/>
            <a:ext cx="9144000" cy="960120"/>
          </a:xfrm>
          <a:prstGeom prst="rect">
            <a:avLst/>
          </a:prstGeom>
          <a:solidFill>
            <a:srgbClr val="0D2137"/>
          </a:solidFill>
          <a:ln w="12700" cap="flat" cmpd="sng">
            <a:solidFill>
              <a:srgbClr val="0D2137"/>
            </a:solidFill>
            <a:prstDash val="solid"/>
            <a:round/>
          </a:ln>
        </p:spPr>
        <p:txBody>
          <a:bodyPr/>
          <a:lstStyle/>
          <a:p>
            <a:endParaRPr lang="en-GB"/>
          </a:p>
        </p:txBody>
      </p:sp>
      <p:sp>
        <p:nvSpPr>
          <p:cNvPr id="455"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FFFFFF"/>
                </a:solidFill>
                <a:latin typeface="Arial Black" pitchFamily="34" charset="0"/>
                <a:ea typeface="Arial Black" pitchFamily="34" charset="0"/>
                <a:cs typeface="Arial Black" pitchFamily="34" charset="0"/>
              </a:rPr>
              <a:t>Example 6: Generating Exam Questions &amp; Marking Schemes</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456" name="Rectangle"/>
          <p:cNvSpPr>
            <a:spLocks/>
          </p:cNvSpPr>
          <p:nvPr/>
        </p:nvSpPr>
        <p:spPr>
          <a:xfrm>
            <a:off x="320040" y="1024127"/>
            <a:ext cx="8503920" cy="438912"/>
          </a:xfrm>
          <a:prstGeom prst="rect">
            <a:avLst/>
          </a:prstGeom>
          <a:solidFill>
            <a:srgbClr val="FEF3C7"/>
          </a:solidFill>
          <a:ln w="12700" cap="flat" cmpd="sng">
            <a:solidFill>
              <a:srgbClr val="F59E0B"/>
            </a:solidFill>
            <a:prstDash val="solid"/>
            <a:round/>
          </a:ln>
        </p:spPr>
        <p:txBody>
          <a:bodyPr/>
          <a:lstStyle/>
          <a:p>
            <a:endParaRPr lang="en-GB"/>
          </a:p>
        </p:txBody>
      </p:sp>
      <p:sp>
        <p:nvSpPr>
          <p:cNvPr id="457" name="Rectangle"/>
          <p:cNvSpPr>
            <a:spLocks/>
          </p:cNvSpPr>
          <p:nvPr/>
        </p:nvSpPr>
        <p:spPr>
          <a:xfrm>
            <a:off x="411480" y="1051560"/>
            <a:ext cx="8321040" cy="384047"/>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150" b="0" i="1" u="none" strike="noStrike" kern="1200" cap="none" spc="0" baseline="0" dirty="0">
                <a:solidFill>
                  <a:srgbClr val="92400E"/>
                </a:solidFill>
                <a:latin typeface="Calibri" charset="0"/>
                <a:ea typeface="Calibri" charset="0"/>
                <a:cs typeface="Calibri" charset="0"/>
              </a:rPr>
              <a:t>SCENARIO: Dr. Sakinat teaches Biochemistry. End-of-semester exams are next week, and he needs 20 MCQs + 5 essay questions with a marking guide. He has 1 hour.</a:t>
            </a:r>
            <a:endParaRPr lang="zh-CN" altLang="en-US" sz="1150" b="0" i="0" u="none" strike="noStrike" kern="1200" cap="none" spc="0" baseline="0" dirty="0">
              <a:solidFill>
                <a:schemeClr val="tx1"/>
              </a:solidFill>
              <a:latin typeface="Calibri" charset="0"/>
              <a:ea typeface="等线" charset="0"/>
              <a:cs typeface="Calibri" charset="0"/>
            </a:endParaRPr>
          </a:p>
        </p:txBody>
      </p:sp>
      <p:sp>
        <p:nvSpPr>
          <p:cNvPr id="458" name="Rectangle"/>
          <p:cNvSpPr>
            <a:spLocks/>
          </p:cNvSpPr>
          <p:nvPr/>
        </p:nvSpPr>
        <p:spPr>
          <a:xfrm>
            <a:off x="320040" y="1581911"/>
            <a:ext cx="8503920" cy="841248"/>
          </a:xfrm>
          <a:prstGeom prst="rect">
            <a:avLst/>
          </a:prstGeom>
          <a:solidFill>
            <a:srgbClr val="0D2137"/>
          </a:solidFill>
          <a:ln w="12700" cap="flat" cmpd="sng">
            <a:solidFill>
              <a:srgbClr val="0D2137"/>
            </a:solidFill>
            <a:prstDash val="solid"/>
            <a:round/>
          </a:ln>
        </p:spPr>
        <p:txBody>
          <a:bodyPr/>
          <a:lstStyle/>
          <a:p>
            <a:endParaRPr lang="en-GB"/>
          </a:p>
        </p:txBody>
      </p:sp>
      <p:sp>
        <p:nvSpPr>
          <p:cNvPr id="459" name="Rectangle"/>
          <p:cNvSpPr>
            <a:spLocks/>
          </p:cNvSpPr>
          <p:nvPr/>
        </p:nvSpPr>
        <p:spPr>
          <a:xfrm>
            <a:off x="457200" y="1618487"/>
            <a:ext cx="18288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100" b="1" i="0" u="none" strike="noStrike" kern="1200" cap="none" spc="0" baseline="0">
                <a:solidFill>
                  <a:srgbClr val="F59E0B"/>
                </a:solidFill>
                <a:latin typeface="Calibri" charset="0"/>
                <a:ea typeface="Calibri" charset="0"/>
                <a:cs typeface="Calibri" charset="0"/>
              </a:rPr>
              <a:t>Prompt used:</a:t>
            </a:r>
            <a:endParaRPr lang="zh-CN" altLang="en-US" sz="1100" b="0" i="0" u="none" strike="noStrike" kern="1200" cap="none" spc="0" baseline="0">
              <a:solidFill>
                <a:schemeClr val="tx1"/>
              </a:solidFill>
              <a:latin typeface="Calibri" charset="0"/>
              <a:ea typeface="等线" charset="0"/>
              <a:cs typeface="Calibri" charset="0"/>
            </a:endParaRPr>
          </a:p>
        </p:txBody>
      </p:sp>
      <p:sp>
        <p:nvSpPr>
          <p:cNvPr id="460" name="Rectangle"/>
          <p:cNvSpPr>
            <a:spLocks/>
          </p:cNvSpPr>
          <p:nvPr/>
        </p:nvSpPr>
        <p:spPr>
          <a:xfrm>
            <a:off x="457200" y="1847088"/>
            <a:ext cx="8275320" cy="530352"/>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050" b="0" i="1" u="none" strike="noStrike" kern="1200" cap="none" spc="0" baseline="0">
                <a:solidFill>
                  <a:srgbClr val="10B981"/>
                </a:solidFill>
                <a:latin typeface="Calibri" charset="0"/>
                <a:ea typeface="Calibri" charset="0"/>
                <a:cs typeface="Calibri" charset="0"/>
              </a:rPr>
              <a:t>"Generate 5 multiple choice questions on enzyme kinetics and the Michaelis-Menten equation for 300-level biochemistry students. For each question: provide 4 options (A-D), indicate the correct answer, give a brief explanation of why, and classify difficulty as Easy/Medium/Hard."</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61" name="Rectangle"/>
          <p:cNvSpPr>
            <a:spLocks/>
          </p:cNvSpPr>
          <p:nvPr/>
        </p:nvSpPr>
        <p:spPr>
          <a:xfrm>
            <a:off x="320040" y="2514600"/>
            <a:ext cx="4160520" cy="2514600"/>
          </a:xfrm>
          <a:prstGeom prst="rect">
            <a:avLst/>
          </a:prstGeom>
          <a:solidFill>
            <a:srgbClr val="FFFFFF"/>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462" name="Rectangle"/>
          <p:cNvSpPr>
            <a:spLocks/>
          </p:cNvSpPr>
          <p:nvPr/>
        </p:nvSpPr>
        <p:spPr>
          <a:xfrm>
            <a:off x="320040" y="2514600"/>
            <a:ext cx="4160520" cy="73151"/>
          </a:xfrm>
          <a:prstGeom prst="rect">
            <a:avLst/>
          </a:prstGeom>
          <a:solidFill>
            <a:srgbClr val="10B981"/>
          </a:solidFill>
          <a:ln w="12700" cap="flat" cmpd="sng">
            <a:solidFill>
              <a:srgbClr val="10B981"/>
            </a:solidFill>
            <a:prstDash val="solid"/>
            <a:round/>
          </a:ln>
        </p:spPr>
        <p:txBody>
          <a:bodyPr/>
          <a:lstStyle/>
          <a:p>
            <a:endParaRPr lang="en-GB"/>
          </a:p>
        </p:txBody>
      </p:sp>
      <p:sp>
        <p:nvSpPr>
          <p:cNvPr id="463" name="Rectangle"/>
          <p:cNvSpPr>
            <a:spLocks/>
          </p:cNvSpPr>
          <p:nvPr/>
        </p:nvSpPr>
        <p:spPr>
          <a:xfrm>
            <a:off x="3611880" y="2578608"/>
            <a:ext cx="731520" cy="256031"/>
          </a:xfrm>
          <a:prstGeom prst="rect">
            <a:avLst/>
          </a:prstGeom>
          <a:solidFill>
            <a:srgbClr val="10B981"/>
          </a:solidFill>
          <a:ln w="12700" cap="flat" cmpd="sng">
            <a:solidFill>
              <a:srgbClr val="10B981"/>
            </a:solidFill>
            <a:prstDash val="solid"/>
            <a:round/>
          </a:ln>
        </p:spPr>
        <p:txBody>
          <a:bodyPr/>
          <a:lstStyle/>
          <a:p>
            <a:endParaRPr lang="en-GB"/>
          </a:p>
        </p:txBody>
      </p:sp>
      <p:sp>
        <p:nvSpPr>
          <p:cNvPr id="464" name="Rectangle"/>
          <p:cNvSpPr>
            <a:spLocks/>
          </p:cNvSpPr>
          <p:nvPr/>
        </p:nvSpPr>
        <p:spPr>
          <a:xfrm>
            <a:off x="3630167" y="2587752"/>
            <a:ext cx="713231"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900" b="1" i="0" u="none" strike="noStrike" kern="1200" cap="none" spc="0" baseline="0">
                <a:solidFill>
                  <a:srgbClr val="FFFFFF"/>
                </a:solidFill>
                <a:latin typeface="Calibri" charset="0"/>
                <a:ea typeface="Calibri" charset="0"/>
                <a:cs typeface="Calibri" charset="0"/>
              </a:rPr>
              <a:t>EASY</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465" name="Rectangle"/>
          <p:cNvSpPr>
            <a:spLocks/>
          </p:cNvSpPr>
          <p:nvPr/>
        </p:nvSpPr>
        <p:spPr>
          <a:xfrm>
            <a:off x="429768" y="2587752"/>
            <a:ext cx="3154680" cy="45720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0D2137"/>
                </a:solidFill>
                <a:latin typeface="Calibri" charset="0"/>
                <a:ea typeface="Calibri" charset="0"/>
                <a:cs typeface="Calibri" charset="0"/>
              </a:rPr>
              <a:t>Q1 (Easy): Which of the following best describes Km in the Michaelis-Menten equation?</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466" name="Rectangle"/>
          <p:cNvSpPr>
            <a:spLocks/>
          </p:cNvSpPr>
          <p:nvPr/>
        </p:nvSpPr>
        <p:spPr>
          <a:xfrm>
            <a:off x="429768" y="3090672"/>
            <a:ext cx="3931920"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1E4D3B"/>
                </a:solidFill>
                <a:latin typeface="Calibri" charset="0"/>
                <a:ea typeface="Calibri" charset="0"/>
                <a:cs typeface="Calibri" charset="0"/>
              </a:rPr>
              <a:t>A) Maximum reaction velocity</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67" name="Rectangle"/>
          <p:cNvSpPr>
            <a:spLocks/>
          </p:cNvSpPr>
          <p:nvPr/>
        </p:nvSpPr>
        <p:spPr>
          <a:xfrm>
            <a:off x="429768" y="3364992"/>
            <a:ext cx="3931920"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1E4D3B"/>
                </a:solidFill>
                <a:latin typeface="Calibri" charset="0"/>
                <a:ea typeface="Calibri" charset="0"/>
                <a:cs typeface="Calibri" charset="0"/>
              </a:rPr>
              <a:t>B) Substrate concentration at half Vmax</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68" name="Rectangle"/>
          <p:cNvSpPr>
            <a:spLocks/>
          </p:cNvSpPr>
          <p:nvPr/>
        </p:nvSpPr>
        <p:spPr>
          <a:xfrm>
            <a:off x="429768" y="3639312"/>
            <a:ext cx="3931920"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1E4D3B"/>
                </a:solidFill>
                <a:latin typeface="Calibri" charset="0"/>
                <a:ea typeface="Calibri" charset="0"/>
                <a:cs typeface="Calibri" charset="0"/>
              </a:rPr>
              <a:t>C) Enzyme concentration at equilibrium</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69" name="Rectangle"/>
          <p:cNvSpPr>
            <a:spLocks/>
          </p:cNvSpPr>
          <p:nvPr/>
        </p:nvSpPr>
        <p:spPr>
          <a:xfrm>
            <a:off x="429768" y="3913632"/>
            <a:ext cx="3931920"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1E4D3B"/>
                </a:solidFill>
                <a:latin typeface="Calibri" charset="0"/>
                <a:ea typeface="Calibri" charset="0"/>
                <a:cs typeface="Calibri" charset="0"/>
              </a:rPr>
              <a:t>D) Rate of product formation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70" name="Rectangle"/>
          <p:cNvSpPr>
            <a:spLocks/>
          </p:cNvSpPr>
          <p:nvPr/>
        </p:nvSpPr>
        <p:spPr>
          <a:xfrm>
            <a:off x="429768" y="4215384"/>
            <a:ext cx="3931920" cy="749808"/>
          </a:xfrm>
          <a:prstGeom prst="rect">
            <a:avLst/>
          </a:prstGeom>
          <a:solidFill>
            <a:srgbClr val="F0FDF4"/>
          </a:solidFill>
          <a:ln w="12700" cap="flat" cmpd="sng">
            <a:solidFill>
              <a:srgbClr val="10B981"/>
            </a:solidFill>
            <a:prstDash val="solid"/>
            <a:round/>
          </a:ln>
        </p:spPr>
        <p:txBody>
          <a:bodyPr/>
          <a:lstStyle/>
          <a:p>
            <a:endParaRPr lang="en-GB"/>
          </a:p>
        </p:txBody>
      </p:sp>
      <p:sp>
        <p:nvSpPr>
          <p:cNvPr id="471" name="Rectangle"/>
          <p:cNvSpPr>
            <a:spLocks/>
          </p:cNvSpPr>
          <p:nvPr/>
        </p:nvSpPr>
        <p:spPr>
          <a:xfrm>
            <a:off x="484631" y="4242816"/>
            <a:ext cx="3840480" cy="694944"/>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1E4D3B"/>
                </a:solidFill>
                <a:latin typeface="Calibri" charset="0"/>
                <a:ea typeface="Calibri" charset="0"/>
                <a:cs typeface="Calibri" charset="0"/>
              </a:rPr>
              <a:t>Answer: B — Km represents the substrate concentration at which reaction velocity is half of Vmax, reflecting enzyme-substrate affinity.</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72" name="Rectangle"/>
          <p:cNvSpPr>
            <a:spLocks/>
          </p:cNvSpPr>
          <p:nvPr/>
        </p:nvSpPr>
        <p:spPr>
          <a:xfrm>
            <a:off x="4754880" y="2514600"/>
            <a:ext cx="4160520" cy="2514600"/>
          </a:xfrm>
          <a:prstGeom prst="rect">
            <a:avLst/>
          </a:prstGeom>
          <a:solidFill>
            <a:srgbClr val="FFFFFF"/>
          </a:solidFill>
          <a:ln w="12700" cap="flat" cmpd="sng">
            <a:solidFill>
              <a:srgbClr val="0A7C6E"/>
            </a:solidFill>
            <a:prstDash val="solid"/>
            <a:round/>
          </a:ln>
          <a:effectLst>
            <a:outerShdw blurRad="101600" dist="38100" dir="8100000" algn="bl" rotWithShape="0">
              <a:srgbClr val="000000">
                <a:alpha val="11764"/>
              </a:srgbClr>
            </a:outerShdw>
          </a:effectLst>
        </p:spPr>
        <p:txBody>
          <a:bodyPr/>
          <a:lstStyle/>
          <a:p>
            <a:endParaRPr lang="en-GB"/>
          </a:p>
        </p:txBody>
      </p:sp>
      <p:sp>
        <p:nvSpPr>
          <p:cNvPr id="473" name="Rectangle"/>
          <p:cNvSpPr>
            <a:spLocks/>
          </p:cNvSpPr>
          <p:nvPr/>
        </p:nvSpPr>
        <p:spPr>
          <a:xfrm>
            <a:off x="4754880" y="2514600"/>
            <a:ext cx="4160520" cy="73151"/>
          </a:xfrm>
          <a:prstGeom prst="rect">
            <a:avLst/>
          </a:prstGeom>
          <a:solidFill>
            <a:srgbClr val="EF4444"/>
          </a:solidFill>
          <a:ln w="12700" cap="flat" cmpd="sng">
            <a:solidFill>
              <a:srgbClr val="EF4444"/>
            </a:solidFill>
            <a:prstDash val="solid"/>
            <a:round/>
          </a:ln>
        </p:spPr>
        <p:txBody>
          <a:bodyPr/>
          <a:lstStyle/>
          <a:p>
            <a:endParaRPr lang="en-GB"/>
          </a:p>
        </p:txBody>
      </p:sp>
      <p:sp>
        <p:nvSpPr>
          <p:cNvPr id="474" name="Rectangle"/>
          <p:cNvSpPr>
            <a:spLocks/>
          </p:cNvSpPr>
          <p:nvPr/>
        </p:nvSpPr>
        <p:spPr>
          <a:xfrm>
            <a:off x="8046719" y="2578608"/>
            <a:ext cx="731519" cy="256031"/>
          </a:xfrm>
          <a:prstGeom prst="rect">
            <a:avLst/>
          </a:prstGeom>
          <a:solidFill>
            <a:srgbClr val="EF4444"/>
          </a:solidFill>
          <a:ln w="12700" cap="flat" cmpd="sng">
            <a:solidFill>
              <a:srgbClr val="EF4444"/>
            </a:solidFill>
            <a:prstDash val="solid"/>
            <a:round/>
          </a:ln>
        </p:spPr>
        <p:txBody>
          <a:bodyPr/>
          <a:lstStyle/>
          <a:p>
            <a:endParaRPr lang="en-GB"/>
          </a:p>
        </p:txBody>
      </p:sp>
      <p:sp>
        <p:nvSpPr>
          <p:cNvPr id="475" name="Rectangle"/>
          <p:cNvSpPr>
            <a:spLocks/>
          </p:cNvSpPr>
          <p:nvPr/>
        </p:nvSpPr>
        <p:spPr>
          <a:xfrm>
            <a:off x="8065008" y="2587752"/>
            <a:ext cx="713232"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900" b="1" i="0" u="none" strike="noStrike" kern="1200" cap="none" spc="0" baseline="0">
                <a:solidFill>
                  <a:srgbClr val="FFFFFF"/>
                </a:solidFill>
                <a:latin typeface="Calibri" charset="0"/>
                <a:ea typeface="Calibri" charset="0"/>
                <a:cs typeface="Calibri" charset="0"/>
              </a:rPr>
              <a:t>HARD</a:t>
            </a:r>
            <a:endParaRPr lang="zh-CN" altLang="en-US" sz="900" b="0" i="0" u="none" strike="noStrike" kern="1200" cap="none" spc="0" baseline="0">
              <a:solidFill>
                <a:schemeClr val="tx1"/>
              </a:solidFill>
              <a:latin typeface="Calibri" charset="0"/>
              <a:ea typeface="等线" charset="0"/>
              <a:cs typeface="Calibri" charset="0"/>
            </a:endParaRPr>
          </a:p>
        </p:txBody>
      </p:sp>
      <p:sp>
        <p:nvSpPr>
          <p:cNvPr id="476" name="Rectangle"/>
          <p:cNvSpPr>
            <a:spLocks/>
          </p:cNvSpPr>
          <p:nvPr/>
        </p:nvSpPr>
        <p:spPr>
          <a:xfrm>
            <a:off x="4864608" y="2587752"/>
            <a:ext cx="3154680" cy="457200"/>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0D2137"/>
                </a:solidFill>
                <a:latin typeface="Calibri" charset="0"/>
                <a:ea typeface="Calibri" charset="0"/>
                <a:cs typeface="Calibri" charset="0"/>
              </a:rPr>
              <a:t>Q2 (Hard): An enzyme has Km = 2mM and Vmax = 100 umol/min. At [S] = 8mM, what is the reaction velocity?</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477" name="Rectangle"/>
          <p:cNvSpPr>
            <a:spLocks/>
          </p:cNvSpPr>
          <p:nvPr/>
        </p:nvSpPr>
        <p:spPr>
          <a:xfrm>
            <a:off x="4864608" y="3090672"/>
            <a:ext cx="393191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1E4D3B"/>
                </a:solidFill>
                <a:latin typeface="Calibri" charset="0"/>
                <a:ea typeface="Calibri" charset="0"/>
                <a:cs typeface="Calibri" charset="0"/>
              </a:rPr>
              <a:t>A) 25 umol/min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78" name="Rectangle"/>
          <p:cNvSpPr>
            <a:spLocks/>
          </p:cNvSpPr>
          <p:nvPr/>
        </p:nvSpPr>
        <p:spPr>
          <a:xfrm>
            <a:off x="4864608" y="3364992"/>
            <a:ext cx="393191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1E4D3B"/>
                </a:solidFill>
                <a:latin typeface="Calibri" charset="0"/>
                <a:ea typeface="Calibri" charset="0"/>
                <a:cs typeface="Calibri" charset="0"/>
              </a:rPr>
              <a:t>B) 50 umol/min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79" name="Rectangle"/>
          <p:cNvSpPr>
            <a:spLocks/>
          </p:cNvSpPr>
          <p:nvPr/>
        </p:nvSpPr>
        <p:spPr>
          <a:xfrm>
            <a:off x="4864608" y="3639312"/>
            <a:ext cx="393191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1E4D3B"/>
                </a:solidFill>
                <a:latin typeface="Calibri" charset="0"/>
                <a:ea typeface="Calibri" charset="0"/>
                <a:cs typeface="Calibri" charset="0"/>
              </a:rPr>
              <a:t>C) 80 umol/min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80" name="Rectangle"/>
          <p:cNvSpPr>
            <a:spLocks/>
          </p:cNvSpPr>
          <p:nvPr/>
        </p:nvSpPr>
        <p:spPr>
          <a:xfrm>
            <a:off x="4864608" y="3913632"/>
            <a:ext cx="3931919" cy="256031"/>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1E4D3B"/>
                </a:solidFill>
                <a:latin typeface="Calibri" charset="0"/>
                <a:ea typeface="Calibri" charset="0"/>
                <a:cs typeface="Calibri" charset="0"/>
              </a:rPr>
              <a:t>D) 100 umol/min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81" name="Rectangle"/>
          <p:cNvSpPr>
            <a:spLocks/>
          </p:cNvSpPr>
          <p:nvPr/>
        </p:nvSpPr>
        <p:spPr>
          <a:xfrm>
            <a:off x="4864608" y="4215384"/>
            <a:ext cx="3931919" cy="749808"/>
          </a:xfrm>
          <a:prstGeom prst="rect">
            <a:avLst/>
          </a:prstGeom>
          <a:solidFill>
            <a:srgbClr val="F0FDF4"/>
          </a:solidFill>
          <a:ln w="12700" cap="flat" cmpd="sng">
            <a:solidFill>
              <a:srgbClr val="10B981"/>
            </a:solidFill>
            <a:prstDash val="solid"/>
            <a:round/>
          </a:ln>
        </p:spPr>
        <p:txBody>
          <a:bodyPr/>
          <a:lstStyle/>
          <a:p>
            <a:endParaRPr lang="en-GB"/>
          </a:p>
        </p:txBody>
      </p:sp>
      <p:sp>
        <p:nvSpPr>
          <p:cNvPr id="482" name="Rectangle"/>
          <p:cNvSpPr>
            <a:spLocks/>
          </p:cNvSpPr>
          <p:nvPr/>
        </p:nvSpPr>
        <p:spPr>
          <a:xfrm>
            <a:off x="4919471" y="4242816"/>
            <a:ext cx="3840479" cy="694944"/>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1E4D3B"/>
                </a:solidFill>
                <a:latin typeface="Calibri" charset="0"/>
                <a:ea typeface="Calibri" charset="0"/>
                <a:cs typeface="Calibri" charset="0"/>
              </a:rPr>
              <a:t>Answer: C — Using v = Vmax[S]/(Km+[S]) = 100x8/(2+8) = 80 umol/min. Tests quantitative application.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483" name="Rectangle"/>
          <p:cNvSpPr>
            <a:spLocks/>
          </p:cNvSpPr>
          <p:nvPr/>
        </p:nvSpPr>
        <p:spPr>
          <a:xfrm>
            <a:off x="320040" y="5056632"/>
            <a:ext cx="8503920" cy="24688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dirty="0">
                <a:solidFill>
                  <a:srgbClr val="0A7C6E"/>
                </a:solidFill>
                <a:latin typeface="Calibri" charset="0"/>
                <a:ea typeface="Calibri" charset="0"/>
                <a:cs typeface="Calibri" charset="0"/>
              </a:rPr>
              <a:t>ChatGPT or Gemini or Claude can generate 20 MCQs + marking guide in under 2 minutes. Always review and adjust!</a:t>
            </a:r>
            <a:endParaRPr lang="zh-CN" altLang="en-US" sz="1100" b="0" i="0" u="none" strike="noStrike" kern="1200" cap="none" spc="0" baseline="0" dirty="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45191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4" name="Rectangle"/>
          <p:cNvSpPr>
            <a:spLocks/>
          </p:cNvSpPr>
          <p:nvPr/>
        </p:nvSpPr>
        <p:spPr>
          <a:xfrm>
            <a:off x="0" y="0"/>
            <a:ext cx="9144000" cy="960120"/>
          </a:xfrm>
          <a:prstGeom prst="rect">
            <a:avLst/>
          </a:prstGeom>
          <a:solidFill>
            <a:srgbClr val="06B6D4"/>
          </a:solidFill>
          <a:ln w="12700" cap="flat" cmpd="sng">
            <a:solidFill>
              <a:srgbClr val="06B6D4"/>
            </a:solidFill>
            <a:prstDash val="solid"/>
            <a:round/>
          </a:ln>
        </p:spPr>
        <p:txBody>
          <a:bodyPr/>
          <a:lstStyle/>
          <a:p>
            <a:endParaRPr lang="en-GB"/>
          </a:p>
        </p:txBody>
      </p:sp>
      <p:sp>
        <p:nvSpPr>
          <p:cNvPr id="485"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FFFFFF"/>
                </a:solidFill>
                <a:latin typeface="Arial Black" pitchFamily="34" charset="0"/>
                <a:ea typeface="Arial Black" pitchFamily="34" charset="0"/>
                <a:cs typeface="Arial Black" pitchFamily="34" charset="0"/>
              </a:rPr>
              <a:t>Example 7: Real-Time Research with Perplexity AI</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486" name="Rectangle"/>
          <p:cNvSpPr>
            <a:spLocks/>
          </p:cNvSpPr>
          <p:nvPr/>
        </p:nvSpPr>
        <p:spPr>
          <a:xfrm>
            <a:off x="320040" y="1024127"/>
            <a:ext cx="8503920" cy="438912"/>
          </a:xfrm>
          <a:prstGeom prst="rect">
            <a:avLst/>
          </a:prstGeom>
          <a:solidFill>
            <a:srgbClr val="FEF3C7"/>
          </a:solidFill>
          <a:ln w="12700" cap="flat" cmpd="sng">
            <a:solidFill>
              <a:srgbClr val="F59E0B"/>
            </a:solidFill>
            <a:prstDash val="solid"/>
            <a:round/>
          </a:ln>
        </p:spPr>
        <p:txBody>
          <a:bodyPr/>
          <a:lstStyle/>
          <a:p>
            <a:endParaRPr lang="en-GB"/>
          </a:p>
        </p:txBody>
      </p:sp>
      <p:sp>
        <p:nvSpPr>
          <p:cNvPr id="487" name="Rectangle"/>
          <p:cNvSpPr>
            <a:spLocks/>
          </p:cNvSpPr>
          <p:nvPr/>
        </p:nvSpPr>
        <p:spPr>
          <a:xfrm>
            <a:off x="411480" y="1051560"/>
            <a:ext cx="8321040" cy="384047"/>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150" b="0" i="1" u="none" strike="noStrike" kern="1200" cap="none" spc="0" baseline="0" dirty="0">
                <a:solidFill>
                  <a:srgbClr val="92400E"/>
                </a:solidFill>
                <a:latin typeface="Calibri" charset="0"/>
                <a:ea typeface="Calibri" charset="0"/>
                <a:cs typeface="Calibri" charset="0"/>
              </a:rPr>
              <a:t>SCENARIO: Dr. </a:t>
            </a:r>
            <a:r>
              <a:rPr lang="en-US" altLang="zh-CN" sz="1150" b="0" i="1" u="none" strike="noStrike" kern="1200" cap="none" spc="0" baseline="0" dirty="0" err="1">
                <a:solidFill>
                  <a:srgbClr val="92400E"/>
                </a:solidFill>
                <a:latin typeface="Calibri" charset="0"/>
                <a:ea typeface="Calibri" charset="0"/>
                <a:cs typeface="Calibri" charset="0"/>
              </a:rPr>
              <a:t>Bamidelekeke</a:t>
            </a:r>
            <a:r>
              <a:rPr lang="en-US" altLang="zh-CN" sz="1150" b="0" i="1" u="none" strike="noStrike" kern="1200" cap="none" spc="0" baseline="0" dirty="0">
                <a:solidFill>
                  <a:srgbClr val="92400E"/>
                </a:solidFill>
                <a:latin typeface="Calibri" charset="0"/>
                <a:ea typeface="Calibri" charset="0"/>
                <a:cs typeface="Calibri" charset="0"/>
              </a:rPr>
              <a:t> is preparing a conference paper. She needs current statistics on AI adoption in African universities - data from 2023-2024. Regular Google search returns outdated results.</a:t>
            </a:r>
            <a:endParaRPr lang="zh-CN" altLang="en-US" sz="1150" b="0" i="0" u="none" strike="noStrike" kern="1200" cap="none" spc="0" baseline="0" dirty="0">
              <a:solidFill>
                <a:schemeClr val="tx1"/>
              </a:solidFill>
              <a:latin typeface="Calibri" charset="0"/>
              <a:ea typeface="等线" charset="0"/>
              <a:cs typeface="Calibri" charset="0"/>
            </a:endParaRPr>
          </a:p>
        </p:txBody>
      </p:sp>
      <p:sp>
        <p:nvSpPr>
          <p:cNvPr id="488" name="Rectangle"/>
          <p:cNvSpPr>
            <a:spLocks/>
          </p:cNvSpPr>
          <p:nvPr/>
        </p:nvSpPr>
        <p:spPr>
          <a:xfrm>
            <a:off x="320040" y="1581911"/>
            <a:ext cx="3931920" cy="3401568"/>
          </a:xfrm>
          <a:prstGeom prst="rect">
            <a:avLst/>
          </a:prstGeom>
          <a:solidFill>
            <a:srgbClr val="F0FAF7"/>
          </a:solidFill>
          <a:ln w="12700" cap="flat" cmpd="sng">
            <a:solidFill>
              <a:srgbClr val="06B6D4"/>
            </a:solidFill>
            <a:prstDash val="solid"/>
            <a:round/>
          </a:ln>
          <a:effectLst>
            <a:outerShdw blurRad="101600" dist="38100" dir="8100000" algn="bl" rotWithShape="0">
              <a:srgbClr val="000000">
                <a:alpha val="11764"/>
              </a:srgbClr>
            </a:outerShdw>
          </a:effectLst>
        </p:spPr>
        <p:txBody>
          <a:bodyPr/>
          <a:lstStyle/>
          <a:p>
            <a:endParaRPr lang="en-GB"/>
          </a:p>
        </p:txBody>
      </p:sp>
      <p:sp>
        <p:nvSpPr>
          <p:cNvPr id="489" name="Rectangle"/>
          <p:cNvSpPr>
            <a:spLocks/>
          </p:cNvSpPr>
          <p:nvPr/>
        </p:nvSpPr>
        <p:spPr>
          <a:xfrm>
            <a:off x="320040" y="1581911"/>
            <a:ext cx="3931920" cy="384048"/>
          </a:xfrm>
          <a:prstGeom prst="rect">
            <a:avLst/>
          </a:prstGeom>
          <a:solidFill>
            <a:srgbClr val="06B6D4"/>
          </a:solidFill>
          <a:ln w="12700" cap="flat" cmpd="sng">
            <a:solidFill>
              <a:srgbClr val="06B6D4"/>
            </a:solidFill>
            <a:prstDash val="solid"/>
            <a:round/>
          </a:ln>
        </p:spPr>
        <p:txBody>
          <a:bodyPr/>
          <a:lstStyle/>
          <a:p>
            <a:endParaRPr lang="en-GB"/>
          </a:p>
        </p:txBody>
      </p:sp>
      <p:sp>
        <p:nvSpPr>
          <p:cNvPr id="490" name="Rectangle"/>
          <p:cNvSpPr>
            <a:spLocks/>
          </p:cNvSpPr>
          <p:nvPr/>
        </p:nvSpPr>
        <p:spPr>
          <a:xfrm>
            <a:off x="411480" y="1600200"/>
            <a:ext cx="37490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FFFFFF"/>
                </a:solidFill>
                <a:latin typeface="Arial Black" pitchFamily="34" charset="0"/>
                <a:ea typeface="Arial Black" pitchFamily="34" charset="0"/>
                <a:cs typeface="Arial Black" pitchFamily="34" charset="0"/>
              </a:rPr>
              <a:t>Why Perplexity over Google?</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491" name="Rectangle"/>
          <p:cNvSpPr>
            <a:spLocks/>
          </p:cNvSpPr>
          <p:nvPr/>
        </p:nvSpPr>
        <p:spPr>
          <a:xfrm>
            <a:off x="475487" y="203911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1200" cap="none" spc="0" baseline="0">
                <a:solidFill>
                  <a:srgbClr val="06B6D4"/>
                </a:solidFill>
                <a:latin typeface="Calibri" charset="0"/>
                <a:ea typeface="Calibri" charset="0"/>
                <a:cs typeface="Calibri" charset="0"/>
              </a:rPr>
              <a:t>Cites sources inline</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492" name="Rectangle"/>
          <p:cNvSpPr>
            <a:spLocks/>
          </p:cNvSpPr>
          <p:nvPr/>
        </p:nvSpPr>
        <p:spPr>
          <a:xfrm>
            <a:off x="475487" y="226771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Every claim links to its source paper or article - no guessing</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93" name="Rectangle"/>
          <p:cNvSpPr>
            <a:spLocks/>
          </p:cNvSpPr>
          <p:nvPr/>
        </p:nvSpPr>
        <p:spPr>
          <a:xfrm>
            <a:off x="475487" y="258775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1200" cap="none" spc="0" baseline="0">
                <a:solidFill>
                  <a:srgbClr val="06B6D4"/>
                </a:solidFill>
                <a:latin typeface="Calibri" charset="0"/>
                <a:ea typeface="Calibri" charset="0"/>
                <a:cs typeface="Calibri" charset="0"/>
              </a:rPr>
              <a:t>Searches current web</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494" name="Rectangle"/>
          <p:cNvSpPr>
            <a:spLocks/>
          </p:cNvSpPr>
          <p:nvPr/>
        </p:nvSpPr>
        <p:spPr>
          <a:xfrm>
            <a:off x="475487" y="281635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Updated daily - finds 2024 reports Google might bury</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95" name="Rectangle"/>
          <p:cNvSpPr>
            <a:spLocks/>
          </p:cNvSpPr>
          <p:nvPr/>
        </p:nvSpPr>
        <p:spPr>
          <a:xfrm>
            <a:off x="475487" y="313639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1200" cap="none" spc="0" baseline="0">
                <a:solidFill>
                  <a:srgbClr val="06B6D4"/>
                </a:solidFill>
                <a:latin typeface="Calibri" charset="0"/>
                <a:ea typeface="Calibri" charset="0"/>
                <a:cs typeface="Calibri" charset="0"/>
              </a:rPr>
              <a:t>Synthesizes answers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496" name="Rectangle"/>
          <p:cNvSpPr>
            <a:spLocks/>
          </p:cNvSpPr>
          <p:nvPr/>
        </p:nvSpPr>
        <p:spPr>
          <a:xfrm>
            <a:off x="475487" y="336499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Doesn't just list links - actually answers your question</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97" name="Rectangle"/>
          <p:cNvSpPr>
            <a:spLocks/>
          </p:cNvSpPr>
          <p:nvPr/>
        </p:nvSpPr>
        <p:spPr>
          <a:xfrm>
            <a:off x="475487" y="368503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1200" cap="none" spc="0" baseline="0">
                <a:solidFill>
                  <a:srgbClr val="06B6D4"/>
                </a:solidFill>
                <a:latin typeface="Calibri" charset="0"/>
                <a:ea typeface="Calibri" charset="0"/>
                <a:cs typeface="Calibri" charset="0"/>
              </a:rPr>
              <a:t>Academic mode</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498" name="Rectangle"/>
          <p:cNvSpPr>
            <a:spLocks/>
          </p:cNvSpPr>
          <p:nvPr/>
        </p:nvSpPr>
        <p:spPr>
          <a:xfrm>
            <a:off x="475487" y="391363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"Focus: Academic Papers" filters for peer-reviewed sources only</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499" name="Rectangle"/>
          <p:cNvSpPr>
            <a:spLocks/>
          </p:cNvSpPr>
          <p:nvPr/>
        </p:nvSpPr>
        <p:spPr>
          <a:xfrm>
            <a:off x="475487" y="423367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200" b="1" i="0" u="none" strike="noStrike" kern="1200" cap="none" spc="0" baseline="0">
                <a:solidFill>
                  <a:srgbClr val="06B6D4"/>
                </a:solidFill>
                <a:latin typeface="Calibri" charset="0"/>
                <a:ea typeface="Calibri" charset="0"/>
                <a:cs typeface="Calibri" charset="0"/>
              </a:rPr>
              <a:t>Follow-up questions</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500" name="Rectangle"/>
          <p:cNvSpPr>
            <a:spLocks/>
          </p:cNvSpPr>
          <p:nvPr/>
        </p:nvSpPr>
        <p:spPr>
          <a:xfrm>
            <a:off x="475487" y="4462272"/>
            <a:ext cx="3657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0" i="0" u="none" strike="noStrike" kern="1200" cap="none" spc="0" baseline="0">
                <a:solidFill>
                  <a:srgbClr val="1E4D3B"/>
                </a:solidFill>
                <a:latin typeface="Calibri" charset="0"/>
                <a:ea typeface="Calibri" charset="0"/>
                <a:cs typeface="Calibri" charset="0"/>
              </a:rPr>
              <a:t>Ask "tell me more about point 3" - it remembers context</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501" name="Rectangle"/>
          <p:cNvSpPr>
            <a:spLocks/>
          </p:cNvSpPr>
          <p:nvPr/>
        </p:nvSpPr>
        <p:spPr>
          <a:xfrm>
            <a:off x="4434840" y="1581911"/>
            <a:ext cx="4389119" cy="3401568"/>
          </a:xfrm>
          <a:prstGeom prst="rect">
            <a:avLst/>
          </a:prstGeom>
          <a:solidFill>
            <a:srgbClr val="0D2137"/>
          </a:solidFill>
          <a:ln w="12700" cap="flat" cmpd="sng">
            <a:solidFill>
              <a:srgbClr val="0D2137"/>
            </a:solidFill>
            <a:prstDash val="solid"/>
            <a:round/>
          </a:ln>
          <a:effectLst>
            <a:outerShdw blurRad="101600" dist="38100" dir="8100000" algn="bl" rotWithShape="0">
              <a:srgbClr val="000000">
                <a:alpha val="11764"/>
              </a:srgbClr>
            </a:outerShdw>
          </a:effectLst>
        </p:spPr>
        <p:txBody>
          <a:bodyPr/>
          <a:lstStyle/>
          <a:p>
            <a:endParaRPr lang="en-GB"/>
          </a:p>
        </p:txBody>
      </p:sp>
      <p:sp>
        <p:nvSpPr>
          <p:cNvPr id="502" name="Rectangle"/>
          <p:cNvSpPr>
            <a:spLocks/>
          </p:cNvSpPr>
          <p:nvPr/>
        </p:nvSpPr>
        <p:spPr>
          <a:xfrm>
            <a:off x="4434840" y="1581911"/>
            <a:ext cx="4389119" cy="384048"/>
          </a:xfrm>
          <a:prstGeom prst="rect">
            <a:avLst/>
          </a:prstGeom>
          <a:solidFill>
            <a:srgbClr val="0E7490"/>
          </a:solidFill>
          <a:ln w="12700" cap="flat" cmpd="sng">
            <a:solidFill>
              <a:srgbClr val="0E7490"/>
            </a:solidFill>
            <a:prstDash val="solid"/>
            <a:round/>
          </a:ln>
        </p:spPr>
        <p:txBody>
          <a:bodyPr/>
          <a:lstStyle/>
          <a:p>
            <a:endParaRPr lang="en-GB"/>
          </a:p>
        </p:txBody>
      </p:sp>
      <p:sp>
        <p:nvSpPr>
          <p:cNvPr id="503" name="Rectangle"/>
          <p:cNvSpPr>
            <a:spLocks/>
          </p:cNvSpPr>
          <p:nvPr/>
        </p:nvSpPr>
        <p:spPr>
          <a:xfrm>
            <a:off x="4526280" y="1600200"/>
            <a:ext cx="420624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300" b="1" i="0" u="none" strike="noStrike" kern="1200" cap="none" spc="0" baseline="0">
                <a:solidFill>
                  <a:srgbClr val="FFFFFF"/>
                </a:solidFill>
                <a:latin typeface="Arial Black" pitchFamily="34" charset="0"/>
                <a:ea typeface="Arial Black" pitchFamily="34" charset="0"/>
                <a:cs typeface="Arial Black" pitchFamily="34" charset="0"/>
              </a:rPr>
              <a:t>Sample Perplexity Session</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504" name="Rectangle"/>
          <p:cNvSpPr>
            <a:spLocks/>
          </p:cNvSpPr>
          <p:nvPr/>
        </p:nvSpPr>
        <p:spPr>
          <a:xfrm>
            <a:off x="4572000" y="2075688"/>
            <a:ext cx="4114800" cy="685800"/>
          </a:xfrm>
          <a:prstGeom prst="rect">
            <a:avLst/>
          </a:prstGeom>
          <a:solidFill>
            <a:srgbClr val="1E3A5F"/>
          </a:solidFill>
          <a:ln w="12700" cap="flat" cmpd="sng">
            <a:solidFill>
              <a:srgbClr val="F59E0B">
                <a:alpha val="40000"/>
              </a:srgbClr>
            </a:solidFill>
            <a:prstDash val="solid"/>
            <a:round/>
          </a:ln>
        </p:spPr>
        <p:txBody>
          <a:bodyPr/>
          <a:lstStyle/>
          <a:p>
            <a:endParaRPr lang="en-GB"/>
          </a:p>
        </p:txBody>
      </p:sp>
      <p:sp>
        <p:nvSpPr>
          <p:cNvPr id="505" name="Rectangle"/>
          <p:cNvSpPr>
            <a:spLocks/>
          </p:cNvSpPr>
          <p:nvPr/>
        </p:nvSpPr>
        <p:spPr>
          <a:xfrm>
            <a:off x="4663440" y="2112264"/>
            <a:ext cx="393192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950" b="1" i="0" u="none" strike="noStrike" kern="1200" cap="none" spc="0" baseline="0">
                <a:solidFill>
                  <a:srgbClr val="F59E0B"/>
                </a:solidFill>
                <a:latin typeface="Calibri" charset="0"/>
                <a:ea typeface="Calibri" charset="0"/>
                <a:cs typeface="Calibri" charset="0"/>
              </a:rPr>
              <a:t>🧑‍💼 You: </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06" name="Rectangle"/>
          <p:cNvSpPr>
            <a:spLocks/>
          </p:cNvSpPr>
          <p:nvPr/>
        </p:nvSpPr>
        <p:spPr>
          <a:xfrm>
            <a:off x="4663440" y="2331720"/>
            <a:ext cx="3931920" cy="402336"/>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FFFFFF"/>
                </a:solidFill>
                <a:latin typeface="Calibri" charset="0"/>
                <a:ea typeface="Calibri" charset="0"/>
                <a:cs typeface="Calibri" charset="0"/>
              </a:rPr>
              <a:t>AI adoption in African universities 2024 statistics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07" name="Rectangle"/>
          <p:cNvSpPr>
            <a:spLocks/>
          </p:cNvSpPr>
          <p:nvPr/>
        </p:nvSpPr>
        <p:spPr>
          <a:xfrm>
            <a:off x="4572000" y="2852928"/>
            <a:ext cx="4114800" cy="685800"/>
          </a:xfrm>
          <a:prstGeom prst="rect">
            <a:avLst/>
          </a:prstGeom>
          <a:solidFill>
            <a:srgbClr val="1A2F1E"/>
          </a:solidFill>
          <a:ln w="12700" cap="flat" cmpd="sng">
            <a:solidFill>
              <a:srgbClr val="94A3B8">
                <a:alpha val="40000"/>
              </a:srgbClr>
            </a:solidFill>
            <a:prstDash val="solid"/>
            <a:round/>
          </a:ln>
        </p:spPr>
        <p:txBody>
          <a:bodyPr/>
          <a:lstStyle/>
          <a:p>
            <a:endParaRPr lang="en-GB"/>
          </a:p>
        </p:txBody>
      </p:sp>
      <p:sp>
        <p:nvSpPr>
          <p:cNvPr id="508" name="Rectangle"/>
          <p:cNvSpPr>
            <a:spLocks/>
          </p:cNvSpPr>
          <p:nvPr/>
        </p:nvSpPr>
        <p:spPr>
          <a:xfrm>
            <a:off x="4663440" y="2889504"/>
            <a:ext cx="393192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950" b="1" i="0" u="none" strike="noStrike" kern="1200" cap="none" spc="0" baseline="0">
                <a:solidFill>
                  <a:srgbClr val="94A3B8"/>
                </a:solidFill>
                <a:latin typeface="Calibri" charset="0"/>
                <a:ea typeface="Calibri" charset="0"/>
                <a:cs typeface="Calibri" charset="0"/>
              </a:rPr>
              <a:t>🤖 Perplexity: </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09" name="Rectangle"/>
          <p:cNvSpPr>
            <a:spLocks/>
          </p:cNvSpPr>
          <p:nvPr/>
        </p:nvSpPr>
        <p:spPr>
          <a:xfrm>
            <a:off x="4663440" y="3108960"/>
            <a:ext cx="3931920" cy="402336"/>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FFFFFF"/>
                </a:solidFill>
                <a:latin typeface="Calibri" charset="0"/>
                <a:ea typeface="Calibri" charset="0"/>
                <a:cs typeface="Calibri" charset="0"/>
              </a:rPr>
              <a:t>As of 2024, 34% of African universities have formal AI policies, up from 11% in 2021 [UNESCO 2024]. Nigeria leads with 67 institutions piloting AI-assisted learning tools [NUC Report 2023]...</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10" name="Rectangle"/>
          <p:cNvSpPr>
            <a:spLocks/>
          </p:cNvSpPr>
          <p:nvPr/>
        </p:nvSpPr>
        <p:spPr>
          <a:xfrm>
            <a:off x="4572000" y="3630167"/>
            <a:ext cx="4114800" cy="685800"/>
          </a:xfrm>
          <a:prstGeom prst="rect">
            <a:avLst/>
          </a:prstGeom>
          <a:solidFill>
            <a:srgbClr val="1E3A5F"/>
          </a:solidFill>
          <a:ln w="12700" cap="flat" cmpd="sng">
            <a:solidFill>
              <a:srgbClr val="F59E0B">
                <a:alpha val="40000"/>
              </a:srgbClr>
            </a:solidFill>
            <a:prstDash val="solid"/>
            <a:round/>
          </a:ln>
        </p:spPr>
        <p:txBody>
          <a:bodyPr/>
          <a:lstStyle/>
          <a:p>
            <a:endParaRPr lang="en-GB"/>
          </a:p>
        </p:txBody>
      </p:sp>
      <p:sp>
        <p:nvSpPr>
          <p:cNvPr id="511" name="Rectangle"/>
          <p:cNvSpPr>
            <a:spLocks/>
          </p:cNvSpPr>
          <p:nvPr/>
        </p:nvSpPr>
        <p:spPr>
          <a:xfrm>
            <a:off x="4663440" y="3666744"/>
            <a:ext cx="393192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950" b="1" i="0" u="none" strike="noStrike" kern="1200" cap="none" spc="0" baseline="0">
                <a:solidFill>
                  <a:srgbClr val="F59E0B"/>
                </a:solidFill>
                <a:latin typeface="Calibri" charset="0"/>
                <a:ea typeface="Calibri" charset="0"/>
                <a:cs typeface="Calibri" charset="0"/>
              </a:rPr>
              <a:t>🧑‍💼 You: </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12" name="Rectangle"/>
          <p:cNvSpPr>
            <a:spLocks/>
          </p:cNvSpPr>
          <p:nvPr/>
        </p:nvSpPr>
        <p:spPr>
          <a:xfrm>
            <a:off x="4663440" y="3886200"/>
            <a:ext cx="3931920" cy="402336"/>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FFFFFF"/>
                </a:solidFill>
                <a:latin typeface="Calibri" charset="0"/>
                <a:ea typeface="Calibri" charset="0"/>
                <a:cs typeface="Calibri" charset="0"/>
              </a:rPr>
              <a:t>Which Nigerian universities are leading AI adoption?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13" name="Rectangle"/>
          <p:cNvSpPr>
            <a:spLocks/>
          </p:cNvSpPr>
          <p:nvPr/>
        </p:nvSpPr>
        <p:spPr>
          <a:xfrm>
            <a:off x="4572000" y="4407408"/>
            <a:ext cx="4114800" cy="685800"/>
          </a:xfrm>
          <a:prstGeom prst="rect">
            <a:avLst/>
          </a:prstGeom>
          <a:solidFill>
            <a:srgbClr val="1A2F1E"/>
          </a:solidFill>
          <a:ln w="12700" cap="flat" cmpd="sng">
            <a:solidFill>
              <a:srgbClr val="94A3B8">
                <a:alpha val="40000"/>
              </a:srgbClr>
            </a:solidFill>
            <a:prstDash val="solid"/>
            <a:round/>
          </a:ln>
        </p:spPr>
        <p:txBody>
          <a:bodyPr/>
          <a:lstStyle/>
          <a:p>
            <a:endParaRPr lang="en-GB"/>
          </a:p>
        </p:txBody>
      </p:sp>
      <p:sp>
        <p:nvSpPr>
          <p:cNvPr id="514" name="Rectangle"/>
          <p:cNvSpPr>
            <a:spLocks/>
          </p:cNvSpPr>
          <p:nvPr/>
        </p:nvSpPr>
        <p:spPr>
          <a:xfrm>
            <a:off x="4663440" y="4443984"/>
            <a:ext cx="393192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zh-CN" altLang="en-US" sz="950" b="1" i="0" u="none" strike="noStrike" kern="1200" cap="none" spc="0" baseline="0">
                <a:solidFill>
                  <a:srgbClr val="94A3B8"/>
                </a:solidFill>
                <a:latin typeface="Calibri" charset="0"/>
                <a:ea typeface="Calibri" charset="0"/>
                <a:cs typeface="Calibri" charset="0"/>
              </a:rPr>
              <a:t>🤖 Perplexity: </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15" name="Rectangle"/>
          <p:cNvSpPr>
            <a:spLocks/>
          </p:cNvSpPr>
          <p:nvPr/>
        </p:nvSpPr>
        <p:spPr>
          <a:xfrm>
            <a:off x="4663440" y="4663440"/>
            <a:ext cx="3931920" cy="402335"/>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FFFFFF"/>
                </a:solidFill>
                <a:latin typeface="Calibri" charset="0"/>
                <a:ea typeface="Calibri" charset="0"/>
                <a:cs typeface="Calibri" charset="0"/>
              </a:rPr>
              <a:t>University of Lagos, Covenant University, and OAU Ile-Ife are at the forefront, with dedicated AI research centers established 2022-2024 [TETFUND Report, 2024]...</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16" name="Rectangle"/>
          <p:cNvSpPr>
            <a:spLocks/>
          </p:cNvSpPr>
          <p:nvPr/>
        </p:nvSpPr>
        <p:spPr>
          <a:xfrm>
            <a:off x="320040" y="5056632"/>
            <a:ext cx="8503920" cy="24688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06B6D4"/>
                </a:solidFill>
                <a:latin typeface="Calibri" charset="0"/>
                <a:ea typeface="Calibri" charset="0"/>
                <a:cs typeface="Calibri" charset="0"/>
              </a:rPr>
              <a:t>Visit: perplexity.ai  |  Free plan available  |  Pro plan unlocks Academic paper search mode</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370567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AF7"/>
        </a:solidFill>
        <a:effectLst/>
      </p:bgPr>
    </p:bg>
    <p:spTree>
      <p:nvGrpSpPr>
        <p:cNvPr id="1" name=""/>
        <p:cNvGrpSpPr/>
        <p:nvPr/>
      </p:nvGrpSpPr>
      <p:grpSpPr>
        <a:xfrm>
          <a:off x="0" y="0"/>
          <a:ext cx="0" cy="0"/>
          <a:chOff x="0" y="0"/>
          <a:chExt cx="0" cy="0"/>
        </a:xfrm>
      </p:grpSpPr>
      <p:sp>
        <p:nvSpPr>
          <p:cNvPr id="517" name="Rectangle"/>
          <p:cNvSpPr>
            <a:spLocks/>
          </p:cNvSpPr>
          <p:nvPr/>
        </p:nvSpPr>
        <p:spPr>
          <a:xfrm>
            <a:off x="0" y="0"/>
            <a:ext cx="9144000" cy="960120"/>
          </a:xfrm>
          <a:prstGeom prst="rect">
            <a:avLst/>
          </a:prstGeom>
          <a:solidFill>
            <a:srgbClr val="EC4899"/>
          </a:solidFill>
          <a:ln w="12700" cap="flat" cmpd="sng">
            <a:solidFill>
              <a:srgbClr val="EC4899"/>
            </a:solidFill>
            <a:prstDash val="solid"/>
            <a:round/>
          </a:ln>
        </p:spPr>
        <p:txBody>
          <a:bodyPr/>
          <a:lstStyle/>
          <a:p>
            <a:endParaRPr lang="en-GB"/>
          </a:p>
        </p:txBody>
      </p:sp>
      <p:sp>
        <p:nvSpPr>
          <p:cNvPr id="518"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FFFFFF"/>
                </a:solidFill>
                <a:latin typeface="Arial Black" pitchFamily="34" charset="0"/>
                <a:ea typeface="Arial Black" pitchFamily="34" charset="0"/>
                <a:cs typeface="Arial Black" pitchFamily="34" charset="0"/>
              </a:rPr>
              <a:t>Example 8: Polishing Academic Writing with Grammarly &amp; QuillBot</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519" name="Rectangle"/>
          <p:cNvSpPr>
            <a:spLocks/>
          </p:cNvSpPr>
          <p:nvPr/>
        </p:nvSpPr>
        <p:spPr>
          <a:xfrm>
            <a:off x="320040" y="1024127"/>
            <a:ext cx="8503920" cy="438912"/>
          </a:xfrm>
          <a:prstGeom prst="rect">
            <a:avLst/>
          </a:prstGeom>
          <a:solidFill>
            <a:srgbClr val="FEF3C7"/>
          </a:solidFill>
          <a:ln w="12700" cap="flat" cmpd="sng">
            <a:solidFill>
              <a:srgbClr val="F59E0B"/>
            </a:solidFill>
            <a:prstDash val="solid"/>
            <a:round/>
          </a:ln>
        </p:spPr>
        <p:txBody>
          <a:bodyPr/>
          <a:lstStyle/>
          <a:p>
            <a:endParaRPr lang="en-GB"/>
          </a:p>
        </p:txBody>
      </p:sp>
      <p:sp>
        <p:nvSpPr>
          <p:cNvPr id="520" name="Rectangle"/>
          <p:cNvSpPr>
            <a:spLocks/>
          </p:cNvSpPr>
          <p:nvPr/>
        </p:nvSpPr>
        <p:spPr>
          <a:xfrm>
            <a:off x="411480" y="1051560"/>
            <a:ext cx="8321040" cy="384047"/>
          </a:xfrm>
          <a:prstGeom prst="rect">
            <a:avLst/>
          </a:prstGeom>
          <a:noFill/>
          <a:ln w="12700" cap="flat" cmpd="sng">
            <a:noFill/>
            <a:prstDash val="solid"/>
            <a:miter/>
          </a:ln>
        </p:spPr>
        <p:txBody>
          <a:bodyPr vert="horz" wrap="square" lIns="38100" tIns="38100" rIns="38100" bIns="38100" anchor="ctr" anchorCtr="0">
            <a:prstTxWarp prst="textNoShape">
              <a:avLst/>
            </a:prstTxWarp>
          </a:bodyPr>
          <a:lstStyle/>
          <a:p>
            <a:pPr marL="0" indent="0" algn="l">
              <a:lnSpc>
                <a:spcPct val="100000"/>
              </a:lnSpc>
              <a:spcBef>
                <a:spcPts val="0"/>
              </a:spcBef>
              <a:spcAft>
                <a:spcPts val="0"/>
              </a:spcAft>
              <a:buNone/>
            </a:pPr>
            <a:r>
              <a:rPr lang="en-US" altLang="zh-CN" sz="1150" b="0" i="1" u="none" strike="noStrike" kern="1200" cap="none" spc="0" baseline="0" dirty="0">
                <a:solidFill>
                  <a:srgbClr val="92400E"/>
                </a:solidFill>
                <a:latin typeface="Calibri" charset="0"/>
                <a:ea typeface="Calibri" charset="0"/>
                <a:cs typeface="Calibri" charset="0"/>
              </a:rPr>
              <a:t>SCENARIO: Postgraduate student Rukayat wrote his discussion section but his supervisor said it reads like informal speech and needs to be more academic. He cannot afford a professional editor.</a:t>
            </a:r>
            <a:endParaRPr lang="zh-CN" altLang="en-US" sz="1150" b="0" i="0" u="none" strike="noStrike" kern="1200" cap="none" spc="0" baseline="0" dirty="0">
              <a:solidFill>
                <a:schemeClr val="tx1"/>
              </a:solidFill>
              <a:latin typeface="Calibri" charset="0"/>
              <a:ea typeface="等线" charset="0"/>
              <a:cs typeface="Calibri" charset="0"/>
            </a:endParaRPr>
          </a:p>
        </p:txBody>
      </p:sp>
      <p:sp>
        <p:nvSpPr>
          <p:cNvPr id="521" name="Rectangle"/>
          <p:cNvSpPr>
            <a:spLocks/>
          </p:cNvSpPr>
          <p:nvPr/>
        </p:nvSpPr>
        <p:spPr>
          <a:xfrm>
            <a:off x="320040" y="1581911"/>
            <a:ext cx="8503920" cy="1627632"/>
          </a:xfrm>
          <a:prstGeom prst="rect">
            <a:avLst/>
          </a:prstGeom>
          <a:solidFill>
            <a:srgbClr val="FFFFFF"/>
          </a:solidFill>
          <a:ln w="12700" cap="flat" cmpd="sng">
            <a:solidFill>
              <a:srgbClr val="EC4899"/>
            </a:solidFill>
            <a:prstDash val="solid"/>
            <a:round/>
          </a:ln>
          <a:effectLst>
            <a:outerShdw blurRad="101600" dist="38100" dir="8100000" algn="bl" rotWithShape="0">
              <a:srgbClr val="000000">
                <a:alpha val="11764"/>
              </a:srgbClr>
            </a:outerShdw>
          </a:effectLst>
        </p:spPr>
        <p:txBody>
          <a:bodyPr/>
          <a:lstStyle/>
          <a:p>
            <a:endParaRPr lang="en-GB"/>
          </a:p>
        </p:txBody>
      </p:sp>
      <p:sp>
        <p:nvSpPr>
          <p:cNvPr id="522" name="Rectangle"/>
          <p:cNvSpPr>
            <a:spLocks/>
          </p:cNvSpPr>
          <p:nvPr/>
        </p:nvSpPr>
        <p:spPr>
          <a:xfrm>
            <a:off x="320040" y="1581911"/>
            <a:ext cx="8503920" cy="292607"/>
          </a:xfrm>
          <a:prstGeom prst="rect">
            <a:avLst/>
          </a:prstGeom>
          <a:solidFill>
            <a:srgbClr val="EC4899">
              <a:alpha val="80000"/>
            </a:srgbClr>
          </a:solidFill>
          <a:ln w="12700" cap="flat" cmpd="sng">
            <a:solidFill>
              <a:srgbClr val="EC4899">
                <a:alpha val="80000"/>
              </a:srgbClr>
            </a:solidFill>
            <a:prstDash val="solid"/>
            <a:round/>
          </a:ln>
        </p:spPr>
        <p:txBody>
          <a:bodyPr/>
          <a:lstStyle/>
          <a:p>
            <a:endParaRPr lang="en-GB"/>
          </a:p>
        </p:txBody>
      </p:sp>
      <p:sp>
        <p:nvSpPr>
          <p:cNvPr id="523" name="Rectangle"/>
          <p:cNvSpPr>
            <a:spLocks/>
          </p:cNvSpPr>
          <p:nvPr/>
        </p:nvSpPr>
        <p:spPr>
          <a:xfrm>
            <a:off x="411480" y="1609344"/>
            <a:ext cx="8229600" cy="23774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FFFFFF"/>
                </a:solidFill>
                <a:latin typeface="Calibri" charset="0"/>
                <a:ea typeface="Calibri" charset="0"/>
                <a:cs typeface="Calibri" charset="0"/>
              </a:rPr>
              <a:t>DISCUSSION PARAGRAPH  |  Tool: Grammarly Premium + QuillBot Academic Mode</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24" name="Rectangle"/>
          <p:cNvSpPr>
            <a:spLocks/>
          </p:cNvSpPr>
          <p:nvPr/>
        </p:nvSpPr>
        <p:spPr>
          <a:xfrm>
            <a:off x="411480" y="1929384"/>
            <a:ext cx="3886200" cy="1188720"/>
          </a:xfrm>
          <a:prstGeom prst="rect">
            <a:avLst/>
          </a:prstGeom>
          <a:solidFill>
            <a:srgbClr val="FFF1F2"/>
          </a:solidFill>
          <a:ln w="12700" cap="flat" cmpd="sng">
            <a:solidFill>
              <a:srgbClr val="EF4444"/>
            </a:solidFill>
            <a:prstDash val="solid"/>
            <a:round/>
          </a:ln>
        </p:spPr>
        <p:txBody>
          <a:bodyPr/>
          <a:lstStyle/>
          <a:p>
            <a:endParaRPr lang="en-GB"/>
          </a:p>
        </p:txBody>
      </p:sp>
      <p:sp>
        <p:nvSpPr>
          <p:cNvPr id="525" name="Rectangle"/>
          <p:cNvSpPr>
            <a:spLocks/>
          </p:cNvSpPr>
          <p:nvPr/>
        </p:nvSpPr>
        <p:spPr>
          <a:xfrm>
            <a:off x="475487" y="1947672"/>
            <a:ext cx="1371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1200" cap="none" spc="0" baseline="0">
                <a:solidFill>
                  <a:srgbClr val="EF4444"/>
                </a:solidFill>
                <a:latin typeface="Calibri" charset="0"/>
                <a:ea typeface="Calibri" charset="0"/>
                <a:cs typeface="Calibri" charset="0"/>
              </a:rPr>
              <a:t>BEFORE</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26" name="Rectangle"/>
          <p:cNvSpPr>
            <a:spLocks/>
          </p:cNvSpPr>
          <p:nvPr/>
        </p:nvSpPr>
        <p:spPr>
          <a:xfrm>
            <a:off x="475487" y="2176272"/>
            <a:ext cx="3749040" cy="896112"/>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0D2137"/>
                </a:solidFill>
                <a:latin typeface="Calibri" charset="0"/>
                <a:ea typeface="Calibri" charset="0"/>
                <a:cs typeface="Calibri" charset="0"/>
              </a:rPr>
              <a:t>The results we got showed that most of the students in our study did not like online learning. This is because they said the internet was bad and the lecturers were not teaching well online. We think this is a big problem.</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27" name="Rectangle"/>
          <p:cNvSpPr>
            <a:spLocks/>
          </p:cNvSpPr>
          <p:nvPr/>
        </p:nvSpPr>
        <p:spPr>
          <a:xfrm>
            <a:off x="4315968" y="2359152"/>
            <a:ext cx="4572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200" b="1" i="0" u="none" strike="noStrike" kern="1200" cap="none" spc="0" baseline="0">
                <a:solidFill>
                  <a:srgbClr val="EC4899"/>
                </a:solidFill>
                <a:latin typeface="Arial Black" pitchFamily="34" charset="0"/>
                <a:ea typeface="Arial Black" pitchFamily="34" charset="0"/>
                <a:cs typeface="Arial Black" pitchFamily="34" charset="0"/>
              </a:rPr>
              <a:t>-&gt;</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528" name="Rectangle"/>
          <p:cNvSpPr>
            <a:spLocks/>
          </p:cNvSpPr>
          <p:nvPr/>
        </p:nvSpPr>
        <p:spPr>
          <a:xfrm>
            <a:off x="4773168" y="1929384"/>
            <a:ext cx="3977640" cy="1188720"/>
          </a:xfrm>
          <a:prstGeom prst="rect">
            <a:avLst/>
          </a:prstGeom>
          <a:solidFill>
            <a:srgbClr val="F0FDF4"/>
          </a:solidFill>
          <a:ln w="12700" cap="flat" cmpd="sng">
            <a:solidFill>
              <a:srgbClr val="10B981"/>
            </a:solidFill>
            <a:prstDash val="solid"/>
            <a:round/>
          </a:ln>
        </p:spPr>
        <p:txBody>
          <a:bodyPr/>
          <a:lstStyle/>
          <a:p>
            <a:endParaRPr lang="en-GB"/>
          </a:p>
        </p:txBody>
      </p:sp>
      <p:sp>
        <p:nvSpPr>
          <p:cNvPr id="529" name="Rectangle"/>
          <p:cNvSpPr>
            <a:spLocks/>
          </p:cNvSpPr>
          <p:nvPr/>
        </p:nvSpPr>
        <p:spPr>
          <a:xfrm>
            <a:off x="4846320" y="1947672"/>
            <a:ext cx="1371599"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1200" cap="none" spc="0" baseline="0">
                <a:solidFill>
                  <a:srgbClr val="10B981"/>
                </a:solidFill>
                <a:latin typeface="Calibri" charset="0"/>
                <a:ea typeface="Calibri" charset="0"/>
                <a:cs typeface="Calibri" charset="0"/>
              </a:rPr>
              <a:t>AFTER</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30" name="Rectangle"/>
          <p:cNvSpPr>
            <a:spLocks/>
          </p:cNvSpPr>
          <p:nvPr/>
        </p:nvSpPr>
        <p:spPr>
          <a:xfrm>
            <a:off x="4846320" y="2176272"/>
            <a:ext cx="3840480" cy="896112"/>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00" b="0" i="0" u="none" strike="noStrike" kern="1200" cap="none" spc="0" baseline="0">
                <a:solidFill>
                  <a:srgbClr val="0D2137"/>
                </a:solidFill>
                <a:latin typeface="Calibri" charset="0"/>
                <a:ea typeface="Calibri" charset="0"/>
                <a:cs typeface="Calibri" charset="0"/>
              </a:rPr>
              <a:t>The findings revealed that a significant proportion of participants expressed dissatisfaction with online learning experiences, attributing this to inadequate internet connectivity and perceived deficiencies in instructional quality during virtual delivery. These results underscore a systemic challenge warranting urgent policy attention.</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31" name="Rectangle"/>
          <p:cNvSpPr>
            <a:spLocks/>
          </p:cNvSpPr>
          <p:nvPr/>
        </p:nvSpPr>
        <p:spPr>
          <a:xfrm>
            <a:off x="320040" y="3291840"/>
            <a:ext cx="8503920" cy="1627632"/>
          </a:xfrm>
          <a:prstGeom prst="rect">
            <a:avLst/>
          </a:prstGeom>
          <a:solidFill>
            <a:srgbClr val="FFFFFF"/>
          </a:solidFill>
          <a:ln w="12700" cap="flat" cmpd="sng">
            <a:solidFill>
              <a:srgbClr val="EC4899"/>
            </a:solidFill>
            <a:prstDash val="solid"/>
            <a:round/>
          </a:ln>
          <a:effectLst>
            <a:outerShdw blurRad="101600" dist="38100" dir="8100000" algn="bl" rotWithShape="0">
              <a:srgbClr val="000000">
                <a:alpha val="11764"/>
              </a:srgbClr>
            </a:outerShdw>
          </a:effectLst>
        </p:spPr>
        <p:txBody>
          <a:bodyPr/>
          <a:lstStyle/>
          <a:p>
            <a:endParaRPr lang="en-GB"/>
          </a:p>
        </p:txBody>
      </p:sp>
      <p:sp>
        <p:nvSpPr>
          <p:cNvPr id="532" name="Rectangle"/>
          <p:cNvSpPr>
            <a:spLocks/>
          </p:cNvSpPr>
          <p:nvPr/>
        </p:nvSpPr>
        <p:spPr>
          <a:xfrm>
            <a:off x="320040" y="3291840"/>
            <a:ext cx="8503920" cy="292607"/>
          </a:xfrm>
          <a:prstGeom prst="rect">
            <a:avLst/>
          </a:prstGeom>
          <a:solidFill>
            <a:srgbClr val="EC4899">
              <a:alpha val="80000"/>
            </a:srgbClr>
          </a:solidFill>
          <a:ln w="12700" cap="flat" cmpd="sng">
            <a:solidFill>
              <a:srgbClr val="EC4899">
                <a:alpha val="80000"/>
              </a:srgbClr>
            </a:solidFill>
            <a:prstDash val="solid"/>
            <a:round/>
          </a:ln>
        </p:spPr>
        <p:txBody>
          <a:bodyPr/>
          <a:lstStyle/>
          <a:p>
            <a:endParaRPr lang="en-GB"/>
          </a:p>
        </p:txBody>
      </p:sp>
      <p:sp>
        <p:nvSpPr>
          <p:cNvPr id="533" name="Rectangle"/>
          <p:cNvSpPr>
            <a:spLocks/>
          </p:cNvSpPr>
          <p:nvPr/>
        </p:nvSpPr>
        <p:spPr>
          <a:xfrm>
            <a:off x="411480" y="3319272"/>
            <a:ext cx="8229600" cy="23774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FFFFFF"/>
                </a:solidFill>
                <a:latin typeface="Calibri" charset="0"/>
                <a:ea typeface="Calibri" charset="0"/>
                <a:cs typeface="Calibri" charset="0"/>
              </a:rPr>
              <a:t>METHODOLOGY SENTENCE  |  Tool: Claude: 'Rewrite this in formal academic methodology style'</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34" name="Rectangle"/>
          <p:cNvSpPr>
            <a:spLocks/>
          </p:cNvSpPr>
          <p:nvPr/>
        </p:nvSpPr>
        <p:spPr>
          <a:xfrm>
            <a:off x="411480" y="3639312"/>
            <a:ext cx="3886200" cy="1188720"/>
          </a:xfrm>
          <a:prstGeom prst="rect">
            <a:avLst/>
          </a:prstGeom>
          <a:solidFill>
            <a:srgbClr val="FFF1F2"/>
          </a:solidFill>
          <a:ln w="12700" cap="flat" cmpd="sng">
            <a:solidFill>
              <a:srgbClr val="EF4444"/>
            </a:solidFill>
            <a:prstDash val="solid"/>
            <a:round/>
          </a:ln>
        </p:spPr>
        <p:txBody>
          <a:bodyPr/>
          <a:lstStyle/>
          <a:p>
            <a:endParaRPr lang="en-GB"/>
          </a:p>
        </p:txBody>
      </p:sp>
      <p:sp>
        <p:nvSpPr>
          <p:cNvPr id="535" name="Rectangle"/>
          <p:cNvSpPr>
            <a:spLocks/>
          </p:cNvSpPr>
          <p:nvPr/>
        </p:nvSpPr>
        <p:spPr>
          <a:xfrm>
            <a:off x="475487" y="3657600"/>
            <a:ext cx="13716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1200" cap="none" spc="0" baseline="0">
                <a:solidFill>
                  <a:srgbClr val="EF4444"/>
                </a:solidFill>
                <a:latin typeface="Calibri" charset="0"/>
                <a:ea typeface="Calibri" charset="0"/>
                <a:cs typeface="Calibri" charset="0"/>
              </a:rPr>
              <a:t>BEFORE</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36" name="Rectangle"/>
          <p:cNvSpPr>
            <a:spLocks/>
          </p:cNvSpPr>
          <p:nvPr/>
        </p:nvSpPr>
        <p:spPr>
          <a:xfrm>
            <a:off x="475487" y="3886200"/>
            <a:ext cx="3749040" cy="896111"/>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00" b="0" i="1" u="none" strike="noStrike" kern="1200" cap="none" spc="0" baseline="0">
                <a:solidFill>
                  <a:srgbClr val="0D2137"/>
                </a:solidFill>
                <a:latin typeface="Calibri" charset="0"/>
                <a:ea typeface="Calibri" charset="0"/>
                <a:cs typeface="Calibri" charset="0"/>
              </a:rPr>
              <a:t>We used questionnaires to collect data from 200 students and then put the numbers in SPSS and ran some tests.</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37" name="Rectangle"/>
          <p:cNvSpPr>
            <a:spLocks/>
          </p:cNvSpPr>
          <p:nvPr/>
        </p:nvSpPr>
        <p:spPr>
          <a:xfrm>
            <a:off x="4315968" y="4069080"/>
            <a:ext cx="457200" cy="34747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200" b="1" i="0" u="none" strike="noStrike" kern="1200" cap="none" spc="0" baseline="0">
                <a:solidFill>
                  <a:srgbClr val="EC4899"/>
                </a:solidFill>
                <a:latin typeface="Arial Black" pitchFamily="34" charset="0"/>
                <a:ea typeface="Arial Black" pitchFamily="34" charset="0"/>
                <a:cs typeface="Arial Black" pitchFamily="34" charset="0"/>
              </a:rPr>
              <a:t>-&gt;</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538" name="Rectangle"/>
          <p:cNvSpPr>
            <a:spLocks/>
          </p:cNvSpPr>
          <p:nvPr/>
        </p:nvSpPr>
        <p:spPr>
          <a:xfrm>
            <a:off x="4773168" y="3639312"/>
            <a:ext cx="3977640" cy="1188720"/>
          </a:xfrm>
          <a:prstGeom prst="rect">
            <a:avLst/>
          </a:prstGeom>
          <a:solidFill>
            <a:srgbClr val="F0FDF4"/>
          </a:solidFill>
          <a:ln w="12700" cap="flat" cmpd="sng">
            <a:solidFill>
              <a:srgbClr val="10B981"/>
            </a:solidFill>
            <a:prstDash val="solid"/>
            <a:round/>
          </a:ln>
        </p:spPr>
        <p:txBody>
          <a:bodyPr/>
          <a:lstStyle/>
          <a:p>
            <a:endParaRPr lang="en-GB"/>
          </a:p>
        </p:txBody>
      </p:sp>
      <p:sp>
        <p:nvSpPr>
          <p:cNvPr id="539" name="Rectangle"/>
          <p:cNvSpPr>
            <a:spLocks/>
          </p:cNvSpPr>
          <p:nvPr/>
        </p:nvSpPr>
        <p:spPr>
          <a:xfrm>
            <a:off x="4846320" y="3657600"/>
            <a:ext cx="1371599"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950" b="1" i="0" u="none" strike="noStrike" kern="1200" cap="none" spc="0" baseline="0">
                <a:solidFill>
                  <a:srgbClr val="10B981"/>
                </a:solidFill>
                <a:latin typeface="Calibri" charset="0"/>
                <a:ea typeface="Calibri" charset="0"/>
                <a:cs typeface="Calibri" charset="0"/>
              </a:rPr>
              <a:t>AFTER</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540" name="Rectangle"/>
          <p:cNvSpPr>
            <a:spLocks/>
          </p:cNvSpPr>
          <p:nvPr/>
        </p:nvSpPr>
        <p:spPr>
          <a:xfrm>
            <a:off x="4846320" y="3886200"/>
            <a:ext cx="3840480" cy="896111"/>
          </a:xfrm>
          <a:prstGeom prst="rect">
            <a:avLst/>
          </a:prstGeom>
          <a:noFill/>
          <a:ln w="12700" cap="flat" cmpd="sng">
            <a:noFill/>
            <a:prstDash val="solid"/>
            <a:miter/>
          </a:ln>
        </p:spPr>
        <p:txBody>
          <a:bodyPr vert="horz" wrap="square" lIns="38100" tIns="38100" rIns="38100" bIns="38100" anchor="t" anchorCtr="0">
            <a:prstTxWarp prst="textNoShape">
              <a:avLst/>
            </a:prstTxWarp>
          </a:bodyPr>
          <a:lstStyle/>
          <a:p>
            <a:pPr marL="0" indent="0" algn="l">
              <a:lnSpc>
                <a:spcPct val="100000"/>
              </a:lnSpc>
              <a:spcBef>
                <a:spcPts val="0"/>
              </a:spcBef>
              <a:spcAft>
                <a:spcPts val="0"/>
              </a:spcAft>
              <a:buNone/>
            </a:pPr>
            <a:r>
              <a:rPr lang="en-US" altLang="zh-CN" sz="1000" b="0" i="0" u="none" strike="noStrike" kern="1200" cap="none" spc="0" baseline="0">
                <a:solidFill>
                  <a:srgbClr val="0D2137"/>
                </a:solidFill>
                <a:latin typeface="Calibri" charset="0"/>
                <a:ea typeface="Calibri" charset="0"/>
                <a:cs typeface="Calibri" charset="0"/>
              </a:rPr>
              <a:t>Data were collected through structured questionnaires administered to a purposive sample of 200 undergraduate students, and the resultant quantitative data were subjected to inferential statistical analysis using SPSS version 26.</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41" name="Rectangle"/>
          <p:cNvSpPr>
            <a:spLocks/>
          </p:cNvSpPr>
          <p:nvPr/>
        </p:nvSpPr>
        <p:spPr>
          <a:xfrm>
            <a:off x="320040" y="5056632"/>
            <a:ext cx="8503920" cy="246888"/>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EC4899"/>
                </a:solidFill>
                <a:latin typeface="Calibri" charset="0"/>
                <a:ea typeface="Calibri" charset="0"/>
                <a:cs typeface="Calibri" charset="0"/>
              </a:rPr>
              <a:t>Free tools: grammarly.com | quillbot.com | Claude.ai - all have free tiers sufficient for academic use</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094177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542" name="Rectangle"/>
          <p:cNvSpPr>
            <a:spLocks/>
          </p:cNvSpPr>
          <p:nvPr/>
        </p:nvSpPr>
        <p:spPr>
          <a:xfrm>
            <a:off x="320040" y="73152"/>
            <a:ext cx="8503920" cy="54864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2800" b="1" i="0" u="none" strike="noStrike" kern="1200" cap="none" spc="0" baseline="0">
                <a:solidFill>
                  <a:srgbClr val="FFFFFF"/>
                </a:solidFill>
                <a:latin typeface="Arial Black" pitchFamily="34" charset="0"/>
                <a:ea typeface="Arial Black" pitchFamily="34" charset="0"/>
                <a:cs typeface="Arial Black" pitchFamily="34" charset="0"/>
              </a:rPr>
              <a:t>Which AI Tool for Which Academic Task?</a:t>
            </a:r>
            <a:endParaRPr lang="zh-CN" altLang="en-US" sz="2800" b="0" i="0" u="none" strike="noStrike" kern="1200" cap="none" spc="0" baseline="0">
              <a:solidFill>
                <a:schemeClr val="tx1"/>
              </a:solidFill>
              <a:latin typeface="Calibri" charset="0"/>
              <a:ea typeface="等线" charset="0"/>
              <a:cs typeface="Calibri" charset="0"/>
            </a:endParaRPr>
          </a:p>
        </p:txBody>
      </p:sp>
      <p:sp>
        <p:nvSpPr>
          <p:cNvPr id="543" name="Rectangle"/>
          <p:cNvSpPr>
            <a:spLocks/>
          </p:cNvSpPr>
          <p:nvPr/>
        </p:nvSpPr>
        <p:spPr>
          <a:xfrm>
            <a:off x="320040" y="594360"/>
            <a:ext cx="8503920" cy="292607"/>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300" b="0" i="1" u="none" strike="noStrike" kern="1200" cap="none" spc="0" baseline="0">
                <a:solidFill>
                  <a:srgbClr val="F59E0B"/>
                </a:solidFill>
                <a:latin typeface="Calibri" charset="0"/>
                <a:ea typeface="Calibri" charset="0"/>
                <a:cs typeface="Calibri" charset="0"/>
              </a:rPr>
              <a:t>Quick-reference comparison guide for academia</a:t>
            </a:r>
            <a:endParaRPr lang="zh-CN" altLang="en-US" sz="1300" b="0" i="0" u="none" strike="noStrike" kern="1200" cap="none" spc="0" baseline="0">
              <a:solidFill>
                <a:schemeClr val="tx1"/>
              </a:solidFill>
              <a:latin typeface="Calibri" charset="0"/>
              <a:ea typeface="等线" charset="0"/>
              <a:cs typeface="Calibri" charset="0"/>
            </a:endParaRPr>
          </a:p>
        </p:txBody>
      </p:sp>
      <p:sp>
        <p:nvSpPr>
          <p:cNvPr id="544" name="Rectangle"/>
          <p:cNvSpPr>
            <a:spLocks/>
          </p:cNvSpPr>
          <p:nvPr/>
        </p:nvSpPr>
        <p:spPr>
          <a:xfrm>
            <a:off x="1691639" y="960120"/>
            <a:ext cx="914400" cy="438911"/>
          </a:xfrm>
          <a:prstGeom prst="rect">
            <a:avLst/>
          </a:prstGeom>
          <a:solidFill>
            <a:srgbClr val="0A7C6E">
              <a:alpha val="80000"/>
            </a:srgbClr>
          </a:solidFill>
          <a:ln w="12700" cap="flat" cmpd="sng">
            <a:solidFill>
              <a:srgbClr val="0A7C6E">
                <a:alpha val="50000"/>
              </a:srgbClr>
            </a:solidFill>
            <a:prstDash val="solid"/>
            <a:round/>
          </a:ln>
        </p:spPr>
        <p:txBody>
          <a:bodyPr/>
          <a:lstStyle/>
          <a:p>
            <a:endParaRPr lang="en-GB"/>
          </a:p>
        </p:txBody>
      </p:sp>
      <p:sp>
        <p:nvSpPr>
          <p:cNvPr id="545" name="Rectangle"/>
          <p:cNvSpPr>
            <a:spLocks/>
          </p:cNvSpPr>
          <p:nvPr/>
        </p:nvSpPr>
        <p:spPr>
          <a:xfrm>
            <a:off x="1719072" y="996696"/>
            <a:ext cx="877824"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850" b="1" i="0" u="none" strike="noStrike" kern="1200" cap="none" spc="0" baseline="0">
                <a:solidFill>
                  <a:srgbClr val="FFFFFF"/>
                </a:solidFill>
                <a:latin typeface="Calibri" charset="0"/>
                <a:ea typeface="Calibri" charset="0"/>
                <a:cs typeface="Calibri" charset="0"/>
              </a:rPr>
              <a:t>ChatGPT</a:t>
            </a:r>
            <a:endParaRPr lang="zh-CN" altLang="en-US" sz="850" b="0" i="0" u="none" strike="noStrike" kern="1200" cap="none" spc="0" baseline="0">
              <a:solidFill>
                <a:schemeClr val="tx1"/>
              </a:solidFill>
              <a:latin typeface="Calibri" charset="0"/>
              <a:ea typeface="等线" charset="0"/>
              <a:cs typeface="Calibri" charset="0"/>
            </a:endParaRPr>
          </a:p>
        </p:txBody>
      </p:sp>
      <p:sp>
        <p:nvSpPr>
          <p:cNvPr id="546" name="Rectangle"/>
          <p:cNvSpPr>
            <a:spLocks/>
          </p:cNvSpPr>
          <p:nvPr/>
        </p:nvSpPr>
        <p:spPr>
          <a:xfrm>
            <a:off x="2606040" y="960120"/>
            <a:ext cx="914400" cy="438911"/>
          </a:xfrm>
          <a:prstGeom prst="rect">
            <a:avLst/>
          </a:prstGeom>
          <a:solidFill>
            <a:srgbClr val="0A7C6E">
              <a:alpha val="80000"/>
            </a:srgbClr>
          </a:solidFill>
          <a:ln w="12700" cap="flat" cmpd="sng">
            <a:solidFill>
              <a:srgbClr val="0A7C6E">
                <a:alpha val="50000"/>
              </a:srgbClr>
            </a:solidFill>
            <a:prstDash val="solid"/>
            <a:round/>
          </a:ln>
        </p:spPr>
        <p:txBody>
          <a:bodyPr/>
          <a:lstStyle/>
          <a:p>
            <a:endParaRPr lang="en-GB"/>
          </a:p>
        </p:txBody>
      </p:sp>
      <p:sp>
        <p:nvSpPr>
          <p:cNvPr id="547" name="Rectangle"/>
          <p:cNvSpPr>
            <a:spLocks/>
          </p:cNvSpPr>
          <p:nvPr/>
        </p:nvSpPr>
        <p:spPr>
          <a:xfrm>
            <a:off x="2633472" y="996696"/>
            <a:ext cx="877824"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850" b="1" i="0" u="none" strike="noStrike" kern="1200" cap="none" spc="0" baseline="0">
                <a:solidFill>
                  <a:srgbClr val="FFFFFF"/>
                </a:solidFill>
                <a:latin typeface="Calibri" charset="0"/>
                <a:ea typeface="Calibri" charset="0"/>
                <a:cs typeface="Calibri" charset="0"/>
              </a:rPr>
              <a:t>Claude</a:t>
            </a:r>
            <a:endParaRPr lang="zh-CN" altLang="en-US" sz="850" b="0" i="0" u="none" strike="noStrike" kern="1200" cap="none" spc="0" baseline="0">
              <a:solidFill>
                <a:schemeClr val="tx1"/>
              </a:solidFill>
              <a:latin typeface="Calibri" charset="0"/>
              <a:ea typeface="等线" charset="0"/>
              <a:cs typeface="Calibri" charset="0"/>
            </a:endParaRPr>
          </a:p>
        </p:txBody>
      </p:sp>
      <p:sp>
        <p:nvSpPr>
          <p:cNvPr id="548" name="Rectangle"/>
          <p:cNvSpPr>
            <a:spLocks/>
          </p:cNvSpPr>
          <p:nvPr/>
        </p:nvSpPr>
        <p:spPr>
          <a:xfrm>
            <a:off x="3520440" y="960120"/>
            <a:ext cx="914400" cy="438911"/>
          </a:xfrm>
          <a:prstGeom prst="rect">
            <a:avLst/>
          </a:prstGeom>
          <a:solidFill>
            <a:srgbClr val="0A7C6E">
              <a:alpha val="80000"/>
            </a:srgbClr>
          </a:solidFill>
          <a:ln w="12700" cap="flat" cmpd="sng">
            <a:solidFill>
              <a:srgbClr val="0A7C6E">
                <a:alpha val="50000"/>
              </a:srgbClr>
            </a:solidFill>
            <a:prstDash val="solid"/>
            <a:round/>
          </a:ln>
        </p:spPr>
        <p:txBody>
          <a:bodyPr/>
          <a:lstStyle/>
          <a:p>
            <a:endParaRPr lang="en-GB"/>
          </a:p>
        </p:txBody>
      </p:sp>
      <p:sp>
        <p:nvSpPr>
          <p:cNvPr id="549" name="Rectangle"/>
          <p:cNvSpPr>
            <a:spLocks/>
          </p:cNvSpPr>
          <p:nvPr/>
        </p:nvSpPr>
        <p:spPr>
          <a:xfrm>
            <a:off x="3547872" y="996696"/>
            <a:ext cx="877824"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850" b="1" i="0" u="none" strike="noStrike" kern="1200" cap="none" spc="0" baseline="0">
                <a:solidFill>
                  <a:srgbClr val="FFFFFF"/>
                </a:solidFill>
                <a:latin typeface="Calibri" charset="0"/>
                <a:ea typeface="Calibri" charset="0"/>
                <a:cs typeface="Calibri" charset="0"/>
              </a:rPr>
              <a:t>Elicit</a:t>
            </a:r>
            <a:endParaRPr lang="zh-CN" altLang="en-US" sz="850" b="0" i="0" u="none" strike="noStrike" kern="1200" cap="none" spc="0" baseline="0">
              <a:solidFill>
                <a:schemeClr val="tx1"/>
              </a:solidFill>
              <a:latin typeface="Calibri" charset="0"/>
              <a:ea typeface="等线" charset="0"/>
              <a:cs typeface="Calibri" charset="0"/>
            </a:endParaRPr>
          </a:p>
        </p:txBody>
      </p:sp>
      <p:sp>
        <p:nvSpPr>
          <p:cNvPr id="550" name="Rectangle"/>
          <p:cNvSpPr>
            <a:spLocks/>
          </p:cNvSpPr>
          <p:nvPr/>
        </p:nvSpPr>
        <p:spPr>
          <a:xfrm>
            <a:off x="4434840" y="960120"/>
            <a:ext cx="914399" cy="438911"/>
          </a:xfrm>
          <a:prstGeom prst="rect">
            <a:avLst/>
          </a:prstGeom>
          <a:solidFill>
            <a:srgbClr val="0A7C6E">
              <a:alpha val="80000"/>
            </a:srgbClr>
          </a:solidFill>
          <a:ln w="12700" cap="flat" cmpd="sng">
            <a:solidFill>
              <a:srgbClr val="0A7C6E">
                <a:alpha val="50000"/>
              </a:srgbClr>
            </a:solidFill>
            <a:prstDash val="solid"/>
            <a:round/>
          </a:ln>
        </p:spPr>
        <p:txBody>
          <a:bodyPr/>
          <a:lstStyle/>
          <a:p>
            <a:endParaRPr lang="en-GB"/>
          </a:p>
        </p:txBody>
      </p:sp>
      <p:sp>
        <p:nvSpPr>
          <p:cNvPr id="551" name="Rectangle"/>
          <p:cNvSpPr>
            <a:spLocks/>
          </p:cNvSpPr>
          <p:nvPr/>
        </p:nvSpPr>
        <p:spPr>
          <a:xfrm>
            <a:off x="4462272" y="996696"/>
            <a:ext cx="877824"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850" b="1" i="0" u="none" strike="noStrike" kern="1200" cap="none" spc="0" baseline="0">
                <a:solidFill>
                  <a:srgbClr val="FFFFFF"/>
                </a:solidFill>
                <a:latin typeface="Calibri" charset="0"/>
                <a:ea typeface="Calibri" charset="0"/>
                <a:cs typeface="Calibri" charset="0"/>
              </a:rPr>
              <a:t>Consensus</a:t>
            </a:r>
            <a:endParaRPr lang="zh-CN" altLang="en-US" sz="850" b="0" i="0" u="none" strike="noStrike" kern="1200" cap="none" spc="0" baseline="0">
              <a:solidFill>
                <a:schemeClr val="tx1"/>
              </a:solidFill>
              <a:latin typeface="Calibri" charset="0"/>
              <a:ea typeface="等线" charset="0"/>
              <a:cs typeface="Calibri" charset="0"/>
            </a:endParaRPr>
          </a:p>
        </p:txBody>
      </p:sp>
      <p:sp>
        <p:nvSpPr>
          <p:cNvPr id="552" name="Rectangle"/>
          <p:cNvSpPr>
            <a:spLocks/>
          </p:cNvSpPr>
          <p:nvPr/>
        </p:nvSpPr>
        <p:spPr>
          <a:xfrm>
            <a:off x="5349239" y="960120"/>
            <a:ext cx="914400" cy="438911"/>
          </a:xfrm>
          <a:prstGeom prst="rect">
            <a:avLst/>
          </a:prstGeom>
          <a:solidFill>
            <a:srgbClr val="0A7C6E">
              <a:alpha val="80000"/>
            </a:srgbClr>
          </a:solidFill>
          <a:ln w="12700" cap="flat" cmpd="sng">
            <a:solidFill>
              <a:srgbClr val="0A7C6E">
                <a:alpha val="50000"/>
              </a:srgbClr>
            </a:solidFill>
            <a:prstDash val="solid"/>
            <a:round/>
          </a:ln>
        </p:spPr>
        <p:txBody>
          <a:bodyPr/>
          <a:lstStyle/>
          <a:p>
            <a:endParaRPr lang="en-GB"/>
          </a:p>
        </p:txBody>
      </p:sp>
      <p:sp>
        <p:nvSpPr>
          <p:cNvPr id="553" name="Rectangle"/>
          <p:cNvSpPr>
            <a:spLocks/>
          </p:cNvSpPr>
          <p:nvPr/>
        </p:nvSpPr>
        <p:spPr>
          <a:xfrm>
            <a:off x="5376672" y="996696"/>
            <a:ext cx="877824"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850" b="1" i="0" u="none" strike="noStrike" kern="1200" cap="none" spc="0" baseline="0">
                <a:solidFill>
                  <a:srgbClr val="FFFFFF"/>
                </a:solidFill>
                <a:latin typeface="Calibri" charset="0"/>
                <a:ea typeface="Calibri" charset="0"/>
                <a:cs typeface="Calibri" charset="0"/>
              </a:rPr>
              <a:t>Perplexity</a:t>
            </a:r>
            <a:endParaRPr lang="zh-CN" altLang="en-US" sz="850" b="0" i="0" u="none" strike="noStrike" kern="1200" cap="none" spc="0" baseline="0">
              <a:solidFill>
                <a:schemeClr val="tx1"/>
              </a:solidFill>
              <a:latin typeface="Calibri" charset="0"/>
              <a:ea typeface="等线" charset="0"/>
              <a:cs typeface="Calibri" charset="0"/>
            </a:endParaRPr>
          </a:p>
        </p:txBody>
      </p:sp>
      <p:sp>
        <p:nvSpPr>
          <p:cNvPr id="554" name="Rectangle"/>
          <p:cNvSpPr>
            <a:spLocks/>
          </p:cNvSpPr>
          <p:nvPr/>
        </p:nvSpPr>
        <p:spPr>
          <a:xfrm>
            <a:off x="6263640" y="960120"/>
            <a:ext cx="914400" cy="438911"/>
          </a:xfrm>
          <a:prstGeom prst="rect">
            <a:avLst/>
          </a:prstGeom>
          <a:solidFill>
            <a:srgbClr val="0A7C6E">
              <a:alpha val="80000"/>
            </a:srgbClr>
          </a:solidFill>
          <a:ln w="12700" cap="flat" cmpd="sng">
            <a:solidFill>
              <a:srgbClr val="0A7C6E">
                <a:alpha val="50000"/>
              </a:srgbClr>
            </a:solidFill>
            <a:prstDash val="solid"/>
            <a:round/>
          </a:ln>
        </p:spPr>
        <p:txBody>
          <a:bodyPr/>
          <a:lstStyle/>
          <a:p>
            <a:endParaRPr lang="en-GB"/>
          </a:p>
        </p:txBody>
      </p:sp>
      <p:sp>
        <p:nvSpPr>
          <p:cNvPr id="555" name="Rectangle"/>
          <p:cNvSpPr>
            <a:spLocks/>
          </p:cNvSpPr>
          <p:nvPr/>
        </p:nvSpPr>
        <p:spPr>
          <a:xfrm>
            <a:off x="6291072" y="996696"/>
            <a:ext cx="877824"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850" b="1" i="0" u="none" strike="noStrike" kern="1200" cap="none" spc="0" baseline="0">
                <a:solidFill>
                  <a:srgbClr val="FFFFFF"/>
                </a:solidFill>
                <a:latin typeface="Calibri" charset="0"/>
                <a:ea typeface="Calibri" charset="0"/>
                <a:cs typeface="Calibri" charset="0"/>
              </a:rPr>
              <a:t>Grammarly</a:t>
            </a:r>
            <a:endParaRPr lang="zh-CN" altLang="en-US" sz="850" b="0" i="0" u="none" strike="noStrike" kern="1200" cap="none" spc="0" baseline="0">
              <a:solidFill>
                <a:schemeClr val="tx1"/>
              </a:solidFill>
              <a:latin typeface="Calibri" charset="0"/>
              <a:ea typeface="等线" charset="0"/>
              <a:cs typeface="Calibri" charset="0"/>
            </a:endParaRPr>
          </a:p>
        </p:txBody>
      </p:sp>
      <p:sp>
        <p:nvSpPr>
          <p:cNvPr id="556" name="Rectangle"/>
          <p:cNvSpPr>
            <a:spLocks/>
          </p:cNvSpPr>
          <p:nvPr/>
        </p:nvSpPr>
        <p:spPr>
          <a:xfrm>
            <a:off x="7178040" y="960120"/>
            <a:ext cx="914400" cy="438911"/>
          </a:xfrm>
          <a:prstGeom prst="rect">
            <a:avLst/>
          </a:prstGeom>
          <a:solidFill>
            <a:srgbClr val="0A7C6E">
              <a:alpha val="80000"/>
            </a:srgbClr>
          </a:solidFill>
          <a:ln w="12700" cap="flat" cmpd="sng">
            <a:solidFill>
              <a:srgbClr val="0A7C6E">
                <a:alpha val="50000"/>
              </a:srgbClr>
            </a:solidFill>
            <a:prstDash val="solid"/>
            <a:round/>
          </a:ln>
        </p:spPr>
        <p:txBody>
          <a:bodyPr/>
          <a:lstStyle/>
          <a:p>
            <a:endParaRPr lang="en-GB"/>
          </a:p>
        </p:txBody>
      </p:sp>
      <p:sp>
        <p:nvSpPr>
          <p:cNvPr id="557" name="Rectangle"/>
          <p:cNvSpPr>
            <a:spLocks/>
          </p:cNvSpPr>
          <p:nvPr/>
        </p:nvSpPr>
        <p:spPr>
          <a:xfrm>
            <a:off x="7205472" y="996696"/>
            <a:ext cx="877824"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850" b="1" i="0" u="none" strike="noStrike" kern="1200" cap="none" spc="0" baseline="0">
                <a:solidFill>
                  <a:srgbClr val="FFFFFF"/>
                </a:solidFill>
                <a:latin typeface="Calibri" charset="0"/>
                <a:ea typeface="Calibri" charset="0"/>
                <a:cs typeface="Calibri" charset="0"/>
              </a:rPr>
              <a:t>QuillBot</a:t>
            </a:r>
            <a:endParaRPr lang="zh-CN" altLang="en-US" sz="850" b="0" i="0" u="none" strike="noStrike" kern="1200" cap="none" spc="0" baseline="0">
              <a:solidFill>
                <a:schemeClr val="tx1"/>
              </a:solidFill>
              <a:latin typeface="Calibri" charset="0"/>
              <a:ea typeface="等线" charset="0"/>
              <a:cs typeface="Calibri" charset="0"/>
            </a:endParaRPr>
          </a:p>
        </p:txBody>
      </p:sp>
      <p:sp>
        <p:nvSpPr>
          <p:cNvPr id="558" name="Rectangle"/>
          <p:cNvSpPr>
            <a:spLocks/>
          </p:cNvSpPr>
          <p:nvPr/>
        </p:nvSpPr>
        <p:spPr>
          <a:xfrm>
            <a:off x="8092440" y="960120"/>
            <a:ext cx="914400" cy="438911"/>
          </a:xfrm>
          <a:prstGeom prst="rect">
            <a:avLst/>
          </a:prstGeom>
          <a:solidFill>
            <a:srgbClr val="0A7C6E">
              <a:alpha val="80000"/>
            </a:srgbClr>
          </a:solidFill>
          <a:ln w="12700" cap="flat" cmpd="sng">
            <a:solidFill>
              <a:srgbClr val="0A7C6E">
                <a:alpha val="50000"/>
              </a:srgbClr>
            </a:solidFill>
            <a:prstDash val="solid"/>
            <a:round/>
          </a:ln>
        </p:spPr>
        <p:txBody>
          <a:bodyPr/>
          <a:lstStyle/>
          <a:p>
            <a:endParaRPr lang="en-GB"/>
          </a:p>
        </p:txBody>
      </p:sp>
      <p:sp>
        <p:nvSpPr>
          <p:cNvPr id="559" name="Rectangle"/>
          <p:cNvSpPr>
            <a:spLocks/>
          </p:cNvSpPr>
          <p:nvPr/>
        </p:nvSpPr>
        <p:spPr>
          <a:xfrm>
            <a:off x="8119872" y="996696"/>
            <a:ext cx="877824"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850" b="1" i="0" u="none" strike="noStrike" kern="1200" cap="none" spc="0" baseline="0">
                <a:solidFill>
                  <a:srgbClr val="FFFFFF"/>
                </a:solidFill>
                <a:latin typeface="Calibri" charset="0"/>
                <a:ea typeface="Calibri" charset="0"/>
                <a:cs typeface="Calibri" charset="0"/>
              </a:rPr>
              <a:t>Gamma.app</a:t>
            </a:r>
            <a:endParaRPr lang="zh-CN" altLang="en-US" sz="850" b="0" i="0" u="none" strike="noStrike" kern="1200" cap="none" spc="0" baseline="0">
              <a:solidFill>
                <a:schemeClr val="tx1"/>
              </a:solidFill>
              <a:latin typeface="Calibri" charset="0"/>
              <a:ea typeface="等线" charset="0"/>
              <a:cs typeface="Calibri" charset="0"/>
            </a:endParaRPr>
          </a:p>
        </p:txBody>
      </p:sp>
      <p:sp>
        <p:nvSpPr>
          <p:cNvPr id="560" name="Rectangle"/>
          <p:cNvSpPr>
            <a:spLocks/>
          </p:cNvSpPr>
          <p:nvPr/>
        </p:nvSpPr>
        <p:spPr>
          <a:xfrm>
            <a:off x="182880" y="1399032"/>
            <a:ext cx="1508759" cy="402336"/>
          </a:xfrm>
          <a:prstGeom prst="rect">
            <a:avLst/>
          </a:prstGeom>
          <a:solidFill>
            <a:srgbClr val="0D2137"/>
          </a:solidFill>
          <a:ln w="12700" cap="flat" cmpd="sng">
            <a:solidFill>
              <a:srgbClr val="1E3A5F"/>
            </a:solidFill>
            <a:prstDash val="solid"/>
            <a:round/>
          </a:ln>
        </p:spPr>
        <p:txBody>
          <a:bodyPr/>
          <a:lstStyle/>
          <a:p>
            <a:endParaRPr lang="en-GB"/>
          </a:p>
        </p:txBody>
      </p:sp>
      <p:sp>
        <p:nvSpPr>
          <p:cNvPr id="561" name="Rectangle"/>
          <p:cNvSpPr>
            <a:spLocks/>
          </p:cNvSpPr>
          <p:nvPr/>
        </p:nvSpPr>
        <p:spPr>
          <a:xfrm>
            <a:off x="237743" y="1417320"/>
            <a:ext cx="1435608" cy="36576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Literature Review</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562" name="Rectangle"/>
          <p:cNvSpPr>
            <a:spLocks/>
          </p:cNvSpPr>
          <p:nvPr/>
        </p:nvSpPr>
        <p:spPr>
          <a:xfrm>
            <a:off x="1691639" y="1399032"/>
            <a:ext cx="914400" cy="402336"/>
          </a:xfrm>
          <a:prstGeom prst="rect">
            <a:avLst/>
          </a:prstGeom>
          <a:solidFill>
            <a:srgbClr val="0A2040"/>
          </a:solidFill>
          <a:ln w="12700" cap="flat" cmpd="sng">
            <a:solidFill>
              <a:srgbClr val="1E3A5F"/>
            </a:solidFill>
            <a:prstDash val="solid"/>
            <a:round/>
          </a:ln>
        </p:spPr>
        <p:txBody>
          <a:bodyPr/>
          <a:lstStyle/>
          <a:p>
            <a:endParaRPr lang="en-GB"/>
          </a:p>
        </p:txBody>
      </p:sp>
      <p:sp>
        <p:nvSpPr>
          <p:cNvPr id="563" name="Rectangle"/>
          <p:cNvSpPr>
            <a:spLocks/>
          </p:cNvSpPr>
          <p:nvPr/>
        </p:nvSpPr>
        <p:spPr>
          <a:xfrm>
            <a:off x="1728215" y="1435608"/>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64" name="Rectangle"/>
          <p:cNvSpPr>
            <a:spLocks/>
          </p:cNvSpPr>
          <p:nvPr/>
        </p:nvSpPr>
        <p:spPr>
          <a:xfrm>
            <a:off x="2606040" y="1399032"/>
            <a:ext cx="914400" cy="402336"/>
          </a:xfrm>
          <a:prstGeom prst="rect">
            <a:avLst/>
          </a:prstGeom>
          <a:solidFill>
            <a:srgbClr val="0A2040"/>
          </a:solidFill>
          <a:ln w="12700" cap="flat" cmpd="sng">
            <a:solidFill>
              <a:srgbClr val="1E3A5F"/>
            </a:solidFill>
            <a:prstDash val="solid"/>
            <a:round/>
          </a:ln>
        </p:spPr>
        <p:txBody>
          <a:bodyPr/>
          <a:lstStyle/>
          <a:p>
            <a:endParaRPr lang="en-GB"/>
          </a:p>
        </p:txBody>
      </p:sp>
      <p:sp>
        <p:nvSpPr>
          <p:cNvPr id="565" name="Rectangle"/>
          <p:cNvSpPr>
            <a:spLocks/>
          </p:cNvSpPr>
          <p:nvPr/>
        </p:nvSpPr>
        <p:spPr>
          <a:xfrm>
            <a:off x="2642616" y="1435608"/>
            <a:ext cx="859535"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66" name="Rectangle"/>
          <p:cNvSpPr>
            <a:spLocks/>
          </p:cNvSpPr>
          <p:nvPr/>
        </p:nvSpPr>
        <p:spPr>
          <a:xfrm>
            <a:off x="3520440" y="1399032"/>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567" name="Rectangle"/>
          <p:cNvSpPr>
            <a:spLocks/>
          </p:cNvSpPr>
          <p:nvPr/>
        </p:nvSpPr>
        <p:spPr>
          <a:xfrm>
            <a:off x="3557015" y="1435608"/>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68" name="Rectangle"/>
          <p:cNvSpPr>
            <a:spLocks/>
          </p:cNvSpPr>
          <p:nvPr/>
        </p:nvSpPr>
        <p:spPr>
          <a:xfrm>
            <a:off x="4434840" y="1399032"/>
            <a:ext cx="914399"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569" name="Rectangle"/>
          <p:cNvSpPr>
            <a:spLocks/>
          </p:cNvSpPr>
          <p:nvPr/>
        </p:nvSpPr>
        <p:spPr>
          <a:xfrm>
            <a:off x="4471416" y="1435608"/>
            <a:ext cx="859535"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70" name="Rectangle"/>
          <p:cNvSpPr>
            <a:spLocks/>
          </p:cNvSpPr>
          <p:nvPr/>
        </p:nvSpPr>
        <p:spPr>
          <a:xfrm>
            <a:off x="5349239" y="1399032"/>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571" name="Rectangle"/>
          <p:cNvSpPr>
            <a:spLocks/>
          </p:cNvSpPr>
          <p:nvPr/>
        </p:nvSpPr>
        <p:spPr>
          <a:xfrm>
            <a:off x="5385816" y="1435608"/>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72" name="Rectangle"/>
          <p:cNvSpPr>
            <a:spLocks/>
          </p:cNvSpPr>
          <p:nvPr/>
        </p:nvSpPr>
        <p:spPr>
          <a:xfrm>
            <a:off x="6263640" y="1399032"/>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573" name="Rectangle"/>
          <p:cNvSpPr>
            <a:spLocks/>
          </p:cNvSpPr>
          <p:nvPr/>
        </p:nvSpPr>
        <p:spPr>
          <a:xfrm>
            <a:off x="6300216" y="1435608"/>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74" name="Rectangle"/>
          <p:cNvSpPr>
            <a:spLocks/>
          </p:cNvSpPr>
          <p:nvPr/>
        </p:nvSpPr>
        <p:spPr>
          <a:xfrm>
            <a:off x="7178040" y="1399032"/>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575" name="Rectangle"/>
          <p:cNvSpPr>
            <a:spLocks/>
          </p:cNvSpPr>
          <p:nvPr/>
        </p:nvSpPr>
        <p:spPr>
          <a:xfrm>
            <a:off x="7214615" y="1435608"/>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76" name="Rectangle"/>
          <p:cNvSpPr>
            <a:spLocks/>
          </p:cNvSpPr>
          <p:nvPr/>
        </p:nvSpPr>
        <p:spPr>
          <a:xfrm>
            <a:off x="8092440" y="1399032"/>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577" name="Rectangle"/>
          <p:cNvSpPr>
            <a:spLocks/>
          </p:cNvSpPr>
          <p:nvPr/>
        </p:nvSpPr>
        <p:spPr>
          <a:xfrm>
            <a:off x="8129016" y="1435608"/>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78" name="Rectangle"/>
          <p:cNvSpPr>
            <a:spLocks/>
          </p:cNvSpPr>
          <p:nvPr/>
        </p:nvSpPr>
        <p:spPr>
          <a:xfrm>
            <a:off x="182880" y="1801368"/>
            <a:ext cx="1508759" cy="402336"/>
          </a:xfrm>
          <a:prstGeom prst="rect">
            <a:avLst/>
          </a:prstGeom>
          <a:solidFill>
            <a:srgbClr val="0D2137"/>
          </a:solidFill>
          <a:ln w="12700" cap="flat" cmpd="sng">
            <a:solidFill>
              <a:srgbClr val="1E3A5F"/>
            </a:solidFill>
            <a:prstDash val="solid"/>
            <a:round/>
          </a:ln>
        </p:spPr>
        <p:txBody>
          <a:bodyPr/>
          <a:lstStyle/>
          <a:p>
            <a:endParaRPr lang="en-GB"/>
          </a:p>
        </p:txBody>
      </p:sp>
      <p:sp>
        <p:nvSpPr>
          <p:cNvPr id="579" name="Rectangle"/>
          <p:cNvSpPr>
            <a:spLocks/>
          </p:cNvSpPr>
          <p:nvPr/>
        </p:nvSpPr>
        <p:spPr>
          <a:xfrm>
            <a:off x="237743" y="1819656"/>
            <a:ext cx="1435608" cy="36576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Drafting Papers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580" name="Rectangle"/>
          <p:cNvSpPr>
            <a:spLocks/>
          </p:cNvSpPr>
          <p:nvPr/>
        </p:nvSpPr>
        <p:spPr>
          <a:xfrm>
            <a:off x="1691639" y="1801368"/>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581" name="Rectangle"/>
          <p:cNvSpPr>
            <a:spLocks/>
          </p:cNvSpPr>
          <p:nvPr/>
        </p:nvSpPr>
        <p:spPr>
          <a:xfrm>
            <a:off x="1728215" y="1837944"/>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82" name="Rectangle"/>
          <p:cNvSpPr>
            <a:spLocks/>
          </p:cNvSpPr>
          <p:nvPr/>
        </p:nvSpPr>
        <p:spPr>
          <a:xfrm>
            <a:off x="2606040" y="1801368"/>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583" name="Rectangle"/>
          <p:cNvSpPr>
            <a:spLocks/>
          </p:cNvSpPr>
          <p:nvPr/>
        </p:nvSpPr>
        <p:spPr>
          <a:xfrm>
            <a:off x="2642616" y="1837944"/>
            <a:ext cx="859535"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84" name="Rectangle"/>
          <p:cNvSpPr>
            <a:spLocks/>
          </p:cNvSpPr>
          <p:nvPr/>
        </p:nvSpPr>
        <p:spPr>
          <a:xfrm>
            <a:off x="3520440" y="1801368"/>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585" name="Rectangle"/>
          <p:cNvSpPr>
            <a:spLocks/>
          </p:cNvSpPr>
          <p:nvPr/>
        </p:nvSpPr>
        <p:spPr>
          <a:xfrm>
            <a:off x="3557015" y="1837944"/>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86" name="Rectangle"/>
          <p:cNvSpPr>
            <a:spLocks/>
          </p:cNvSpPr>
          <p:nvPr/>
        </p:nvSpPr>
        <p:spPr>
          <a:xfrm>
            <a:off x="4434840" y="1801368"/>
            <a:ext cx="914399"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587" name="Rectangle"/>
          <p:cNvSpPr>
            <a:spLocks/>
          </p:cNvSpPr>
          <p:nvPr/>
        </p:nvSpPr>
        <p:spPr>
          <a:xfrm>
            <a:off x="4471416" y="1837944"/>
            <a:ext cx="859535"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88" name="Rectangle"/>
          <p:cNvSpPr>
            <a:spLocks/>
          </p:cNvSpPr>
          <p:nvPr/>
        </p:nvSpPr>
        <p:spPr>
          <a:xfrm>
            <a:off x="5349239" y="1801368"/>
            <a:ext cx="914400" cy="402336"/>
          </a:xfrm>
          <a:prstGeom prst="rect">
            <a:avLst/>
          </a:prstGeom>
          <a:solidFill>
            <a:srgbClr val="2A2A2A"/>
          </a:solidFill>
          <a:ln w="12700" cap="flat" cmpd="sng">
            <a:solidFill>
              <a:srgbClr val="1E3A5F"/>
            </a:solidFill>
            <a:prstDash val="solid"/>
            <a:round/>
          </a:ln>
        </p:spPr>
        <p:txBody>
          <a:bodyPr/>
          <a:lstStyle/>
          <a:p>
            <a:endParaRPr lang="en-GB"/>
          </a:p>
        </p:txBody>
      </p:sp>
      <p:sp>
        <p:nvSpPr>
          <p:cNvPr id="589" name="Rectangle"/>
          <p:cNvSpPr>
            <a:spLocks/>
          </p:cNvSpPr>
          <p:nvPr/>
        </p:nvSpPr>
        <p:spPr>
          <a:xfrm>
            <a:off x="5385816" y="1837944"/>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6B7280"/>
                </a:solidFill>
                <a:latin typeface="Calibri" charset="0"/>
                <a:ea typeface="Calibri" charset="0"/>
                <a:cs typeface="Calibri" charset="0"/>
              </a:rPr>
              <a:t>Basic</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90" name="Rectangle"/>
          <p:cNvSpPr>
            <a:spLocks/>
          </p:cNvSpPr>
          <p:nvPr/>
        </p:nvSpPr>
        <p:spPr>
          <a:xfrm>
            <a:off x="6263640" y="1801368"/>
            <a:ext cx="914400" cy="402336"/>
          </a:xfrm>
          <a:prstGeom prst="rect">
            <a:avLst/>
          </a:prstGeom>
          <a:solidFill>
            <a:srgbClr val="0A2040"/>
          </a:solidFill>
          <a:ln w="12700" cap="flat" cmpd="sng">
            <a:solidFill>
              <a:srgbClr val="1E3A5F"/>
            </a:solidFill>
            <a:prstDash val="solid"/>
            <a:round/>
          </a:ln>
        </p:spPr>
        <p:txBody>
          <a:bodyPr/>
          <a:lstStyle/>
          <a:p>
            <a:endParaRPr lang="en-GB"/>
          </a:p>
        </p:txBody>
      </p:sp>
      <p:sp>
        <p:nvSpPr>
          <p:cNvPr id="591" name="Rectangle"/>
          <p:cNvSpPr>
            <a:spLocks/>
          </p:cNvSpPr>
          <p:nvPr/>
        </p:nvSpPr>
        <p:spPr>
          <a:xfrm>
            <a:off x="6300216" y="1837944"/>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92" name="Rectangle"/>
          <p:cNvSpPr>
            <a:spLocks/>
          </p:cNvSpPr>
          <p:nvPr/>
        </p:nvSpPr>
        <p:spPr>
          <a:xfrm>
            <a:off x="7178040" y="1801368"/>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593" name="Rectangle"/>
          <p:cNvSpPr>
            <a:spLocks/>
          </p:cNvSpPr>
          <p:nvPr/>
        </p:nvSpPr>
        <p:spPr>
          <a:xfrm>
            <a:off x="7214615" y="1837944"/>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94" name="Rectangle"/>
          <p:cNvSpPr>
            <a:spLocks/>
          </p:cNvSpPr>
          <p:nvPr/>
        </p:nvSpPr>
        <p:spPr>
          <a:xfrm>
            <a:off x="8092440" y="1801368"/>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595" name="Rectangle"/>
          <p:cNvSpPr>
            <a:spLocks/>
          </p:cNvSpPr>
          <p:nvPr/>
        </p:nvSpPr>
        <p:spPr>
          <a:xfrm>
            <a:off x="8129016" y="1837944"/>
            <a:ext cx="859536" cy="329184"/>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596" name="Rectangle"/>
          <p:cNvSpPr>
            <a:spLocks/>
          </p:cNvSpPr>
          <p:nvPr/>
        </p:nvSpPr>
        <p:spPr>
          <a:xfrm>
            <a:off x="182880" y="2203704"/>
            <a:ext cx="1508759" cy="402336"/>
          </a:xfrm>
          <a:prstGeom prst="rect">
            <a:avLst/>
          </a:prstGeom>
          <a:solidFill>
            <a:srgbClr val="0D2137"/>
          </a:solidFill>
          <a:ln w="12700" cap="flat" cmpd="sng">
            <a:solidFill>
              <a:srgbClr val="1E3A5F"/>
            </a:solidFill>
            <a:prstDash val="solid"/>
            <a:round/>
          </a:ln>
        </p:spPr>
        <p:txBody>
          <a:bodyPr/>
          <a:lstStyle/>
          <a:p>
            <a:endParaRPr lang="en-GB"/>
          </a:p>
        </p:txBody>
      </p:sp>
      <p:sp>
        <p:nvSpPr>
          <p:cNvPr id="597" name="Rectangle"/>
          <p:cNvSpPr>
            <a:spLocks/>
          </p:cNvSpPr>
          <p:nvPr/>
        </p:nvSpPr>
        <p:spPr>
          <a:xfrm>
            <a:off x="237743" y="2221992"/>
            <a:ext cx="1435608"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Lesson Planning</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598" name="Rectangle"/>
          <p:cNvSpPr>
            <a:spLocks/>
          </p:cNvSpPr>
          <p:nvPr/>
        </p:nvSpPr>
        <p:spPr>
          <a:xfrm>
            <a:off x="1691639" y="2203704"/>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599" name="Rectangle"/>
          <p:cNvSpPr>
            <a:spLocks/>
          </p:cNvSpPr>
          <p:nvPr/>
        </p:nvSpPr>
        <p:spPr>
          <a:xfrm>
            <a:off x="1728215" y="224028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00" name="Rectangle"/>
          <p:cNvSpPr>
            <a:spLocks/>
          </p:cNvSpPr>
          <p:nvPr/>
        </p:nvSpPr>
        <p:spPr>
          <a:xfrm>
            <a:off x="2606040" y="2203704"/>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601" name="Rectangle"/>
          <p:cNvSpPr>
            <a:spLocks/>
          </p:cNvSpPr>
          <p:nvPr/>
        </p:nvSpPr>
        <p:spPr>
          <a:xfrm>
            <a:off x="2642616" y="2240280"/>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02" name="Rectangle"/>
          <p:cNvSpPr>
            <a:spLocks/>
          </p:cNvSpPr>
          <p:nvPr/>
        </p:nvSpPr>
        <p:spPr>
          <a:xfrm>
            <a:off x="3520440" y="2203704"/>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03" name="Rectangle"/>
          <p:cNvSpPr>
            <a:spLocks/>
          </p:cNvSpPr>
          <p:nvPr/>
        </p:nvSpPr>
        <p:spPr>
          <a:xfrm>
            <a:off x="3557015" y="224028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04" name="Rectangle"/>
          <p:cNvSpPr>
            <a:spLocks/>
          </p:cNvSpPr>
          <p:nvPr/>
        </p:nvSpPr>
        <p:spPr>
          <a:xfrm>
            <a:off x="4434840" y="2203704"/>
            <a:ext cx="914399"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05" name="Rectangle"/>
          <p:cNvSpPr>
            <a:spLocks/>
          </p:cNvSpPr>
          <p:nvPr/>
        </p:nvSpPr>
        <p:spPr>
          <a:xfrm>
            <a:off x="4471416" y="2240280"/>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06" name="Rectangle"/>
          <p:cNvSpPr>
            <a:spLocks/>
          </p:cNvSpPr>
          <p:nvPr/>
        </p:nvSpPr>
        <p:spPr>
          <a:xfrm>
            <a:off x="5349239" y="2203704"/>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07" name="Rectangle"/>
          <p:cNvSpPr>
            <a:spLocks/>
          </p:cNvSpPr>
          <p:nvPr/>
        </p:nvSpPr>
        <p:spPr>
          <a:xfrm>
            <a:off x="5385816" y="224028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08" name="Rectangle"/>
          <p:cNvSpPr>
            <a:spLocks/>
          </p:cNvSpPr>
          <p:nvPr/>
        </p:nvSpPr>
        <p:spPr>
          <a:xfrm>
            <a:off x="6263640" y="2203704"/>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09" name="Rectangle"/>
          <p:cNvSpPr>
            <a:spLocks/>
          </p:cNvSpPr>
          <p:nvPr/>
        </p:nvSpPr>
        <p:spPr>
          <a:xfrm>
            <a:off x="6300216" y="224028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10" name="Rectangle"/>
          <p:cNvSpPr>
            <a:spLocks/>
          </p:cNvSpPr>
          <p:nvPr/>
        </p:nvSpPr>
        <p:spPr>
          <a:xfrm>
            <a:off x="7178040" y="2203704"/>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11" name="Rectangle"/>
          <p:cNvSpPr>
            <a:spLocks/>
          </p:cNvSpPr>
          <p:nvPr/>
        </p:nvSpPr>
        <p:spPr>
          <a:xfrm>
            <a:off x="7214615" y="224028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12" name="Rectangle"/>
          <p:cNvSpPr>
            <a:spLocks/>
          </p:cNvSpPr>
          <p:nvPr/>
        </p:nvSpPr>
        <p:spPr>
          <a:xfrm>
            <a:off x="8092440" y="2203704"/>
            <a:ext cx="914400" cy="402336"/>
          </a:xfrm>
          <a:prstGeom prst="rect">
            <a:avLst/>
          </a:prstGeom>
          <a:solidFill>
            <a:srgbClr val="0A2040"/>
          </a:solidFill>
          <a:ln w="12700" cap="flat" cmpd="sng">
            <a:solidFill>
              <a:srgbClr val="1E3A5F"/>
            </a:solidFill>
            <a:prstDash val="solid"/>
            <a:round/>
          </a:ln>
        </p:spPr>
        <p:txBody>
          <a:bodyPr/>
          <a:lstStyle/>
          <a:p>
            <a:endParaRPr lang="en-GB"/>
          </a:p>
        </p:txBody>
      </p:sp>
      <p:sp>
        <p:nvSpPr>
          <p:cNvPr id="613" name="Rectangle"/>
          <p:cNvSpPr>
            <a:spLocks/>
          </p:cNvSpPr>
          <p:nvPr/>
        </p:nvSpPr>
        <p:spPr>
          <a:xfrm>
            <a:off x="8129016" y="224028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14" name="Rectangle"/>
          <p:cNvSpPr>
            <a:spLocks/>
          </p:cNvSpPr>
          <p:nvPr/>
        </p:nvSpPr>
        <p:spPr>
          <a:xfrm>
            <a:off x="182880" y="2606040"/>
            <a:ext cx="1508759" cy="402336"/>
          </a:xfrm>
          <a:prstGeom prst="rect">
            <a:avLst/>
          </a:prstGeom>
          <a:solidFill>
            <a:srgbClr val="0D2137"/>
          </a:solidFill>
          <a:ln w="12700" cap="flat" cmpd="sng">
            <a:solidFill>
              <a:srgbClr val="1E3A5F"/>
            </a:solidFill>
            <a:prstDash val="solid"/>
            <a:round/>
          </a:ln>
        </p:spPr>
        <p:txBody>
          <a:bodyPr/>
          <a:lstStyle/>
          <a:p>
            <a:endParaRPr lang="en-GB"/>
          </a:p>
        </p:txBody>
      </p:sp>
      <p:sp>
        <p:nvSpPr>
          <p:cNvPr id="615" name="Rectangle"/>
          <p:cNvSpPr>
            <a:spLocks/>
          </p:cNvSpPr>
          <p:nvPr/>
        </p:nvSpPr>
        <p:spPr>
          <a:xfrm>
            <a:off x="237743" y="2624328"/>
            <a:ext cx="1435608"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Quiz/Exam Gen</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616" name="Rectangle"/>
          <p:cNvSpPr>
            <a:spLocks/>
          </p:cNvSpPr>
          <p:nvPr/>
        </p:nvSpPr>
        <p:spPr>
          <a:xfrm>
            <a:off x="1691639" y="2606040"/>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617" name="Rectangle"/>
          <p:cNvSpPr>
            <a:spLocks/>
          </p:cNvSpPr>
          <p:nvPr/>
        </p:nvSpPr>
        <p:spPr>
          <a:xfrm>
            <a:off x="1728215" y="2642616"/>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18" name="Rectangle"/>
          <p:cNvSpPr>
            <a:spLocks/>
          </p:cNvSpPr>
          <p:nvPr/>
        </p:nvSpPr>
        <p:spPr>
          <a:xfrm>
            <a:off x="2606040" y="2606040"/>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619" name="Rectangle"/>
          <p:cNvSpPr>
            <a:spLocks/>
          </p:cNvSpPr>
          <p:nvPr/>
        </p:nvSpPr>
        <p:spPr>
          <a:xfrm>
            <a:off x="2642616" y="2642616"/>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20" name="Rectangle"/>
          <p:cNvSpPr>
            <a:spLocks/>
          </p:cNvSpPr>
          <p:nvPr/>
        </p:nvSpPr>
        <p:spPr>
          <a:xfrm>
            <a:off x="3520440" y="2606040"/>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21" name="Rectangle"/>
          <p:cNvSpPr>
            <a:spLocks/>
          </p:cNvSpPr>
          <p:nvPr/>
        </p:nvSpPr>
        <p:spPr>
          <a:xfrm>
            <a:off x="3557015" y="2642616"/>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22" name="Rectangle"/>
          <p:cNvSpPr>
            <a:spLocks/>
          </p:cNvSpPr>
          <p:nvPr/>
        </p:nvSpPr>
        <p:spPr>
          <a:xfrm>
            <a:off x="4434840" y="2606040"/>
            <a:ext cx="914399"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23" name="Rectangle"/>
          <p:cNvSpPr>
            <a:spLocks/>
          </p:cNvSpPr>
          <p:nvPr/>
        </p:nvSpPr>
        <p:spPr>
          <a:xfrm>
            <a:off x="4471416" y="2642616"/>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24" name="Rectangle"/>
          <p:cNvSpPr>
            <a:spLocks/>
          </p:cNvSpPr>
          <p:nvPr/>
        </p:nvSpPr>
        <p:spPr>
          <a:xfrm>
            <a:off x="5349239" y="2606040"/>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25" name="Rectangle"/>
          <p:cNvSpPr>
            <a:spLocks/>
          </p:cNvSpPr>
          <p:nvPr/>
        </p:nvSpPr>
        <p:spPr>
          <a:xfrm>
            <a:off x="5385816" y="2642616"/>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26" name="Rectangle"/>
          <p:cNvSpPr>
            <a:spLocks/>
          </p:cNvSpPr>
          <p:nvPr/>
        </p:nvSpPr>
        <p:spPr>
          <a:xfrm>
            <a:off x="6263640" y="2606040"/>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27" name="Rectangle"/>
          <p:cNvSpPr>
            <a:spLocks/>
          </p:cNvSpPr>
          <p:nvPr/>
        </p:nvSpPr>
        <p:spPr>
          <a:xfrm>
            <a:off x="6300216" y="2642616"/>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28" name="Rectangle"/>
          <p:cNvSpPr>
            <a:spLocks/>
          </p:cNvSpPr>
          <p:nvPr/>
        </p:nvSpPr>
        <p:spPr>
          <a:xfrm>
            <a:off x="7178040" y="2606040"/>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29" name="Rectangle"/>
          <p:cNvSpPr>
            <a:spLocks/>
          </p:cNvSpPr>
          <p:nvPr/>
        </p:nvSpPr>
        <p:spPr>
          <a:xfrm>
            <a:off x="7214615" y="2642616"/>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30" name="Rectangle"/>
          <p:cNvSpPr>
            <a:spLocks/>
          </p:cNvSpPr>
          <p:nvPr/>
        </p:nvSpPr>
        <p:spPr>
          <a:xfrm>
            <a:off x="8092440" y="2606040"/>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31" name="Rectangle"/>
          <p:cNvSpPr>
            <a:spLocks/>
          </p:cNvSpPr>
          <p:nvPr/>
        </p:nvSpPr>
        <p:spPr>
          <a:xfrm>
            <a:off x="8129016" y="2642616"/>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32" name="Rectangle"/>
          <p:cNvSpPr>
            <a:spLocks/>
          </p:cNvSpPr>
          <p:nvPr/>
        </p:nvSpPr>
        <p:spPr>
          <a:xfrm>
            <a:off x="182880" y="3008376"/>
            <a:ext cx="1508759" cy="402335"/>
          </a:xfrm>
          <a:prstGeom prst="rect">
            <a:avLst/>
          </a:prstGeom>
          <a:solidFill>
            <a:srgbClr val="0D2137"/>
          </a:solidFill>
          <a:ln w="12700" cap="flat" cmpd="sng">
            <a:solidFill>
              <a:srgbClr val="1E3A5F"/>
            </a:solidFill>
            <a:prstDash val="solid"/>
            <a:round/>
          </a:ln>
        </p:spPr>
        <p:txBody>
          <a:bodyPr/>
          <a:lstStyle/>
          <a:p>
            <a:endParaRPr lang="en-GB"/>
          </a:p>
        </p:txBody>
      </p:sp>
      <p:sp>
        <p:nvSpPr>
          <p:cNvPr id="633" name="Rectangle"/>
          <p:cNvSpPr>
            <a:spLocks/>
          </p:cNvSpPr>
          <p:nvPr/>
        </p:nvSpPr>
        <p:spPr>
          <a:xfrm>
            <a:off x="237743" y="3026663"/>
            <a:ext cx="1435608"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Grant Writing</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634" name="Rectangle"/>
          <p:cNvSpPr>
            <a:spLocks/>
          </p:cNvSpPr>
          <p:nvPr/>
        </p:nvSpPr>
        <p:spPr>
          <a:xfrm>
            <a:off x="1691639" y="3008376"/>
            <a:ext cx="914400" cy="402335"/>
          </a:xfrm>
          <a:prstGeom prst="rect">
            <a:avLst/>
          </a:prstGeom>
          <a:solidFill>
            <a:srgbClr val="0A3728"/>
          </a:solidFill>
          <a:ln w="12700" cap="flat" cmpd="sng">
            <a:solidFill>
              <a:srgbClr val="1E3A5F"/>
            </a:solidFill>
            <a:prstDash val="solid"/>
            <a:round/>
          </a:ln>
        </p:spPr>
        <p:txBody>
          <a:bodyPr/>
          <a:lstStyle/>
          <a:p>
            <a:endParaRPr lang="en-GB"/>
          </a:p>
        </p:txBody>
      </p:sp>
      <p:sp>
        <p:nvSpPr>
          <p:cNvPr id="635" name="Rectangle"/>
          <p:cNvSpPr>
            <a:spLocks/>
          </p:cNvSpPr>
          <p:nvPr/>
        </p:nvSpPr>
        <p:spPr>
          <a:xfrm>
            <a:off x="1728215" y="3044952"/>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36" name="Rectangle"/>
          <p:cNvSpPr>
            <a:spLocks/>
          </p:cNvSpPr>
          <p:nvPr/>
        </p:nvSpPr>
        <p:spPr>
          <a:xfrm>
            <a:off x="2606040" y="3008376"/>
            <a:ext cx="914400" cy="402335"/>
          </a:xfrm>
          <a:prstGeom prst="rect">
            <a:avLst/>
          </a:prstGeom>
          <a:solidFill>
            <a:srgbClr val="0A3728"/>
          </a:solidFill>
          <a:ln w="12700" cap="flat" cmpd="sng">
            <a:solidFill>
              <a:srgbClr val="1E3A5F"/>
            </a:solidFill>
            <a:prstDash val="solid"/>
            <a:round/>
          </a:ln>
        </p:spPr>
        <p:txBody>
          <a:bodyPr/>
          <a:lstStyle/>
          <a:p>
            <a:endParaRPr lang="en-GB"/>
          </a:p>
        </p:txBody>
      </p:sp>
      <p:sp>
        <p:nvSpPr>
          <p:cNvPr id="637" name="Rectangle"/>
          <p:cNvSpPr>
            <a:spLocks/>
          </p:cNvSpPr>
          <p:nvPr/>
        </p:nvSpPr>
        <p:spPr>
          <a:xfrm>
            <a:off x="2642616" y="3044952"/>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38" name="Rectangle"/>
          <p:cNvSpPr>
            <a:spLocks/>
          </p:cNvSpPr>
          <p:nvPr/>
        </p:nvSpPr>
        <p:spPr>
          <a:xfrm>
            <a:off x="3520440" y="3008376"/>
            <a:ext cx="914400" cy="402335"/>
          </a:xfrm>
          <a:prstGeom prst="rect">
            <a:avLst/>
          </a:prstGeom>
          <a:solidFill>
            <a:srgbClr val="2A2A2A"/>
          </a:solidFill>
          <a:ln w="12700" cap="flat" cmpd="sng">
            <a:solidFill>
              <a:srgbClr val="1E3A5F"/>
            </a:solidFill>
            <a:prstDash val="solid"/>
            <a:round/>
          </a:ln>
        </p:spPr>
        <p:txBody>
          <a:bodyPr/>
          <a:lstStyle/>
          <a:p>
            <a:endParaRPr lang="en-GB"/>
          </a:p>
        </p:txBody>
      </p:sp>
      <p:sp>
        <p:nvSpPr>
          <p:cNvPr id="639" name="Rectangle"/>
          <p:cNvSpPr>
            <a:spLocks/>
          </p:cNvSpPr>
          <p:nvPr/>
        </p:nvSpPr>
        <p:spPr>
          <a:xfrm>
            <a:off x="3557015" y="3044952"/>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6B7280"/>
                </a:solidFill>
                <a:latin typeface="Calibri" charset="0"/>
                <a:ea typeface="Calibri" charset="0"/>
                <a:cs typeface="Calibri" charset="0"/>
              </a:rPr>
              <a:t>Basic</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40" name="Rectangle"/>
          <p:cNvSpPr>
            <a:spLocks/>
          </p:cNvSpPr>
          <p:nvPr/>
        </p:nvSpPr>
        <p:spPr>
          <a:xfrm>
            <a:off x="4434840" y="3008376"/>
            <a:ext cx="914399" cy="402335"/>
          </a:xfrm>
          <a:prstGeom prst="rect">
            <a:avLst/>
          </a:prstGeom>
          <a:solidFill>
            <a:srgbClr val="2A2A2A"/>
          </a:solidFill>
          <a:ln w="12700" cap="flat" cmpd="sng">
            <a:solidFill>
              <a:srgbClr val="1E3A5F"/>
            </a:solidFill>
            <a:prstDash val="solid"/>
            <a:round/>
          </a:ln>
        </p:spPr>
        <p:txBody>
          <a:bodyPr/>
          <a:lstStyle/>
          <a:p>
            <a:endParaRPr lang="en-GB"/>
          </a:p>
        </p:txBody>
      </p:sp>
      <p:sp>
        <p:nvSpPr>
          <p:cNvPr id="641" name="Rectangle"/>
          <p:cNvSpPr>
            <a:spLocks/>
          </p:cNvSpPr>
          <p:nvPr/>
        </p:nvSpPr>
        <p:spPr>
          <a:xfrm>
            <a:off x="4471416" y="3044952"/>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6B7280"/>
                </a:solidFill>
                <a:latin typeface="Calibri" charset="0"/>
                <a:ea typeface="Calibri" charset="0"/>
                <a:cs typeface="Calibri" charset="0"/>
              </a:rPr>
              <a:t>Basic</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42" name="Rectangle"/>
          <p:cNvSpPr>
            <a:spLocks/>
          </p:cNvSpPr>
          <p:nvPr/>
        </p:nvSpPr>
        <p:spPr>
          <a:xfrm>
            <a:off x="5349239" y="3008376"/>
            <a:ext cx="914400" cy="402335"/>
          </a:xfrm>
          <a:prstGeom prst="rect">
            <a:avLst/>
          </a:prstGeom>
          <a:solidFill>
            <a:srgbClr val="0A2040"/>
          </a:solidFill>
          <a:ln w="12700" cap="flat" cmpd="sng">
            <a:solidFill>
              <a:srgbClr val="1E3A5F"/>
            </a:solidFill>
            <a:prstDash val="solid"/>
            <a:round/>
          </a:ln>
        </p:spPr>
        <p:txBody>
          <a:bodyPr/>
          <a:lstStyle/>
          <a:p>
            <a:endParaRPr lang="en-GB"/>
          </a:p>
        </p:txBody>
      </p:sp>
      <p:sp>
        <p:nvSpPr>
          <p:cNvPr id="643" name="Rectangle"/>
          <p:cNvSpPr>
            <a:spLocks/>
          </p:cNvSpPr>
          <p:nvPr/>
        </p:nvSpPr>
        <p:spPr>
          <a:xfrm>
            <a:off x="5385816" y="3044952"/>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44" name="Rectangle"/>
          <p:cNvSpPr>
            <a:spLocks/>
          </p:cNvSpPr>
          <p:nvPr/>
        </p:nvSpPr>
        <p:spPr>
          <a:xfrm>
            <a:off x="6263640" y="3008376"/>
            <a:ext cx="914400" cy="402335"/>
          </a:xfrm>
          <a:prstGeom prst="rect">
            <a:avLst/>
          </a:prstGeom>
          <a:solidFill>
            <a:srgbClr val="0A2040"/>
          </a:solidFill>
          <a:ln w="12700" cap="flat" cmpd="sng">
            <a:solidFill>
              <a:srgbClr val="1E3A5F"/>
            </a:solidFill>
            <a:prstDash val="solid"/>
            <a:round/>
          </a:ln>
        </p:spPr>
        <p:txBody>
          <a:bodyPr/>
          <a:lstStyle/>
          <a:p>
            <a:endParaRPr lang="en-GB"/>
          </a:p>
        </p:txBody>
      </p:sp>
      <p:sp>
        <p:nvSpPr>
          <p:cNvPr id="645" name="Rectangle"/>
          <p:cNvSpPr>
            <a:spLocks/>
          </p:cNvSpPr>
          <p:nvPr/>
        </p:nvSpPr>
        <p:spPr>
          <a:xfrm>
            <a:off x="6300216" y="3044952"/>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46" name="Rectangle"/>
          <p:cNvSpPr>
            <a:spLocks/>
          </p:cNvSpPr>
          <p:nvPr/>
        </p:nvSpPr>
        <p:spPr>
          <a:xfrm>
            <a:off x="7178040" y="3008376"/>
            <a:ext cx="914400" cy="402335"/>
          </a:xfrm>
          <a:prstGeom prst="rect">
            <a:avLst/>
          </a:prstGeom>
          <a:solidFill>
            <a:srgbClr val="0A2040"/>
          </a:solidFill>
          <a:ln w="12700" cap="flat" cmpd="sng">
            <a:solidFill>
              <a:srgbClr val="1E3A5F"/>
            </a:solidFill>
            <a:prstDash val="solid"/>
            <a:round/>
          </a:ln>
        </p:spPr>
        <p:txBody>
          <a:bodyPr/>
          <a:lstStyle/>
          <a:p>
            <a:endParaRPr lang="en-GB"/>
          </a:p>
        </p:txBody>
      </p:sp>
      <p:sp>
        <p:nvSpPr>
          <p:cNvPr id="647" name="Rectangle"/>
          <p:cNvSpPr>
            <a:spLocks/>
          </p:cNvSpPr>
          <p:nvPr/>
        </p:nvSpPr>
        <p:spPr>
          <a:xfrm>
            <a:off x="7214615" y="3044952"/>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48" name="Rectangle"/>
          <p:cNvSpPr>
            <a:spLocks/>
          </p:cNvSpPr>
          <p:nvPr/>
        </p:nvSpPr>
        <p:spPr>
          <a:xfrm>
            <a:off x="8092440" y="3008376"/>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49" name="Rectangle"/>
          <p:cNvSpPr>
            <a:spLocks/>
          </p:cNvSpPr>
          <p:nvPr/>
        </p:nvSpPr>
        <p:spPr>
          <a:xfrm>
            <a:off x="8129016" y="3044952"/>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50" name="Rectangle"/>
          <p:cNvSpPr>
            <a:spLocks/>
          </p:cNvSpPr>
          <p:nvPr/>
        </p:nvSpPr>
        <p:spPr>
          <a:xfrm>
            <a:off x="182880" y="3410712"/>
            <a:ext cx="1508759" cy="402335"/>
          </a:xfrm>
          <a:prstGeom prst="rect">
            <a:avLst/>
          </a:prstGeom>
          <a:solidFill>
            <a:srgbClr val="0D2137"/>
          </a:solidFill>
          <a:ln w="12700" cap="flat" cmpd="sng">
            <a:solidFill>
              <a:srgbClr val="1E3A5F"/>
            </a:solidFill>
            <a:prstDash val="solid"/>
            <a:round/>
          </a:ln>
        </p:spPr>
        <p:txBody>
          <a:bodyPr/>
          <a:lstStyle/>
          <a:p>
            <a:endParaRPr lang="en-GB"/>
          </a:p>
        </p:txBody>
      </p:sp>
      <p:sp>
        <p:nvSpPr>
          <p:cNvPr id="651" name="Rectangle"/>
          <p:cNvSpPr>
            <a:spLocks/>
          </p:cNvSpPr>
          <p:nvPr/>
        </p:nvSpPr>
        <p:spPr>
          <a:xfrm>
            <a:off x="237743" y="3429000"/>
            <a:ext cx="1435608"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Data Analysis</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652" name="Rectangle"/>
          <p:cNvSpPr>
            <a:spLocks/>
          </p:cNvSpPr>
          <p:nvPr/>
        </p:nvSpPr>
        <p:spPr>
          <a:xfrm>
            <a:off x="1691639" y="3410712"/>
            <a:ext cx="914400" cy="402335"/>
          </a:xfrm>
          <a:prstGeom prst="rect">
            <a:avLst/>
          </a:prstGeom>
          <a:solidFill>
            <a:srgbClr val="0A2040"/>
          </a:solidFill>
          <a:ln w="12700" cap="flat" cmpd="sng">
            <a:solidFill>
              <a:srgbClr val="1E3A5F"/>
            </a:solidFill>
            <a:prstDash val="solid"/>
            <a:round/>
          </a:ln>
        </p:spPr>
        <p:txBody>
          <a:bodyPr/>
          <a:lstStyle/>
          <a:p>
            <a:endParaRPr lang="en-GB"/>
          </a:p>
        </p:txBody>
      </p:sp>
      <p:sp>
        <p:nvSpPr>
          <p:cNvPr id="653" name="Rectangle"/>
          <p:cNvSpPr>
            <a:spLocks/>
          </p:cNvSpPr>
          <p:nvPr/>
        </p:nvSpPr>
        <p:spPr>
          <a:xfrm>
            <a:off x="1728215" y="3447288"/>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54" name="Rectangle"/>
          <p:cNvSpPr>
            <a:spLocks/>
          </p:cNvSpPr>
          <p:nvPr/>
        </p:nvSpPr>
        <p:spPr>
          <a:xfrm>
            <a:off x="2606040" y="3410712"/>
            <a:ext cx="914400" cy="402335"/>
          </a:xfrm>
          <a:prstGeom prst="rect">
            <a:avLst/>
          </a:prstGeom>
          <a:solidFill>
            <a:srgbClr val="0A3728"/>
          </a:solidFill>
          <a:ln w="12700" cap="flat" cmpd="sng">
            <a:solidFill>
              <a:srgbClr val="1E3A5F"/>
            </a:solidFill>
            <a:prstDash val="solid"/>
            <a:round/>
          </a:ln>
        </p:spPr>
        <p:txBody>
          <a:bodyPr/>
          <a:lstStyle/>
          <a:p>
            <a:endParaRPr lang="en-GB"/>
          </a:p>
        </p:txBody>
      </p:sp>
      <p:sp>
        <p:nvSpPr>
          <p:cNvPr id="655" name="Rectangle"/>
          <p:cNvSpPr>
            <a:spLocks/>
          </p:cNvSpPr>
          <p:nvPr/>
        </p:nvSpPr>
        <p:spPr>
          <a:xfrm>
            <a:off x="2642616" y="3447288"/>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56" name="Rectangle"/>
          <p:cNvSpPr>
            <a:spLocks/>
          </p:cNvSpPr>
          <p:nvPr/>
        </p:nvSpPr>
        <p:spPr>
          <a:xfrm>
            <a:off x="3520440" y="3410712"/>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57" name="Rectangle"/>
          <p:cNvSpPr>
            <a:spLocks/>
          </p:cNvSpPr>
          <p:nvPr/>
        </p:nvSpPr>
        <p:spPr>
          <a:xfrm>
            <a:off x="3557015" y="3447288"/>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58" name="Rectangle"/>
          <p:cNvSpPr>
            <a:spLocks/>
          </p:cNvSpPr>
          <p:nvPr/>
        </p:nvSpPr>
        <p:spPr>
          <a:xfrm>
            <a:off x="4434840" y="3410712"/>
            <a:ext cx="914399"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59" name="Rectangle"/>
          <p:cNvSpPr>
            <a:spLocks/>
          </p:cNvSpPr>
          <p:nvPr/>
        </p:nvSpPr>
        <p:spPr>
          <a:xfrm>
            <a:off x="4471416" y="3447288"/>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60" name="Rectangle"/>
          <p:cNvSpPr>
            <a:spLocks/>
          </p:cNvSpPr>
          <p:nvPr/>
        </p:nvSpPr>
        <p:spPr>
          <a:xfrm>
            <a:off x="5349239" y="3410712"/>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61" name="Rectangle"/>
          <p:cNvSpPr>
            <a:spLocks/>
          </p:cNvSpPr>
          <p:nvPr/>
        </p:nvSpPr>
        <p:spPr>
          <a:xfrm>
            <a:off x="5385816" y="3447288"/>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62" name="Rectangle"/>
          <p:cNvSpPr>
            <a:spLocks/>
          </p:cNvSpPr>
          <p:nvPr/>
        </p:nvSpPr>
        <p:spPr>
          <a:xfrm>
            <a:off x="6263640" y="3410712"/>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63" name="Rectangle"/>
          <p:cNvSpPr>
            <a:spLocks/>
          </p:cNvSpPr>
          <p:nvPr/>
        </p:nvSpPr>
        <p:spPr>
          <a:xfrm>
            <a:off x="6300216" y="3447288"/>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64" name="Rectangle"/>
          <p:cNvSpPr>
            <a:spLocks/>
          </p:cNvSpPr>
          <p:nvPr/>
        </p:nvSpPr>
        <p:spPr>
          <a:xfrm>
            <a:off x="7178040" y="3410712"/>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65" name="Rectangle"/>
          <p:cNvSpPr>
            <a:spLocks/>
          </p:cNvSpPr>
          <p:nvPr/>
        </p:nvSpPr>
        <p:spPr>
          <a:xfrm>
            <a:off x="7214615" y="3447288"/>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66" name="Rectangle"/>
          <p:cNvSpPr>
            <a:spLocks/>
          </p:cNvSpPr>
          <p:nvPr/>
        </p:nvSpPr>
        <p:spPr>
          <a:xfrm>
            <a:off x="8092440" y="3410712"/>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67" name="Rectangle"/>
          <p:cNvSpPr>
            <a:spLocks/>
          </p:cNvSpPr>
          <p:nvPr/>
        </p:nvSpPr>
        <p:spPr>
          <a:xfrm>
            <a:off x="8129016" y="3447288"/>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68" name="Rectangle"/>
          <p:cNvSpPr>
            <a:spLocks/>
          </p:cNvSpPr>
          <p:nvPr/>
        </p:nvSpPr>
        <p:spPr>
          <a:xfrm>
            <a:off x="182880" y="3813048"/>
            <a:ext cx="1508759" cy="402336"/>
          </a:xfrm>
          <a:prstGeom prst="rect">
            <a:avLst/>
          </a:prstGeom>
          <a:solidFill>
            <a:srgbClr val="0D2137"/>
          </a:solidFill>
          <a:ln w="12700" cap="flat" cmpd="sng">
            <a:solidFill>
              <a:srgbClr val="1E3A5F"/>
            </a:solidFill>
            <a:prstDash val="solid"/>
            <a:round/>
          </a:ln>
        </p:spPr>
        <p:txBody>
          <a:bodyPr/>
          <a:lstStyle/>
          <a:p>
            <a:endParaRPr lang="en-GB"/>
          </a:p>
        </p:txBody>
      </p:sp>
      <p:sp>
        <p:nvSpPr>
          <p:cNvPr id="669" name="Rectangle"/>
          <p:cNvSpPr>
            <a:spLocks/>
          </p:cNvSpPr>
          <p:nvPr/>
        </p:nvSpPr>
        <p:spPr>
          <a:xfrm>
            <a:off x="237743" y="3831336"/>
            <a:ext cx="1435608"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Presentation</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670" name="Rectangle"/>
          <p:cNvSpPr>
            <a:spLocks/>
          </p:cNvSpPr>
          <p:nvPr/>
        </p:nvSpPr>
        <p:spPr>
          <a:xfrm>
            <a:off x="1691639" y="3813048"/>
            <a:ext cx="914400" cy="402336"/>
          </a:xfrm>
          <a:prstGeom prst="rect">
            <a:avLst/>
          </a:prstGeom>
          <a:solidFill>
            <a:srgbClr val="0A2040"/>
          </a:solidFill>
          <a:ln w="12700" cap="flat" cmpd="sng">
            <a:solidFill>
              <a:srgbClr val="1E3A5F"/>
            </a:solidFill>
            <a:prstDash val="solid"/>
            <a:round/>
          </a:ln>
        </p:spPr>
        <p:txBody>
          <a:bodyPr/>
          <a:lstStyle/>
          <a:p>
            <a:endParaRPr lang="en-GB"/>
          </a:p>
        </p:txBody>
      </p:sp>
      <p:sp>
        <p:nvSpPr>
          <p:cNvPr id="671" name="Rectangle"/>
          <p:cNvSpPr>
            <a:spLocks/>
          </p:cNvSpPr>
          <p:nvPr/>
        </p:nvSpPr>
        <p:spPr>
          <a:xfrm>
            <a:off x="1728215" y="3849623"/>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72" name="Rectangle"/>
          <p:cNvSpPr>
            <a:spLocks/>
          </p:cNvSpPr>
          <p:nvPr/>
        </p:nvSpPr>
        <p:spPr>
          <a:xfrm>
            <a:off x="2606040" y="3813048"/>
            <a:ext cx="914400" cy="402336"/>
          </a:xfrm>
          <a:prstGeom prst="rect">
            <a:avLst/>
          </a:prstGeom>
          <a:solidFill>
            <a:srgbClr val="2A2A2A"/>
          </a:solidFill>
          <a:ln w="12700" cap="flat" cmpd="sng">
            <a:solidFill>
              <a:srgbClr val="1E3A5F"/>
            </a:solidFill>
            <a:prstDash val="solid"/>
            <a:round/>
          </a:ln>
        </p:spPr>
        <p:txBody>
          <a:bodyPr/>
          <a:lstStyle/>
          <a:p>
            <a:endParaRPr lang="en-GB"/>
          </a:p>
        </p:txBody>
      </p:sp>
      <p:sp>
        <p:nvSpPr>
          <p:cNvPr id="673" name="Rectangle"/>
          <p:cNvSpPr>
            <a:spLocks/>
          </p:cNvSpPr>
          <p:nvPr/>
        </p:nvSpPr>
        <p:spPr>
          <a:xfrm>
            <a:off x="2642616" y="3849623"/>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6B7280"/>
                </a:solidFill>
                <a:latin typeface="Calibri" charset="0"/>
                <a:ea typeface="Calibri" charset="0"/>
                <a:cs typeface="Calibri" charset="0"/>
              </a:rPr>
              <a:t>Basic</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74" name="Rectangle"/>
          <p:cNvSpPr>
            <a:spLocks/>
          </p:cNvSpPr>
          <p:nvPr/>
        </p:nvSpPr>
        <p:spPr>
          <a:xfrm>
            <a:off x="3520440" y="3813048"/>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75" name="Rectangle"/>
          <p:cNvSpPr>
            <a:spLocks/>
          </p:cNvSpPr>
          <p:nvPr/>
        </p:nvSpPr>
        <p:spPr>
          <a:xfrm>
            <a:off x="3557015" y="3849623"/>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76" name="Rectangle"/>
          <p:cNvSpPr>
            <a:spLocks/>
          </p:cNvSpPr>
          <p:nvPr/>
        </p:nvSpPr>
        <p:spPr>
          <a:xfrm>
            <a:off x="4434840" y="3813048"/>
            <a:ext cx="914399"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77" name="Rectangle"/>
          <p:cNvSpPr>
            <a:spLocks/>
          </p:cNvSpPr>
          <p:nvPr/>
        </p:nvSpPr>
        <p:spPr>
          <a:xfrm>
            <a:off x="4471416" y="3849623"/>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78" name="Rectangle"/>
          <p:cNvSpPr>
            <a:spLocks/>
          </p:cNvSpPr>
          <p:nvPr/>
        </p:nvSpPr>
        <p:spPr>
          <a:xfrm>
            <a:off x="5349239" y="3813048"/>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79" name="Rectangle"/>
          <p:cNvSpPr>
            <a:spLocks/>
          </p:cNvSpPr>
          <p:nvPr/>
        </p:nvSpPr>
        <p:spPr>
          <a:xfrm>
            <a:off x="5385816" y="3849623"/>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80" name="Rectangle"/>
          <p:cNvSpPr>
            <a:spLocks/>
          </p:cNvSpPr>
          <p:nvPr/>
        </p:nvSpPr>
        <p:spPr>
          <a:xfrm>
            <a:off x="6263640" y="3813048"/>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81" name="Rectangle"/>
          <p:cNvSpPr>
            <a:spLocks/>
          </p:cNvSpPr>
          <p:nvPr/>
        </p:nvSpPr>
        <p:spPr>
          <a:xfrm>
            <a:off x="6300216" y="3849623"/>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82" name="Rectangle"/>
          <p:cNvSpPr>
            <a:spLocks/>
          </p:cNvSpPr>
          <p:nvPr/>
        </p:nvSpPr>
        <p:spPr>
          <a:xfrm>
            <a:off x="7178040" y="3813048"/>
            <a:ext cx="914400" cy="402336"/>
          </a:xfrm>
          <a:prstGeom prst="rect">
            <a:avLst/>
          </a:prstGeom>
          <a:solidFill>
            <a:srgbClr val="1C1C1C"/>
          </a:solidFill>
          <a:ln w="12700" cap="flat" cmpd="sng">
            <a:solidFill>
              <a:srgbClr val="1E3A5F"/>
            </a:solidFill>
            <a:prstDash val="solid"/>
            <a:round/>
          </a:ln>
        </p:spPr>
        <p:txBody>
          <a:bodyPr/>
          <a:lstStyle/>
          <a:p>
            <a:endParaRPr lang="en-GB"/>
          </a:p>
        </p:txBody>
      </p:sp>
      <p:sp>
        <p:nvSpPr>
          <p:cNvPr id="683" name="Rectangle"/>
          <p:cNvSpPr>
            <a:spLocks/>
          </p:cNvSpPr>
          <p:nvPr/>
        </p:nvSpPr>
        <p:spPr>
          <a:xfrm>
            <a:off x="7214615" y="3849623"/>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84" name="Rectangle"/>
          <p:cNvSpPr>
            <a:spLocks/>
          </p:cNvSpPr>
          <p:nvPr/>
        </p:nvSpPr>
        <p:spPr>
          <a:xfrm>
            <a:off x="8092440" y="3813048"/>
            <a:ext cx="914400" cy="402336"/>
          </a:xfrm>
          <a:prstGeom prst="rect">
            <a:avLst/>
          </a:prstGeom>
          <a:solidFill>
            <a:srgbClr val="0A3728"/>
          </a:solidFill>
          <a:ln w="12700" cap="flat" cmpd="sng">
            <a:solidFill>
              <a:srgbClr val="1E3A5F"/>
            </a:solidFill>
            <a:prstDash val="solid"/>
            <a:round/>
          </a:ln>
        </p:spPr>
        <p:txBody>
          <a:bodyPr/>
          <a:lstStyle/>
          <a:p>
            <a:endParaRPr lang="en-GB"/>
          </a:p>
        </p:txBody>
      </p:sp>
      <p:sp>
        <p:nvSpPr>
          <p:cNvPr id="685" name="Rectangle"/>
          <p:cNvSpPr>
            <a:spLocks/>
          </p:cNvSpPr>
          <p:nvPr/>
        </p:nvSpPr>
        <p:spPr>
          <a:xfrm>
            <a:off x="8129016" y="3849623"/>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86" name="Rectangle"/>
          <p:cNvSpPr>
            <a:spLocks/>
          </p:cNvSpPr>
          <p:nvPr/>
        </p:nvSpPr>
        <p:spPr>
          <a:xfrm>
            <a:off x="182880" y="4215384"/>
            <a:ext cx="1508759" cy="402335"/>
          </a:xfrm>
          <a:prstGeom prst="rect">
            <a:avLst/>
          </a:prstGeom>
          <a:solidFill>
            <a:srgbClr val="0D2137"/>
          </a:solidFill>
          <a:ln w="12700" cap="flat" cmpd="sng">
            <a:solidFill>
              <a:srgbClr val="1E3A5F"/>
            </a:solidFill>
            <a:prstDash val="solid"/>
            <a:round/>
          </a:ln>
        </p:spPr>
        <p:txBody>
          <a:bodyPr/>
          <a:lstStyle/>
          <a:p>
            <a:endParaRPr lang="en-GB"/>
          </a:p>
        </p:txBody>
      </p:sp>
      <p:sp>
        <p:nvSpPr>
          <p:cNvPr id="687" name="Rectangle"/>
          <p:cNvSpPr>
            <a:spLocks/>
          </p:cNvSpPr>
          <p:nvPr/>
        </p:nvSpPr>
        <p:spPr>
          <a:xfrm>
            <a:off x="237743" y="4233672"/>
            <a:ext cx="1435608" cy="365759"/>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50" b="1" i="0" u="none" strike="noStrike" kern="1200" cap="none" spc="0" baseline="0">
                <a:solidFill>
                  <a:srgbClr val="FFFFFF"/>
                </a:solidFill>
                <a:latin typeface="Calibri" charset="0"/>
                <a:ea typeface="Calibri" charset="0"/>
                <a:cs typeface="Calibri" charset="0"/>
              </a:rPr>
              <a:t>Citation Help</a:t>
            </a:r>
            <a:endParaRPr lang="zh-CN" altLang="en-US" sz="1050" b="0" i="0" u="none" strike="noStrike" kern="1200" cap="none" spc="0" baseline="0">
              <a:solidFill>
                <a:schemeClr val="tx1"/>
              </a:solidFill>
              <a:latin typeface="Calibri" charset="0"/>
              <a:ea typeface="等线" charset="0"/>
              <a:cs typeface="Calibri" charset="0"/>
            </a:endParaRPr>
          </a:p>
        </p:txBody>
      </p:sp>
      <p:sp>
        <p:nvSpPr>
          <p:cNvPr id="688" name="Rectangle"/>
          <p:cNvSpPr>
            <a:spLocks/>
          </p:cNvSpPr>
          <p:nvPr/>
        </p:nvSpPr>
        <p:spPr>
          <a:xfrm>
            <a:off x="1691639" y="4215384"/>
            <a:ext cx="914400" cy="402335"/>
          </a:xfrm>
          <a:prstGeom prst="rect">
            <a:avLst/>
          </a:prstGeom>
          <a:solidFill>
            <a:srgbClr val="2A2A2A"/>
          </a:solidFill>
          <a:ln w="12700" cap="flat" cmpd="sng">
            <a:solidFill>
              <a:srgbClr val="1E3A5F"/>
            </a:solidFill>
            <a:prstDash val="solid"/>
            <a:round/>
          </a:ln>
        </p:spPr>
        <p:txBody>
          <a:bodyPr/>
          <a:lstStyle/>
          <a:p>
            <a:endParaRPr lang="en-GB"/>
          </a:p>
        </p:txBody>
      </p:sp>
      <p:sp>
        <p:nvSpPr>
          <p:cNvPr id="689" name="Rectangle"/>
          <p:cNvSpPr>
            <a:spLocks/>
          </p:cNvSpPr>
          <p:nvPr/>
        </p:nvSpPr>
        <p:spPr>
          <a:xfrm>
            <a:off x="1728215" y="425196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6B7280"/>
                </a:solidFill>
                <a:latin typeface="Calibri" charset="0"/>
                <a:ea typeface="Calibri" charset="0"/>
                <a:cs typeface="Calibri" charset="0"/>
              </a:rPr>
              <a:t>Basic</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90" name="Rectangle"/>
          <p:cNvSpPr>
            <a:spLocks/>
          </p:cNvSpPr>
          <p:nvPr/>
        </p:nvSpPr>
        <p:spPr>
          <a:xfrm>
            <a:off x="2606040" y="4215384"/>
            <a:ext cx="914400" cy="402335"/>
          </a:xfrm>
          <a:prstGeom prst="rect">
            <a:avLst/>
          </a:prstGeom>
          <a:solidFill>
            <a:srgbClr val="2A2A2A"/>
          </a:solidFill>
          <a:ln w="12700" cap="flat" cmpd="sng">
            <a:solidFill>
              <a:srgbClr val="1E3A5F"/>
            </a:solidFill>
            <a:prstDash val="solid"/>
            <a:round/>
          </a:ln>
        </p:spPr>
        <p:txBody>
          <a:bodyPr/>
          <a:lstStyle/>
          <a:p>
            <a:endParaRPr lang="en-GB"/>
          </a:p>
        </p:txBody>
      </p:sp>
      <p:sp>
        <p:nvSpPr>
          <p:cNvPr id="691" name="Rectangle"/>
          <p:cNvSpPr>
            <a:spLocks/>
          </p:cNvSpPr>
          <p:nvPr/>
        </p:nvSpPr>
        <p:spPr>
          <a:xfrm>
            <a:off x="2642616" y="4251960"/>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6B7280"/>
                </a:solidFill>
                <a:latin typeface="Calibri" charset="0"/>
                <a:ea typeface="Calibri" charset="0"/>
                <a:cs typeface="Calibri" charset="0"/>
              </a:rPr>
              <a:t>Basic</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92" name="Rectangle"/>
          <p:cNvSpPr>
            <a:spLocks/>
          </p:cNvSpPr>
          <p:nvPr/>
        </p:nvSpPr>
        <p:spPr>
          <a:xfrm>
            <a:off x="3520440" y="4215384"/>
            <a:ext cx="914400" cy="402335"/>
          </a:xfrm>
          <a:prstGeom prst="rect">
            <a:avLst/>
          </a:prstGeom>
          <a:solidFill>
            <a:srgbClr val="0A2040"/>
          </a:solidFill>
          <a:ln w="12700" cap="flat" cmpd="sng">
            <a:solidFill>
              <a:srgbClr val="1E3A5F"/>
            </a:solidFill>
            <a:prstDash val="solid"/>
            <a:round/>
          </a:ln>
        </p:spPr>
        <p:txBody>
          <a:bodyPr/>
          <a:lstStyle/>
          <a:p>
            <a:endParaRPr lang="en-GB"/>
          </a:p>
        </p:txBody>
      </p:sp>
      <p:sp>
        <p:nvSpPr>
          <p:cNvPr id="693" name="Rectangle"/>
          <p:cNvSpPr>
            <a:spLocks/>
          </p:cNvSpPr>
          <p:nvPr/>
        </p:nvSpPr>
        <p:spPr>
          <a:xfrm>
            <a:off x="3557015" y="425196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94" name="Rectangle"/>
          <p:cNvSpPr>
            <a:spLocks/>
          </p:cNvSpPr>
          <p:nvPr/>
        </p:nvSpPr>
        <p:spPr>
          <a:xfrm>
            <a:off x="4434840" y="4215384"/>
            <a:ext cx="914399"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95" name="Rectangle"/>
          <p:cNvSpPr>
            <a:spLocks/>
          </p:cNvSpPr>
          <p:nvPr/>
        </p:nvSpPr>
        <p:spPr>
          <a:xfrm>
            <a:off x="4471416" y="4251960"/>
            <a:ext cx="859535"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96" name="Rectangle"/>
          <p:cNvSpPr>
            <a:spLocks/>
          </p:cNvSpPr>
          <p:nvPr/>
        </p:nvSpPr>
        <p:spPr>
          <a:xfrm>
            <a:off x="5349239" y="4215384"/>
            <a:ext cx="914400" cy="402335"/>
          </a:xfrm>
          <a:prstGeom prst="rect">
            <a:avLst/>
          </a:prstGeom>
          <a:solidFill>
            <a:srgbClr val="0A2040"/>
          </a:solidFill>
          <a:ln w="12700" cap="flat" cmpd="sng">
            <a:solidFill>
              <a:srgbClr val="1E3A5F"/>
            </a:solidFill>
            <a:prstDash val="solid"/>
            <a:round/>
          </a:ln>
        </p:spPr>
        <p:txBody>
          <a:bodyPr/>
          <a:lstStyle/>
          <a:p>
            <a:endParaRPr lang="en-GB"/>
          </a:p>
        </p:txBody>
      </p:sp>
      <p:sp>
        <p:nvSpPr>
          <p:cNvPr id="697" name="Rectangle"/>
          <p:cNvSpPr>
            <a:spLocks/>
          </p:cNvSpPr>
          <p:nvPr/>
        </p:nvSpPr>
        <p:spPr>
          <a:xfrm>
            <a:off x="5385816" y="425196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698" name="Rectangle"/>
          <p:cNvSpPr>
            <a:spLocks/>
          </p:cNvSpPr>
          <p:nvPr/>
        </p:nvSpPr>
        <p:spPr>
          <a:xfrm>
            <a:off x="6263640" y="4215384"/>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699" name="Rectangle"/>
          <p:cNvSpPr>
            <a:spLocks/>
          </p:cNvSpPr>
          <p:nvPr/>
        </p:nvSpPr>
        <p:spPr>
          <a:xfrm>
            <a:off x="6300216" y="425196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700" name="Rectangle"/>
          <p:cNvSpPr>
            <a:spLocks/>
          </p:cNvSpPr>
          <p:nvPr/>
        </p:nvSpPr>
        <p:spPr>
          <a:xfrm>
            <a:off x="7178040" y="4215384"/>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701" name="Rectangle"/>
          <p:cNvSpPr>
            <a:spLocks/>
          </p:cNvSpPr>
          <p:nvPr/>
        </p:nvSpPr>
        <p:spPr>
          <a:xfrm>
            <a:off x="7214615" y="425196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702" name="Rectangle"/>
          <p:cNvSpPr>
            <a:spLocks/>
          </p:cNvSpPr>
          <p:nvPr/>
        </p:nvSpPr>
        <p:spPr>
          <a:xfrm>
            <a:off x="8092440" y="4215384"/>
            <a:ext cx="914400" cy="402335"/>
          </a:xfrm>
          <a:prstGeom prst="rect">
            <a:avLst/>
          </a:prstGeom>
          <a:solidFill>
            <a:srgbClr val="1C1C1C"/>
          </a:solidFill>
          <a:ln w="12700" cap="flat" cmpd="sng">
            <a:solidFill>
              <a:srgbClr val="1E3A5F"/>
            </a:solidFill>
            <a:prstDash val="solid"/>
            <a:round/>
          </a:ln>
        </p:spPr>
        <p:txBody>
          <a:bodyPr/>
          <a:lstStyle/>
          <a:p>
            <a:endParaRPr lang="en-GB"/>
          </a:p>
        </p:txBody>
      </p:sp>
      <p:sp>
        <p:nvSpPr>
          <p:cNvPr id="703" name="Rectangle"/>
          <p:cNvSpPr>
            <a:spLocks/>
          </p:cNvSpPr>
          <p:nvPr/>
        </p:nvSpPr>
        <p:spPr>
          <a:xfrm>
            <a:off x="8129016" y="4251960"/>
            <a:ext cx="859536" cy="329183"/>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000" b="0" i="0" u="none" strike="noStrike" kern="1200" cap="none" spc="0" baseline="0">
                <a:solidFill>
                  <a:srgbClr val="374151"/>
                </a:solidFill>
                <a:latin typeface="Calibri" charset="0"/>
                <a:ea typeface="Calibri" charset="0"/>
                <a:cs typeface="Calibri" charset="0"/>
              </a:rPr>
              <a: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704" name="Rectangle"/>
          <p:cNvSpPr>
            <a:spLocks/>
          </p:cNvSpPr>
          <p:nvPr/>
        </p:nvSpPr>
        <p:spPr>
          <a:xfrm>
            <a:off x="274320" y="4956048"/>
            <a:ext cx="118872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F59E0B"/>
                </a:solidFill>
                <a:latin typeface="Calibri" charset="0"/>
                <a:ea typeface="Calibri" charset="0"/>
                <a:cs typeface="Calibri" charset="0"/>
              </a:rPr>
              <a:t>Best</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705" name="Rectangle"/>
          <p:cNvSpPr>
            <a:spLocks/>
          </p:cNvSpPr>
          <p:nvPr/>
        </p:nvSpPr>
        <p:spPr>
          <a:xfrm>
            <a:off x="1645920" y="4956048"/>
            <a:ext cx="118872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0A7C6E"/>
                </a:solidFill>
                <a:latin typeface="Calibri" charset="0"/>
                <a:ea typeface="Calibri" charset="0"/>
                <a:cs typeface="Calibri" charset="0"/>
              </a:rPr>
              <a:t>Good</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706" name="Rectangle"/>
          <p:cNvSpPr>
            <a:spLocks/>
          </p:cNvSpPr>
          <p:nvPr/>
        </p:nvSpPr>
        <p:spPr>
          <a:xfrm>
            <a:off x="3017519" y="4956048"/>
            <a:ext cx="118872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6B7280"/>
                </a:solidFill>
                <a:latin typeface="Calibri" charset="0"/>
                <a:ea typeface="Calibri" charset="0"/>
                <a:cs typeface="Calibri" charset="0"/>
              </a:rPr>
              <a:t>Basic</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707" name="Rectangle"/>
          <p:cNvSpPr>
            <a:spLocks/>
          </p:cNvSpPr>
          <p:nvPr/>
        </p:nvSpPr>
        <p:spPr>
          <a:xfrm>
            <a:off x="4389120" y="4956048"/>
            <a:ext cx="1188719"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1000" b="1" i="0" u="none" strike="noStrike" kern="1200" cap="none" spc="0" baseline="0">
                <a:solidFill>
                  <a:srgbClr val="374151"/>
                </a:solidFill>
                <a:latin typeface="Calibri" charset="0"/>
                <a:ea typeface="Calibri" charset="0"/>
                <a:cs typeface="Calibri" charset="0"/>
              </a:rPr>
              <a:t>—  N/A</a:t>
            </a:r>
            <a:endParaRPr lang="zh-CN" altLang="en-US" sz="1000" b="0" i="0" u="none" strike="noStrike" kern="1200" cap="none" spc="0" baseline="0">
              <a:solidFill>
                <a:schemeClr val="tx1"/>
              </a:solidFill>
              <a:latin typeface="Calibri" charset="0"/>
              <a:ea typeface="等线" charset="0"/>
              <a:cs typeface="Calibri" charset="0"/>
            </a:endParaRPr>
          </a:p>
        </p:txBody>
      </p:sp>
      <p:sp>
        <p:nvSpPr>
          <p:cNvPr id="708" name="Rectangle"/>
          <p:cNvSpPr>
            <a:spLocks/>
          </p:cNvSpPr>
          <p:nvPr/>
        </p:nvSpPr>
        <p:spPr>
          <a:xfrm>
            <a:off x="5760720" y="4956048"/>
            <a:ext cx="320040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r">
              <a:lnSpc>
                <a:spcPct val="100000"/>
              </a:lnSpc>
              <a:spcBef>
                <a:spcPts val="0"/>
              </a:spcBef>
              <a:spcAft>
                <a:spcPts val="0"/>
              </a:spcAft>
              <a:buNone/>
            </a:pPr>
            <a:r>
              <a:rPr lang="en-US" altLang="zh-CN" sz="950" b="0" i="1" u="none" strike="noStrike" kern="1200" cap="none" spc="0" baseline="0">
                <a:solidFill>
                  <a:srgbClr val="6B7280"/>
                </a:solidFill>
                <a:latin typeface="Calibri" charset="0"/>
                <a:ea typeface="Calibri" charset="0"/>
                <a:cs typeface="Calibri" charset="0"/>
              </a:rPr>
              <a:t>All tools have free tiers  |  Best results come from combining tools</a:t>
            </a:r>
            <a:endParaRPr lang="zh-CN" altLang="en-US" sz="95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252219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9" name="Rectangle"/>
          <p:cNvSpPr>
            <a:spLocks/>
          </p:cNvSpPr>
          <p:nvPr/>
        </p:nvSpPr>
        <p:spPr>
          <a:xfrm>
            <a:off x="0" y="0"/>
            <a:ext cx="9144000" cy="960120"/>
          </a:xfrm>
          <a:prstGeom prst="rect">
            <a:avLst/>
          </a:prstGeom>
          <a:solidFill>
            <a:srgbClr val="EF4444"/>
          </a:solidFill>
          <a:ln w="12700" cap="flat" cmpd="sng">
            <a:solidFill>
              <a:srgbClr val="EF4444"/>
            </a:solidFill>
            <a:prstDash val="solid"/>
            <a:round/>
          </a:ln>
        </p:spPr>
        <p:txBody>
          <a:bodyPr/>
          <a:lstStyle/>
          <a:p>
            <a:endParaRPr lang="en-GB"/>
          </a:p>
        </p:txBody>
      </p:sp>
      <p:sp>
        <p:nvSpPr>
          <p:cNvPr id="710" name="Rectangle"/>
          <p:cNvSpPr>
            <a:spLocks/>
          </p:cNvSpPr>
          <p:nvPr/>
        </p:nvSpPr>
        <p:spPr>
          <a:xfrm>
            <a:off x="320040" y="0"/>
            <a:ext cx="8503920" cy="96012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00000"/>
              </a:lnSpc>
              <a:spcBef>
                <a:spcPts val="0"/>
              </a:spcBef>
              <a:spcAft>
                <a:spcPts val="0"/>
              </a:spcAft>
              <a:buNone/>
            </a:pPr>
            <a:r>
              <a:rPr lang="en-US" altLang="zh-CN" sz="2200" b="1" i="0" u="none" strike="noStrike" kern="1200" cap="none" spc="0" baseline="0">
                <a:solidFill>
                  <a:srgbClr val="FFFFFF"/>
                </a:solidFill>
                <a:latin typeface="Arial Black" pitchFamily="34" charset="0"/>
                <a:ea typeface="Arial Black" pitchFamily="34" charset="0"/>
                <a:cs typeface="Arial Black" pitchFamily="34" charset="0"/>
              </a:rPr>
              <a:t>Top 6 Mistakes Academics Make with AI (+ Fixes)</a:t>
            </a:r>
            <a:endParaRPr lang="zh-CN" altLang="en-US" sz="2200" b="0" i="0" u="none" strike="noStrike" kern="1200" cap="none" spc="0" baseline="0">
              <a:solidFill>
                <a:schemeClr val="tx1"/>
              </a:solidFill>
              <a:latin typeface="Calibri" charset="0"/>
              <a:ea typeface="等线" charset="0"/>
              <a:cs typeface="Calibri" charset="0"/>
            </a:endParaRPr>
          </a:p>
        </p:txBody>
      </p:sp>
      <p:sp>
        <p:nvSpPr>
          <p:cNvPr id="711" name="Rectangle"/>
          <p:cNvSpPr>
            <a:spLocks/>
          </p:cNvSpPr>
          <p:nvPr/>
        </p:nvSpPr>
        <p:spPr>
          <a:xfrm>
            <a:off x="274320" y="1024127"/>
            <a:ext cx="4160520" cy="1298448"/>
          </a:xfrm>
          <a:prstGeom prst="rect">
            <a:avLst/>
          </a:prstGeom>
          <a:solidFill>
            <a:srgbClr val="F0FAF7"/>
          </a:solidFill>
          <a:ln w="12700" cap="flat" cmpd="sng">
            <a:solidFill>
              <a:srgbClr val="EF4444"/>
            </a:solidFill>
            <a:prstDash val="solid"/>
            <a:round/>
          </a:ln>
          <a:effectLst>
            <a:outerShdw blurRad="101600" dist="38100" dir="8100000" algn="bl" rotWithShape="0">
              <a:srgbClr val="000000">
                <a:alpha val="11764"/>
              </a:srgbClr>
            </a:outerShdw>
          </a:effectLst>
        </p:spPr>
        <p:txBody>
          <a:bodyPr/>
          <a:lstStyle/>
          <a:p>
            <a:endParaRPr lang="en-GB"/>
          </a:p>
        </p:txBody>
      </p:sp>
      <p:sp>
        <p:nvSpPr>
          <p:cNvPr id="712" name="Rectangle"/>
          <p:cNvSpPr>
            <a:spLocks/>
          </p:cNvSpPr>
          <p:nvPr/>
        </p:nvSpPr>
        <p:spPr>
          <a:xfrm>
            <a:off x="274320" y="1024127"/>
            <a:ext cx="73151" cy="1298448"/>
          </a:xfrm>
          <a:prstGeom prst="rect">
            <a:avLst/>
          </a:prstGeom>
          <a:solidFill>
            <a:srgbClr val="EF4444"/>
          </a:solidFill>
          <a:ln w="12700" cap="flat" cmpd="sng">
            <a:solidFill>
              <a:srgbClr val="EF4444"/>
            </a:solidFill>
            <a:prstDash val="solid"/>
            <a:round/>
          </a:ln>
        </p:spPr>
        <p:txBody>
          <a:bodyPr/>
          <a:lstStyle/>
          <a:p>
            <a:endParaRPr lang="en-GB"/>
          </a:p>
        </p:txBody>
      </p:sp>
      <p:sp>
        <p:nvSpPr>
          <p:cNvPr id="713" name="Oval"/>
          <p:cNvSpPr>
            <a:spLocks/>
          </p:cNvSpPr>
          <p:nvPr/>
        </p:nvSpPr>
        <p:spPr>
          <a:xfrm>
            <a:off x="411480" y="1115568"/>
            <a:ext cx="457200" cy="457200"/>
          </a:xfrm>
          <a:prstGeom prst="ellipse">
            <a:avLst/>
          </a:prstGeom>
          <a:solidFill>
            <a:srgbClr val="EF4444"/>
          </a:solidFill>
          <a:ln w="12700" cap="flat" cmpd="sng">
            <a:solidFill>
              <a:srgbClr val="EF4444"/>
            </a:solidFill>
            <a:prstDash val="solid"/>
            <a:round/>
          </a:ln>
        </p:spPr>
        <p:txBody>
          <a:bodyPr/>
          <a:lstStyle/>
          <a:p>
            <a:endParaRPr lang="en-GB"/>
          </a:p>
        </p:txBody>
      </p:sp>
      <p:sp>
        <p:nvSpPr>
          <p:cNvPr id="714" name="Rectangle"/>
          <p:cNvSpPr>
            <a:spLocks/>
          </p:cNvSpPr>
          <p:nvPr/>
        </p:nvSpPr>
        <p:spPr>
          <a:xfrm>
            <a:off x="411480" y="1115568"/>
            <a:ext cx="457200"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Arial Black" pitchFamily="34" charset="0"/>
                <a:ea typeface="Arial Black" pitchFamily="34" charset="0"/>
                <a:cs typeface="Arial Black" pitchFamily="34" charset="0"/>
              </a:rPr>
              <a:t>01</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715" name="Rectangle"/>
          <p:cNvSpPr>
            <a:spLocks/>
          </p:cNvSpPr>
          <p:nvPr/>
        </p:nvSpPr>
        <p:spPr>
          <a:xfrm>
            <a:off x="960120" y="1115568"/>
            <a:ext cx="3337560" cy="384048"/>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EF4444"/>
                </a:solidFill>
                <a:latin typeface="Arial Black" pitchFamily="34" charset="0"/>
                <a:ea typeface="Arial Black" pitchFamily="34" charset="0"/>
                <a:cs typeface="Arial Black" pitchFamily="34" charset="0"/>
              </a:rPr>
              <a:t>Accepting AI output without verification</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716" name="Rectangle"/>
          <p:cNvSpPr>
            <a:spLocks/>
          </p:cNvSpPr>
          <p:nvPr/>
        </p:nvSpPr>
        <p:spPr>
          <a:xfrm>
            <a:off x="438912" y="1536192"/>
            <a:ext cx="3886200" cy="310895"/>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6B7280"/>
                </a:solidFill>
                <a:latin typeface="Calibri" charset="0"/>
                <a:ea typeface="Calibri" charset="0"/>
                <a:cs typeface="Calibri" charset="0"/>
              </a:rPr>
              <a:t>e.g. AI states: "The WHO reports a 45% malaria rate in Nigeria in 2024" - this figure may be hallucinated.</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17" name="Rectangle"/>
          <p:cNvSpPr>
            <a:spLocks/>
          </p:cNvSpPr>
          <p:nvPr/>
        </p:nvSpPr>
        <p:spPr>
          <a:xfrm>
            <a:off x="438912" y="1847088"/>
            <a:ext cx="3886200" cy="42976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A7C6E"/>
                </a:solidFill>
                <a:latin typeface="Calibri" charset="0"/>
                <a:ea typeface="Calibri" charset="0"/>
                <a:cs typeface="Calibri" charset="0"/>
              </a:rPr>
              <a:t>FIX: Always verify statistics against the original source. Ask AI: "Give me the source URL for this claim." Then check it.</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18" name="Rectangle"/>
          <p:cNvSpPr>
            <a:spLocks/>
          </p:cNvSpPr>
          <p:nvPr/>
        </p:nvSpPr>
        <p:spPr>
          <a:xfrm>
            <a:off x="4736592" y="1024127"/>
            <a:ext cx="4160520" cy="1298448"/>
          </a:xfrm>
          <a:prstGeom prst="rect">
            <a:avLst/>
          </a:prstGeom>
          <a:solidFill>
            <a:srgbClr val="F0FAF7"/>
          </a:solidFill>
          <a:ln w="12700" cap="flat" cmpd="sng">
            <a:solidFill>
              <a:srgbClr val="EF4444"/>
            </a:solidFill>
            <a:prstDash val="solid"/>
            <a:round/>
          </a:ln>
          <a:effectLst>
            <a:outerShdw blurRad="101600" dist="38100" dir="8100000" algn="bl" rotWithShape="0">
              <a:srgbClr val="000000">
                <a:alpha val="11764"/>
              </a:srgbClr>
            </a:outerShdw>
          </a:effectLst>
        </p:spPr>
        <p:txBody>
          <a:bodyPr/>
          <a:lstStyle/>
          <a:p>
            <a:endParaRPr lang="en-GB"/>
          </a:p>
        </p:txBody>
      </p:sp>
      <p:sp>
        <p:nvSpPr>
          <p:cNvPr id="719" name="Rectangle"/>
          <p:cNvSpPr>
            <a:spLocks/>
          </p:cNvSpPr>
          <p:nvPr/>
        </p:nvSpPr>
        <p:spPr>
          <a:xfrm>
            <a:off x="4736592" y="1024127"/>
            <a:ext cx="73151" cy="1298448"/>
          </a:xfrm>
          <a:prstGeom prst="rect">
            <a:avLst/>
          </a:prstGeom>
          <a:solidFill>
            <a:srgbClr val="EF4444"/>
          </a:solidFill>
          <a:ln w="12700" cap="flat" cmpd="sng">
            <a:solidFill>
              <a:srgbClr val="EF4444"/>
            </a:solidFill>
            <a:prstDash val="solid"/>
            <a:round/>
          </a:ln>
        </p:spPr>
        <p:txBody>
          <a:bodyPr/>
          <a:lstStyle/>
          <a:p>
            <a:endParaRPr lang="en-GB"/>
          </a:p>
        </p:txBody>
      </p:sp>
      <p:sp>
        <p:nvSpPr>
          <p:cNvPr id="720" name="Oval"/>
          <p:cNvSpPr>
            <a:spLocks/>
          </p:cNvSpPr>
          <p:nvPr/>
        </p:nvSpPr>
        <p:spPr>
          <a:xfrm>
            <a:off x="4873752" y="1115568"/>
            <a:ext cx="457200" cy="457200"/>
          </a:xfrm>
          <a:prstGeom prst="ellipse">
            <a:avLst/>
          </a:prstGeom>
          <a:solidFill>
            <a:srgbClr val="EF4444"/>
          </a:solidFill>
          <a:ln w="12700" cap="flat" cmpd="sng">
            <a:solidFill>
              <a:srgbClr val="EF4444"/>
            </a:solidFill>
            <a:prstDash val="solid"/>
            <a:round/>
          </a:ln>
        </p:spPr>
        <p:txBody>
          <a:bodyPr/>
          <a:lstStyle/>
          <a:p>
            <a:endParaRPr lang="en-GB"/>
          </a:p>
        </p:txBody>
      </p:sp>
      <p:sp>
        <p:nvSpPr>
          <p:cNvPr id="721" name="Rectangle"/>
          <p:cNvSpPr>
            <a:spLocks/>
          </p:cNvSpPr>
          <p:nvPr/>
        </p:nvSpPr>
        <p:spPr>
          <a:xfrm>
            <a:off x="4873752" y="1115568"/>
            <a:ext cx="457200"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Arial Black" pitchFamily="34" charset="0"/>
                <a:ea typeface="Arial Black" pitchFamily="34" charset="0"/>
                <a:cs typeface="Arial Black" pitchFamily="34" charset="0"/>
              </a:rPr>
              <a:t>02</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722" name="Rectangle"/>
          <p:cNvSpPr>
            <a:spLocks/>
          </p:cNvSpPr>
          <p:nvPr/>
        </p:nvSpPr>
        <p:spPr>
          <a:xfrm>
            <a:off x="5422391" y="1115568"/>
            <a:ext cx="3337559" cy="384048"/>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EF4444"/>
                </a:solidFill>
                <a:latin typeface="Arial Black" pitchFamily="34" charset="0"/>
                <a:ea typeface="Arial Black" pitchFamily="34" charset="0"/>
                <a:cs typeface="Arial Black" pitchFamily="34" charset="0"/>
              </a:rPr>
              <a:t>Using vague, one-line prompts</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723" name="Rectangle"/>
          <p:cNvSpPr>
            <a:spLocks/>
          </p:cNvSpPr>
          <p:nvPr/>
        </p:nvSpPr>
        <p:spPr>
          <a:xfrm>
            <a:off x="4901183" y="1536192"/>
            <a:ext cx="3886200" cy="310895"/>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6B7280"/>
                </a:solidFill>
                <a:latin typeface="Calibri" charset="0"/>
                <a:ea typeface="Calibri" charset="0"/>
                <a:cs typeface="Calibri" charset="0"/>
              </a:rPr>
              <a:t>e.g. "Write my introduction" gives generic, unusable content.</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24" name="Rectangle"/>
          <p:cNvSpPr>
            <a:spLocks/>
          </p:cNvSpPr>
          <p:nvPr/>
        </p:nvSpPr>
        <p:spPr>
          <a:xfrm>
            <a:off x="4901183" y="1847088"/>
            <a:ext cx="3886200" cy="42976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A7C6E"/>
                </a:solidFill>
                <a:latin typeface="Calibri" charset="0"/>
                <a:ea typeface="Calibri" charset="0"/>
                <a:cs typeface="Calibri" charset="0"/>
              </a:rPr>
              <a:t>FIX: Use the Role+Context+Task+Format formula. The more detail you give, the better the output.</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25" name="Rectangle"/>
          <p:cNvSpPr>
            <a:spLocks/>
          </p:cNvSpPr>
          <p:nvPr/>
        </p:nvSpPr>
        <p:spPr>
          <a:xfrm>
            <a:off x="274320" y="2414016"/>
            <a:ext cx="4160520" cy="1298447"/>
          </a:xfrm>
          <a:prstGeom prst="rect">
            <a:avLst/>
          </a:prstGeom>
          <a:solidFill>
            <a:srgbClr val="F0FAF7"/>
          </a:solidFill>
          <a:ln w="12700" cap="flat" cmpd="sng">
            <a:solidFill>
              <a:srgbClr val="EF4444"/>
            </a:solidFill>
            <a:prstDash val="solid"/>
            <a:round/>
          </a:ln>
          <a:effectLst>
            <a:outerShdw blurRad="101600" dist="38100" dir="8100000" algn="bl" rotWithShape="0">
              <a:srgbClr val="000000">
                <a:alpha val="11764"/>
              </a:srgbClr>
            </a:outerShdw>
          </a:effectLst>
        </p:spPr>
        <p:txBody>
          <a:bodyPr/>
          <a:lstStyle/>
          <a:p>
            <a:endParaRPr lang="en-GB"/>
          </a:p>
        </p:txBody>
      </p:sp>
      <p:sp>
        <p:nvSpPr>
          <p:cNvPr id="726" name="Rectangle"/>
          <p:cNvSpPr>
            <a:spLocks/>
          </p:cNvSpPr>
          <p:nvPr/>
        </p:nvSpPr>
        <p:spPr>
          <a:xfrm>
            <a:off x="274320" y="2414016"/>
            <a:ext cx="73151" cy="1298447"/>
          </a:xfrm>
          <a:prstGeom prst="rect">
            <a:avLst/>
          </a:prstGeom>
          <a:solidFill>
            <a:srgbClr val="EF4444"/>
          </a:solidFill>
          <a:ln w="12700" cap="flat" cmpd="sng">
            <a:solidFill>
              <a:srgbClr val="EF4444"/>
            </a:solidFill>
            <a:prstDash val="solid"/>
            <a:round/>
          </a:ln>
        </p:spPr>
        <p:txBody>
          <a:bodyPr/>
          <a:lstStyle/>
          <a:p>
            <a:endParaRPr lang="en-GB"/>
          </a:p>
        </p:txBody>
      </p:sp>
      <p:sp>
        <p:nvSpPr>
          <p:cNvPr id="727" name="Oval"/>
          <p:cNvSpPr>
            <a:spLocks/>
          </p:cNvSpPr>
          <p:nvPr/>
        </p:nvSpPr>
        <p:spPr>
          <a:xfrm>
            <a:off x="411480" y="2505456"/>
            <a:ext cx="457200" cy="457200"/>
          </a:xfrm>
          <a:prstGeom prst="ellipse">
            <a:avLst/>
          </a:prstGeom>
          <a:solidFill>
            <a:srgbClr val="EF4444"/>
          </a:solidFill>
          <a:ln w="12700" cap="flat" cmpd="sng">
            <a:solidFill>
              <a:srgbClr val="EF4444"/>
            </a:solidFill>
            <a:prstDash val="solid"/>
            <a:round/>
          </a:ln>
        </p:spPr>
        <p:txBody>
          <a:bodyPr/>
          <a:lstStyle/>
          <a:p>
            <a:endParaRPr lang="en-GB"/>
          </a:p>
        </p:txBody>
      </p:sp>
      <p:sp>
        <p:nvSpPr>
          <p:cNvPr id="728" name="Rectangle"/>
          <p:cNvSpPr>
            <a:spLocks/>
          </p:cNvSpPr>
          <p:nvPr/>
        </p:nvSpPr>
        <p:spPr>
          <a:xfrm>
            <a:off x="411480" y="2505456"/>
            <a:ext cx="457200"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Arial Black" pitchFamily="34" charset="0"/>
                <a:ea typeface="Arial Black" pitchFamily="34" charset="0"/>
                <a:cs typeface="Arial Black" pitchFamily="34" charset="0"/>
              </a:rPr>
              <a:t>03</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729" name="Rectangle"/>
          <p:cNvSpPr>
            <a:spLocks/>
          </p:cNvSpPr>
          <p:nvPr/>
        </p:nvSpPr>
        <p:spPr>
          <a:xfrm>
            <a:off x="960120" y="2505456"/>
            <a:ext cx="3337560" cy="384048"/>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EF4444"/>
                </a:solidFill>
                <a:latin typeface="Arial Black" pitchFamily="34" charset="0"/>
                <a:ea typeface="Arial Black" pitchFamily="34" charset="0"/>
                <a:cs typeface="Arial Black" pitchFamily="34" charset="0"/>
              </a:rPr>
              <a:t>Submitting AI text without editing</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730" name="Rectangle"/>
          <p:cNvSpPr>
            <a:spLocks/>
          </p:cNvSpPr>
          <p:nvPr/>
        </p:nvSpPr>
        <p:spPr>
          <a:xfrm>
            <a:off x="438912" y="2926080"/>
            <a:ext cx="3886200" cy="310896"/>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6B7280"/>
                </a:solidFill>
                <a:latin typeface="Calibri" charset="0"/>
                <a:ea typeface="Calibri" charset="0"/>
                <a:cs typeface="Calibri" charset="0"/>
              </a:rPr>
              <a:t>e.g. AI-generated text often lacks your specific field insight, local examples, and personal voice.</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31" name="Rectangle"/>
          <p:cNvSpPr>
            <a:spLocks/>
          </p:cNvSpPr>
          <p:nvPr/>
        </p:nvSpPr>
        <p:spPr>
          <a:xfrm>
            <a:off x="438912" y="3236975"/>
            <a:ext cx="3886200" cy="429768"/>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A7C6E"/>
                </a:solidFill>
                <a:latin typeface="Calibri" charset="0"/>
                <a:ea typeface="Calibri" charset="0"/>
                <a:cs typeface="Calibri" charset="0"/>
              </a:rPr>
              <a:t>FIX: Use AI as a first draft only. Rewrite in your own voice. Add your expertise, local data, and citations.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32" name="Rectangle"/>
          <p:cNvSpPr>
            <a:spLocks/>
          </p:cNvSpPr>
          <p:nvPr/>
        </p:nvSpPr>
        <p:spPr>
          <a:xfrm>
            <a:off x="4736592" y="2414016"/>
            <a:ext cx="4160520" cy="1298447"/>
          </a:xfrm>
          <a:prstGeom prst="rect">
            <a:avLst/>
          </a:prstGeom>
          <a:solidFill>
            <a:srgbClr val="F0FAF7"/>
          </a:solidFill>
          <a:ln w="12700" cap="flat" cmpd="sng">
            <a:solidFill>
              <a:srgbClr val="EF4444"/>
            </a:solidFill>
            <a:prstDash val="solid"/>
            <a:round/>
          </a:ln>
          <a:effectLst>
            <a:outerShdw blurRad="101600" dist="38100" dir="8100000" algn="bl" rotWithShape="0">
              <a:srgbClr val="000000">
                <a:alpha val="11764"/>
              </a:srgbClr>
            </a:outerShdw>
          </a:effectLst>
        </p:spPr>
        <p:txBody>
          <a:bodyPr/>
          <a:lstStyle/>
          <a:p>
            <a:endParaRPr lang="en-GB"/>
          </a:p>
        </p:txBody>
      </p:sp>
      <p:sp>
        <p:nvSpPr>
          <p:cNvPr id="733" name="Rectangle"/>
          <p:cNvSpPr>
            <a:spLocks/>
          </p:cNvSpPr>
          <p:nvPr/>
        </p:nvSpPr>
        <p:spPr>
          <a:xfrm>
            <a:off x="4736592" y="2414016"/>
            <a:ext cx="73151" cy="1298447"/>
          </a:xfrm>
          <a:prstGeom prst="rect">
            <a:avLst/>
          </a:prstGeom>
          <a:solidFill>
            <a:srgbClr val="EF4444"/>
          </a:solidFill>
          <a:ln w="12700" cap="flat" cmpd="sng">
            <a:solidFill>
              <a:srgbClr val="EF4444"/>
            </a:solidFill>
            <a:prstDash val="solid"/>
            <a:round/>
          </a:ln>
        </p:spPr>
        <p:txBody>
          <a:bodyPr/>
          <a:lstStyle/>
          <a:p>
            <a:endParaRPr lang="en-GB"/>
          </a:p>
        </p:txBody>
      </p:sp>
      <p:sp>
        <p:nvSpPr>
          <p:cNvPr id="734" name="Oval"/>
          <p:cNvSpPr>
            <a:spLocks/>
          </p:cNvSpPr>
          <p:nvPr/>
        </p:nvSpPr>
        <p:spPr>
          <a:xfrm>
            <a:off x="4873752" y="2505456"/>
            <a:ext cx="457200" cy="457200"/>
          </a:xfrm>
          <a:prstGeom prst="ellipse">
            <a:avLst/>
          </a:prstGeom>
          <a:solidFill>
            <a:srgbClr val="EF4444"/>
          </a:solidFill>
          <a:ln w="12700" cap="flat" cmpd="sng">
            <a:solidFill>
              <a:srgbClr val="EF4444"/>
            </a:solidFill>
            <a:prstDash val="solid"/>
            <a:round/>
          </a:ln>
        </p:spPr>
        <p:txBody>
          <a:bodyPr/>
          <a:lstStyle/>
          <a:p>
            <a:endParaRPr lang="en-GB"/>
          </a:p>
        </p:txBody>
      </p:sp>
      <p:sp>
        <p:nvSpPr>
          <p:cNvPr id="735" name="Rectangle"/>
          <p:cNvSpPr>
            <a:spLocks/>
          </p:cNvSpPr>
          <p:nvPr/>
        </p:nvSpPr>
        <p:spPr>
          <a:xfrm>
            <a:off x="4873752" y="2505456"/>
            <a:ext cx="457200"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Arial Black" pitchFamily="34" charset="0"/>
                <a:ea typeface="Arial Black" pitchFamily="34" charset="0"/>
                <a:cs typeface="Arial Black" pitchFamily="34" charset="0"/>
              </a:rPr>
              <a:t>04</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736" name="Rectangle"/>
          <p:cNvSpPr>
            <a:spLocks/>
          </p:cNvSpPr>
          <p:nvPr/>
        </p:nvSpPr>
        <p:spPr>
          <a:xfrm>
            <a:off x="5422391" y="2505456"/>
            <a:ext cx="3337559" cy="384048"/>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EF4444"/>
                </a:solidFill>
                <a:latin typeface="Arial Black" pitchFamily="34" charset="0"/>
                <a:ea typeface="Arial Black" pitchFamily="34" charset="0"/>
                <a:cs typeface="Arial Black" pitchFamily="34" charset="0"/>
              </a:rPr>
              <a:t>Not disclosing AI use where required</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737" name="Rectangle"/>
          <p:cNvSpPr>
            <a:spLocks/>
          </p:cNvSpPr>
          <p:nvPr/>
        </p:nvSpPr>
        <p:spPr>
          <a:xfrm>
            <a:off x="4901183" y="2926080"/>
            <a:ext cx="3886200" cy="310896"/>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6B7280"/>
                </a:solidFill>
                <a:latin typeface="Calibri" charset="0"/>
                <a:ea typeface="Calibri" charset="0"/>
                <a:cs typeface="Calibri" charset="0"/>
              </a:rPr>
              <a:t>e.g. Many journals and universities now require AI use disclosure. Failing to do so risks retraction.</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38" name="Rectangle"/>
          <p:cNvSpPr>
            <a:spLocks/>
          </p:cNvSpPr>
          <p:nvPr/>
        </p:nvSpPr>
        <p:spPr>
          <a:xfrm>
            <a:off x="4901183" y="3236975"/>
            <a:ext cx="3886200" cy="429768"/>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A7C6E"/>
                </a:solidFill>
                <a:latin typeface="Calibri" charset="0"/>
                <a:ea typeface="Calibri" charset="0"/>
                <a:cs typeface="Calibri" charset="0"/>
              </a:rPr>
              <a:t>FIX: Check your institution's and target journal's AI policy. Add a brief disclosure statement in your methods.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39" name="Rectangle"/>
          <p:cNvSpPr>
            <a:spLocks/>
          </p:cNvSpPr>
          <p:nvPr/>
        </p:nvSpPr>
        <p:spPr>
          <a:xfrm>
            <a:off x="274320" y="3803903"/>
            <a:ext cx="4160520" cy="1298447"/>
          </a:xfrm>
          <a:prstGeom prst="rect">
            <a:avLst/>
          </a:prstGeom>
          <a:solidFill>
            <a:srgbClr val="F0FAF7"/>
          </a:solidFill>
          <a:ln w="12700" cap="flat" cmpd="sng">
            <a:solidFill>
              <a:srgbClr val="EF4444"/>
            </a:solidFill>
            <a:prstDash val="solid"/>
            <a:round/>
          </a:ln>
          <a:effectLst>
            <a:outerShdw blurRad="101600" dist="38100" dir="8100000" algn="bl" rotWithShape="0">
              <a:srgbClr val="000000">
                <a:alpha val="11764"/>
              </a:srgbClr>
            </a:outerShdw>
          </a:effectLst>
        </p:spPr>
        <p:txBody>
          <a:bodyPr/>
          <a:lstStyle/>
          <a:p>
            <a:endParaRPr lang="en-GB"/>
          </a:p>
        </p:txBody>
      </p:sp>
      <p:sp>
        <p:nvSpPr>
          <p:cNvPr id="740" name="Rectangle"/>
          <p:cNvSpPr>
            <a:spLocks/>
          </p:cNvSpPr>
          <p:nvPr/>
        </p:nvSpPr>
        <p:spPr>
          <a:xfrm>
            <a:off x="274320" y="3803903"/>
            <a:ext cx="73151" cy="1298447"/>
          </a:xfrm>
          <a:prstGeom prst="rect">
            <a:avLst/>
          </a:prstGeom>
          <a:solidFill>
            <a:srgbClr val="EF4444"/>
          </a:solidFill>
          <a:ln w="12700" cap="flat" cmpd="sng">
            <a:solidFill>
              <a:srgbClr val="EF4444"/>
            </a:solidFill>
            <a:prstDash val="solid"/>
            <a:round/>
          </a:ln>
        </p:spPr>
        <p:txBody>
          <a:bodyPr/>
          <a:lstStyle/>
          <a:p>
            <a:endParaRPr lang="en-GB"/>
          </a:p>
        </p:txBody>
      </p:sp>
      <p:sp>
        <p:nvSpPr>
          <p:cNvPr id="741" name="Oval"/>
          <p:cNvSpPr>
            <a:spLocks/>
          </p:cNvSpPr>
          <p:nvPr/>
        </p:nvSpPr>
        <p:spPr>
          <a:xfrm>
            <a:off x="411480" y="3895344"/>
            <a:ext cx="457200" cy="457200"/>
          </a:xfrm>
          <a:prstGeom prst="ellipse">
            <a:avLst/>
          </a:prstGeom>
          <a:solidFill>
            <a:srgbClr val="EF4444"/>
          </a:solidFill>
          <a:ln w="12700" cap="flat" cmpd="sng">
            <a:solidFill>
              <a:srgbClr val="EF4444"/>
            </a:solidFill>
            <a:prstDash val="solid"/>
            <a:round/>
          </a:ln>
        </p:spPr>
        <p:txBody>
          <a:bodyPr/>
          <a:lstStyle/>
          <a:p>
            <a:endParaRPr lang="en-GB"/>
          </a:p>
        </p:txBody>
      </p:sp>
      <p:sp>
        <p:nvSpPr>
          <p:cNvPr id="742" name="Rectangle"/>
          <p:cNvSpPr>
            <a:spLocks/>
          </p:cNvSpPr>
          <p:nvPr/>
        </p:nvSpPr>
        <p:spPr>
          <a:xfrm>
            <a:off x="411480" y="3895344"/>
            <a:ext cx="457200"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Arial Black" pitchFamily="34" charset="0"/>
                <a:ea typeface="Arial Black" pitchFamily="34" charset="0"/>
                <a:cs typeface="Arial Black" pitchFamily="34" charset="0"/>
              </a:rPr>
              <a:t>05</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743" name="Rectangle"/>
          <p:cNvSpPr>
            <a:spLocks/>
          </p:cNvSpPr>
          <p:nvPr/>
        </p:nvSpPr>
        <p:spPr>
          <a:xfrm>
            <a:off x="960120" y="3895344"/>
            <a:ext cx="3337560" cy="384048"/>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EF4444"/>
                </a:solidFill>
                <a:latin typeface="Arial Black" pitchFamily="34" charset="0"/>
                <a:ea typeface="Arial Black" pitchFamily="34" charset="0"/>
                <a:cs typeface="Arial Black" pitchFamily="34" charset="0"/>
              </a:rPr>
              <a:t>Using AI for tasks that need human judgment</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744" name="Rectangle"/>
          <p:cNvSpPr>
            <a:spLocks/>
          </p:cNvSpPr>
          <p:nvPr/>
        </p:nvSpPr>
        <p:spPr>
          <a:xfrm>
            <a:off x="438912" y="4315968"/>
            <a:ext cx="3886200" cy="310896"/>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6B7280"/>
                </a:solidFill>
                <a:latin typeface="Calibri" charset="0"/>
                <a:ea typeface="Calibri" charset="0"/>
                <a:cs typeface="Calibri" charset="0"/>
              </a:rPr>
              <a:t>e.g. Asking AI to evaluate a student's creative thesis or make ethical research decisions.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45" name="Rectangle"/>
          <p:cNvSpPr>
            <a:spLocks/>
          </p:cNvSpPr>
          <p:nvPr/>
        </p:nvSpPr>
        <p:spPr>
          <a:xfrm>
            <a:off x="438912" y="4626864"/>
            <a:ext cx="3886200" cy="42976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A7C6E"/>
                </a:solidFill>
                <a:latin typeface="Calibri" charset="0"/>
                <a:ea typeface="Calibri" charset="0"/>
                <a:cs typeface="Calibri" charset="0"/>
              </a:rPr>
              <a:t>FIX: Reserve AI for information processing. Use your own professional judgment for evaluation and ethics.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46" name="Rectangle"/>
          <p:cNvSpPr>
            <a:spLocks/>
          </p:cNvSpPr>
          <p:nvPr/>
        </p:nvSpPr>
        <p:spPr>
          <a:xfrm>
            <a:off x="4736592" y="3803903"/>
            <a:ext cx="4160520" cy="1298447"/>
          </a:xfrm>
          <a:prstGeom prst="rect">
            <a:avLst/>
          </a:prstGeom>
          <a:solidFill>
            <a:srgbClr val="F0FAF7"/>
          </a:solidFill>
          <a:ln w="12700" cap="flat" cmpd="sng">
            <a:solidFill>
              <a:srgbClr val="EF4444"/>
            </a:solidFill>
            <a:prstDash val="solid"/>
            <a:round/>
          </a:ln>
          <a:effectLst>
            <a:outerShdw blurRad="101600" dist="38100" dir="8100000" algn="bl" rotWithShape="0">
              <a:srgbClr val="000000">
                <a:alpha val="11764"/>
              </a:srgbClr>
            </a:outerShdw>
          </a:effectLst>
        </p:spPr>
        <p:txBody>
          <a:bodyPr/>
          <a:lstStyle/>
          <a:p>
            <a:endParaRPr lang="en-GB"/>
          </a:p>
        </p:txBody>
      </p:sp>
      <p:sp>
        <p:nvSpPr>
          <p:cNvPr id="747" name="Rectangle"/>
          <p:cNvSpPr>
            <a:spLocks/>
          </p:cNvSpPr>
          <p:nvPr/>
        </p:nvSpPr>
        <p:spPr>
          <a:xfrm>
            <a:off x="4736592" y="3803903"/>
            <a:ext cx="73151" cy="1298447"/>
          </a:xfrm>
          <a:prstGeom prst="rect">
            <a:avLst/>
          </a:prstGeom>
          <a:solidFill>
            <a:srgbClr val="EF4444"/>
          </a:solidFill>
          <a:ln w="12700" cap="flat" cmpd="sng">
            <a:solidFill>
              <a:srgbClr val="EF4444"/>
            </a:solidFill>
            <a:prstDash val="solid"/>
            <a:round/>
          </a:ln>
        </p:spPr>
        <p:txBody>
          <a:bodyPr/>
          <a:lstStyle/>
          <a:p>
            <a:endParaRPr lang="en-GB"/>
          </a:p>
        </p:txBody>
      </p:sp>
      <p:sp>
        <p:nvSpPr>
          <p:cNvPr id="748" name="Oval"/>
          <p:cNvSpPr>
            <a:spLocks/>
          </p:cNvSpPr>
          <p:nvPr/>
        </p:nvSpPr>
        <p:spPr>
          <a:xfrm>
            <a:off x="4873752" y="3895344"/>
            <a:ext cx="457200" cy="457200"/>
          </a:xfrm>
          <a:prstGeom prst="ellipse">
            <a:avLst/>
          </a:prstGeom>
          <a:solidFill>
            <a:srgbClr val="EF4444"/>
          </a:solidFill>
          <a:ln w="12700" cap="flat" cmpd="sng">
            <a:solidFill>
              <a:srgbClr val="EF4444"/>
            </a:solidFill>
            <a:prstDash val="solid"/>
            <a:round/>
          </a:ln>
        </p:spPr>
        <p:txBody>
          <a:bodyPr/>
          <a:lstStyle/>
          <a:p>
            <a:endParaRPr lang="en-GB"/>
          </a:p>
        </p:txBody>
      </p:sp>
      <p:sp>
        <p:nvSpPr>
          <p:cNvPr id="749" name="Rectangle"/>
          <p:cNvSpPr>
            <a:spLocks/>
          </p:cNvSpPr>
          <p:nvPr/>
        </p:nvSpPr>
        <p:spPr>
          <a:xfrm>
            <a:off x="4873752" y="3895344"/>
            <a:ext cx="457200" cy="4572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200" b="1" i="0" u="none" strike="noStrike" kern="1200" cap="none" spc="0" baseline="0">
                <a:solidFill>
                  <a:srgbClr val="FFFFFF"/>
                </a:solidFill>
                <a:latin typeface="Arial Black" pitchFamily="34" charset="0"/>
                <a:ea typeface="Arial Black" pitchFamily="34" charset="0"/>
                <a:cs typeface="Arial Black" pitchFamily="34" charset="0"/>
              </a:rPr>
              <a:t>06</a:t>
            </a:r>
            <a:endParaRPr lang="zh-CN" altLang="en-US" sz="1200" b="0" i="0" u="none" strike="noStrike" kern="1200" cap="none" spc="0" baseline="0">
              <a:solidFill>
                <a:schemeClr val="tx1"/>
              </a:solidFill>
              <a:latin typeface="Calibri" charset="0"/>
              <a:ea typeface="等线" charset="0"/>
              <a:cs typeface="Calibri" charset="0"/>
            </a:endParaRPr>
          </a:p>
        </p:txBody>
      </p:sp>
      <p:sp>
        <p:nvSpPr>
          <p:cNvPr id="750" name="Rectangle"/>
          <p:cNvSpPr>
            <a:spLocks/>
          </p:cNvSpPr>
          <p:nvPr/>
        </p:nvSpPr>
        <p:spPr>
          <a:xfrm>
            <a:off x="5422391" y="3895344"/>
            <a:ext cx="3337559" cy="384048"/>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1150" b="1" i="0" u="none" strike="noStrike" kern="1200" cap="none" spc="0" baseline="0">
                <a:solidFill>
                  <a:srgbClr val="EF4444"/>
                </a:solidFill>
                <a:latin typeface="Arial Black" pitchFamily="34" charset="0"/>
                <a:ea typeface="Arial Black" pitchFamily="34" charset="0"/>
                <a:cs typeface="Arial Black" pitchFamily="34" charset="0"/>
              </a:rPr>
              <a:t>Sharing confidential research data with AI</a:t>
            </a:r>
            <a:endParaRPr lang="zh-CN" altLang="en-US" sz="1150" b="0" i="0" u="none" strike="noStrike" kern="1200" cap="none" spc="0" baseline="0">
              <a:solidFill>
                <a:schemeClr val="tx1"/>
              </a:solidFill>
              <a:latin typeface="Calibri" charset="0"/>
              <a:ea typeface="等线" charset="0"/>
              <a:cs typeface="Calibri" charset="0"/>
            </a:endParaRPr>
          </a:p>
        </p:txBody>
      </p:sp>
      <p:sp>
        <p:nvSpPr>
          <p:cNvPr id="751" name="Rectangle"/>
          <p:cNvSpPr>
            <a:spLocks/>
          </p:cNvSpPr>
          <p:nvPr/>
        </p:nvSpPr>
        <p:spPr>
          <a:xfrm>
            <a:off x="4901183" y="4315968"/>
            <a:ext cx="3886200" cy="310896"/>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1" u="none" strike="noStrike" kern="1200" cap="none" spc="0" baseline="0">
                <a:solidFill>
                  <a:srgbClr val="6B7280"/>
                </a:solidFill>
                <a:latin typeface="Calibri" charset="0"/>
                <a:ea typeface="Calibri" charset="0"/>
                <a:cs typeface="Calibri" charset="0"/>
              </a:rPr>
              <a:t>e.g. Uploading patient data, unpublished datasets, or proprietary survey data to public AI tools.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52" name="Rectangle"/>
          <p:cNvSpPr>
            <a:spLocks/>
          </p:cNvSpPr>
          <p:nvPr/>
        </p:nvSpPr>
        <p:spPr>
          <a:xfrm>
            <a:off x="4901183" y="4626864"/>
            <a:ext cx="3886200" cy="429767"/>
          </a:xfrm>
          <a:prstGeom prst="rect">
            <a:avLst/>
          </a:prstGeom>
          <a:noFill/>
          <a:ln w="12700" cap="flat" cmpd="sng">
            <a:noFill/>
            <a:prstDash val="solid"/>
            <a:miter/>
          </a:ln>
        </p:spPr>
        <p:txBody>
          <a:bodyPr vert="horz" wrap="square" lIns="0" tIns="0" rIns="0" bIns="0" anchor="t" anchorCtr="0">
            <a:prstTxWarp prst="textNoShape">
              <a:avLst/>
            </a:prstTxWarp>
          </a:bodyPr>
          <a:lstStyle/>
          <a:p>
            <a:pPr marL="0" indent="0" algn="l">
              <a:lnSpc>
                <a:spcPct val="100000"/>
              </a:lnSpc>
              <a:spcBef>
                <a:spcPts val="0"/>
              </a:spcBef>
              <a:spcAft>
                <a:spcPts val="0"/>
              </a:spcAft>
              <a:buNone/>
            </a:pPr>
            <a:r>
              <a:rPr lang="en-US" altLang="zh-CN" sz="950" b="0" i="0" u="none" strike="noStrike" kern="1200" cap="none" spc="0" baseline="0">
                <a:solidFill>
                  <a:srgbClr val="0A7C6E"/>
                </a:solidFill>
                <a:latin typeface="Calibri" charset="0"/>
                <a:ea typeface="Calibri" charset="0"/>
                <a:cs typeface="Calibri" charset="0"/>
              </a:rPr>
              <a:t>FIX: Anonymise data before uploading. Use institution-licensed AI tools with data privacy agreements.</a:t>
            </a:r>
            <a:endParaRPr lang="zh-CN" altLang="en-US" sz="950" b="0" i="0" u="none" strike="noStrike" kern="1200" cap="none" spc="0" baseline="0">
              <a:solidFill>
                <a:schemeClr val="tx1"/>
              </a:solidFill>
              <a:latin typeface="Calibri" charset="0"/>
              <a:ea typeface="等线" charset="0"/>
              <a:cs typeface="Calibri" charset="0"/>
            </a:endParaRPr>
          </a:p>
        </p:txBody>
      </p:sp>
      <p:sp>
        <p:nvSpPr>
          <p:cNvPr id="753" name="Rectangle"/>
          <p:cNvSpPr>
            <a:spLocks/>
          </p:cNvSpPr>
          <p:nvPr/>
        </p:nvSpPr>
        <p:spPr>
          <a:xfrm>
            <a:off x="274320" y="5193792"/>
            <a:ext cx="8595360" cy="228600"/>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ctr">
              <a:lnSpc>
                <a:spcPct val="100000"/>
              </a:lnSpc>
              <a:spcBef>
                <a:spcPts val="0"/>
              </a:spcBef>
              <a:spcAft>
                <a:spcPts val="0"/>
              </a:spcAft>
              <a:buNone/>
            </a:pPr>
            <a:r>
              <a:rPr lang="en-US" altLang="zh-CN" sz="1100" b="1" i="0" u="none" strike="noStrike" kern="1200" cap="none" spc="0" baseline="0">
                <a:solidFill>
                  <a:srgbClr val="EF4444"/>
                </a:solidFill>
                <a:latin typeface="Calibri" charset="0"/>
                <a:ea typeface="Calibri" charset="0"/>
                <a:cs typeface="Calibri" charset="0"/>
              </a:rPr>
              <a:t>Knowing what NOT to do is just as important as knowing what to do with AI.</a:t>
            </a:r>
            <a:endParaRPr lang="zh-CN" altLang="en-US" sz="1100" b="0" i="0" u="none" strike="noStrike" kern="1200" cap="none" spc="0" baseline="0">
              <a:solidFill>
                <a:schemeClr val="tx1"/>
              </a:solidFill>
              <a:latin typeface="Calibri" charset="0"/>
              <a:ea typeface="等线" charset="0"/>
              <a:cs typeface="Calibri" charset="0"/>
            </a:endParaRPr>
          </a:p>
        </p:txBody>
      </p:sp>
    </p:spTree>
    <p:extLst>
      <p:ext uri="{BB962C8B-B14F-4D97-AF65-F5344CB8AC3E}">
        <p14:creationId xmlns:p14="http://schemas.microsoft.com/office/powerpoint/2010/main" val="1941001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E9AA7"/>
          </a:solidFill>
          <a:ln w="12700">
            <a:solidFill>
              <a:srgbClr val="0E9AA7"/>
            </a:solidFill>
            <a:prstDash val="solid"/>
          </a:ln>
        </p:spPr>
        <p:txBody>
          <a:bodyPr/>
          <a:lstStyle/>
          <a:p>
            <a:endParaRPr lang="en-GB"/>
          </a:p>
        </p:txBody>
      </p:sp>
      <p:sp>
        <p:nvSpPr>
          <p:cNvPr id="3" name="Shape 1"/>
          <p:cNvSpPr/>
          <p:nvPr/>
        </p:nvSpPr>
        <p:spPr>
          <a:xfrm>
            <a:off x="0" y="4754880"/>
            <a:ext cx="9144000" cy="388620"/>
          </a:xfrm>
          <a:prstGeom prst="rect">
            <a:avLst/>
          </a:prstGeom>
          <a:solidFill>
            <a:srgbClr val="0D2137"/>
          </a:solidFill>
          <a:ln w="12700">
            <a:solidFill>
              <a:srgbClr val="0D2137"/>
            </a:solidFill>
            <a:prstDash val="solid"/>
          </a:ln>
        </p:spPr>
        <p:txBody>
          <a:bodyPr/>
          <a:lstStyle/>
          <a:p>
            <a:endParaRPr lang="en-GB"/>
          </a:p>
        </p:txBody>
      </p:sp>
      <p:sp>
        <p:nvSpPr>
          <p:cNvPr id="4" name="Text 2"/>
          <p:cNvSpPr/>
          <p:nvPr/>
        </p:nvSpPr>
        <p:spPr>
          <a:xfrm>
            <a:off x="274320" y="4754880"/>
            <a:ext cx="7315200" cy="388620"/>
          </a:xfrm>
          <a:prstGeom prst="rect">
            <a:avLst/>
          </a:prstGeom>
          <a:noFill/>
          <a:ln/>
        </p:spPr>
        <p:txBody>
          <a:bodyPr wrap="square" rtlCol="0" anchor="ctr"/>
          <a:lstStyle/>
          <a:p>
            <a:pPr marL="0" indent="0">
              <a:buNone/>
            </a:pPr>
            <a:r>
              <a:rPr lang="en-US" sz="900" dirty="0">
                <a:solidFill>
                  <a:srgbClr val="AABBCC"/>
                </a:solidFill>
              </a:rPr>
              <a:t>AI &amp; Digital Community  |  Academic Training Series</a:t>
            </a:r>
            <a:endParaRPr lang="en-US" sz="900" dirty="0"/>
          </a:p>
        </p:txBody>
      </p:sp>
      <p:sp>
        <p:nvSpPr>
          <p:cNvPr id="5" name="Text 3"/>
          <p:cNvSpPr/>
          <p:nvPr/>
        </p:nvSpPr>
        <p:spPr>
          <a:xfrm>
            <a:off x="7498080" y="4754880"/>
            <a:ext cx="1554480" cy="388620"/>
          </a:xfrm>
          <a:prstGeom prst="rect">
            <a:avLst/>
          </a:prstGeom>
          <a:noFill/>
          <a:ln/>
        </p:spPr>
        <p:txBody>
          <a:bodyPr wrap="square" rtlCol="0" anchor="ctr"/>
          <a:lstStyle/>
          <a:p>
            <a:pPr marL="0" indent="0" algn="r">
              <a:buNone/>
            </a:pPr>
            <a:r>
              <a:rPr lang="en-US" sz="900" b="1" dirty="0">
                <a:solidFill>
                  <a:srgbClr val="0E9AA7"/>
                </a:solidFill>
              </a:rPr>
              <a:t>Ethics &amp; Responsibility</a:t>
            </a:r>
            <a:endParaRPr lang="en-US" sz="900" dirty="0"/>
          </a:p>
        </p:txBody>
      </p:sp>
      <p:sp>
        <p:nvSpPr>
          <p:cNvPr id="6" name="Text 4"/>
          <p:cNvSpPr/>
          <p:nvPr/>
        </p:nvSpPr>
        <p:spPr>
          <a:xfrm>
            <a:off x="365760" y="256032"/>
            <a:ext cx="8229600" cy="566928"/>
          </a:xfrm>
          <a:prstGeom prst="rect">
            <a:avLst/>
          </a:prstGeom>
          <a:noFill/>
          <a:ln/>
        </p:spPr>
        <p:txBody>
          <a:bodyPr wrap="square" rtlCol="0" anchor="ctr"/>
          <a:lstStyle/>
          <a:p>
            <a:pPr marL="0" indent="0">
              <a:buNone/>
            </a:pPr>
            <a:r>
              <a:rPr lang="en-US" sz="2600" b="1" dirty="0">
                <a:solidFill>
                  <a:srgbClr val="0D2137"/>
                </a:solidFill>
              </a:rPr>
              <a:t>Ethical Use of AI in Academia</a:t>
            </a:r>
            <a:endParaRPr lang="en-US" sz="2600" dirty="0"/>
          </a:p>
        </p:txBody>
      </p:sp>
      <p:sp>
        <p:nvSpPr>
          <p:cNvPr id="7" name="Text 5"/>
          <p:cNvSpPr/>
          <p:nvPr/>
        </p:nvSpPr>
        <p:spPr>
          <a:xfrm>
            <a:off x="365760" y="795528"/>
            <a:ext cx="8229600" cy="274320"/>
          </a:xfrm>
          <a:prstGeom prst="rect">
            <a:avLst/>
          </a:prstGeom>
          <a:noFill/>
          <a:ln/>
        </p:spPr>
        <p:txBody>
          <a:bodyPr wrap="square" rtlCol="0" anchor="ctr"/>
          <a:lstStyle/>
          <a:p>
            <a:pPr marL="0" indent="0">
              <a:buNone/>
            </a:pPr>
            <a:r>
              <a:rPr lang="en-US" sz="1200" i="1" dirty="0">
                <a:solidFill>
                  <a:srgbClr val="64748B"/>
                </a:solidFill>
              </a:rPr>
              <a:t>Responsibilities for researchers, lecturers, and institutions</a:t>
            </a:r>
            <a:endParaRPr lang="en-US" sz="1200" dirty="0"/>
          </a:p>
        </p:txBody>
      </p:sp>
      <p:sp>
        <p:nvSpPr>
          <p:cNvPr id="8" name="Shape 6"/>
          <p:cNvSpPr/>
          <p:nvPr/>
        </p:nvSpPr>
        <p:spPr>
          <a:xfrm>
            <a:off x="292608" y="1188720"/>
            <a:ext cx="2788920" cy="1417320"/>
          </a:xfrm>
          <a:prstGeom prst="rect">
            <a:avLst/>
          </a:prstGeom>
          <a:solidFill>
            <a:srgbClr val="FFFFFF"/>
          </a:solidFill>
          <a:ln w="15240">
            <a:solidFill>
              <a:srgbClr val="E74C3C"/>
            </a:solidFill>
            <a:prstDash val="solid"/>
          </a:ln>
        </p:spPr>
        <p:txBody>
          <a:bodyPr/>
          <a:lstStyle/>
          <a:p>
            <a:endParaRPr lang="en-GB"/>
          </a:p>
        </p:txBody>
      </p:sp>
      <p:sp>
        <p:nvSpPr>
          <p:cNvPr id="9" name="Shape 7"/>
          <p:cNvSpPr/>
          <p:nvPr/>
        </p:nvSpPr>
        <p:spPr>
          <a:xfrm>
            <a:off x="292608" y="1188720"/>
            <a:ext cx="54864" cy="1417320"/>
          </a:xfrm>
          <a:prstGeom prst="rect">
            <a:avLst/>
          </a:prstGeom>
          <a:solidFill>
            <a:srgbClr val="E74C3C"/>
          </a:solidFill>
          <a:ln w="12700">
            <a:solidFill>
              <a:srgbClr val="E74C3C"/>
            </a:solidFill>
            <a:prstDash val="solid"/>
          </a:ln>
        </p:spPr>
        <p:txBody>
          <a:bodyPr/>
          <a:lstStyle/>
          <a:p>
            <a:endParaRPr lang="en-GB"/>
          </a:p>
        </p:txBody>
      </p:sp>
      <p:sp>
        <p:nvSpPr>
          <p:cNvPr id="10" name="Text 8"/>
          <p:cNvSpPr/>
          <p:nvPr/>
        </p:nvSpPr>
        <p:spPr>
          <a:xfrm>
            <a:off x="429768" y="1280160"/>
            <a:ext cx="502920" cy="384048"/>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1" name="Text 9"/>
          <p:cNvSpPr/>
          <p:nvPr/>
        </p:nvSpPr>
        <p:spPr>
          <a:xfrm>
            <a:off x="950976" y="1280160"/>
            <a:ext cx="2057400" cy="347472"/>
          </a:xfrm>
          <a:prstGeom prst="rect">
            <a:avLst/>
          </a:prstGeom>
          <a:noFill/>
          <a:ln/>
        </p:spPr>
        <p:txBody>
          <a:bodyPr wrap="square" rtlCol="0" anchor="ctr"/>
          <a:lstStyle/>
          <a:p>
            <a:pPr marL="0" indent="0">
              <a:buNone/>
            </a:pPr>
            <a:r>
              <a:rPr lang="en-US" sz="1150" b="1" dirty="0">
                <a:solidFill>
                  <a:srgbClr val="E74C3C"/>
                </a:solidFill>
              </a:rPr>
              <a:t>Hallucination</a:t>
            </a:r>
            <a:endParaRPr lang="en-US" sz="1150" dirty="0"/>
          </a:p>
        </p:txBody>
      </p:sp>
      <p:sp>
        <p:nvSpPr>
          <p:cNvPr id="12" name="Text 10"/>
          <p:cNvSpPr/>
          <p:nvPr/>
        </p:nvSpPr>
        <p:spPr>
          <a:xfrm>
            <a:off x="420624" y="1691640"/>
            <a:ext cx="2578608" cy="804672"/>
          </a:xfrm>
          <a:prstGeom prst="rect">
            <a:avLst/>
          </a:prstGeom>
          <a:noFill/>
          <a:ln/>
        </p:spPr>
        <p:txBody>
          <a:bodyPr wrap="square" rtlCol="0" anchor="ctr"/>
          <a:lstStyle/>
          <a:p>
            <a:pPr marL="0" indent="0">
              <a:lnSpc>
                <a:spcPct val="120000"/>
              </a:lnSpc>
              <a:buNone/>
            </a:pPr>
            <a:r>
              <a:rPr lang="en-US" sz="950" dirty="0">
                <a:solidFill>
                  <a:srgbClr val="334155"/>
                </a:solidFill>
              </a:rPr>
              <a:t>AI can produce false information that sounds plausible. Always verify AI-generated facts with original sources.</a:t>
            </a:r>
            <a:endParaRPr lang="en-US" sz="950" dirty="0"/>
          </a:p>
        </p:txBody>
      </p:sp>
      <p:sp>
        <p:nvSpPr>
          <p:cNvPr id="13" name="Shape 11"/>
          <p:cNvSpPr/>
          <p:nvPr/>
        </p:nvSpPr>
        <p:spPr>
          <a:xfrm>
            <a:off x="3191256" y="1188720"/>
            <a:ext cx="2788920" cy="1417320"/>
          </a:xfrm>
          <a:prstGeom prst="rect">
            <a:avLst/>
          </a:prstGeom>
          <a:solidFill>
            <a:srgbClr val="FFFFFF"/>
          </a:solidFill>
          <a:ln w="15240">
            <a:solidFill>
              <a:srgbClr val="F5A623"/>
            </a:solidFill>
            <a:prstDash val="solid"/>
          </a:ln>
        </p:spPr>
        <p:txBody>
          <a:bodyPr/>
          <a:lstStyle/>
          <a:p>
            <a:endParaRPr lang="en-GB"/>
          </a:p>
        </p:txBody>
      </p:sp>
      <p:sp>
        <p:nvSpPr>
          <p:cNvPr id="14" name="Shape 12"/>
          <p:cNvSpPr/>
          <p:nvPr/>
        </p:nvSpPr>
        <p:spPr>
          <a:xfrm>
            <a:off x="3191256" y="1188720"/>
            <a:ext cx="54864" cy="1417320"/>
          </a:xfrm>
          <a:prstGeom prst="rect">
            <a:avLst/>
          </a:prstGeom>
          <a:solidFill>
            <a:srgbClr val="F5A623"/>
          </a:solidFill>
          <a:ln w="12700">
            <a:solidFill>
              <a:srgbClr val="F5A623"/>
            </a:solidFill>
            <a:prstDash val="solid"/>
          </a:ln>
        </p:spPr>
        <p:txBody>
          <a:bodyPr/>
          <a:lstStyle/>
          <a:p>
            <a:endParaRPr lang="en-GB"/>
          </a:p>
        </p:txBody>
      </p:sp>
      <p:sp>
        <p:nvSpPr>
          <p:cNvPr id="15" name="Text 13"/>
          <p:cNvSpPr/>
          <p:nvPr/>
        </p:nvSpPr>
        <p:spPr>
          <a:xfrm>
            <a:off x="3328416" y="1280160"/>
            <a:ext cx="502920" cy="384048"/>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6" name="Text 14"/>
          <p:cNvSpPr/>
          <p:nvPr/>
        </p:nvSpPr>
        <p:spPr>
          <a:xfrm>
            <a:off x="3849624" y="1280160"/>
            <a:ext cx="2057400" cy="347472"/>
          </a:xfrm>
          <a:prstGeom prst="rect">
            <a:avLst/>
          </a:prstGeom>
          <a:noFill/>
          <a:ln/>
        </p:spPr>
        <p:txBody>
          <a:bodyPr wrap="square" rtlCol="0" anchor="ctr"/>
          <a:lstStyle/>
          <a:p>
            <a:pPr marL="0" indent="0">
              <a:buNone/>
            </a:pPr>
            <a:r>
              <a:rPr lang="en-US" sz="1150" b="1" dirty="0">
                <a:solidFill>
                  <a:srgbClr val="F5A623"/>
                </a:solidFill>
              </a:rPr>
              <a:t>Academic Integrity</a:t>
            </a:r>
            <a:endParaRPr lang="en-US" sz="1150" dirty="0"/>
          </a:p>
        </p:txBody>
      </p:sp>
      <p:sp>
        <p:nvSpPr>
          <p:cNvPr id="17" name="Text 15"/>
          <p:cNvSpPr/>
          <p:nvPr/>
        </p:nvSpPr>
        <p:spPr>
          <a:xfrm>
            <a:off x="3319272" y="1691640"/>
            <a:ext cx="2578608" cy="804672"/>
          </a:xfrm>
          <a:prstGeom prst="rect">
            <a:avLst/>
          </a:prstGeom>
          <a:noFill/>
          <a:ln/>
        </p:spPr>
        <p:txBody>
          <a:bodyPr wrap="square" rtlCol="0" anchor="ctr"/>
          <a:lstStyle/>
          <a:p>
            <a:pPr marL="0" indent="0">
              <a:lnSpc>
                <a:spcPct val="120000"/>
              </a:lnSpc>
              <a:buNone/>
            </a:pPr>
            <a:r>
              <a:rPr lang="en-US" sz="950" dirty="0">
                <a:solidFill>
                  <a:srgbClr val="334155"/>
                </a:solidFill>
              </a:rPr>
              <a:t>Students (and sometimes staff) may use AI to write work dishonestly. Institutions must update policies accordingly.</a:t>
            </a:r>
            <a:endParaRPr lang="en-US" sz="950" dirty="0"/>
          </a:p>
        </p:txBody>
      </p:sp>
      <p:sp>
        <p:nvSpPr>
          <p:cNvPr id="18" name="Shape 16"/>
          <p:cNvSpPr/>
          <p:nvPr/>
        </p:nvSpPr>
        <p:spPr>
          <a:xfrm>
            <a:off x="6089904" y="1188720"/>
            <a:ext cx="2788920" cy="1417320"/>
          </a:xfrm>
          <a:prstGeom prst="rect">
            <a:avLst/>
          </a:prstGeom>
          <a:solidFill>
            <a:srgbClr val="FFFFFF"/>
          </a:solidFill>
          <a:ln w="15240">
            <a:solidFill>
              <a:srgbClr val="8B5CF6"/>
            </a:solidFill>
            <a:prstDash val="solid"/>
          </a:ln>
        </p:spPr>
        <p:txBody>
          <a:bodyPr/>
          <a:lstStyle/>
          <a:p>
            <a:endParaRPr lang="en-GB"/>
          </a:p>
        </p:txBody>
      </p:sp>
      <p:sp>
        <p:nvSpPr>
          <p:cNvPr id="19" name="Shape 17"/>
          <p:cNvSpPr/>
          <p:nvPr/>
        </p:nvSpPr>
        <p:spPr>
          <a:xfrm>
            <a:off x="6089904" y="1188720"/>
            <a:ext cx="54864" cy="1417320"/>
          </a:xfrm>
          <a:prstGeom prst="rect">
            <a:avLst/>
          </a:prstGeom>
          <a:solidFill>
            <a:srgbClr val="8B5CF6"/>
          </a:solidFill>
          <a:ln w="12700">
            <a:solidFill>
              <a:srgbClr val="8B5CF6"/>
            </a:solidFill>
            <a:prstDash val="solid"/>
          </a:ln>
        </p:spPr>
        <p:txBody>
          <a:bodyPr/>
          <a:lstStyle/>
          <a:p>
            <a:endParaRPr lang="en-GB"/>
          </a:p>
        </p:txBody>
      </p:sp>
      <p:sp>
        <p:nvSpPr>
          <p:cNvPr id="20" name="Text 18"/>
          <p:cNvSpPr/>
          <p:nvPr/>
        </p:nvSpPr>
        <p:spPr>
          <a:xfrm>
            <a:off x="6227064" y="1280160"/>
            <a:ext cx="502920" cy="384048"/>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21" name="Text 19"/>
          <p:cNvSpPr/>
          <p:nvPr/>
        </p:nvSpPr>
        <p:spPr>
          <a:xfrm>
            <a:off x="6748272" y="1280160"/>
            <a:ext cx="2057400" cy="347472"/>
          </a:xfrm>
          <a:prstGeom prst="rect">
            <a:avLst/>
          </a:prstGeom>
          <a:noFill/>
          <a:ln/>
        </p:spPr>
        <p:txBody>
          <a:bodyPr wrap="square" rtlCol="0" anchor="ctr"/>
          <a:lstStyle/>
          <a:p>
            <a:pPr marL="0" indent="0">
              <a:buNone/>
            </a:pPr>
            <a:r>
              <a:rPr lang="en-US" sz="1150" b="1" dirty="0">
                <a:solidFill>
                  <a:srgbClr val="8B5CF6"/>
                </a:solidFill>
              </a:rPr>
              <a:t>Data Privacy</a:t>
            </a:r>
            <a:endParaRPr lang="en-US" sz="1150" dirty="0"/>
          </a:p>
        </p:txBody>
      </p:sp>
      <p:sp>
        <p:nvSpPr>
          <p:cNvPr id="22" name="Text 20"/>
          <p:cNvSpPr/>
          <p:nvPr/>
        </p:nvSpPr>
        <p:spPr>
          <a:xfrm>
            <a:off x="6217920" y="1691640"/>
            <a:ext cx="2578608" cy="804672"/>
          </a:xfrm>
          <a:prstGeom prst="rect">
            <a:avLst/>
          </a:prstGeom>
          <a:noFill/>
          <a:ln/>
        </p:spPr>
        <p:txBody>
          <a:bodyPr wrap="square" rtlCol="0" anchor="ctr"/>
          <a:lstStyle/>
          <a:p>
            <a:pPr marL="0" indent="0">
              <a:lnSpc>
                <a:spcPct val="120000"/>
              </a:lnSpc>
              <a:buNone/>
            </a:pPr>
            <a:r>
              <a:rPr lang="en-US" sz="950" dirty="0">
                <a:solidFill>
                  <a:srgbClr val="334155"/>
                </a:solidFill>
              </a:rPr>
              <a:t>Never input confidential research data, participant information, or unpublished findings into public AI tools.</a:t>
            </a:r>
            <a:endParaRPr lang="en-US" sz="950" dirty="0"/>
          </a:p>
        </p:txBody>
      </p:sp>
      <p:sp>
        <p:nvSpPr>
          <p:cNvPr id="23" name="Shape 21"/>
          <p:cNvSpPr/>
          <p:nvPr/>
        </p:nvSpPr>
        <p:spPr>
          <a:xfrm>
            <a:off x="292608" y="2743200"/>
            <a:ext cx="2788920" cy="1417320"/>
          </a:xfrm>
          <a:prstGeom prst="rect">
            <a:avLst/>
          </a:prstGeom>
          <a:solidFill>
            <a:srgbClr val="FFFFFF"/>
          </a:solidFill>
          <a:ln w="15240">
            <a:solidFill>
              <a:srgbClr val="1A5F9C"/>
            </a:solidFill>
            <a:prstDash val="solid"/>
          </a:ln>
        </p:spPr>
        <p:txBody>
          <a:bodyPr/>
          <a:lstStyle/>
          <a:p>
            <a:endParaRPr lang="en-GB"/>
          </a:p>
        </p:txBody>
      </p:sp>
      <p:sp>
        <p:nvSpPr>
          <p:cNvPr id="24" name="Shape 22"/>
          <p:cNvSpPr/>
          <p:nvPr/>
        </p:nvSpPr>
        <p:spPr>
          <a:xfrm>
            <a:off x="292608" y="2743200"/>
            <a:ext cx="54864" cy="1417320"/>
          </a:xfrm>
          <a:prstGeom prst="rect">
            <a:avLst/>
          </a:prstGeom>
          <a:solidFill>
            <a:srgbClr val="1A5F9C"/>
          </a:solidFill>
          <a:ln w="12700">
            <a:solidFill>
              <a:srgbClr val="1A5F9C"/>
            </a:solidFill>
            <a:prstDash val="solid"/>
          </a:ln>
        </p:spPr>
        <p:txBody>
          <a:bodyPr/>
          <a:lstStyle/>
          <a:p>
            <a:endParaRPr lang="en-GB"/>
          </a:p>
        </p:txBody>
      </p:sp>
      <p:sp>
        <p:nvSpPr>
          <p:cNvPr id="25" name="Text 23"/>
          <p:cNvSpPr/>
          <p:nvPr/>
        </p:nvSpPr>
        <p:spPr>
          <a:xfrm>
            <a:off x="429768" y="2834640"/>
            <a:ext cx="502920" cy="384048"/>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26" name="Text 24"/>
          <p:cNvSpPr/>
          <p:nvPr/>
        </p:nvSpPr>
        <p:spPr>
          <a:xfrm>
            <a:off x="950976" y="2834640"/>
            <a:ext cx="2057400" cy="347472"/>
          </a:xfrm>
          <a:prstGeom prst="rect">
            <a:avLst/>
          </a:prstGeom>
          <a:noFill/>
          <a:ln/>
        </p:spPr>
        <p:txBody>
          <a:bodyPr wrap="square" rtlCol="0" anchor="ctr"/>
          <a:lstStyle/>
          <a:p>
            <a:pPr marL="0" indent="0">
              <a:buNone/>
            </a:pPr>
            <a:r>
              <a:rPr lang="en-US" sz="1150" b="1" dirty="0">
                <a:solidFill>
                  <a:srgbClr val="1A5F9C"/>
                </a:solidFill>
              </a:rPr>
              <a:t>Bias in AI</a:t>
            </a:r>
            <a:endParaRPr lang="en-US" sz="1150" dirty="0"/>
          </a:p>
        </p:txBody>
      </p:sp>
      <p:sp>
        <p:nvSpPr>
          <p:cNvPr id="27" name="Text 25"/>
          <p:cNvSpPr/>
          <p:nvPr/>
        </p:nvSpPr>
        <p:spPr>
          <a:xfrm>
            <a:off x="420624" y="3246120"/>
            <a:ext cx="2578608" cy="804672"/>
          </a:xfrm>
          <a:prstGeom prst="rect">
            <a:avLst/>
          </a:prstGeom>
          <a:noFill/>
          <a:ln/>
        </p:spPr>
        <p:txBody>
          <a:bodyPr wrap="square" rtlCol="0" anchor="ctr"/>
          <a:lstStyle/>
          <a:p>
            <a:pPr marL="0" indent="0">
              <a:lnSpc>
                <a:spcPct val="120000"/>
              </a:lnSpc>
              <a:buNone/>
            </a:pPr>
            <a:r>
              <a:rPr lang="en-US" sz="950" dirty="0">
                <a:solidFill>
                  <a:srgbClr val="334155"/>
                </a:solidFill>
              </a:rPr>
              <a:t>AI models may reflect biases in their training data. Outputs related to gender, race, or geography must be critically examined.</a:t>
            </a:r>
            <a:endParaRPr lang="en-US" sz="950" dirty="0"/>
          </a:p>
        </p:txBody>
      </p:sp>
      <p:sp>
        <p:nvSpPr>
          <p:cNvPr id="28" name="Shape 26"/>
          <p:cNvSpPr/>
          <p:nvPr/>
        </p:nvSpPr>
        <p:spPr>
          <a:xfrm>
            <a:off x="3191256" y="2743200"/>
            <a:ext cx="2788920" cy="1417320"/>
          </a:xfrm>
          <a:prstGeom prst="rect">
            <a:avLst/>
          </a:prstGeom>
          <a:solidFill>
            <a:srgbClr val="FFFFFF"/>
          </a:solidFill>
          <a:ln w="15240">
            <a:solidFill>
              <a:srgbClr val="0E9AA7"/>
            </a:solidFill>
            <a:prstDash val="solid"/>
          </a:ln>
        </p:spPr>
        <p:txBody>
          <a:bodyPr/>
          <a:lstStyle/>
          <a:p>
            <a:endParaRPr lang="en-GB"/>
          </a:p>
        </p:txBody>
      </p:sp>
      <p:sp>
        <p:nvSpPr>
          <p:cNvPr id="29" name="Shape 27"/>
          <p:cNvSpPr/>
          <p:nvPr/>
        </p:nvSpPr>
        <p:spPr>
          <a:xfrm>
            <a:off x="3191256" y="2743200"/>
            <a:ext cx="54864" cy="1417320"/>
          </a:xfrm>
          <a:prstGeom prst="rect">
            <a:avLst/>
          </a:prstGeom>
          <a:solidFill>
            <a:srgbClr val="0E9AA7"/>
          </a:solidFill>
          <a:ln w="12700">
            <a:solidFill>
              <a:srgbClr val="0E9AA7"/>
            </a:solidFill>
            <a:prstDash val="solid"/>
          </a:ln>
        </p:spPr>
        <p:txBody>
          <a:bodyPr/>
          <a:lstStyle/>
          <a:p>
            <a:endParaRPr lang="en-GB"/>
          </a:p>
        </p:txBody>
      </p:sp>
      <p:sp>
        <p:nvSpPr>
          <p:cNvPr id="30" name="Text 28"/>
          <p:cNvSpPr/>
          <p:nvPr/>
        </p:nvSpPr>
        <p:spPr>
          <a:xfrm>
            <a:off x="3328416" y="2834640"/>
            <a:ext cx="502920" cy="384048"/>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31" name="Text 29"/>
          <p:cNvSpPr/>
          <p:nvPr/>
        </p:nvSpPr>
        <p:spPr>
          <a:xfrm>
            <a:off x="3849624" y="2834640"/>
            <a:ext cx="2057400" cy="347472"/>
          </a:xfrm>
          <a:prstGeom prst="rect">
            <a:avLst/>
          </a:prstGeom>
          <a:noFill/>
          <a:ln/>
        </p:spPr>
        <p:txBody>
          <a:bodyPr wrap="square" rtlCol="0" anchor="ctr"/>
          <a:lstStyle/>
          <a:p>
            <a:pPr marL="0" indent="0">
              <a:buNone/>
            </a:pPr>
            <a:r>
              <a:rPr lang="en-US" sz="1150" b="1" dirty="0">
                <a:solidFill>
                  <a:srgbClr val="0E9AA7"/>
                </a:solidFill>
              </a:rPr>
              <a:t>Copyright &amp; IP</a:t>
            </a:r>
            <a:endParaRPr lang="en-US" sz="1150" dirty="0"/>
          </a:p>
        </p:txBody>
      </p:sp>
      <p:sp>
        <p:nvSpPr>
          <p:cNvPr id="32" name="Text 30"/>
          <p:cNvSpPr/>
          <p:nvPr/>
        </p:nvSpPr>
        <p:spPr>
          <a:xfrm>
            <a:off x="3319272" y="3246120"/>
            <a:ext cx="2578608" cy="804672"/>
          </a:xfrm>
          <a:prstGeom prst="rect">
            <a:avLst/>
          </a:prstGeom>
          <a:noFill/>
          <a:ln/>
        </p:spPr>
        <p:txBody>
          <a:bodyPr wrap="square" rtlCol="0" anchor="ctr"/>
          <a:lstStyle/>
          <a:p>
            <a:pPr marL="0" indent="0">
              <a:lnSpc>
                <a:spcPct val="120000"/>
              </a:lnSpc>
              <a:buNone/>
            </a:pPr>
            <a:r>
              <a:rPr lang="en-US" sz="950" dirty="0">
                <a:solidFill>
                  <a:srgbClr val="334155"/>
                </a:solidFill>
              </a:rPr>
              <a:t>AI-generated content raises questions about intellectual property. Understand your institution's guidelines before publishing.</a:t>
            </a:r>
            <a:endParaRPr lang="en-US" sz="950" dirty="0"/>
          </a:p>
        </p:txBody>
      </p:sp>
      <p:sp>
        <p:nvSpPr>
          <p:cNvPr id="33" name="Shape 31"/>
          <p:cNvSpPr/>
          <p:nvPr/>
        </p:nvSpPr>
        <p:spPr>
          <a:xfrm>
            <a:off x="6089904" y="2743200"/>
            <a:ext cx="2788920" cy="1417320"/>
          </a:xfrm>
          <a:prstGeom prst="rect">
            <a:avLst/>
          </a:prstGeom>
          <a:solidFill>
            <a:srgbClr val="FFFFFF"/>
          </a:solidFill>
          <a:ln w="15240">
            <a:solidFill>
              <a:srgbClr val="27AE60"/>
            </a:solidFill>
            <a:prstDash val="solid"/>
          </a:ln>
        </p:spPr>
        <p:txBody>
          <a:bodyPr/>
          <a:lstStyle/>
          <a:p>
            <a:endParaRPr lang="en-GB"/>
          </a:p>
        </p:txBody>
      </p:sp>
      <p:sp>
        <p:nvSpPr>
          <p:cNvPr id="34" name="Shape 32"/>
          <p:cNvSpPr/>
          <p:nvPr/>
        </p:nvSpPr>
        <p:spPr>
          <a:xfrm>
            <a:off x="6089904" y="2743200"/>
            <a:ext cx="54864" cy="1417320"/>
          </a:xfrm>
          <a:prstGeom prst="rect">
            <a:avLst/>
          </a:prstGeom>
          <a:solidFill>
            <a:srgbClr val="27AE60"/>
          </a:solidFill>
          <a:ln w="12700">
            <a:solidFill>
              <a:srgbClr val="27AE60"/>
            </a:solidFill>
            <a:prstDash val="solid"/>
          </a:ln>
        </p:spPr>
        <p:txBody>
          <a:bodyPr/>
          <a:lstStyle/>
          <a:p>
            <a:endParaRPr lang="en-GB"/>
          </a:p>
        </p:txBody>
      </p:sp>
      <p:sp>
        <p:nvSpPr>
          <p:cNvPr id="35" name="Text 33"/>
          <p:cNvSpPr/>
          <p:nvPr/>
        </p:nvSpPr>
        <p:spPr>
          <a:xfrm>
            <a:off x="6227064" y="2834640"/>
            <a:ext cx="502920" cy="384048"/>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36" name="Text 34"/>
          <p:cNvSpPr/>
          <p:nvPr/>
        </p:nvSpPr>
        <p:spPr>
          <a:xfrm>
            <a:off x="6748272" y="2834640"/>
            <a:ext cx="2057400" cy="347472"/>
          </a:xfrm>
          <a:prstGeom prst="rect">
            <a:avLst/>
          </a:prstGeom>
          <a:noFill/>
          <a:ln/>
        </p:spPr>
        <p:txBody>
          <a:bodyPr wrap="square" rtlCol="0" anchor="ctr"/>
          <a:lstStyle/>
          <a:p>
            <a:pPr marL="0" indent="0">
              <a:buNone/>
            </a:pPr>
            <a:r>
              <a:rPr lang="en-US" sz="1150" b="1" dirty="0">
                <a:solidFill>
                  <a:srgbClr val="27AE60"/>
                </a:solidFill>
              </a:rPr>
              <a:t>Digital Inclusion</a:t>
            </a:r>
            <a:endParaRPr lang="en-US" sz="1150" dirty="0"/>
          </a:p>
        </p:txBody>
      </p:sp>
      <p:sp>
        <p:nvSpPr>
          <p:cNvPr id="37" name="Text 35"/>
          <p:cNvSpPr/>
          <p:nvPr/>
        </p:nvSpPr>
        <p:spPr>
          <a:xfrm>
            <a:off x="6217920" y="3246120"/>
            <a:ext cx="2578608" cy="804672"/>
          </a:xfrm>
          <a:prstGeom prst="rect">
            <a:avLst/>
          </a:prstGeom>
          <a:noFill/>
          <a:ln/>
        </p:spPr>
        <p:txBody>
          <a:bodyPr wrap="square" rtlCol="0" anchor="ctr"/>
          <a:lstStyle/>
          <a:p>
            <a:pPr marL="0" indent="0">
              <a:lnSpc>
                <a:spcPct val="120000"/>
              </a:lnSpc>
              <a:buNone/>
            </a:pPr>
            <a:r>
              <a:rPr lang="en-US" sz="950" dirty="0">
                <a:solidFill>
                  <a:srgbClr val="334155"/>
                </a:solidFill>
              </a:rPr>
              <a:t>Not all students or colleagues have equal access to AI tools. Equitable access must be a consideration in policy-making.</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1BF6BC-0901-F958-0646-A22FCB189E2F}"/>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1375283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624C51-54FC-F745-FE97-0171763E659E}"/>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905438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089790-F4B6-46A7-BB28-7B74A9A9E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EB951EB-590C-4EEC-9A71-2EB56AC48A89}"/>
              </a:ext>
            </a:extLst>
          </p:cNvPr>
          <p:cNvPicPr>
            <a:picLocks noChangeAspect="1"/>
          </p:cNvPicPr>
          <p:nvPr/>
        </p:nvPicPr>
        <p:blipFill>
          <a:blip r:embed="rId2"/>
          <a:srcRect t="4741" b="20694"/>
          <a:stretch>
            <a:fillRect/>
          </a:stretch>
        </p:blipFill>
        <p:spPr>
          <a:xfrm>
            <a:off x="20" y="10"/>
            <a:ext cx="9143979" cy="4551208"/>
          </a:xfrm>
          <a:prstGeom prst="rect">
            <a:avLst/>
          </a:prstGeom>
        </p:spPr>
      </p:pic>
      <p:grpSp>
        <p:nvGrpSpPr>
          <p:cNvPr id="10" name="Group 9">
            <a:extLst>
              <a:ext uri="{FF2B5EF4-FFF2-40B4-BE49-F238E27FC236}">
                <a16:creationId xmlns:a16="http://schemas.microsoft.com/office/drawing/2014/main" id="{9DE3F54D-33BC-4382-A2AB-5E002F0F11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 y="3771901"/>
            <a:ext cx="9171095" cy="1371601"/>
            <a:chOff x="-305" y="2987478"/>
            <a:chExt cx="12188952" cy="1828800"/>
          </a:xfrm>
        </p:grpSpPr>
        <p:sp>
          <p:nvSpPr>
            <p:cNvPr id="11" name="Freeform: Shape 10">
              <a:extLst>
                <a:ext uri="{FF2B5EF4-FFF2-40B4-BE49-F238E27FC236}">
                  <a16:creationId xmlns:a16="http://schemas.microsoft.com/office/drawing/2014/main" id="{6798451A-4EC8-4869-8DFB-BCE4E00BE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0ECD12F-47FF-48FE-A827-069775A8A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48928757-970C-4B99-9F9C-0C07E4A945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4" name="Freeform: Shape 13">
              <a:extLst>
                <a:ext uri="{FF2B5EF4-FFF2-40B4-BE49-F238E27FC236}">
                  <a16:creationId xmlns:a16="http://schemas.microsoft.com/office/drawing/2014/main" id="{1213505B-6136-49EC-951C-1FDA2A6C5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43220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131D7D-D234-8AD4-0CE4-8B68E2AAA1D6}"/>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4234451723"/>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1483</TotalTime>
  <Words>4795</Words>
  <Application>Microsoft Office PowerPoint</Application>
  <PresentationFormat>On-screen Show (16:9)</PresentationFormat>
  <Paragraphs>502</Paragraphs>
  <Slides>27</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 Black</vt:lpstr>
      <vt:lpstr>Calibri</vt:lpstr>
      <vt:lpstr>Calibri Light</vt:lpstr>
      <vt:lpstr>Droid Sans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and Digital Community</dc:title>
  <dc:subject>PptxGenJS Presentation</dc:subject>
  <dc:creator>AI Systems Research</dc:creator>
  <cp:lastModifiedBy>Sakinat TijaniFolorunso</cp:lastModifiedBy>
  <cp:revision>4</cp:revision>
  <dcterms:created xsi:type="dcterms:W3CDTF">2026-04-26T00:10:55Z</dcterms:created>
  <dcterms:modified xsi:type="dcterms:W3CDTF">2026-04-29T09:05:36Z</dcterms:modified>
</cp:coreProperties>
</file>