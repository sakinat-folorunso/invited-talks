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2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620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Market Size ($B)</c:v>
                </c:pt>
              </c:strCache>
            </c:strRef>
          </c:tx>
          <c:spPr>
            <a:solidFill>
              <a:srgbClr val="1565C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2A3A"/>
                    </a:solidFill>
                    <a:latin typeface="Arial"/>
                  </a:defRPr>
                </a:pPr>
                <a:endParaRPr lang="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2024E</c:v>
                </c:pt>
                <c:pt idx="6">
                  <c:v>2026P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144</c:v>
                </c:pt>
                <c:pt idx="1">
                  <c:v>187</c:v>
                </c:pt>
                <c:pt idx="2">
                  <c:v>215</c:v>
                </c:pt>
                <c:pt idx="3">
                  <c:v>252</c:v>
                </c:pt>
                <c:pt idx="4">
                  <c:v>302</c:v>
                </c:pt>
                <c:pt idx="5">
                  <c:v>370</c:v>
                </c:pt>
                <c:pt idx="6">
                  <c:v>457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D5D-E644-94DD-073A5B11595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A2A3A"/>
                </a:solidFill>
                <a:latin typeface="Arial"/>
              </a:defRPr>
            </a:pPr>
            <a:r>
              <a:rPr lang="en-GB" sz="1000" b="0" i="0" u="none" strike="noStrike">
                <a:solidFill>
                  <a:srgbClr val="1A2A3A"/>
                </a:solidFill>
                <a:latin typeface="Arial"/>
              </a:rPr>
              <a:t>Internet Penetration by Region (ITU, 2024)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Internet Access (%)</c:v>
                </c:pt>
              </c:strCache>
            </c:strRef>
          </c:tx>
          <c:spPr>
            <a:solidFill>
              <a:srgbClr val="B71C1C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C377-479F-9D83-F4BBF545A78B}"/>
              </c:ext>
            </c:extLst>
          </c:dPt>
          <c:dPt>
            <c:idx val="1"/>
            <c:invertIfNegative val="0"/>
            <c:bubble3D val="0"/>
            <c:spPr>
              <a:solidFill>
                <a:srgbClr val="E5393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2-C377-479F-9D83-F4BBF545A78B}"/>
              </c:ext>
            </c:extLst>
          </c:dPt>
          <c:dPt>
            <c:idx val="2"/>
            <c:invertIfNegative val="0"/>
            <c:bubble3D val="0"/>
            <c:spPr>
              <a:solidFill>
                <a:srgbClr val="EF6C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4-C377-479F-9D83-F4BBF545A78B}"/>
              </c:ext>
            </c:extLst>
          </c:dPt>
          <c:dPt>
            <c:idx val="3"/>
            <c:invertIfNegative val="0"/>
            <c:bubble3D val="0"/>
            <c:spPr>
              <a:solidFill>
                <a:srgbClr val="1565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6-C377-479F-9D83-F4BBF545A78B}"/>
              </c:ext>
            </c:extLst>
          </c:dPt>
          <c:dPt>
            <c:idx val="4"/>
            <c:invertIfNegative val="0"/>
            <c:bubble3D val="0"/>
            <c:spPr>
              <a:solidFill>
                <a:srgbClr val="0D213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8-C377-479F-9D83-F4BBF545A78B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A2A3A"/>
                    </a:solidFill>
                    <a:latin typeface="Arial"/>
                  </a:defRPr>
                </a:pPr>
                <a:endParaRPr lang="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Europe</c:v>
                </c:pt>
                <c:pt idx="1">
                  <c:v>Americas</c:v>
                </c:pt>
                <c:pt idx="2">
                  <c:v>Arab States</c:v>
                </c:pt>
                <c:pt idx="3">
                  <c:v>Asia-Pacific</c:v>
                </c:pt>
                <c:pt idx="4">
                  <c:v>Africa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90</c:v>
                </c:pt>
                <c:pt idx="1">
                  <c:v>80</c:v>
                </c:pt>
                <c:pt idx="2">
                  <c:v>73</c:v>
                </c:pt>
                <c:pt idx="3">
                  <c:v>64</c:v>
                </c:pt>
                <c:pt idx="4">
                  <c:v>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716-3B45-AFDE-BFEE5AC2570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D39460-7476-9A4E-B8D7-C966781A3E7A}" type="datetimeFigureOut">
              <a:rPr lang="" smtClean="0"/>
              <a:t>04/28/2026</a:t>
            </a:fld>
            <a:endParaRPr lang="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79099A-B84E-784C-A285-273253EE9E0C}" type="slidenum">
              <a:rPr lang="" smtClean="0"/>
              <a:t>‹#›</a:t>
            </a:fld>
            <a:endParaRPr lang=""/>
          </a:p>
        </p:txBody>
      </p:sp>
    </p:spTree>
    <p:extLst>
      <p:ext uri="{BB962C8B-B14F-4D97-AF65-F5344CB8AC3E}">
        <p14:creationId xmlns:p14="http://schemas.microsoft.com/office/powerpoint/2010/main" val="8787402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– SLIDE 1 (Title)
Welcome the audience warmly. Introduce yourself as a researcher at the intersection of artificial intelligence and education technology at Olabisi Onabanjo University.
Opening hook (say this verbatim or similar):
"Imagine a student in rural Nigeria, Ghana, or Indonesia — brilliant, motivated, but without reliable electricity or broadband internet. Now imagine that same student with a smartphone and an AI-powered learning platform that works offline. That is the gap we are here to discuss today — not just the technology, but the literacy required to use it effectively."
Brief overview: Today's talk will cover (1) the state of e-learning globally, (2) why digital literacy is the missing link, (3) the role of AI and adaptive systems, (4) equity challenges, and (5) a research agenda for the next decade. Estimated time: 35–40 minutes plus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– SLIDE 2 (Roadmap)
Walk the audience through the six sections briefly — this sets expectations and helps them follow along.
"We will spend roughly equal time on each section. I will signal each transition clearly, and I encourage you to hold questions until the end, though I'll pause briefly at section breaks for urgent clarifications."
Mention that slides will be shared post-conference via ResearchGate and the conference portal.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– SLIDE 3 (Section Header)
Transition: "Let us begin with the revolution itself."
Brief contextual statement: "E-learning is not a new concept — distance education has existed since the 1800s through correspondence courses. But the digital era has transformed its scale, speed, and sophistication beyond recognition."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– SLIDE 4 (Stats)
Key talking points:
- The $457 billion figure projects e-learning overtaking traditional publishing by the late 2020s.
- COVID-19 was the single greatest accelerant — it compressed a decade of adoption into 18 months.
- The 21% CAGR means the sector is doubling roughly every 3.5 years.
- However, emphasise: market growth ≠ learning quality. A billion-dollar industry can still fail learners if digital literacy skills are absent.
- Transition: "So the infrastructure exists, and the investment is flowing. But who is actually benefiting?"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– SLIDE 5 (Section Header)
"Before we can talk about how to teach digital literacy, we need to agree on what it actually is — because the term is used in wildly different ways across academic disciplines, policy documents, and popular media."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– SLIDE 6 (Pillars)
UNESCO's DigComp 2.2 framework (2022) is the most widely adopted international standard. Walk through each pillar:
1. INFORMATION LITERACY: Not just "using Google" — it means critically evaluating source credibility, understanding algorithmic bias in search results, and managing personal data. Crucial in the era of misinformation.
2. COMMUNICATION: Goes beyond email. Includes asynchronous discussion boards, video conferencing etiquette, digital identity management, and cross-cultural online communication.
3. CONTENT CREATION: This is where it becomes transformative — learners who can CREATE, not just consume. Creative Commons licensing, basic HTML/CSS, AI prompt engineering.
4. SAFETY: Cybersecurity hygiene, recognising phishing, two-factor authentication, digital wellbeing (screen time, online harassment).
5. PROBLEM-SOLVING: The metacognitive pillar — knowing how to identify what tool to use, when to seek help, and how to self-upskill continuously.
Key point: "These five pillars are not sequential — they are deeply interconnected. A learner without safety knowledge cannot engage in communication. A learner without information literacy cannot create meaningful content."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– SLIDE 7 (Section Header)
"We have established what e-learning is and what digital literacy requires. Now let us examine how artificial intelligence is fundamentally altering the relationship between learner and content."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– SLIDE 8 (AI Dimensions)
This is where the research frontier currently sits. Four points to emphasise:
PERSONALISATION: Reference Bloom's 2-sigma problem (1984) — one-on-one tutoring produces 2 standard-deviation improvement. AI brings us closest to that at scale.
ITS: Caution the audience — ITS quality varies enormously. Low-quality AI tutors can actually increase misconceptions. Evaluation frameworks (e.g., TutorEval) are now essential.
NLP: Address the elephant in the room — ChatGPT. It is simultaneously the most powerful tutoring assistant and the most effective academic dishonesty tool ever created. Policy responses are lagging.
ANALYTICS: Privacy concerns are serious. Learner surveillance without informed consent violates GDPR and similar frameworks. Ethical AI in education requires explicit privacy-by-design.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– SLIDE 9 (Section Header)
"This is the section I consider most important. We can build the most sophisticated e-learning platforms ever conceived — but if large segments of the global population cannot access them meaningfully, we have simply built more elegant forms of exclusion."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– SLIDE 10 (Digital Divide)
Africa's 40% connectivity figure masks enormous variation — Nigeria is ~55%, but Chad is under 10%. Urban-rural split within countries is often more severe than cross-national comparisons suggest.
Gender gap: In sub-Saharan Africa, women are 37% less likely to own a smartphone than men. This is not a preference issue — it reflects income inequality, social norms, and safety concerns.
Language: LLMs have transformed multilingual content generation, but training data bias means low-resource language models are significantly less accurate. Hausa, Yoruba, Igbo — all under-resourced.
Accessibility: Screen reader compatibility, closed captioning, and cognitive accessibility are still afterthoughts in most commercial e-learning platforms.
Key message: "The digital divide is not one gap — it is a compound fracture of multiple intersecting inequalities."
Call to action: Our research group at OOU is currently developing an offline-capable adaptive learning module for Yoruba-medium secondary education. This is the kind of locally-grounded solution the field needs.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– SLIDE 11 (Pedagogy)
LEFT SIDE: Discuss how instructor identity is changing. Many educators feel threatened by AI — address this directly. "The question is not whether AI will replace teachers. The question is whether teachers who use AI will replace those who don't."
SAMR MODEL (Puentedura, 2006):
- Most e-learning deployment sits at SUBSTITUTION or AUGMENTATION — digitised lectures, PDFs instead of textbooks.
- MODIFICATION and REDEFINITION are rare and require institutional investment, faculty development, and digital literacy in both instructors AND students.
- Example of REDEFINITION: Global collaborative projects where students in Nigeria co-create research simulations with peers in Brazil and South Korea in real time — impossible without technology, and transforming how knowledge is created.
Conclude this section: "Pedagogy must lead technology, not follow it. We must ask 'what does deep learning require?' before we ask 'what tool shall we use?'"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– SLIDE 12 (Research Agenda)
This is the call to action for the academic community in this room.
Priority flags (orange): Items 1 and 2 are flagged because they represent both the greatest need and the greatest risk of harm if neglected.
PERSONAL NOTE: Our group at OOU is actively pursuing items 1 (Yoruba-language adaptive tutoring) and 3 (offline sync architecture). We welcome collaborations — my contact details are on the final slide.
Address the funding reality: Most impactful research in this space requires interdisciplinary teams — computer scientists, cognitive psychologists, educators, policy makers, and community representatives. This is not amenable to single-investigator grants.
International collaboration opportunity: Datasets from Nigerian learners can contribute to more representative AI training corpora. We are currently in conversation with UNESCO and a European research consortium about a joint project on multilingual digital literacy assessment.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– SLIDE 13 (Takeaways)
Read through each takeaway deliberately and pause between them. These six points are the core message you want the audience to leave with.
After reading all six: "If you remember nothing else from today's talk, remember this: technology alone does not educate. Learners who are digitally literate, instructors who are pedagogically adaptive, and institutions that are equitably committed — that is what educates."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– SLIDE 14 (Closing)
Closing statement: "Education is, at its core, about human potential. Every decision we make as researchers, educators, and policy makers — about which platforms to fund, which languages to support, which pedagogies to champion — is a decision about whose potential we believe is worth investing in. I urge you to choose broadly, boldly, and equitably. Thank you."
Open the floor to Q&amp;A. Suggested opening: "I'd particularly welcome questions about the African context, AI ethics in education, or anything you disagreed with in my presentation — healthy disagreement is the lifeblood of our discipline."
Post-talk: Make slides available on ResearchGate within 24 hours of the conference. Follow up on any collaboration requests within one week.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73152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411480" y="822960"/>
            <a:ext cx="83210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E-Learning &amp;</a:t>
            </a:r>
            <a:endParaRPr lang="en-US" sz="4800" dirty="0"/>
          </a:p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Digital Literacy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11480" y="274320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B3E5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Bridging the Gap in the 21st Century Education Landscape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11480" y="3337560"/>
            <a:ext cx="6400800" cy="0"/>
          </a:xfrm>
          <a:prstGeom prst="line">
            <a:avLst/>
          </a:prstGeom>
          <a:noFill/>
          <a:ln w="254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411480" y="34290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Sakinat Folorunso</a:t>
            </a:r>
            <a:endParaRPr lang="en-US" sz="14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| Olabisi Onabanjo University, Nigeria</a:t>
            </a:r>
            <a:endParaRPr lang="en-US" sz="1400" dirty="0"/>
          </a:p>
          <a:p>
            <a:pPr marL="0" indent="0" algn="l">
              <a:buNone/>
            </a:pPr>
            <a:endParaRPr lang="en-US" sz="1400" dirty="0"/>
          </a:p>
          <a:p>
            <a:pPr marL="0" indent="0" algn="l">
              <a:buNone/>
            </a:pPr>
            <a:r>
              <a:rPr lang="en-US" sz="110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Systems Research Group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64592" y="4846320"/>
            <a:ext cx="8979408" cy="297180"/>
          </a:xfrm>
          <a:prstGeom prst="rect">
            <a:avLst/>
          </a:prstGeom>
          <a:solidFill>
            <a:srgbClr val="081525"/>
          </a:solidFill>
          <a:ln w="12700">
            <a:solidFill>
              <a:srgbClr val="08152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41148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0A4AE"/>
                </a:solidFill>
              </a:rPr>
              <a:t>2025  |  E-Learning, Pedagogy &amp; Digital Transformation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Presentation Roadmap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502920" cy="11887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274320" y="960120"/>
            <a:ext cx="502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1124712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E-Learning Revolution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1527048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growth, key drivers, and paradigm shifts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46320" y="96012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4846320" y="960120"/>
            <a:ext cx="502920" cy="11887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4846320" y="960120"/>
            <a:ext cx="502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440680" y="1124712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Defining Digital Literacy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40680" y="1527048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Frameworks, competencies, and the UNESCO standard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28600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274320" y="2286000"/>
            <a:ext cx="502920" cy="11887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274320" y="2286000"/>
            <a:ext cx="502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68680" y="2450592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Adaptive Learning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68680" y="2852928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Personalisation, intelligent tutoring, and data analytics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46320" y="228600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4846320" y="2286000"/>
            <a:ext cx="502920" cy="11887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4846320" y="2286000"/>
            <a:ext cx="502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440680" y="2450592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&amp; Access Challenges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40680" y="2852928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digital divide, gender gaps, and LMICs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361188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274320" y="3611880"/>
            <a:ext cx="502920" cy="11887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274320" y="3611880"/>
            <a:ext cx="502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68680" y="3776472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Pedagogical Implications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68680" y="4178808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Re-designing curriculum and instructor role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46320" y="361188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1" name="Shape 29"/>
          <p:cNvSpPr/>
          <p:nvPr/>
        </p:nvSpPr>
        <p:spPr>
          <a:xfrm>
            <a:off x="4846320" y="3611880"/>
            <a:ext cx="502920" cy="11887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4846320" y="3611880"/>
            <a:ext cx="502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440680" y="3776472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Agenda &amp; Conclusions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440680" y="4178808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problems, future directions, and call to action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565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1148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B3E5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11480" y="1828800"/>
            <a:ext cx="7772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E-Learning</a:t>
            </a:r>
            <a:endParaRPr lang="en-US" sz="5200" dirty="0"/>
          </a:p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Revolution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11480" y="38404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B3E5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Tracing the paradigm shift from classroom to cloud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Scale of the E-Learning Sector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2743200" cy="15544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274320" y="96012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$457B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274320" y="171907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e-learning market by 2026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21214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CC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(Global Market Insights, 2023)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200400" y="914400"/>
            <a:ext cx="2743200" cy="155448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3200400" y="96012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900M+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3200400" y="171907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Learners reached during COVID-19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00400" y="21214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CC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(UNESCO, 2020)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26480" y="914400"/>
            <a:ext cx="2743200" cy="1554480"/>
          </a:xfrm>
          <a:prstGeom prst="rect">
            <a:avLst/>
          </a:prstGeom>
          <a:solidFill>
            <a:srgbClr val="EF6C00"/>
          </a:solidFill>
          <a:ln w="12700">
            <a:solidFill>
              <a:srgbClr val="EF6C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6126480" y="96012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21%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6126480" y="171907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compound growth rate (CAGR)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126480" y="21214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CC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(Research &amp; Markets, 2023)</a:t>
            </a:r>
            <a:endParaRPr lang="en-US" sz="850" dirty="0"/>
          </a:p>
        </p:txBody>
      </p:sp>
      <p:graphicFrame>
        <p:nvGraphicFramePr>
          <p:cNvPr id="17" name="Chart 0"/>
          <p:cNvGraphicFramePr/>
          <p:nvPr/>
        </p:nvGraphicFramePr>
        <p:xfrm>
          <a:off x="365760" y="2606040"/>
          <a:ext cx="841248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1148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B3E5FC"/>
                </a:solidFill>
              </a:rPr>
              <a:t>SECTION 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11480" y="1828800"/>
            <a:ext cx="7772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Defining</a:t>
            </a:r>
            <a:endParaRPr lang="en-US" sz="4800" dirty="0"/>
          </a:p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Digital Literacy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11480" y="3840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B3E5FC"/>
                </a:solidFill>
              </a:rPr>
              <a:t>Frameworks, competency models, and the UNESCO DigComp standard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Five Pillars of Digital Literacy (UNESCO DigComp 2.2)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182880" y="868680"/>
            <a:ext cx="1627632" cy="4114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182880" y="868680"/>
            <a:ext cx="1627632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Information &amp;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Data Literacy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82880" y="1280160"/>
            <a:ext cx="1627632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182880" y="1371600"/>
            <a:ext cx="1627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565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274320" y="2057400"/>
            <a:ext cx="1444752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Searching, evaluating, and managing digital information and data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947672" y="868680"/>
            <a:ext cx="1627632" cy="41148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1947672" y="868680"/>
            <a:ext cx="1627632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Communication &amp;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Collaboration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947672" y="1280160"/>
            <a:ext cx="1627632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1947672" y="1371600"/>
            <a:ext cx="1627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83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2039112" y="2057400"/>
            <a:ext cx="1444752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Sharing, engaging online communities, digital etiquette &amp; netiquette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712464" y="868680"/>
            <a:ext cx="1627632" cy="41148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3712464" y="868680"/>
            <a:ext cx="1627632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Digital Content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Creation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712464" y="1280160"/>
            <a:ext cx="1627632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3712464" y="1371600"/>
            <a:ext cx="1627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6A1B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3803904" y="2057400"/>
            <a:ext cx="1444752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and editing digital content, copyright, coding fundamentals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77256" y="868680"/>
            <a:ext cx="1627632" cy="41148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5477256" y="868680"/>
            <a:ext cx="1627632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Safety &amp;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Cybersecurity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477256" y="1280160"/>
            <a:ext cx="1627632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5477256" y="1371600"/>
            <a:ext cx="1627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B7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4000" dirty="0"/>
          </a:p>
        </p:txBody>
      </p:sp>
      <p:sp>
        <p:nvSpPr>
          <p:cNvPr id="24" name="Text 22"/>
          <p:cNvSpPr/>
          <p:nvPr/>
        </p:nvSpPr>
        <p:spPr>
          <a:xfrm>
            <a:off x="5568696" y="2057400"/>
            <a:ext cx="1444752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Protecting devices, data, privacy, and digital wellbeing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242048" y="868680"/>
            <a:ext cx="1627632" cy="41148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7242048" y="868680"/>
            <a:ext cx="1627632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Problem-Solving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&amp; Innovation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242048" y="1280160"/>
            <a:ext cx="1627632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7242048" y="1371600"/>
            <a:ext cx="1627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E651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4000" dirty="0"/>
          </a:p>
        </p:txBody>
      </p:sp>
      <p:sp>
        <p:nvSpPr>
          <p:cNvPr id="29" name="Text 27"/>
          <p:cNvSpPr/>
          <p:nvPr/>
        </p:nvSpPr>
        <p:spPr>
          <a:xfrm>
            <a:off x="7333488" y="2057400"/>
            <a:ext cx="1444752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digital solutions, continuous learning, creative use of tech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1148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F9A825"/>
                </a:solidFill>
              </a:rPr>
              <a:t>SECTION 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11480" y="1828800"/>
            <a:ext cx="8229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&amp; Adaptive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Systems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11480" y="388620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B3E5FC"/>
                </a:solidFill>
              </a:rPr>
              <a:t>Personalisation, intelligent tutoring, and learning analytics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929"/>
          </a:solidFill>
          <a:ln w="12700">
            <a:solidFill>
              <a:srgbClr val="0A192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AI Is Transforming E-Learning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228600" y="914400"/>
            <a:ext cx="425196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228600" y="914400"/>
            <a:ext cx="425196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338328" y="932688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Learning Paths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38328" y="1353312"/>
            <a:ext cx="4023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algorithms (e.g., Knewton, Carnegie Learning) adjust content difficulty in real time based on learner performance, dwell time, and error patterns. Mastery-based progression replaces fixed-pace cohort models.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800600" y="914400"/>
            <a:ext cx="425196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4800600" y="914400"/>
            <a:ext cx="4251960" cy="34747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4910328" y="932688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Tutoring Systems (ITS)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910328" y="1353312"/>
            <a:ext cx="4023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platforms provide immediate, context-sensitive feedback mimicking human tutors. Systems like AutoTutor and ASSISTments have demonstrated significant learning gains (0.4–0.8 SD) over passive video instruction.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28600" y="2926080"/>
            <a:ext cx="425196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228600" y="2926080"/>
            <a:ext cx="4251960" cy="347472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338328" y="2944368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Processing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38328" y="3364992"/>
            <a:ext cx="4023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LLM-powered tools enable automated essay scoring, conversational learning assistants, and multilingual content generation — dramatically lowering the cost of scalable, high-quality instruction.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800600" y="2926080"/>
            <a:ext cx="425196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4800600" y="2926080"/>
            <a:ext cx="4251960" cy="347472"/>
          </a:xfrm>
          <a:prstGeom prst="rect">
            <a:avLst/>
          </a:prstGeom>
          <a:solidFill>
            <a:srgbClr val="EF6C00"/>
          </a:solidFill>
          <a:ln w="12700">
            <a:solidFill>
              <a:srgbClr val="EF6C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4910328" y="2944368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Learning Analytics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910328" y="3364992"/>
            <a:ext cx="4023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models identify at-risk learners 3–6 weeks before dropout using engagement signals. Early intervention reduces dropout rates by up to 32% in pilot programmes (Heikkilä et al., 2023).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EF6C00"/>
          </a:solidFill>
          <a:ln w="12700">
            <a:solidFill>
              <a:srgbClr val="EF6C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1148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EF6C00"/>
                </a:solidFill>
              </a:rPr>
              <a:t>SECTION 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11480" y="1783080"/>
            <a:ext cx="82296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Equity, Access &amp;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Digital Divide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11480" y="393192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FCCBC"/>
                </a:solidFill>
              </a:rPr>
              <a:t>Who is left behind — and what can we do about it?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0000"/>
          </a:solidFill>
          <a:ln w="12700">
            <a:solidFill>
              <a:srgbClr val="1B00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Digital Divide: Stark Realities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F6C00"/>
          </a:solidFill>
          <a:ln w="12700">
            <a:solidFill>
              <a:srgbClr val="EF6C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822960"/>
          <a:ext cx="475488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5212080" y="84124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Equity Gaps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166360" y="1325880"/>
            <a:ext cx="37490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" name="Shape 5"/>
          <p:cNvSpPr/>
          <p:nvPr/>
        </p:nvSpPr>
        <p:spPr>
          <a:xfrm>
            <a:off x="5166360" y="1325880"/>
            <a:ext cx="822960" cy="621792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/>
          <p:nvPr/>
        </p:nvSpPr>
        <p:spPr>
          <a:xfrm>
            <a:off x="5166360" y="1325880"/>
            <a:ext cx="822960" cy="621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Gender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035040" y="1371600"/>
            <a:ext cx="283464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259M more men online than women globally (ITU, 2024)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166360" y="2048256"/>
            <a:ext cx="37490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Shape 9"/>
          <p:cNvSpPr/>
          <p:nvPr/>
        </p:nvSpPr>
        <p:spPr>
          <a:xfrm>
            <a:off x="5166360" y="2048256"/>
            <a:ext cx="822960" cy="621792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0"/>
          <p:cNvSpPr/>
          <p:nvPr/>
        </p:nvSpPr>
        <p:spPr>
          <a:xfrm>
            <a:off x="5166360" y="2048256"/>
            <a:ext cx="822960" cy="621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Rural/Urban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035040" y="2093976"/>
            <a:ext cx="283464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learners 2–3× more likely to access e-learning than rural peers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166360" y="2770632"/>
            <a:ext cx="37490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Shape 13"/>
          <p:cNvSpPr/>
          <p:nvPr/>
        </p:nvSpPr>
        <p:spPr>
          <a:xfrm>
            <a:off x="5166360" y="2770632"/>
            <a:ext cx="822960" cy="621792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4"/>
          <p:cNvSpPr/>
          <p:nvPr/>
        </p:nvSpPr>
        <p:spPr>
          <a:xfrm>
            <a:off x="5166360" y="2770632"/>
            <a:ext cx="822960" cy="621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Device Access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035040" y="2816352"/>
            <a:ext cx="283464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in 3 students in LMICs lack access to any personal device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166360" y="3493008"/>
            <a:ext cx="37490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0" name="Shape 17"/>
          <p:cNvSpPr/>
          <p:nvPr/>
        </p:nvSpPr>
        <p:spPr>
          <a:xfrm>
            <a:off x="5166360" y="3493008"/>
            <a:ext cx="822960" cy="621792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8"/>
          <p:cNvSpPr/>
          <p:nvPr/>
        </p:nvSpPr>
        <p:spPr>
          <a:xfrm>
            <a:off x="5166360" y="3493008"/>
            <a:ext cx="822960" cy="621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Language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6035040" y="3538728"/>
            <a:ext cx="283464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50% of online content is in English; 7,000+ languages underrepresented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5166360" y="4215384"/>
            <a:ext cx="37490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4" name="Shape 21"/>
          <p:cNvSpPr/>
          <p:nvPr/>
        </p:nvSpPr>
        <p:spPr>
          <a:xfrm>
            <a:off x="5166360" y="4215384"/>
            <a:ext cx="822960" cy="621792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2"/>
          <p:cNvSpPr/>
          <p:nvPr/>
        </p:nvSpPr>
        <p:spPr>
          <a:xfrm>
            <a:off x="5166360" y="4215384"/>
            <a:ext cx="822960" cy="621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Disability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6035040" y="4261104"/>
            <a:ext cx="283464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3% of e-learning platforms fully meet WCAG 2.1 accessibility standards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SECTION 05  |  Pedagogical Implications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81C784"/>
          </a:solidFill>
          <a:ln w="12700">
            <a:solidFill>
              <a:srgbClr val="81C78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274320" y="86868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Redesigning for the Digital Age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4320" y="1325880"/>
            <a:ext cx="1737360" cy="27432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274320" y="13258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Traditional Model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148840" y="1325880"/>
            <a:ext cx="2377440" cy="2743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2148840" y="1325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Digital Pedagogy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1664208"/>
            <a:ext cx="1737360" cy="512064"/>
          </a:xfrm>
          <a:prstGeom prst="rect">
            <a:avLst/>
          </a:prstGeom>
          <a:solidFill>
            <a:srgbClr val="FFEBEE"/>
          </a:solidFill>
          <a:ln w="12700">
            <a:solidFill>
              <a:srgbClr val="FFCDD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320040" y="1664208"/>
            <a:ext cx="1645920" cy="5120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as knowledge source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29968" y="1664208"/>
            <a:ext cx="274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07D8B"/>
                </a:solidFill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331720" y="1664208"/>
            <a:ext cx="2194560" cy="512064"/>
          </a:xfrm>
          <a:prstGeom prst="rect">
            <a:avLst/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2377440" y="1664208"/>
            <a:ext cx="2103120" cy="5120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as learning architect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2276856"/>
            <a:ext cx="1737360" cy="512064"/>
          </a:xfrm>
          <a:prstGeom prst="rect">
            <a:avLst/>
          </a:prstGeom>
          <a:solidFill>
            <a:srgbClr val="FFEBEE"/>
          </a:solidFill>
          <a:ln w="12700">
            <a:solidFill>
              <a:srgbClr val="FFCDD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320040" y="2276856"/>
            <a:ext cx="1645920" cy="5120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curriculum delivery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029968" y="2276856"/>
            <a:ext cx="274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07D8B"/>
                </a:solidFill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331720" y="2276856"/>
            <a:ext cx="2194560" cy="512064"/>
          </a:xfrm>
          <a:prstGeom prst="rect">
            <a:avLst/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2377440" y="2276856"/>
            <a:ext cx="2103120" cy="5120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Adaptive, competency-based progression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2889504"/>
            <a:ext cx="1737360" cy="512064"/>
          </a:xfrm>
          <a:prstGeom prst="rect">
            <a:avLst/>
          </a:prstGeom>
          <a:solidFill>
            <a:srgbClr val="FFEBEE"/>
          </a:solidFill>
          <a:ln w="12700">
            <a:solidFill>
              <a:srgbClr val="FFCDD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320040" y="2889504"/>
            <a:ext cx="1645920" cy="5120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Summative assessment only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029968" y="2889504"/>
            <a:ext cx="274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07D8B"/>
                </a:solidFill>
              </a:rPr>
              <a:t>→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331720" y="2889504"/>
            <a:ext cx="2194560" cy="512064"/>
          </a:xfrm>
          <a:prstGeom prst="rect">
            <a:avLst/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2377440" y="2889504"/>
            <a:ext cx="2103120" cy="5120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Continuous, formative, AI-mediated feedback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4320" y="3502152"/>
            <a:ext cx="1737360" cy="512064"/>
          </a:xfrm>
          <a:prstGeom prst="rect">
            <a:avLst/>
          </a:prstGeom>
          <a:solidFill>
            <a:srgbClr val="FFEBEE"/>
          </a:solidFill>
          <a:ln w="12700">
            <a:solidFill>
              <a:srgbClr val="FFCDD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320040" y="3502152"/>
            <a:ext cx="1645920" cy="5120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One-size-fits-all pace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029968" y="3502152"/>
            <a:ext cx="274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07D8B"/>
                </a:solidFill>
              </a:rPr>
              <a:t>→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2331720" y="3502152"/>
            <a:ext cx="2194560" cy="512064"/>
          </a:xfrm>
          <a:prstGeom prst="rect">
            <a:avLst/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2377440" y="3502152"/>
            <a:ext cx="2103120" cy="5120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Self-paced with AI scaffolding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74320" y="4114800"/>
            <a:ext cx="1737360" cy="512064"/>
          </a:xfrm>
          <a:prstGeom prst="rect">
            <a:avLst/>
          </a:prstGeom>
          <a:solidFill>
            <a:srgbClr val="FFEBEE"/>
          </a:solidFill>
          <a:ln w="12700">
            <a:solidFill>
              <a:srgbClr val="FFCDD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320040" y="4114800"/>
            <a:ext cx="1645920" cy="5120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consumption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029968" y="4114800"/>
            <a:ext cx="274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07D8B"/>
                </a:solidFill>
              </a:rPr>
              <a:t>→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2331720" y="4114800"/>
            <a:ext cx="2194560" cy="512064"/>
          </a:xfrm>
          <a:prstGeom prst="rect">
            <a:avLst/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Text 32"/>
          <p:cNvSpPr/>
          <p:nvPr/>
        </p:nvSpPr>
        <p:spPr>
          <a:xfrm>
            <a:off x="2377440" y="4114800"/>
            <a:ext cx="2103120" cy="5120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 knowledge construction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754880" y="86868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SAMR Framework for EdTech Integration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4754880" y="1371600"/>
            <a:ext cx="4114800" cy="5943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Text 35"/>
          <p:cNvSpPr/>
          <p:nvPr/>
        </p:nvSpPr>
        <p:spPr>
          <a:xfrm>
            <a:off x="4754880" y="1371600"/>
            <a:ext cx="1371600" cy="5943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REDEFINITION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172200" y="1371600"/>
            <a:ext cx="2651760" cy="5943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allows creation of new, previously inconceivable tasks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754880" y="2057400"/>
            <a:ext cx="4114800" cy="59436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Text 38"/>
          <p:cNvSpPr/>
          <p:nvPr/>
        </p:nvSpPr>
        <p:spPr>
          <a:xfrm>
            <a:off x="4754880" y="2057400"/>
            <a:ext cx="1371600" cy="5943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MODIFICATION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172200" y="2057400"/>
            <a:ext cx="2651760" cy="5943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allows for significant task redesign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754880" y="2743200"/>
            <a:ext cx="4114800" cy="5943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Text 41"/>
          <p:cNvSpPr/>
          <p:nvPr/>
        </p:nvSpPr>
        <p:spPr>
          <a:xfrm>
            <a:off x="4754880" y="2743200"/>
            <a:ext cx="1371600" cy="5943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172200" y="2743200"/>
            <a:ext cx="2651760" cy="5943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acts as direct tool substitute with functional improvement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754880" y="3429000"/>
            <a:ext cx="4114800" cy="59436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6" name="Text 44"/>
          <p:cNvSpPr/>
          <p:nvPr/>
        </p:nvSpPr>
        <p:spPr>
          <a:xfrm>
            <a:off x="4754880" y="3429000"/>
            <a:ext cx="1371600" cy="5943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SUBSTITUTION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172200" y="3429000"/>
            <a:ext cx="2651760" cy="5943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as direct substitute, no functional change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754880" y="41148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46E7A"/>
                </a:solidFill>
              </a:rPr>
              <a:t>Aim for Redefinition, not Substitution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SECTION 06  |  Research Agenda &amp; Open Problems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228600" y="868680"/>
            <a:ext cx="4206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F6C0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228600" y="868680"/>
            <a:ext cx="438912" cy="1261872"/>
          </a:xfrm>
          <a:prstGeom prst="rect">
            <a:avLst/>
          </a:prstGeom>
          <a:solidFill>
            <a:srgbClr val="EF6C00"/>
          </a:solidFill>
          <a:ln w="12700">
            <a:solidFill>
              <a:srgbClr val="EF6C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228600" y="868680"/>
            <a:ext cx="43891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58952" y="97840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Low-Resource Language NLP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58952" y="1344168"/>
            <a:ext cx="3566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robust multilingual LLMs for African, Asian, and Indigenous languages to reduce content inequity. Require community-participatory training data curation.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429000" y="9601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EF6C00"/>
                </a:solidFill>
              </a:rPr>
              <a:t>● PRIORITY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4800600" y="868680"/>
            <a:ext cx="4206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F6C0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4800600" y="868680"/>
            <a:ext cx="438912" cy="1261872"/>
          </a:xfrm>
          <a:prstGeom prst="rect">
            <a:avLst/>
          </a:prstGeom>
          <a:solidFill>
            <a:srgbClr val="EF6C00"/>
          </a:solidFill>
          <a:ln w="12700">
            <a:solidFill>
              <a:srgbClr val="EF6C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4800600" y="868680"/>
            <a:ext cx="43891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330952" y="97840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AI Audit Frameworks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330952" y="1344168"/>
            <a:ext cx="3566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protocols for auditing e-learning AI for bias, privacy violations, and pedagogical validity. Current platforms lack regulatory oversight.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001000" y="9601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EF6C00"/>
                </a:solidFill>
              </a:rPr>
              <a:t>● PRIORITY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28600" y="2240280"/>
            <a:ext cx="4206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228600" y="2240280"/>
            <a:ext cx="438912" cy="12618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228600" y="2240280"/>
            <a:ext cx="43891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58952" y="235000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Offline-First Adaptive Learning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58952" y="2715768"/>
            <a:ext cx="3566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adaptive learning architectures that synchronise intermittently — not relying on continuous connectivity. Critical for sub-Saharan Africa and rural Asia.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800600" y="2240280"/>
            <a:ext cx="4206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4800600" y="2240280"/>
            <a:ext cx="438912" cy="12618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4800600" y="2240280"/>
            <a:ext cx="43891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330952" y="235000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Learning Outcome Studies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330952" y="2715768"/>
            <a:ext cx="3566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e-learning efficacy studies follow learners &lt; 12 months. Longitudinal RCTs tracking 5–10 year career and cognitive outcomes are urgently needed.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28600" y="3611880"/>
            <a:ext cx="4206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8" name="Shape 26"/>
          <p:cNvSpPr/>
          <p:nvPr/>
        </p:nvSpPr>
        <p:spPr>
          <a:xfrm>
            <a:off x="228600" y="3611880"/>
            <a:ext cx="438912" cy="12618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228600" y="3611880"/>
            <a:ext cx="43891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758952" y="372160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Literacy Assessment Tools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758952" y="4087368"/>
            <a:ext cx="3566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Psychometrically validated instruments for measuring digital literacy across age groups, languages, and cultural contexts — a significant measurement gap remains.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800600" y="3611880"/>
            <a:ext cx="4206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D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3" name="Shape 31"/>
          <p:cNvSpPr/>
          <p:nvPr/>
        </p:nvSpPr>
        <p:spPr>
          <a:xfrm>
            <a:off x="4800600" y="3611880"/>
            <a:ext cx="438912" cy="12618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Text 32"/>
          <p:cNvSpPr/>
          <p:nvPr/>
        </p:nvSpPr>
        <p:spPr>
          <a:xfrm>
            <a:off x="4800600" y="3611880"/>
            <a:ext cx="43891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5330952" y="372160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Digital Upskilling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5330952" y="4087368"/>
            <a:ext cx="3566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Systemic programmes to build faculty digital competency, not just one-off workshops. Professional learning communities and incentive-aligned career progression.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1148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841248"/>
            <a:ext cx="7772400" cy="0"/>
          </a:xfrm>
          <a:prstGeom prst="line">
            <a:avLst/>
          </a:prstGeom>
          <a:noFill/>
          <a:ln w="1905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411480" y="1005840"/>
            <a:ext cx="384048" cy="475488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411480" y="1005840"/>
            <a:ext cx="3840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1042416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E-learning growth is massive and accelerating, but market size is not a proxy for equitable learning outcomes.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1664208"/>
            <a:ext cx="384048" cy="475488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411480" y="1664208"/>
            <a:ext cx="3840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1700784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literacy is a multi-dimensional competency — not binary, not static, and not optional for 21st-century participation.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" y="2322576"/>
            <a:ext cx="384048" cy="475488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411480" y="2322576"/>
            <a:ext cx="3840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68680" y="2359152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personalisation represents the greatest opportunity for democratising quality education in human history — if deployed ethically.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1480" y="2980944"/>
            <a:ext cx="384048" cy="475488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411480" y="2980944"/>
            <a:ext cx="3840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68680" y="3017520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digital divide is a compound inequality requiring policy, infrastructure, and pedagogical interventions simultaneously.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11480" y="3639312"/>
            <a:ext cx="384048" cy="475488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411480" y="3639312"/>
            <a:ext cx="3840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68680" y="3675888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Pedagogy must lead technology adoption: the SAMR model's top two levels (Modification &amp; Redefinition) should be our minimum aspiration.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11480" y="4297680"/>
            <a:ext cx="384048" cy="475488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411480" y="4297680"/>
            <a:ext cx="3840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8680" y="4334256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academic community must urgently address multilingual NLP, ethical AI auditing, and longitudinal efficacy measurement.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256032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11480" y="14630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B3E5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Questions, comments, and collaboration proposals are warmly welcomed.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2633472"/>
            <a:ext cx="8321040" cy="0"/>
          </a:xfrm>
          <a:prstGeom prst="line">
            <a:avLst/>
          </a:prstGeom>
          <a:noFill/>
          <a:ln w="1905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411480" y="2788920"/>
            <a:ext cx="4114800" cy="685800"/>
          </a:xfrm>
          <a:prstGeom prst="rect">
            <a:avLst/>
          </a:prstGeom>
          <a:solidFill>
            <a:srgbClr val="0A1929"/>
          </a:solidFill>
          <a:ln w="12700">
            <a:solidFill>
              <a:srgbClr val="1A3A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548640" y="284378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097A7"/>
                </a:solidFill>
              </a:rPr>
              <a:t>EMAIL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48640" y="309981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arisg@oouagoiwoye.edu.ng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3611880"/>
            <a:ext cx="4114800" cy="685800"/>
          </a:xfrm>
          <a:prstGeom prst="rect">
            <a:avLst/>
          </a:prstGeom>
          <a:solidFill>
            <a:srgbClr val="0A1929"/>
          </a:solidFill>
          <a:ln w="12700">
            <a:solidFill>
              <a:srgbClr val="1A3A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548640" y="366674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097A7"/>
                </a:solidFill>
              </a:rPr>
              <a:t>INSTITUTION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48640" y="392277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Olabisi Onabanjo University, Ago-Iwoye, Nigeria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2788920"/>
            <a:ext cx="4114800" cy="685800"/>
          </a:xfrm>
          <a:prstGeom prst="rect">
            <a:avLst/>
          </a:prstGeom>
          <a:solidFill>
            <a:srgbClr val="0A1929"/>
          </a:solidFill>
          <a:ln w="12700">
            <a:solidFill>
              <a:srgbClr val="1A3A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4892040" y="284378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097A7"/>
                </a:solidFill>
              </a:rPr>
              <a:t>RESEARCH GROUP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892040" y="309981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Systems Group — Dept. of Computer Science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3611880"/>
            <a:ext cx="4114800" cy="685800"/>
          </a:xfrm>
          <a:prstGeom prst="rect">
            <a:avLst/>
          </a:prstGeom>
          <a:solidFill>
            <a:srgbClr val="0A1929"/>
          </a:solidFill>
          <a:ln w="12700">
            <a:solidFill>
              <a:srgbClr val="1A3A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4892040" y="366674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097A7"/>
                </a:solidFill>
              </a:rPr>
              <a:t>SLIDES &amp; PAPER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892040" y="392277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post-conference via ResearchGate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2753</Words>
  <Application>Microsoft Office PowerPoint</Application>
  <PresentationFormat>On-screen Show (16:9)</PresentationFormat>
  <Paragraphs>197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E-Learning and Digital Literacy: Bridging the Gap in the 21st Century</dc:title>
  <dc:subject>PptxGenJS Presentation</dc:subject>
  <dc:creator>Prof. AI Research</dc:creator>
  <cp:lastModifiedBy>Sakinat TijaniFolorunso</cp:lastModifiedBy>
  <cp:revision>5</cp:revision>
  <dcterms:created xsi:type="dcterms:W3CDTF">2026-04-19T03:11:01Z</dcterms:created>
  <dcterms:modified xsi:type="dcterms:W3CDTF">2026-04-28T14:42:11Z</dcterms:modified>
</cp:coreProperties>
</file>