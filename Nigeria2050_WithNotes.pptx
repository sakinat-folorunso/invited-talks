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core0.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officedocument/2006/relationships/metadata/core-properties" Target="docProps/core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310" r:id="rId22"/>
    <p:sldId id="311" r:id="rId23"/>
  </p:sldIdLst>
  <p:sldSz cx="9144000" cy="5143500" type="screen16x9"/>
  <p:notesSz cx="51435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AB7B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5669" autoAdjust="0"/>
  </p:normalViewPr>
  <p:slideViewPr>
    <p:cSldViewPr snapToGrid="0">
      <p:cViewPr varScale="1">
        <p:scale>
          <a:sx n="121" d="100"/>
          <a:sy n="121" d="100"/>
        </p:scale>
        <p:origin x="780" y="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ceHolder 1"/>
          <p:cNvSpPr>
            <a:spLocks noGrp="1" noRot="1" noChangeAspect="1"/>
          </p:cNvSpPr>
          <p:nvPr>
            <p:ph type="sldImg"/>
          </p:nvPr>
        </p:nvSpPr>
        <p:spPr>
          <a:xfrm>
            <a:off x="216000" y="812520"/>
            <a:ext cx="7127280" cy="4008960"/>
          </a:xfrm>
          <a:prstGeom prst="rect">
            <a:avLst/>
          </a:prstGeom>
          <a:noFill/>
          <a:ln w="0">
            <a:noFill/>
          </a:ln>
        </p:spPr>
        <p:txBody>
          <a:bodyPr lIns="0" tIns="0" rIns="0" bIns="0" anchor="ctr">
            <a:noAutofit/>
          </a:bodyPr>
          <a:lstStyle/>
          <a:p>
            <a:pPr algn="ctr"/>
            <a:r>
              <a:rPr lang="en-US" sz="4400" b="0" strike="noStrike" spc="-1">
                <a:solidFill>
                  <a:srgbClr val="000000"/>
                </a:solidFill>
                <a:latin typeface="Arial"/>
              </a:rPr>
              <a:t>Click to move the slide</a:t>
            </a:r>
          </a:p>
        </p:txBody>
      </p:sp>
      <p:sp>
        <p:nvSpPr>
          <p:cNvPr id="3"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marL="216000" indent="-216000">
              <a:buNone/>
            </a:pPr>
            <a:r>
              <a:rPr lang="en-US" sz="2000" b="0" strike="noStrike" spc="-1">
                <a:solidFill>
                  <a:srgbClr val="000000"/>
                </a:solidFill>
                <a:latin typeface="Arial"/>
              </a:rPr>
              <a:t>Click to edit the notes format</a:t>
            </a:r>
          </a:p>
        </p:txBody>
      </p:sp>
      <p:sp>
        <p:nvSpPr>
          <p:cNvPr id="4"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buNone/>
            </a:pPr>
            <a:r>
              <a:rPr lang="en-US" sz="1400" b="0" strike="noStrike" spc="-1">
                <a:solidFill>
                  <a:srgbClr val="000000"/>
                </a:solidFill>
                <a:latin typeface="Times New Roman"/>
              </a:rPr>
              <a:t>&lt;header&gt;</a:t>
            </a:r>
          </a:p>
        </p:txBody>
      </p:sp>
      <p:sp>
        <p:nvSpPr>
          <p:cNvPr id="5" name="PlaceHolder 4"/>
          <p:cNvSpPr>
            <a:spLocks noGrp="1"/>
          </p:cNvSpPr>
          <p:nvPr>
            <p:ph type="dt" idx="1"/>
          </p:nvPr>
        </p:nvSpPr>
        <p:spPr>
          <a:xfrm>
            <a:off x="4278960" y="0"/>
            <a:ext cx="3280680" cy="534240"/>
          </a:xfrm>
          <a:prstGeom prst="rect">
            <a:avLst/>
          </a:prstGeom>
          <a:noFill/>
          <a:ln w="0">
            <a:noFill/>
          </a:ln>
        </p:spPr>
        <p:txBody>
          <a:bodyPr lIns="0" tIns="0" rIns="0" bIns="0" anchor="t">
            <a:noAutofit/>
          </a:bodyPr>
          <a:lstStyle>
            <a:lvl1pPr indent="0" algn="r">
              <a:buNone/>
              <a:defRPr lang="en-US" sz="1400" b="0" strike="noStrike" spc="-1">
                <a:solidFill>
                  <a:srgbClr val="000000"/>
                </a:solidFill>
                <a:latin typeface="Times New Roman"/>
              </a:defRPr>
            </a:lvl1pPr>
          </a:lstStyle>
          <a:p>
            <a:pPr indent="0" algn="r">
              <a:buNone/>
            </a:pPr>
            <a:r>
              <a:rPr lang="en-US" sz="1400" b="0" strike="noStrike" spc="-1">
                <a:solidFill>
                  <a:srgbClr val="000000"/>
                </a:solidFill>
                <a:latin typeface="Times New Roman"/>
              </a:rPr>
              <a:t>&lt;date/time&gt;</a:t>
            </a:r>
          </a:p>
        </p:txBody>
      </p:sp>
      <p:sp>
        <p:nvSpPr>
          <p:cNvPr id="6" name="PlaceHolder 5"/>
          <p:cNvSpPr>
            <a:spLocks noGrp="1"/>
          </p:cNvSpPr>
          <p:nvPr>
            <p:ph type="ftr" idx="2"/>
          </p:nvPr>
        </p:nvSpPr>
        <p:spPr>
          <a:xfrm>
            <a:off x="0" y="10157400"/>
            <a:ext cx="3280680" cy="534240"/>
          </a:xfrm>
          <a:prstGeom prst="rect">
            <a:avLst/>
          </a:prstGeom>
          <a:noFill/>
          <a:ln w="0">
            <a:noFill/>
          </a:ln>
        </p:spPr>
        <p:txBody>
          <a:bodyPr lIns="0" tIns="0" rIns="0" bIns="0" anchor="b">
            <a:noAutofit/>
          </a:bodyPr>
          <a:lstStyle>
            <a:lvl1pPr indent="0">
              <a:buNone/>
              <a:defRPr lang="en-US" sz="1400" b="0" strike="noStrike" spc="-1">
                <a:solidFill>
                  <a:srgbClr val="000000"/>
                </a:solidFill>
                <a:latin typeface="Times New Roman"/>
              </a:defRPr>
            </a:lvl1pPr>
          </a:lstStyle>
          <a:p>
            <a:pPr indent="0">
              <a:buNone/>
            </a:pPr>
            <a:r>
              <a:rPr lang="en-US" sz="1400" b="0" strike="noStrike" spc="-1">
                <a:solidFill>
                  <a:srgbClr val="000000"/>
                </a:solidFill>
                <a:latin typeface="Times New Roman"/>
              </a:rPr>
              <a:t>&lt;footer&gt;</a:t>
            </a:r>
          </a:p>
        </p:txBody>
      </p:sp>
      <p:sp>
        <p:nvSpPr>
          <p:cNvPr id="7" name="PlaceHolder 6"/>
          <p:cNvSpPr>
            <a:spLocks noGrp="1"/>
          </p:cNvSpPr>
          <p:nvPr>
            <p:ph type="sldNum" idx="3"/>
          </p:nvPr>
        </p:nvSpPr>
        <p:spPr>
          <a:xfrm>
            <a:off x="4278960" y="10157400"/>
            <a:ext cx="3280680" cy="534240"/>
          </a:xfrm>
          <a:prstGeom prst="rect">
            <a:avLst/>
          </a:prstGeom>
          <a:noFill/>
          <a:ln w="0">
            <a:noFill/>
          </a:ln>
        </p:spPr>
        <p:txBody>
          <a:bodyPr lIns="0" tIns="0" rIns="0" bIns="0" anchor="b">
            <a:noAutofit/>
          </a:bodyPr>
          <a:lstStyle>
            <a:lvl1pPr indent="0" algn="r">
              <a:buNone/>
              <a:defRPr lang="en-US" sz="1400" b="0" strike="noStrike" spc="-1">
                <a:solidFill>
                  <a:srgbClr val="000000"/>
                </a:solidFill>
                <a:latin typeface="Times New Roman"/>
              </a:defRPr>
            </a:lvl1pPr>
          </a:lstStyle>
          <a:p>
            <a:pPr indent="0" algn="r">
              <a:buNone/>
            </a:pPr>
            <a:fld id="{D5F070CB-19E8-439A-80AE-8C5F430C737B}" type="slidenum">
              <a:rPr lang="en-US" sz="1400" b="0" strike="noStrike" spc="-1">
                <a:solidFill>
                  <a:srgbClr val="000000"/>
                </a:solidFill>
                <a:latin typeface="Times New Roman"/>
              </a:rPr>
              <a:t>‹#›</a:t>
            </a:fld>
            <a:endParaRPr lang="en-US" sz="14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4" name="PlaceHolder 1"/>
          <p:cNvSpPr>
            <a:spLocks noGrp="1" noRot="1" noChangeAspect="1"/>
          </p:cNvSpPr>
          <p:nvPr>
            <p:ph type="sldImg"/>
          </p:nvPr>
        </p:nvSpPr>
        <p:spPr>
          <a:xfrm>
            <a:off x="685800" y="1143000"/>
            <a:ext cx="5486400" cy="3086100"/>
          </a:xfrm>
          <a:prstGeom prst="rect">
            <a:avLst/>
          </a:prstGeom>
          <a:ln w="0">
            <a:noFill/>
          </a:ln>
        </p:spPr>
      </p:sp>
      <p:sp>
        <p:nvSpPr>
          <p:cNvPr id="575"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lstStyle/>
          <a:p>
            <a:pPr marL="216000" indent="0">
              <a:lnSpc>
                <a:spcPct val="100000"/>
              </a:lnSpc>
              <a:buNone/>
            </a:pPr>
            <a:r>
              <a:rPr lang="en-GB" sz="1200" b="0" strike="noStrike" spc="-1" dirty="0">
                <a:solidFill>
                  <a:srgbClr val="000000"/>
                </a:solidFill>
                <a:latin typeface="Arial"/>
              </a:rPr>
              <a:t>Good day, everyone, and welcome. I want to thank Data Science Nigeria for convening this vital conversation. When we talk about 'Nigeria 2050,' we are not talking about a distant, science-fiction future. We are talking about a timeline that is being coded today. As researchers, students, and academics, our question cannot simply be: 'How fast can we train models?' Our question must be: 'What kind of democratic society do we want AI to help us build?' Let us explore how artificial intelligence will fundamentally reshape the landscape of governance, trust, and citizenship over the next quarter-century.</a:t>
            </a:r>
            <a:endParaRPr lang="en-US" sz="1200" b="0" strike="noStrike" spc="-1" dirty="0">
              <a:solidFill>
                <a:srgbClr val="000000"/>
              </a:solidFill>
              <a:latin typeface="Arial"/>
            </a:endParaRPr>
          </a:p>
        </p:txBody>
      </p:sp>
      <p:sp>
        <p:nvSpPr>
          <p:cNvPr id="576" name="PlaceHolder 3"/>
          <p:cNvSpPr>
            <a:spLocks noGrp="1"/>
          </p:cNvSpPr>
          <p:nvPr>
            <p:ph type="sldNum" idx="4"/>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strike="noStrike" spc="-1">
                <a:solidFill>
                  <a:schemeClr val="dk1"/>
                </a:solidFill>
                <a:latin typeface="+mn-lt"/>
                <a:ea typeface="+mn-ea"/>
              </a:defRPr>
            </a:lvl1pPr>
          </a:lstStyle>
          <a:p>
            <a:pPr indent="0" algn="r" defTabSz="914400">
              <a:lnSpc>
                <a:spcPct val="100000"/>
              </a:lnSpc>
              <a:buNone/>
              <a:tabLst>
                <a:tab pos="0" algn="l"/>
              </a:tabLst>
            </a:pPr>
            <a:fld id="{10856F1E-DE8B-4269-820F-B1DD62EF3D11}" type="slidenum">
              <a:rPr lang="en-US" sz="1200" b="0" strike="noStrike" spc="-1">
                <a:solidFill>
                  <a:schemeClr val="dk1"/>
                </a:solidFill>
                <a:latin typeface="+mn-lt"/>
                <a:ea typeface="+mn-ea"/>
              </a:rPr>
              <a:t>1</a:t>
            </a:fld>
            <a:endParaRPr lang="en-US" sz="1200" b="0" strike="noStrike" spc="-1">
              <a:solidFill>
                <a:srgbClr val="000000"/>
              </a:solidFill>
              <a:latin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7" name="PlaceHolder 1"/>
          <p:cNvSpPr>
            <a:spLocks noGrp="1" noRot="1" noChangeAspect="1"/>
          </p:cNvSpPr>
          <p:nvPr>
            <p:ph type="sldImg"/>
          </p:nvPr>
        </p:nvSpPr>
        <p:spPr>
          <a:xfrm>
            <a:off x="685800" y="1143000"/>
            <a:ext cx="5485680" cy="3085560"/>
          </a:xfrm>
          <a:prstGeom prst="rect">
            <a:avLst/>
          </a:prstGeom>
          <a:ln w="0">
            <a:noFill/>
          </a:ln>
        </p:spPr>
      </p:sp>
      <p:sp>
        <p:nvSpPr>
          <p:cNvPr id="578"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lstStyle/>
          <a:p>
            <a:pPr marL="216000" indent="0">
              <a:lnSpc>
                <a:spcPct val="100000"/>
              </a:lnSpc>
              <a:buNone/>
            </a:pPr>
            <a:r>
              <a:rPr lang="en-GB" sz="1200" b="0" strike="noStrike" spc="-1">
                <a:solidFill>
                  <a:srgbClr val="000000"/>
                </a:solidFill>
                <a:latin typeface="Arial"/>
              </a:rPr>
              <a:t>Let's start with a provocation. Close your eyes and imagine Nigeria in the year 2050. What do you see? Will democracy become a hyper-inclusive, radically transparent ecosystem where every single citizen has an algorithmic voice? Or will it become a highly controlled, deeply unequal technocracy where algorithms entrench historical divisions? The fork in the road is real. AI is a power multiplier — but whether it multiplies democratic freedom or digital authoritarianism depends entirely on our research, design choices, and ethical frameworks right now.</a:t>
            </a:r>
            <a:endParaRPr lang="en-US" sz="1200" b="0" strike="noStrike" spc="-1">
              <a:solidFill>
                <a:srgbClr val="000000"/>
              </a:solidFill>
              <a:latin typeface="Arial"/>
            </a:endParaRPr>
          </a:p>
          <a:p>
            <a:pPr marL="216000" indent="0">
              <a:lnSpc>
                <a:spcPct val="100000"/>
              </a:lnSpc>
              <a:buNone/>
            </a:pPr>
            <a:r>
              <a:rPr lang="en-GB" sz="1200" b="0" strike="noStrike" spc="-1">
                <a:solidFill>
                  <a:srgbClr val="000000"/>
                </a:solidFill>
                <a:latin typeface="Arial"/>
              </a:rPr>
              <a:t>What does an AI-enabled democracy actually look like on a day-to-day level? In this idealized future, every citizen possesses a multilingual AI civic assistant speaking their native tongue. Laws are not passed blindly; they are rigorously simulated and reviewed by intelligent legal systems to predict socioeconomic impact before a floor vote. Elections are monitored and cryptographically verified in real time, public services are dynamically personalized to community needs, and every algorithmic recommendation made by government is independently auditable. This is the paradigm shift from traditional bureaucracy to Governance as a Service (GaaS).</a:t>
            </a:r>
            <a:endParaRPr lang="en-US" sz="1200" b="0" strike="noStrike" spc="-1">
              <a:solidFill>
                <a:srgbClr val="000000"/>
              </a:solidFill>
              <a:latin typeface="Arial"/>
            </a:endParaRPr>
          </a:p>
        </p:txBody>
      </p:sp>
      <p:sp>
        <p:nvSpPr>
          <p:cNvPr id="579" name="PlaceHolder 3"/>
          <p:cNvSpPr>
            <a:spLocks noGrp="1"/>
          </p:cNvSpPr>
          <p:nvPr>
            <p:ph type="sldNum" idx="5"/>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strike="noStrike" spc="-1">
                <a:solidFill>
                  <a:schemeClr val="dk1"/>
                </a:solidFill>
                <a:latin typeface="+mn-lt"/>
                <a:ea typeface="+mn-ea"/>
              </a:defRPr>
            </a:lvl1pPr>
          </a:lstStyle>
          <a:p>
            <a:pPr indent="0" algn="r" defTabSz="914400">
              <a:lnSpc>
                <a:spcPct val="100000"/>
              </a:lnSpc>
              <a:buNone/>
              <a:tabLst>
                <a:tab pos="0" algn="l"/>
              </a:tabLst>
            </a:pPr>
            <a:fld id="{A7E1C414-194A-48CF-94FB-9162B09A01A6}" type="slidenum">
              <a:rPr lang="en-US" sz="1200" b="0" strike="noStrike" spc="-1">
                <a:solidFill>
                  <a:schemeClr val="dk1"/>
                </a:solidFill>
                <a:latin typeface="+mn-lt"/>
                <a:ea typeface="+mn-ea"/>
              </a:rPr>
              <a:t>2</a:t>
            </a:fld>
            <a:endParaRPr lang="en-US" sz="1200" b="0" strike="noStrike" spc="-1">
              <a:solidFill>
                <a:srgbClr val="000000"/>
              </a:solidFill>
              <a:latin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0" name="PlaceHolder 1"/>
          <p:cNvSpPr>
            <a:spLocks noGrp="1" noRot="1" noChangeAspect="1"/>
          </p:cNvSpPr>
          <p:nvPr>
            <p:ph type="sldImg"/>
          </p:nvPr>
        </p:nvSpPr>
        <p:spPr>
          <a:xfrm>
            <a:off x="685800" y="1143000"/>
            <a:ext cx="5485680" cy="3085560"/>
          </a:xfrm>
          <a:prstGeom prst="rect">
            <a:avLst/>
          </a:prstGeom>
          <a:ln w="0">
            <a:noFill/>
          </a:ln>
        </p:spPr>
      </p:sp>
      <p:sp>
        <p:nvSpPr>
          <p:cNvPr id="581"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lstStyle/>
          <a:p>
            <a:pPr marL="216000" indent="0">
              <a:lnSpc>
                <a:spcPct val="100000"/>
              </a:lnSpc>
              <a:buNone/>
            </a:pPr>
            <a:r>
              <a:rPr lang="en-GB" sz="1200" b="0" strike="noStrike" spc="-1">
                <a:solidFill>
                  <a:srgbClr val="000000"/>
                </a:solidFill>
                <a:latin typeface="Arial"/>
              </a:rPr>
              <a:t>To understand where we are going, we must ruthlessly evaluate where we stand today. Look at these numbers from our current landscape: We have a population of over 240 million, but in the 2023 general elections, only 93 million were registered, and a staggering, historically low 26.7% actually turned out to vote. Why? Because of a massive deficit in trust, structural barriers, and geographic exclusion. Furthermore, as of early 2024, roughly 55% of our population remains entirely offline. We cannot build a digital democracy if more than half of the republic is digitally invisible.</a:t>
            </a:r>
            <a:endParaRPr lang="en-US" sz="1200" b="0" strike="noStrike" spc="-1">
              <a:solidFill>
                <a:srgbClr val="000000"/>
              </a:solidFill>
              <a:latin typeface="Arial"/>
            </a:endParaRPr>
          </a:p>
          <a:p>
            <a:pPr marL="216000" indent="0">
              <a:lnSpc>
                <a:spcPct val="100000"/>
              </a:lnSpc>
              <a:buNone/>
            </a:pPr>
            <a:r>
              <a:rPr lang="en-GB" sz="1200" b="0" strike="noStrike" spc="-1">
                <a:solidFill>
                  <a:srgbClr val="000000"/>
                </a:solidFill>
                <a:latin typeface="Arial"/>
              </a:rPr>
              <a:t>Now consider the 2050 horizon. According to the United Nations medium-variant projection, Nigeria will expand to approximately 400 million people, making us the third most populous nation on earth. You cannot govern a nation of 400 million people using a 1960s manual bureaucratic framework. The signal loss between the capital and the citizen is too wide. The opportunity here is that local, data-driven AI infrastructure can bridge this gap. It can bring that 55% of offline citizens into active civic life through localized, voice-first interfaces, and route resources dynamically to the 774 Local Government Areas that need them most.</a:t>
            </a:r>
            <a:endParaRPr lang="en-US" sz="1200" b="0" strike="noStrike" spc="-1">
              <a:solidFill>
                <a:srgbClr val="000000"/>
              </a:solidFill>
              <a:latin typeface="Arial"/>
            </a:endParaRPr>
          </a:p>
        </p:txBody>
      </p:sp>
      <p:sp>
        <p:nvSpPr>
          <p:cNvPr id="582" name="PlaceHolder 3"/>
          <p:cNvSpPr>
            <a:spLocks noGrp="1"/>
          </p:cNvSpPr>
          <p:nvPr>
            <p:ph type="sldNum" idx="6"/>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strike="noStrike" spc="-1">
                <a:solidFill>
                  <a:schemeClr val="dk1"/>
                </a:solidFill>
                <a:latin typeface="+mn-lt"/>
                <a:ea typeface="+mn-ea"/>
              </a:defRPr>
            </a:lvl1pPr>
          </a:lstStyle>
          <a:p>
            <a:pPr indent="0" algn="r" defTabSz="914400">
              <a:lnSpc>
                <a:spcPct val="100000"/>
              </a:lnSpc>
              <a:buNone/>
              <a:tabLst>
                <a:tab pos="0" algn="l"/>
              </a:tabLst>
            </a:pPr>
            <a:fld id="{D6420D0A-CAF7-4296-B0C3-9946B48F9341}" type="slidenum">
              <a:rPr lang="en-US" sz="1200" b="0" strike="noStrike" spc="-1">
                <a:solidFill>
                  <a:schemeClr val="dk1"/>
                </a:solidFill>
                <a:latin typeface="+mn-lt"/>
                <a:ea typeface="+mn-ea"/>
              </a:rPr>
              <a:t>3</a:t>
            </a:fld>
            <a:endParaRPr lang="en-US" sz="1200" b="0" strike="noStrike" spc="-1">
              <a:solidFill>
                <a:srgbClr val="000000"/>
              </a:solidFill>
              <a:latin typeface="Times New Roma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 name="PlaceHolder 1"/>
          <p:cNvSpPr>
            <a:spLocks noGrp="1" noRot="1" noChangeAspect="1"/>
          </p:cNvSpPr>
          <p:nvPr>
            <p:ph type="sldImg"/>
          </p:nvPr>
        </p:nvSpPr>
        <p:spPr>
          <a:xfrm>
            <a:off x="685800" y="1143000"/>
            <a:ext cx="5485680" cy="3085560"/>
          </a:xfrm>
          <a:prstGeom prst="rect">
            <a:avLst/>
          </a:prstGeom>
          <a:ln w="0">
            <a:noFill/>
          </a:ln>
        </p:spPr>
      </p:sp>
      <p:sp>
        <p:nvSpPr>
          <p:cNvPr id="584"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lstStyle/>
          <a:p>
            <a:pPr marL="216000" indent="0">
              <a:lnSpc>
                <a:spcPct val="100000"/>
              </a:lnSpc>
              <a:buNone/>
            </a:pPr>
            <a:r>
              <a:rPr lang="en-GB" sz="1200" b="0" strike="noStrike" spc="-1">
                <a:solidFill>
                  <a:srgbClr val="000000"/>
                </a:solidFill>
                <a:latin typeface="Arial"/>
              </a:rPr>
              <a:t>As researchers and scholars, we must correct the misconception that AI governance is a future problem. These systems are already running among us. Think about INEC's Bimodal Voter Accreditation System (BVAS) utilizing facial and fingerprint recognition nationwide. Think about the 2023 census which deployed AI-assisted enumeration and satellite mapping. Look at the civic tech space where BudgIT and Tracka use automation to trace public spending, or the Lagos State Judiciary piloting algorithmic case scheduling. The infrastructure is creeping in piece by piece. Our job is to ensure these disparate systems are structurally sound, transparent, and fair.</a:t>
            </a:r>
            <a:endParaRPr lang="en-US" sz="1200" b="0" strike="noStrike" spc="-1">
              <a:solidFill>
                <a:srgbClr val="000000"/>
              </a:solidFill>
              <a:latin typeface="Arial"/>
            </a:endParaRPr>
          </a:p>
        </p:txBody>
      </p:sp>
      <p:sp>
        <p:nvSpPr>
          <p:cNvPr id="585" name="PlaceHolder 3"/>
          <p:cNvSpPr>
            <a:spLocks noGrp="1"/>
          </p:cNvSpPr>
          <p:nvPr>
            <p:ph type="sldNum" idx="7"/>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strike="noStrike" spc="-1">
                <a:solidFill>
                  <a:schemeClr val="dk1"/>
                </a:solidFill>
                <a:latin typeface="+mn-lt"/>
                <a:ea typeface="+mn-ea"/>
              </a:defRPr>
            </a:lvl1pPr>
          </a:lstStyle>
          <a:p>
            <a:pPr indent="0" algn="r" defTabSz="914400">
              <a:lnSpc>
                <a:spcPct val="100000"/>
              </a:lnSpc>
              <a:buNone/>
              <a:tabLst>
                <a:tab pos="0" algn="l"/>
              </a:tabLst>
            </a:pPr>
            <a:fld id="{2AFBDCB3-7FBA-4AEF-BDE5-4FC75763D2A8}" type="slidenum">
              <a:rPr lang="en-US" sz="1200" b="0" strike="noStrike" spc="-1">
                <a:solidFill>
                  <a:schemeClr val="dk1"/>
                </a:solidFill>
                <a:latin typeface="+mn-lt"/>
                <a:ea typeface="+mn-ea"/>
              </a:rPr>
              <a:t>4</a:t>
            </a:fld>
            <a:endParaRPr lang="en-US" sz="1200" b="0" strike="noStrike" spc="-1">
              <a:solidFill>
                <a:srgbClr val="000000"/>
              </a:solidFill>
              <a:latin typeface="Times New Roman"/>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6" name="PlaceHolder 1"/>
          <p:cNvSpPr>
            <a:spLocks noGrp="1" noRot="1" noChangeAspect="1"/>
          </p:cNvSpPr>
          <p:nvPr>
            <p:ph type="sldImg"/>
          </p:nvPr>
        </p:nvSpPr>
        <p:spPr>
          <a:xfrm>
            <a:off x="685800" y="1143000"/>
            <a:ext cx="5485680" cy="3085560"/>
          </a:xfrm>
          <a:prstGeom prst="rect">
            <a:avLst/>
          </a:prstGeom>
          <a:ln w="0">
            <a:noFill/>
          </a:ln>
        </p:spPr>
      </p:sp>
      <p:sp>
        <p:nvSpPr>
          <p:cNvPr id="587"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lstStyle/>
          <a:p>
            <a:pPr marL="216000" indent="0">
              <a:lnSpc>
                <a:spcPct val="100000"/>
              </a:lnSpc>
              <a:buNone/>
            </a:pPr>
            <a:r>
              <a:rPr lang="en-GB" sz="1200" b="0" strike="noStrike" spc="-1">
                <a:solidFill>
                  <a:srgbClr val="000000"/>
                </a:solidFill>
                <a:latin typeface="Arial"/>
              </a:rPr>
              <a:t>Let us formally define our terms for the academic record. 'AI Democracy' is not just a catchphrase; it is the deliberate application of machine learning architectures to uphold and optimize democratic values. This means deploying systems explicitly designed to support public decision-making, expand civic engagement, ensure mathematically transparent resource allocation, evaluate policy based on empirical data rather than political rhetoric, and democratize service delivery.</a:t>
            </a:r>
            <a:endParaRPr lang="en-US" sz="1200" b="0" strike="noStrike" spc="-1">
              <a:solidFill>
                <a:srgbClr val="000000"/>
              </a:solidFill>
              <a:latin typeface="Arial"/>
            </a:endParaRPr>
          </a:p>
          <a:p>
            <a:pPr marL="216000" indent="0">
              <a:lnSpc>
                <a:spcPct val="100000"/>
              </a:lnSpc>
              <a:buNone/>
            </a:pPr>
            <a:r>
              <a:rPr lang="en-GB" sz="1200" b="0" strike="noStrike" spc="-1">
                <a:solidFill>
                  <a:srgbClr val="000000"/>
                </a:solidFill>
                <a:latin typeface="Arial"/>
              </a:rPr>
              <a:t>Too often in developing nations, we reduce democracy strictly to voting cycles. But a true republic lives in the space between elections. For AI to be democratic, it must mirror the non-negotiable structural pillars: Participation, ensuring every citizen has a voice; Accountability, ensuring power remains answerable to data; Transparency, making public algorithms open to scrutiny; Representation, including all groups without regional skew; and the Rule of Law, meaning algorithms themselves must be legally bound and subservient to human rights.</a:t>
            </a:r>
            <a:endParaRPr lang="en-US" sz="1200" b="0" strike="noStrike" spc="-1">
              <a:solidFill>
                <a:srgbClr val="000000"/>
              </a:solidFill>
              <a:latin typeface="Arial"/>
            </a:endParaRPr>
          </a:p>
          <a:p>
            <a:pPr marL="216000" indent="0">
              <a:lnSpc>
                <a:spcPct val="100000"/>
              </a:lnSpc>
              <a:buNone/>
            </a:pPr>
            <a:r>
              <a:rPr lang="en-GB" sz="1200" b="0" strike="noStrike" spc="-1">
                <a:solidFill>
                  <a:srgbClr val="000000"/>
                </a:solidFill>
                <a:latin typeface="Arial"/>
              </a:rPr>
              <a:t>Key question: Can AI strengthen democracy's core principles — or will it create a centralized mechanism to bypass them entirely?</a:t>
            </a:r>
            <a:endParaRPr lang="en-US" sz="1200" b="0" strike="noStrike" spc="-1">
              <a:solidFill>
                <a:srgbClr val="000000"/>
              </a:solidFill>
              <a:latin typeface="Arial"/>
            </a:endParaRPr>
          </a:p>
        </p:txBody>
      </p:sp>
      <p:sp>
        <p:nvSpPr>
          <p:cNvPr id="588" name="PlaceHolder 3"/>
          <p:cNvSpPr>
            <a:spLocks noGrp="1"/>
          </p:cNvSpPr>
          <p:nvPr>
            <p:ph type="sldNum" idx="8"/>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strike="noStrike" spc="-1">
                <a:solidFill>
                  <a:schemeClr val="dk1"/>
                </a:solidFill>
                <a:latin typeface="+mn-lt"/>
                <a:ea typeface="+mn-ea"/>
              </a:defRPr>
            </a:lvl1pPr>
          </a:lstStyle>
          <a:p>
            <a:pPr indent="0" algn="r" defTabSz="914400">
              <a:lnSpc>
                <a:spcPct val="100000"/>
              </a:lnSpc>
              <a:buNone/>
              <a:tabLst>
                <a:tab pos="0" algn="l"/>
              </a:tabLst>
            </a:pPr>
            <a:fld id="{2B346403-A369-490E-9B3B-A2B88BB3A899}" type="slidenum">
              <a:rPr lang="en-US" sz="1200" b="0" strike="noStrike" spc="-1">
                <a:solidFill>
                  <a:schemeClr val="dk1"/>
                </a:solidFill>
                <a:latin typeface="+mn-lt"/>
                <a:ea typeface="+mn-ea"/>
              </a:rPr>
              <a:t>5</a:t>
            </a:fld>
            <a:endParaRPr lang="en-US" sz="1200" b="0" strike="noStrike" spc="-1">
              <a:solidFill>
                <a:srgbClr val="000000"/>
              </a:solidFill>
              <a:latin typeface="Times New Roman"/>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9" name="PlaceHolder 1"/>
          <p:cNvSpPr>
            <a:spLocks noGrp="1" noRot="1" noChangeAspect="1"/>
          </p:cNvSpPr>
          <p:nvPr>
            <p:ph type="sldImg"/>
          </p:nvPr>
        </p:nvSpPr>
        <p:spPr>
          <a:xfrm>
            <a:off x="685800" y="1143000"/>
            <a:ext cx="5485680" cy="3085560"/>
          </a:xfrm>
          <a:prstGeom prst="rect">
            <a:avLst/>
          </a:prstGeom>
          <a:ln w="0">
            <a:noFill/>
          </a:ln>
        </p:spPr>
      </p:sp>
      <p:sp>
        <p:nvSpPr>
          <p:cNvPr id="590"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lstStyle/>
          <a:p>
            <a:pPr marL="216000" indent="0">
              <a:lnSpc>
                <a:spcPct val="100000"/>
              </a:lnSpc>
              <a:buNone/>
            </a:pPr>
            <a:r>
              <a:rPr lang="en-GB" sz="1200" b="0" strike="noStrike" spc="-1">
                <a:solidFill>
                  <a:srgbClr val="000000"/>
                </a:solidFill>
                <a:latin typeface="Arial"/>
              </a:rPr>
              <a:t>As system modelers and researchers, we look at future projections through scenarios. By 2050, three structural futures are possible for Nigeria.</a:t>
            </a:r>
            <a:endParaRPr lang="en-US" sz="1200" b="0" strike="noStrike" spc="-1">
              <a:solidFill>
                <a:srgbClr val="000000"/>
              </a:solidFill>
              <a:latin typeface="Arial"/>
            </a:endParaRPr>
          </a:p>
          <a:p>
            <a:pPr marL="216000" indent="0">
              <a:lnSpc>
                <a:spcPct val="100000"/>
              </a:lnSpc>
              <a:buNone/>
            </a:pPr>
            <a:r>
              <a:rPr lang="en-GB" sz="1200" b="0" strike="noStrike" spc="-1">
                <a:solidFill>
                  <a:srgbClr val="000000"/>
                </a:solidFill>
                <a:latin typeface="Arial"/>
              </a:rPr>
              <a:t>Future 1 is 'AI for People' — a strong democracy where multilingual NLP bridges 500+ language groups, privacy is preserved via federated learning, and national laws protect data sovereignty.</a:t>
            </a:r>
            <a:endParaRPr lang="en-US" sz="1200" b="0" strike="noStrike" spc="-1">
              <a:solidFill>
                <a:srgbClr val="000000"/>
              </a:solidFill>
              <a:latin typeface="Arial"/>
            </a:endParaRPr>
          </a:p>
          <a:p>
            <a:pPr marL="216000" indent="0">
              <a:lnSpc>
                <a:spcPct val="100000"/>
              </a:lnSpc>
              <a:buNone/>
            </a:pPr>
            <a:r>
              <a:rPr lang="en-GB" sz="1200" b="0" strike="noStrike" spc="-1">
                <a:solidFill>
                  <a:srgbClr val="000000"/>
                </a:solidFill>
                <a:latin typeface="Arial"/>
              </a:rPr>
              <a:t>Future 2 is 'AI for Profit Only' — an unregulated, corporate-driven space where private platforms dominate public discourse without accountability, deepening the rift between urban elites and disconnected rural populations.</a:t>
            </a:r>
            <a:endParaRPr lang="en-US" sz="1200" b="0" strike="noStrike" spc="-1">
              <a:solidFill>
                <a:srgbClr val="000000"/>
              </a:solidFill>
              <a:latin typeface="Arial"/>
            </a:endParaRPr>
          </a:p>
          <a:p>
            <a:pPr marL="216000" indent="0">
              <a:lnSpc>
                <a:spcPct val="100000"/>
              </a:lnSpc>
              <a:buNone/>
            </a:pPr>
            <a:r>
              <a:rPr lang="en-GB" sz="1200" b="0" strike="noStrike" spc="-1">
                <a:solidFill>
                  <a:srgbClr val="000000"/>
                </a:solidFill>
                <a:latin typeface="Arial"/>
              </a:rPr>
              <a:t>Future 3 is 'AI for Control' — the dark path of digital authoritarianism, where unvetted, imported AI tools are leveraged for power concentration and biased profiling that tears at our ethno-regional fabric.</a:t>
            </a:r>
            <a:endParaRPr lang="en-US" sz="1200" b="0" strike="noStrike" spc="-1">
              <a:solidFill>
                <a:srgbClr val="000000"/>
              </a:solidFill>
              <a:latin typeface="Arial"/>
            </a:endParaRPr>
          </a:p>
          <a:p>
            <a:pPr marL="216000" indent="0">
              <a:lnSpc>
                <a:spcPct val="100000"/>
              </a:lnSpc>
              <a:buNone/>
            </a:pPr>
            <a:r>
              <a:rPr lang="en-GB" sz="1200" b="0" strike="noStrike" spc="-1">
                <a:solidFill>
                  <a:srgbClr val="000000"/>
                </a:solidFill>
                <a:latin typeface="Arial"/>
              </a:rPr>
              <a:t>The difference between these futures is not technology — it is governance, ethics, and political will. That is the core thesis of this presentation.</a:t>
            </a:r>
            <a:endParaRPr lang="en-US" sz="1200" b="0" strike="noStrike" spc="-1">
              <a:solidFill>
                <a:srgbClr val="000000"/>
              </a:solidFill>
              <a:latin typeface="Arial"/>
            </a:endParaRPr>
          </a:p>
        </p:txBody>
      </p:sp>
      <p:sp>
        <p:nvSpPr>
          <p:cNvPr id="591" name="PlaceHolder 3"/>
          <p:cNvSpPr>
            <a:spLocks noGrp="1"/>
          </p:cNvSpPr>
          <p:nvPr>
            <p:ph type="sldNum" idx="9"/>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strike="noStrike" spc="-1">
                <a:solidFill>
                  <a:schemeClr val="dk1"/>
                </a:solidFill>
                <a:latin typeface="+mn-lt"/>
                <a:ea typeface="+mn-ea"/>
              </a:defRPr>
            </a:lvl1pPr>
          </a:lstStyle>
          <a:p>
            <a:pPr indent="0" algn="r" defTabSz="914400">
              <a:lnSpc>
                <a:spcPct val="100000"/>
              </a:lnSpc>
              <a:buNone/>
              <a:tabLst>
                <a:tab pos="0" algn="l"/>
              </a:tabLst>
            </a:pPr>
            <a:fld id="{D9A9EDFF-F3B0-423B-B647-5569E8C55C3D}" type="slidenum">
              <a:rPr lang="en-US" sz="1200" b="0" strike="noStrike" spc="-1">
                <a:solidFill>
                  <a:schemeClr val="dk1"/>
                </a:solidFill>
                <a:latin typeface="+mn-lt"/>
                <a:ea typeface="+mn-ea"/>
              </a:rPr>
              <a:t>6</a:t>
            </a:fld>
            <a:endParaRPr lang="en-US" sz="1200" b="0" strike="noStrike" spc="-1">
              <a:solidFill>
                <a:srgbClr val="000000"/>
              </a:solidFill>
              <a:latin typeface="Times New Roman"/>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2" name="PlaceHolder 1"/>
          <p:cNvSpPr>
            <a:spLocks noGrp="1" noRot="1" noChangeAspect="1"/>
          </p:cNvSpPr>
          <p:nvPr>
            <p:ph type="sldImg"/>
          </p:nvPr>
        </p:nvSpPr>
        <p:spPr>
          <a:xfrm>
            <a:off x="685800" y="1143000"/>
            <a:ext cx="5485680" cy="3085560"/>
          </a:xfrm>
          <a:prstGeom prst="rect">
            <a:avLst/>
          </a:prstGeom>
          <a:ln w="0">
            <a:noFill/>
          </a:ln>
        </p:spPr>
      </p:sp>
      <p:sp>
        <p:nvSpPr>
          <p:cNvPr id="593"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lstStyle/>
          <a:p>
            <a:pPr marL="216000" indent="0">
              <a:lnSpc>
                <a:spcPct val="100000"/>
              </a:lnSpc>
              <a:buNone/>
            </a:pPr>
            <a:r>
              <a:rPr lang="en-GB" sz="1200" b="0" strike="noStrike" spc="-1">
                <a:solidFill>
                  <a:srgbClr val="000000"/>
                </a:solidFill>
                <a:latin typeface="Arial"/>
              </a:rPr>
              <a:t>Let's look specifically at the electoral process. The technological promise is beautiful: real-time result collation, algorithmic anomaly detection to halt rigging instantly, and voter roll deduplication to wipe out ghost voting. But as data scientists, we must focus on the design challenges.</a:t>
            </a:r>
            <a:endParaRPr lang="en-US" sz="1200" b="0" strike="noStrike" spc="-1">
              <a:solidFill>
                <a:srgbClr val="000000"/>
              </a:solidFill>
              <a:latin typeface="Arial"/>
            </a:endParaRPr>
          </a:p>
          <a:p>
            <a:pPr marL="216000" indent="0">
              <a:lnSpc>
                <a:spcPct val="100000"/>
              </a:lnSpc>
              <a:buNone/>
            </a:pPr>
            <a:r>
              <a:rPr lang="en-GB" sz="1200" b="0" strike="noStrike" spc="-1">
                <a:solidFill>
                  <a:srgbClr val="000000"/>
                </a:solidFill>
                <a:latin typeface="Arial"/>
              </a:rPr>
              <a:t>Historic computer vision benchmarks — like the seminal Gender Shades study — showed facial recognition error rates up to 34.7% on darker female skin compared to just 0.8% on lighter skin. If we deploy unvetted biometric models blindly at a national scale, we risk systemic algorithmic voter disenfranchisement. Furthermore, deepfakes have been technically and economically viable since 2023; fake audio on WhatsApp can alter an election long before a correction can be verified.</a:t>
            </a:r>
            <a:endParaRPr lang="en-US" sz="1200" b="0" strike="noStrike" spc="-1">
              <a:solidFill>
                <a:srgbClr val="000000"/>
              </a:solidFill>
              <a:latin typeface="Arial"/>
            </a:endParaRPr>
          </a:p>
          <a:p>
            <a:pPr marL="216000" indent="0">
              <a:lnSpc>
                <a:spcPct val="100000"/>
              </a:lnSpc>
              <a:buNone/>
            </a:pPr>
            <a:r>
              <a:rPr lang="en-GB" sz="1200" b="0" strike="noStrike" spc="-1">
                <a:solidFill>
                  <a:srgbClr val="000000"/>
                </a:solidFill>
                <a:latin typeface="Arial"/>
              </a:rPr>
              <a:t>Every promise on the left of this slide has a corresponding design challenge that we, as the research community, are responsible for solving.</a:t>
            </a:r>
            <a:endParaRPr lang="en-US" sz="1200" b="0" strike="noStrike" spc="-1">
              <a:solidFill>
                <a:srgbClr val="000000"/>
              </a:solidFill>
              <a:latin typeface="Arial"/>
            </a:endParaRPr>
          </a:p>
        </p:txBody>
      </p:sp>
      <p:sp>
        <p:nvSpPr>
          <p:cNvPr id="594" name="PlaceHolder 3"/>
          <p:cNvSpPr>
            <a:spLocks noGrp="1"/>
          </p:cNvSpPr>
          <p:nvPr>
            <p:ph type="sldNum" idx="10"/>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strike="noStrike" spc="-1">
                <a:solidFill>
                  <a:schemeClr val="dk1"/>
                </a:solidFill>
                <a:latin typeface="+mn-lt"/>
                <a:ea typeface="+mn-ea"/>
              </a:defRPr>
            </a:lvl1pPr>
          </a:lstStyle>
          <a:p>
            <a:pPr indent="0" algn="r" defTabSz="914400">
              <a:lnSpc>
                <a:spcPct val="100000"/>
              </a:lnSpc>
              <a:buNone/>
              <a:tabLst>
                <a:tab pos="0" algn="l"/>
              </a:tabLst>
            </a:pPr>
            <a:fld id="{C41D2D43-9B02-4FB4-8EDD-D480F80F77F6}" type="slidenum">
              <a:rPr lang="en-US" sz="1200" b="0" strike="noStrike" spc="-1">
                <a:solidFill>
                  <a:schemeClr val="dk1"/>
                </a:solidFill>
                <a:latin typeface="+mn-lt"/>
                <a:ea typeface="+mn-ea"/>
              </a:rPr>
              <a:t>7</a:t>
            </a:fld>
            <a:endParaRPr lang="en-US" sz="1200" b="0" strike="noStrike" spc="-1">
              <a:solidFill>
                <a:srgbClr val="000000"/>
              </a:solidFill>
              <a:latin typeface="Times New Roman"/>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5" name="PlaceHolder 1"/>
          <p:cNvSpPr>
            <a:spLocks noGrp="1" noRot="1" noChangeAspect="1"/>
          </p:cNvSpPr>
          <p:nvPr>
            <p:ph type="sldImg"/>
          </p:nvPr>
        </p:nvSpPr>
        <p:spPr>
          <a:xfrm>
            <a:off x="685800" y="1143000"/>
            <a:ext cx="5485680" cy="3085560"/>
          </a:xfrm>
          <a:prstGeom prst="rect">
            <a:avLst/>
          </a:prstGeom>
          <a:ln w="0">
            <a:noFill/>
          </a:ln>
        </p:spPr>
      </p:sp>
      <p:sp>
        <p:nvSpPr>
          <p:cNvPr id="596"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lstStyle/>
          <a:p>
            <a:pPr marL="216000" indent="0">
              <a:lnSpc>
                <a:spcPct val="100000"/>
              </a:lnSpc>
              <a:buNone/>
            </a:pPr>
            <a:r>
              <a:rPr lang="en-GB" sz="1200" b="0" strike="noStrike" spc="-1">
                <a:solidFill>
                  <a:srgbClr val="000000"/>
                </a:solidFill>
                <a:latin typeface="Arial"/>
              </a:rPr>
              <a:t>If we get it right, we unlock true Governance as a Service. Imagine an 'AI Citizens' Assembly'. Instead of traditional representatives who may only visit their constituencies during campaigns, decentralized AI agents can facilitate thousands of simultaneous virtual town halls across our 774 LGAs. They can synthesize raw sentiment data, extract real-world policy constraints, and provide lawmakers with actionable briefs that represent the true public consensus — ensuring rural voices carry the exact same mathematical weight as urban centers.</a:t>
            </a:r>
            <a:endParaRPr lang="en-US" sz="1200" b="0" strike="noStrike" spc="-1">
              <a:solidFill>
                <a:srgbClr val="000000"/>
              </a:solidFill>
              <a:latin typeface="Arial"/>
            </a:endParaRPr>
          </a:p>
          <a:p>
            <a:pPr marL="216000" indent="0">
              <a:lnSpc>
                <a:spcPct val="100000"/>
              </a:lnSpc>
              <a:buNone/>
            </a:pPr>
            <a:r>
              <a:rPr lang="en-GB" sz="1200" b="0" strike="noStrike" spc="-1">
                <a:solidFill>
                  <a:srgbClr val="000000"/>
                </a:solidFill>
                <a:latin typeface="Arial"/>
              </a:rPr>
              <a:t>The Rural Inclusion by Design principle here is critical: offline-capable, voice-first interfaces mean that connectivity is a right, not a privilege.</a:t>
            </a:r>
            <a:endParaRPr lang="en-US" sz="1200" b="0" strike="noStrike" spc="-1">
              <a:solidFill>
                <a:srgbClr val="000000"/>
              </a:solidFill>
              <a:latin typeface="Arial"/>
            </a:endParaRPr>
          </a:p>
        </p:txBody>
      </p:sp>
      <p:sp>
        <p:nvSpPr>
          <p:cNvPr id="597" name="PlaceHolder 3"/>
          <p:cNvSpPr>
            <a:spLocks noGrp="1"/>
          </p:cNvSpPr>
          <p:nvPr>
            <p:ph type="sldNum" idx="11"/>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strike="noStrike" spc="-1">
                <a:solidFill>
                  <a:schemeClr val="dk1"/>
                </a:solidFill>
                <a:latin typeface="+mn-lt"/>
                <a:ea typeface="+mn-ea"/>
              </a:defRPr>
            </a:lvl1pPr>
          </a:lstStyle>
          <a:p>
            <a:pPr indent="0" algn="r" defTabSz="914400">
              <a:lnSpc>
                <a:spcPct val="100000"/>
              </a:lnSpc>
              <a:buNone/>
              <a:tabLst>
                <a:tab pos="0" algn="l"/>
              </a:tabLst>
            </a:pPr>
            <a:fld id="{E0756046-FFC1-46DF-9A49-130304AE53BE}" type="slidenum">
              <a:rPr lang="en-US" sz="1200" b="0" strike="noStrike" spc="-1">
                <a:solidFill>
                  <a:schemeClr val="dk1"/>
                </a:solidFill>
                <a:latin typeface="+mn-lt"/>
                <a:ea typeface="+mn-ea"/>
              </a:rPr>
              <a:t>8</a:t>
            </a:fld>
            <a:endParaRPr lang="en-US" sz="1200" b="0" strike="noStrike" spc="-1">
              <a:solidFill>
                <a:srgbClr val="000000"/>
              </a:solidFill>
              <a:latin typeface="Times New Roman"/>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8" name="PlaceHolder 1"/>
          <p:cNvSpPr>
            <a:spLocks noGrp="1" noRot="1" noChangeAspect="1"/>
          </p:cNvSpPr>
          <p:nvPr>
            <p:ph type="sldImg"/>
          </p:nvPr>
        </p:nvSpPr>
        <p:spPr>
          <a:xfrm>
            <a:off x="685800" y="1143000"/>
            <a:ext cx="5485680" cy="3085560"/>
          </a:xfrm>
          <a:prstGeom prst="rect">
            <a:avLst/>
          </a:prstGeom>
          <a:ln w="0">
            <a:noFill/>
          </a:ln>
        </p:spPr>
      </p:sp>
      <p:sp>
        <p:nvSpPr>
          <p:cNvPr id="599"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lstStyle/>
          <a:p>
            <a:pPr marL="216000" indent="0">
              <a:lnSpc>
                <a:spcPct val="100000"/>
              </a:lnSpc>
              <a:buNone/>
            </a:pPr>
            <a:r>
              <a:rPr lang="en-GB" sz="1200" b="0" strike="noStrike" spc="-1">
                <a:solidFill>
                  <a:srgbClr val="000000"/>
                </a:solidFill>
                <a:latin typeface="Arial"/>
              </a:rPr>
              <a:t>Here is a foundational truth: Democracy speaks many languages. Nigeria is home to over 500 indigenous language communities. If the AI governance models of 2050 are built exclusively in English, we are functionally re-colonizing our own democratic processes. Over a third of Nigerian adults have limited English literacy. True inclusion means our digital public infrastructure must seamlessly process and synthesize thought patterns in Yorùbá, Hausa, Igbo, Kanuri, and crucially, Naija Pidgin, which serves as our actual national lingua franca across diverse communities.</a:t>
            </a:r>
            <a:endParaRPr lang="en-US" sz="1200" b="0" strike="noStrike" spc="-1">
              <a:solidFill>
                <a:srgbClr val="000000"/>
              </a:solidFill>
              <a:latin typeface="Arial"/>
            </a:endParaRPr>
          </a:p>
          <a:p>
            <a:pPr marL="216000" indent="0">
              <a:lnSpc>
                <a:spcPct val="100000"/>
              </a:lnSpc>
              <a:buNone/>
            </a:pPr>
            <a:r>
              <a:rPr lang="en-GB" sz="1200" b="0" strike="noStrike" spc="-1">
                <a:solidFill>
                  <a:srgbClr val="000000"/>
                </a:solidFill>
                <a:latin typeface="Arial"/>
              </a:rPr>
              <a:t>Now let us look at the hard empirical literature, because as academics, we do not lean on speculation. Linguistic evaluations like the BLOOM analysis reveal that global frontier models like GPT-4 and Llama are trained on less than 0.1% textual representation for major African languages. Current NLP sentiment architectures regularly misclassify Naija Pidgin inputs as low-confidence noise. Even worse, independent research from AfricaNLP demonstrated that generic commercial hate speech classifiers systematically flag traditional Yorùbá proverbs as toxic content because they lack cultural contextual awareness. This is our research mandate: we must build FAIR, localized language data infrastructure from the ground up.</a:t>
            </a:r>
            <a:endParaRPr lang="en-US" sz="1200" b="0" strike="noStrike" spc="-1">
              <a:solidFill>
                <a:srgbClr val="000000"/>
              </a:solidFill>
              <a:latin typeface="Arial"/>
            </a:endParaRPr>
          </a:p>
        </p:txBody>
      </p:sp>
      <p:sp>
        <p:nvSpPr>
          <p:cNvPr id="600" name="PlaceHolder 3"/>
          <p:cNvSpPr>
            <a:spLocks noGrp="1"/>
          </p:cNvSpPr>
          <p:nvPr>
            <p:ph type="sldNum" idx="12"/>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strike="noStrike" spc="-1">
                <a:solidFill>
                  <a:schemeClr val="dk1"/>
                </a:solidFill>
                <a:latin typeface="+mn-lt"/>
                <a:ea typeface="+mn-ea"/>
              </a:defRPr>
            </a:lvl1pPr>
          </a:lstStyle>
          <a:p>
            <a:pPr indent="0" algn="r" defTabSz="914400">
              <a:lnSpc>
                <a:spcPct val="100000"/>
              </a:lnSpc>
              <a:buNone/>
              <a:tabLst>
                <a:tab pos="0" algn="l"/>
              </a:tabLst>
            </a:pPr>
            <a:fld id="{8498643A-A4A1-46D1-87B3-78270CC0B948}" type="slidenum">
              <a:rPr lang="en-US" sz="1200" b="0" strike="noStrike" spc="-1">
                <a:solidFill>
                  <a:schemeClr val="dk1"/>
                </a:solidFill>
                <a:latin typeface="+mn-lt"/>
                <a:ea typeface="+mn-ea"/>
              </a:rPr>
              <a:t>9</a:t>
            </a:fld>
            <a:endParaRPr lang="en-US" sz="1200" b="0" strike="noStrike" spc="-1">
              <a:solidFill>
                <a:srgbClr val="000000"/>
              </a:solidFill>
              <a:latin typeface="Times New Roman"/>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1" name="PlaceHolder 1"/>
          <p:cNvSpPr>
            <a:spLocks noGrp="1" noRot="1" noChangeAspect="1"/>
          </p:cNvSpPr>
          <p:nvPr>
            <p:ph type="sldImg"/>
          </p:nvPr>
        </p:nvSpPr>
        <p:spPr>
          <a:xfrm>
            <a:off x="685800" y="1143000"/>
            <a:ext cx="5486400" cy="3086100"/>
          </a:xfrm>
          <a:prstGeom prst="rect">
            <a:avLst/>
          </a:prstGeom>
          <a:ln w="0">
            <a:noFill/>
          </a:ln>
        </p:spPr>
      </p:sp>
      <p:sp>
        <p:nvSpPr>
          <p:cNvPr id="602"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lstStyle/>
          <a:p>
            <a:pPr marL="216000" indent="0">
              <a:lnSpc>
                <a:spcPct val="100000"/>
              </a:lnSpc>
              <a:buNone/>
            </a:pPr>
            <a:r>
              <a:rPr lang="en-GB" sz="1200" b="0" strike="noStrike" spc="-1">
                <a:solidFill>
                  <a:srgbClr val="000000"/>
                </a:solidFill>
                <a:latin typeface="Arial"/>
              </a:rPr>
              <a:t>An AI system that does not understand a people's culture can never equitably serve their democracy. We must stop treating Western AI alignment paradigms — like reinforcement learning from human feedback based on Silicon Valley values — as universal defaults. We have rich ethical models right here.</a:t>
            </a:r>
            <a:endParaRPr lang="en-US" sz="1200" b="0" strike="noStrike" spc="-1">
              <a:solidFill>
                <a:srgbClr val="000000"/>
              </a:solidFill>
              <a:latin typeface="Arial"/>
            </a:endParaRPr>
          </a:p>
          <a:p>
            <a:pPr marL="216000" indent="0">
              <a:lnSpc>
                <a:spcPct val="100000"/>
              </a:lnSpc>
              <a:buNone/>
            </a:pPr>
            <a:r>
              <a:rPr lang="en-GB" sz="1200" b="0" strike="noStrike" spc="-1">
                <a:solidFill>
                  <a:srgbClr val="000000"/>
                </a:solidFill>
                <a:latin typeface="Arial"/>
              </a:rPr>
              <a:t>Consider Omoluabi Ethics, which explicitly centers ìwà rere — accountability, deep integrity, and moral character in service of the collective. Consider the Ubuntu Philosophy: 'I am because we are.' If we embed these indigenous values into our reward functions and architecture designs, we build a system that is relationship-centered, participatory, and organically aligned with African social contracts.</a:t>
            </a:r>
            <a:endParaRPr lang="en-US" sz="1200" b="0" strike="noStrike" spc="-1">
              <a:solidFill>
                <a:srgbClr val="000000"/>
              </a:solidFill>
              <a:latin typeface="Arial"/>
            </a:endParaRPr>
          </a:p>
          <a:p>
            <a:pPr marL="216000" indent="0">
              <a:lnSpc>
                <a:spcPct val="100000"/>
              </a:lnSpc>
              <a:buNone/>
            </a:pPr>
            <a:r>
              <a:rPr lang="en-GB" sz="1200" b="0" strike="noStrike" spc="-1">
                <a:solidFill>
                  <a:srgbClr val="000000"/>
                </a:solidFill>
                <a:latin typeface="Arial"/>
              </a:rPr>
              <a:t>The Cultural AI Research Agenda is not aspirational — it is active. African-led data collection, annotation by native speakers, and community consent frameworks aligned with FAIR principles. This is already underway in research labs like IRDIGEA.</a:t>
            </a:r>
            <a:endParaRPr lang="en-US" sz="1200" b="0" strike="noStrike" spc="-1">
              <a:solidFill>
                <a:srgbClr val="000000"/>
              </a:solidFill>
              <a:latin typeface="Arial"/>
            </a:endParaRPr>
          </a:p>
        </p:txBody>
      </p:sp>
      <p:sp>
        <p:nvSpPr>
          <p:cNvPr id="603" name="PlaceHolder 3"/>
          <p:cNvSpPr>
            <a:spLocks noGrp="1"/>
          </p:cNvSpPr>
          <p:nvPr>
            <p:ph type="sldNum" idx="13"/>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strike="noStrike" spc="-1">
                <a:solidFill>
                  <a:schemeClr val="dk1"/>
                </a:solidFill>
                <a:latin typeface="+mn-lt"/>
                <a:ea typeface="+mn-ea"/>
              </a:defRPr>
            </a:lvl1pPr>
          </a:lstStyle>
          <a:p>
            <a:pPr indent="0" algn="r" defTabSz="914400">
              <a:lnSpc>
                <a:spcPct val="100000"/>
              </a:lnSpc>
              <a:buNone/>
              <a:tabLst>
                <a:tab pos="0" algn="l"/>
              </a:tabLst>
            </a:pPr>
            <a:fld id="{C34899B4-24FC-4F1A-AF68-0A332A3991C2}" type="slidenum">
              <a:rPr lang="en-US" sz="1200" b="0" strike="noStrike" spc="-1">
                <a:solidFill>
                  <a:schemeClr val="dk1"/>
                </a:solidFill>
                <a:latin typeface="+mn-lt"/>
                <a:ea typeface="+mn-ea"/>
              </a:rPr>
              <a:t>10</a:t>
            </a:fld>
            <a:endParaRPr lang="en-US" sz="1200" b="0" strike="noStrike" spc="-1">
              <a:solidFill>
                <a:srgbClr val="000000"/>
              </a:solidFill>
              <a:latin typeface="Times New Roman"/>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 name="PlaceHolder 1"/>
          <p:cNvSpPr>
            <a:spLocks noGrp="1" noRot="1" noChangeAspect="1"/>
          </p:cNvSpPr>
          <p:nvPr>
            <p:ph type="sldImg"/>
          </p:nvPr>
        </p:nvSpPr>
        <p:spPr>
          <a:xfrm>
            <a:off x="685800" y="1143000"/>
            <a:ext cx="5485680" cy="3085560"/>
          </a:xfrm>
          <a:prstGeom prst="rect">
            <a:avLst/>
          </a:prstGeom>
          <a:ln w="0">
            <a:noFill/>
          </a:ln>
        </p:spPr>
      </p:sp>
      <p:sp>
        <p:nvSpPr>
          <p:cNvPr id="605"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lstStyle/>
          <a:p>
            <a:pPr marL="216000" indent="0">
              <a:lnSpc>
                <a:spcPct val="100000"/>
              </a:lnSpc>
              <a:buNone/>
            </a:pPr>
            <a:r>
              <a:rPr lang="en-GB" sz="1200" b="0" strike="noStrike" spc="-1">
                <a:solidFill>
                  <a:srgbClr val="000000"/>
                </a:solidFill>
                <a:latin typeface="Arial"/>
              </a:rPr>
              <a:t>This slide presents the three dimensions of algorithmic bias we must design against. Training data bias, where models built on globally unrepresentative corpora cannot serve our communities — GPT-4 and Llama having less than 0.1% African language content is not a coincidence, it is a structural choice we must reverse.</a:t>
            </a:r>
            <a:endParaRPr lang="en-US" sz="1200" b="0" strike="noStrike" spc="-1">
              <a:solidFill>
                <a:srgbClr val="000000"/>
              </a:solidFill>
              <a:latin typeface="Arial"/>
            </a:endParaRPr>
          </a:p>
          <a:p>
            <a:pPr marL="216000" indent="0">
              <a:lnSpc>
                <a:spcPct val="100000"/>
              </a:lnSpc>
              <a:buNone/>
            </a:pPr>
            <a:r>
              <a:rPr lang="en-GB" sz="1200" b="0" strike="noStrike" spc="-1">
                <a:solidFill>
                  <a:srgbClr val="000000"/>
                </a:solidFill>
                <a:latin typeface="Arial"/>
              </a:rPr>
              <a:t>Design bias captures the offline assumption problem: AI civic tools that assume internet connectivity automatically exclude 55% of our population from the systems designed to serve them.</a:t>
            </a:r>
            <a:endParaRPr lang="en-US" sz="1200" b="0" strike="noStrike" spc="-1">
              <a:solidFill>
                <a:srgbClr val="000000"/>
              </a:solidFill>
              <a:latin typeface="Arial"/>
            </a:endParaRPr>
          </a:p>
          <a:p>
            <a:pPr marL="216000" indent="0">
              <a:lnSpc>
                <a:spcPct val="100000"/>
              </a:lnSpc>
              <a:buNone/>
            </a:pPr>
            <a:r>
              <a:rPr lang="en-GB" sz="1200" b="0" strike="noStrike" spc="-1">
                <a:solidFill>
                  <a:srgbClr val="000000"/>
                </a:solidFill>
                <a:latin typeface="Arial"/>
              </a:rPr>
              <a:t>The Solution Path is clear: representative sampling across all geopolitical zones, algorithmic impact assessments before any deployment, and open-source preferred for civic AI to enable local accountability and community auditability.</a:t>
            </a:r>
            <a:endParaRPr lang="en-US" sz="1200" b="0" strike="noStrike" spc="-1">
              <a:solidFill>
                <a:srgbClr val="000000"/>
              </a:solidFill>
              <a:latin typeface="Arial"/>
            </a:endParaRPr>
          </a:p>
        </p:txBody>
      </p:sp>
      <p:sp>
        <p:nvSpPr>
          <p:cNvPr id="606" name="PlaceHolder 3"/>
          <p:cNvSpPr>
            <a:spLocks noGrp="1"/>
          </p:cNvSpPr>
          <p:nvPr>
            <p:ph type="sldNum" idx="14"/>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strike="noStrike" spc="-1">
                <a:solidFill>
                  <a:schemeClr val="dk1"/>
                </a:solidFill>
                <a:latin typeface="+mn-lt"/>
                <a:ea typeface="+mn-ea"/>
              </a:defRPr>
            </a:lvl1pPr>
          </a:lstStyle>
          <a:p>
            <a:pPr indent="0" algn="r" defTabSz="914400">
              <a:lnSpc>
                <a:spcPct val="100000"/>
              </a:lnSpc>
              <a:buNone/>
              <a:tabLst>
                <a:tab pos="0" algn="l"/>
              </a:tabLst>
            </a:pPr>
            <a:fld id="{6C0B1FE8-CE6A-462D-A9F8-3C0074F9659B}" type="slidenum">
              <a:rPr lang="en-US" sz="1200" b="0" strike="noStrike" spc="-1">
                <a:solidFill>
                  <a:schemeClr val="dk1"/>
                </a:solidFill>
                <a:latin typeface="+mn-lt"/>
                <a:ea typeface="+mn-ea"/>
              </a:rPr>
              <a:t>11</a:t>
            </a:fld>
            <a:endParaRPr lang="en-US" sz="1200" b="0" strike="noStrike" spc="-1">
              <a:solidFill>
                <a:srgbClr val="000000"/>
              </a:solidFill>
              <a:latin typeface="Times New Roman"/>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7" name="PlaceHolder 1"/>
          <p:cNvSpPr>
            <a:spLocks noGrp="1" noRot="1" noChangeAspect="1"/>
          </p:cNvSpPr>
          <p:nvPr>
            <p:ph type="sldImg"/>
          </p:nvPr>
        </p:nvSpPr>
        <p:spPr>
          <a:xfrm>
            <a:off x="685800" y="1143000"/>
            <a:ext cx="5485680" cy="3085560"/>
          </a:xfrm>
          <a:prstGeom prst="rect">
            <a:avLst/>
          </a:prstGeom>
          <a:ln w="0">
            <a:noFill/>
          </a:ln>
        </p:spPr>
      </p:sp>
      <p:sp>
        <p:nvSpPr>
          <p:cNvPr id="608"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lstStyle/>
          <a:p>
            <a:pPr marL="216000" indent="0">
              <a:lnSpc>
                <a:spcPct val="100000"/>
              </a:lnSpc>
              <a:buNone/>
            </a:pPr>
            <a:r>
              <a:rPr lang="en-GB" sz="1200" b="0" strike="noStrike" spc="-1">
                <a:solidFill>
                  <a:srgbClr val="000000"/>
                </a:solidFill>
                <a:latin typeface="Arial"/>
              </a:rPr>
              <a:t>We are not experimenting in a vacuum; let us look at the global balance sheet.</a:t>
            </a:r>
            <a:endParaRPr lang="en-US" sz="1200" b="0" strike="noStrike" spc="-1">
              <a:solidFill>
                <a:srgbClr val="000000"/>
              </a:solidFill>
              <a:latin typeface="Arial"/>
            </a:endParaRPr>
          </a:p>
          <a:p>
            <a:pPr marL="216000" indent="0">
              <a:lnSpc>
                <a:spcPct val="100000"/>
              </a:lnSpc>
              <a:buNone/>
            </a:pPr>
            <a:r>
              <a:rPr lang="en-GB" sz="1200" b="0" strike="noStrike" spc="-1">
                <a:solidFill>
                  <a:srgbClr val="000000"/>
                </a:solidFill>
                <a:latin typeface="Arial"/>
              </a:rPr>
              <a:t>India's Aadhaar system shows that massive biometric reach can transform welfare delivery, but scale without absolute safety nets creates severe institutional vulnerabilities.</a:t>
            </a:r>
            <a:endParaRPr lang="en-US" sz="1200" b="0" strike="noStrike" spc="-1">
              <a:solidFill>
                <a:srgbClr val="000000"/>
              </a:solidFill>
              <a:latin typeface="Arial"/>
            </a:endParaRPr>
          </a:p>
          <a:p>
            <a:pPr marL="216000" indent="0">
              <a:lnSpc>
                <a:spcPct val="100000"/>
              </a:lnSpc>
              <a:buNone/>
            </a:pPr>
            <a:r>
              <a:rPr lang="en-GB" sz="1200" b="0" strike="noStrike" spc="-1">
                <a:solidFill>
                  <a:srgbClr val="000000"/>
                </a:solidFill>
                <a:latin typeface="Arial"/>
              </a:rPr>
              <a:t>The US COMPAS algorithm, where a systemic failure to audit for demographic skew led to Black defendants being flagged at twice the false positive rate, is a direct warning for our judiciary.</a:t>
            </a:r>
            <a:endParaRPr lang="en-US" sz="1200" b="0" strike="noStrike" spc="-1">
              <a:solidFill>
                <a:srgbClr val="000000"/>
              </a:solidFill>
              <a:latin typeface="Arial"/>
            </a:endParaRPr>
          </a:p>
          <a:p>
            <a:pPr marL="216000" indent="0">
              <a:lnSpc>
                <a:spcPct val="100000"/>
              </a:lnSpc>
              <a:buNone/>
            </a:pPr>
            <a:r>
              <a:rPr lang="en-GB" sz="1200" b="0" strike="noStrike" spc="-1">
                <a:solidFill>
                  <a:srgbClr val="000000"/>
                </a:solidFill>
                <a:latin typeface="Arial"/>
              </a:rPr>
              <a:t>On the positive side, Estonia proves that open-source, independently audited architectures build unbreakable public trust, while Brazil's Electoral Court actively pairs machine learning with judicial authority to disrupt viral disinformation campaigns.</a:t>
            </a:r>
            <a:endParaRPr lang="en-US" sz="1200" b="0" strike="noStrike" spc="-1">
              <a:solidFill>
                <a:srgbClr val="000000"/>
              </a:solidFill>
              <a:latin typeface="Arial"/>
            </a:endParaRPr>
          </a:p>
          <a:p>
            <a:pPr marL="216000" indent="0">
              <a:lnSpc>
                <a:spcPct val="100000"/>
              </a:lnSpc>
              <a:buNone/>
            </a:pPr>
            <a:r>
              <a:rPr lang="en-GB" sz="1200" b="0" strike="noStrike" spc="-1">
                <a:solidFill>
                  <a:srgbClr val="000000"/>
                </a:solidFill>
                <a:latin typeface="Arial"/>
              </a:rPr>
              <a:t>Ghana's biometric function creep case reminds us that governance failures — not technology failures — are what endanger democracy. And the infrastructure sovereignty note on Africa's 4G build-out is a direct lesson: the choices we make about who builds our infrastructure are choices about who controls our democracy.</a:t>
            </a:r>
            <a:endParaRPr lang="en-US" sz="1200" b="0" strike="noStrike" spc="-1">
              <a:solidFill>
                <a:srgbClr val="000000"/>
              </a:solidFill>
              <a:latin typeface="Arial"/>
            </a:endParaRPr>
          </a:p>
        </p:txBody>
      </p:sp>
      <p:sp>
        <p:nvSpPr>
          <p:cNvPr id="609" name="PlaceHolder 3"/>
          <p:cNvSpPr>
            <a:spLocks noGrp="1"/>
          </p:cNvSpPr>
          <p:nvPr>
            <p:ph type="sldNum" idx="15"/>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strike="noStrike" spc="-1">
                <a:solidFill>
                  <a:schemeClr val="dk1"/>
                </a:solidFill>
                <a:latin typeface="+mn-lt"/>
                <a:ea typeface="+mn-ea"/>
              </a:defRPr>
            </a:lvl1pPr>
          </a:lstStyle>
          <a:p>
            <a:pPr indent="0" algn="r" defTabSz="914400">
              <a:lnSpc>
                <a:spcPct val="100000"/>
              </a:lnSpc>
              <a:buNone/>
              <a:tabLst>
                <a:tab pos="0" algn="l"/>
              </a:tabLst>
            </a:pPr>
            <a:fld id="{2990830A-A6F8-4EF4-A5DF-3093E4CCB54F}" type="slidenum">
              <a:rPr lang="en-US" sz="1200" b="0" strike="noStrike" spc="-1">
                <a:solidFill>
                  <a:schemeClr val="dk1"/>
                </a:solidFill>
                <a:latin typeface="+mn-lt"/>
                <a:ea typeface="+mn-ea"/>
              </a:rPr>
              <a:t>12</a:t>
            </a:fld>
            <a:endParaRPr lang="en-US" sz="1200" b="0" strike="noStrike" spc="-1">
              <a:solidFill>
                <a:srgbClr val="000000"/>
              </a:solidFill>
              <a:latin typeface="Times New Roman"/>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0" name="PlaceHolder 1"/>
          <p:cNvSpPr>
            <a:spLocks noGrp="1" noRot="1" noChangeAspect="1"/>
          </p:cNvSpPr>
          <p:nvPr>
            <p:ph type="sldImg"/>
          </p:nvPr>
        </p:nvSpPr>
        <p:spPr>
          <a:xfrm>
            <a:off x="685800" y="1143000"/>
            <a:ext cx="5485680" cy="3085560"/>
          </a:xfrm>
          <a:prstGeom prst="rect">
            <a:avLst/>
          </a:prstGeom>
          <a:ln w="0">
            <a:noFill/>
          </a:ln>
        </p:spPr>
      </p:sp>
      <p:sp>
        <p:nvSpPr>
          <p:cNvPr id="611"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lstStyle/>
          <a:p>
            <a:pPr marL="216000" indent="0">
              <a:lnSpc>
                <a:spcPct val="100000"/>
              </a:lnSpc>
              <a:buNone/>
            </a:pPr>
            <a:r>
              <a:rPr lang="en-GB" sz="1200" b="0" strike="noStrike" spc="-1">
                <a:solidFill>
                  <a:srgbClr val="000000"/>
                </a:solidFill>
                <a:latin typeface="Arial"/>
              </a:rPr>
              <a:t>Let us be unequivocally clear: there is no AI without data, and there is no digital democracy without complete data sovereignty. Data is our new civic infrastructure. The critical questions before this body are deeply political: Who owns the data? Who controls it? Who truly benefits?</a:t>
            </a:r>
            <a:endParaRPr lang="en-US" sz="1200" b="0" strike="noStrike" spc="-1">
              <a:solidFill>
                <a:srgbClr val="000000"/>
              </a:solidFill>
              <a:latin typeface="Arial"/>
            </a:endParaRPr>
          </a:p>
          <a:p>
            <a:pPr marL="216000" indent="0">
              <a:lnSpc>
                <a:spcPct val="100000"/>
              </a:lnSpc>
              <a:buNone/>
            </a:pPr>
            <a:r>
              <a:rPr lang="en-GB" sz="1200" b="0" strike="noStrike" spc="-1">
                <a:solidFill>
                  <a:srgbClr val="000000"/>
                </a:solidFill>
                <a:latin typeface="Arial"/>
              </a:rPr>
              <a:t>Our research must aggressively enforce the FAIR principles: Data must be Findable through rich metadata; Accessible via open, standardized protocols; Interoperable across cross-border systems; and Reusable with clear provenance and community-approved licensing.</a:t>
            </a:r>
            <a:endParaRPr lang="en-US" sz="1200" b="0" strike="noStrike" spc="-1">
              <a:solidFill>
                <a:srgbClr val="000000"/>
              </a:solidFill>
              <a:latin typeface="Arial"/>
            </a:endParaRPr>
          </a:p>
          <a:p>
            <a:pPr marL="216000" indent="0">
              <a:lnSpc>
                <a:spcPct val="100000"/>
              </a:lnSpc>
              <a:buNone/>
            </a:pPr>
            <a:r>
              <a:rPr lang="en-GB" sz="1200" b="0" strike="noStrike" spc="-1">
                <a:solidFill>
                  <a:srgbClr val="000000"/>
                </a:solidFill>
                <a:latin typeface="Arial"/>
              </a:rPr>
              <a:t>Nigeria's NDPA 2023 begins to answer the ownership question. The NDPC provides the accountability framework. But enforcement and judicial interpretation remain the frontier that academic researchers and civil society must actively shape.</a:t>
            </a:r>
            <a:endParaRPr lang="en-US" sz="1200" b="0" strike="noStrike" spc="-1">
              <a:solidFill>
                <a:srgbClr val="000000"/>
              </a:solidFill>
              <a:latin typeface="Arial"/>
            </a:endParaRPr>
          </a:p>
        </p:txBody>
      </p:sp>
      <p:sp>
        <p:nvSpPr>
          <p:cNvPr id="612" name="PlaceHolder 3"/>
          <p:cNvSpPr>
            <a:spLocks noGrp="1"/>
          </p:cNvSpPr>
          <p:nvPr>
            <p:ph type="sldNum" idx="16"/>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strike="noStrike" spc="-1">
                <a:solidFill>
                  <a:schemeClr val="dk1"/>
                </a:solidFill>
                <a:latin typeface="+mn-lt"/>
                <a:ea typeface="+mn-ea"/>
              </a:defRPr>
            </a:lvl1pPr>
          </a:lstStyle>
          <a:p>
            <a:pPr indent="0" algn="r" defTabSz="914400">
              <a:lnSpc>
                <a:spcPct val="100000"/>
              </a:lnSpc>
              <a:buNone/>
              <a:tabLst>
                <a:tab pos="0" algn="l"/>
              </a:tabLst>
            </a:pPr>
            <a:fld id="{CE19830A-3E68-4221-8700-4B4D032C0C95}" type="slidenum">
              <a:rPr lang="en-US" sz="1200" b="0" strike="noStrike" spc="-1">
                <a:solidFill>
                  <a:schemeClr val="dk1"/>
                </a:solidFill>
                <a:latin typeface="+mn-lt"/>
                <a:ea typeface="+mn-ea"/>
              </a:rPr>
              <a:t>13</a:t>
            </a:fld>
            <a:endParaRPr lang="en-US" sz="1200" b="0" strike="noStrike" spc="-1">
              <a:solidFill>
                <a:srgbClr val="000000"/>
              </a:solidFill>
              <a:latin typeface="Times New Roman"/>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3" name="PlaceHolder 1"/>
          <p:cNvSpPr>
            <a:spLocks noGrp="1" noRot="1" noChangeAspect="1"/>
          </p:cNvSpPr>
          <p:nvPr>
            <p:ph type="sldImg"/>
          </p:nvPr>
        </p:nvSpPr>
        <p:spPr>
          <a:xfrm>
            <a:off x="685800" y="1143000"/>
            <a:ext cx="5485680" cy="3085560"/>
          </a:xfrm>
          <a:prstGeom prst="rect">
            <a:avLst/>
          </a:prstGeom>
          <a:ln w="0">
            <a:noFill/>
          </a:ln>
        </p:spPr>
      </p:sp>
      <p:sp>
        <p:nvSpPr>
          <p:cNvPr id="614"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lstStyle/>
          <a:p>
            <a:pPr marL="216000" indent="0">
              <a:lnSpc>
                <a:spcPct val="100000"/>
              </a:lnSpc>
              <a:buNone/>
            </a:pPr>
            <a:r>
              <a:rPr lang="en-GB" sz="1200" b="0" strike="noStrike" spc="-1">
                <a:solidFill>
                  <a:srgbClr val="000000"/>
                </a:solidFill>
                <a:latin typeface="Arial"/>
              </a:rPr>
              <a:t>As an academic community, we must demand that our policymakers answer these five foundational questions before any system is deployed.</a:t>
            </a:r>
            <a:endParaRPr lang="en-US" sz="1200" b="0" strike="noStrike" spc="-1">
              <a:solidFill>
                <a:srgbClr val="000000"/>
              </a:solidFill>
              <a:latin typeface="Arial"/>
            </a:endParaRPr>
          </a:p>
          <a:p>
            <a:pPr marL="216000" indent="0">
              <a:lnSpc>
                <a:spcPct val="100000"/>
              </a:lnSpc>
              <a:buNone/>
            </a:pPr>
            <a:r>
              <a:rPr lang="en-GB" sz="1200" b="0" strike="noStrike" spc="-1">
                <a:solidFill>
                  <a:srgbClr val="000000"/>
                </a:solidFill>
                <a:latin typeface="Arial"/>
              </a:rPr>
              <a:t>One: Who is legally accountable for an algorithmic decision? Every public AI output must trace back to a named human authority. NDPA 2023 begins this — enforcement and judicial interpretation are the next frontier.</a:t>
            </a:r>
            <a:endParaRPr lang="en-US" sz="1200" b="0" strike="noStrike" spc="-1">
              <a:solidFill>
                <a:srgbClr val="000000"/>
              </a:solidFill>
              <a:latin typeface="Arial"/>
            </a:endParaRPr>
          </a:p>
          <a:p>
            <a:pPr marL="216000" indent="0">
              <a:lnSpc>
                <a:spcPct val="100000"/>
              </a:lnSpc>
              <a:buNone/>
            </a:pPr>
            <a:r>
              <a:rPr lang="en-GB" sz="1200" b="0" strike="noStrike" spc="-1">
                <a:solidFill>
                  <a:srgbClr val="000000"/>
                </a:solidFill>
                <a:latin typeface="Arial"/>
              </a:rPr>
              <a:t>Two: How do we prevent structural bias? Mandatory demographic impact audits across all geopolitical zones prior to deployment. FAIR datasets in all major Nigerian languages. Independent technical review bodies.</a:t>
            </a:r>
            <a:endParaRPr lang="en-US" sz="1200" b="0" strike="noStrike" spc="-1">
              <a:solidFill>
                <a:srgbClr val="000000"/>
              </a:solidFill>
              <a:latin typeface="Arial"/>
            </a:endParaRPr>
          </a:p>
          <a:p>
            <a:pPr marL="216000" indent="0">
              <a:lnSpc>
                <a:spcPct val="100000"/>
              </a:lnSpc>
              <a:buNone/>
            </a:pPr>
            <a:r>
              <a:rPr lang="en-GB" sz="1200" b="0" strike="noStrike" spc="-1">
                <a:solidFill>
                  <a:srgbClr val="000000"/>
                </a:solidFill>
                <a:latin typeface="Arial"/>
              </a:rPr>
              <a:t>Three: How do we protect citizen privacy? Data minimization and federated learning architectures that compute locally — not exfiltrating our sovereign data to foreign servers.</a:t>
            </a:r>
            <a:endParaRPr lang="en-US" sz="1200" b="0" strike="noStrike" spc="-1">
              <a:solidFill>
                <a:srgbClr val="000000"/>
              </a:solidFill>
              <a:latin typeface="Arial"/>
            </a:endParaRPr>
          </a:p>
          <a:p>
            <a:pPr marL="216000" indent="0">
              <a:lnSpc>
                <a:spcPct val="100000"/>
              </a:lnSpc>
              <a:buNone/>
            </a:pPr>
            <a:r>
              <a:rPr lang="en-GB" sz="1200" b="0" strike="noStrike" spc="-1">
                <a:solidFill>
                  <a:srgbClr val="000000"/>
                </a:solidFill>
                <a:latin typeface="Arial"/>
              </a:rPr>
              <a:t>Four: How do we guarantee transparency? Public systems must expose their performance metrics, training data sources, and demographic disaggregation. Open-source preferred for civic AI.</a:t>
            </a:r>
            <a:endParaRPr lang="en-US" sz="1200" b="0" strike="noStrike" spc="-1">
              <a:solidFill>
                <a:srgbClr val="000000"/>
              </a:solidFill>
              <a:latin typeface="Arial"/>
            </a:endParaRPr>
          </a:p>
          <a:p>
            <a:pPr marL="216000" indent="0">
              <a:lnSpc>
                <a:spcPct val="100000"/>
              </a:lnSpc>
              <a:buNone/>
            </a:pPr>
            <a:r>
              <a:rPr lang="en-GB" sz="1200" b="0" strike="noStrike" spc="-1">
                <a:solidFill>
                  <a:srgbClr val="000000"/>
                </a:solidFill>
                <a:latin typeface="Arial"/>
              </a:rPr>
              <a:t>Five: How do we maintain absolute human control? There must always be a non-algorithmic review pathway and an immediate right of appeal for citizens. Every high-stakes AI decision — in courts, elections, benefits — must have a human override.</a:t>
            </a:r>
            <a:endParaRPr lang="en-US" sz="1200" b="0" strike="noStrike" spc="-1">
              <a:solidFill>
                <a:srgbClr val="000000"/>
              </a:solidFill>
              <a:latin typeface="Arial"/>
            </a:endParaRPr>
          </a:p>
        </p:txBody>
      </p:sp>
      <p:sp>
        <p:nvSpPr>
          <p:cNvPr id="615" name="PlaceHolder 3"/>
          <p:cNvSpPr>
            <a:spLocks noGrp="1"/>
          </p:cNvSpPr>
          <p:nvPr>
            <p:ph type="sldNum" idx="17"/>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strike="noStrike" spc="-1">
                <a:solidFill>
                  <a:schemeClr val="dk1"/>
                </a:solidFill>
                <a:latin typeface="+mn-lt"/>
                <a:ea typeface="+mn-ea"/>
              </a:defRPr>
            </a:lvl1pPr>
          </a:lstStyle>
          <a:p>
            <a:pPr indent="0" algn="r" defTabSz="914400">
              <a:lnSpc>
                <a:spcPct val="100000"/>
              </a:lnSpc>
              <a:buNone/>
              <a:tabLst>
                <a:tab pos="0" algn="l"/>
              </a:tabLst>
            </a:pPr>
            <a:fld id="{D2328D7F-3AC6-415B-9DB3-7982D199597D}" type="slidenum">
              <a:rPr lang="en-US" sz="1200" b="0" strike="noStrike" spc="-1">
                <a:solidFill>
                  <a:schemeClr val="dk1"/>
                </a:solidFill>
                <a:latin typeface="+mn-lt"/>
                <a:ea typeface="+mn-ea"/>
              </a:rPr>
              <a:t>14</a:t>
            </a:fld>
            <a:endParaRPr lang="en-US" sz="1200" b="0" strike="noStrike" spc="-1">
              <a:solidFill>
                <a:srgbClr val="000000"/>
              </a:solidFill>
              <a:latin typeface="Times New Roman"/>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6" name="PlaceHolder 1"/>
          <p:cNvSpPr>
            <a:spLocks noGrp="1" noRot="1" noChangeAspect="1"/>
          </p:cNvSpPr>
          <p:nvPr>
            <p:ph type="sldImg"/>
          </p:nvPr>
        </p:nvSpPr>
        <p:spPr>
          <a:xfrm>
            <a:off x="685800" y="1143000"/>
            <a:ext cx="5485680" cy="3085560"/>
          </a:xfrm>
          <a:prstGeom prst="rect">
            <a:avLst/>
          </a:prstGeom>
          <a:ln w="0">
            <a:noFill/>
          </a:ln>
        </p:spPr>
      </p:sp>
      <p:sp>
        <p:nvSpPr>
          <p:cNvPr id="617"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lstStyle/>
          <a:p>
            <a:pPr marL="216000" indent="0">
              <a:lnSpc>
                <a:spcPct val="100000"/>
              </a:lnSpc>
              <a:buNone/>
            </a:pPr>
            <a:r>
              <a:rPr lang="en-GB" sz="1200" b="0" strike="noStrike" spc="-1">
                <a:solidFill>
                  <a:srgbClr val="000000"/>
                </a:solidFill>
                <a:latin typeface="Arial"/>
              </a:rPr>
              <a:t>Now, let me speak directly to every segment of our audience today.</a:t>
            </a:r>
            <a:endParaRPr lang="en-US" sz="1200" b="0" strike="noStrike" spc="-1">
              <a:solidFill>
                <a:srgbClr val="000000"/>
              </a:solidFill>
              <a:latin typeface="Arial"/>
            </a:endParaRPr>
          </a:p>
          <a:p>
            <a:pPr marL="216000" indent="0">
              <a:lnSpc>
                <a:spcPct val="100000"/>
              </a:lnSpc>
              <a:buNone/>
            </a:pPr>
            <a:r>
              <a:rPr lang="en-GB" sz="1200" b="0" strike="noStrike" spc="-1">
                <a:solidFill>
                  <a:srgbClr val="000000"/>
                </a:solidFill>
                <a:latin typeface="Arial"/>
              </a:rPr>
              <a:t>To our undergraduates: Do not just chase training accuracy optimization metrics. Learn AI ethics, dedicate your final-year projects to building or actively auditing civic software, and volunteer your technical skills with civic tech spaces like EiE Nigeria, BudgIT, and Tracka.</a:t>
            </a:r>
            <a:endParaRPr lang="en-US" sz="1200" b="0" strike="noStrike" spc="-1">
              <a:solidFill>
                <a:srgbClr val="000000"/>
              </a:solidFill>
              <a:latin typeface="Arial"/>
            </a:endParaRPr>
          </a:p>
          <a:p>
            <a:pPr marL="216000" indent="0">
              <a:lnSpc>
                <a:spcPct val="100000"/>
              </a:lnSpc>
              <a:buNone/>
            </a:pPr>
            <a:r>
              <a:rPr lang="en-GB" sz="1200" b="0" strike="noStrike" spc="-1">
                <a:solidFill>
                  <a:srgbClr val="000000"/>
                </a:solidFill>
                <a:latin typeface="Arial"/>
              </a:rPr>
              <a:t>To our postgraduates and fellow researchers: Your mandate is to build FAIR language repositories for our local contexts. Run thorough bias evaluations on active public software and develop explainable pipelines for governance use cases. Engage NITDA, NCAIR, and the NDPC on the regulatory and standards gaps this presentation has identified.</a:t>
            </a:r>
            <a:endParaRPr lang="en-US" sz="1200" b="0" strike="noStrike" spc="-1">
              <a:solidFill>
                <a:srgbClr val="000000"/>
              </a:solidFill>
              <a:latin typeface="Arial"/>
            </a:endParaRPr>
          </a:p>
          <a:p>
            <a:pPr marL="216000" indent="0">
              <a:lnSpc>
                <a:spcPct val="100000"/>
              </a:lnSpc>
              <a:buNone/>
            </a:pPr>
            <a:r>
              <a:rPr lang="en-GB" sz="1200" b="0" strike="noStrike" spc="-1">
                <a:solidFill>
                  <a:srgbClr val="000000"/>
                </a:solidFill>
                <a:latin typeface="Arial"/>
              </a:rPr>
              <a:t>To my fellow faculty and academics: We must structurally overhaul our computer science, law, and social science curricula to teach cross-disciplinary AI ethics. We must stop waiting to be invited; we must actively insert our research into national policy design.</a:t>
            </a:r>
            <a:endParaRPr lang="en-US" sz="1200" b="0" strike="noStrike" spc="-1">
              <a:solidFill>
                <a:srgbClr val="000000"/>
              </a:solidFill>
              <a:latin typeface="Arial"/>
            </a:endParaRPr>
          </a:p>
        </p:txBody>
      </p:sp>
      <p:sp>
        <p:nvSpPr>
          <p:cNvPr id="618" name="PlaceHolder 3"/>
          <p:cNvSpPr>
            <a:spLocks noGrp="1"/>
          </p:cNvSpPr>
          <p:nvPr>
            <p:ph type="sldNum" idx="18"/>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strike="noStrike" spc="-1">
                <a:solidFill>
                  <a:schemeClr val="dk1"/>
                </a:solidFill>
                <a:latin typeface="+mn-lt"/>
                <a:ea typeface="+mn-ea"/>
              </a:defRPr>
            </a:lvl1pPr>
          </a:lstStyle>
          <a:p>
            <a:pPr indent="0" algn="r" defTabSz="914400">
              <a:lnSpc>
                <a:spcPct val="100000"/>
              </a:lnSpc>
              <a:buNone/>
              <a:tabLst>
                <a:tab pos="0" algn="l"/>
              </a:tabLst>
            </a:pPr>
            <a:fld id="{47D55A76-8BD8-4431-9CDE-947EC971B424}" type="slidenum">
              <a:rPr lang="en-US" sz="1200" b="0" strike="noStrike" spc="-1">
                <a:solidFill>
                  <a:schemeClr val="dk1"/>
                </a:solidFill>
                <a:latin typeface="+mn-lt"/>
                <a:ea typeface="+mn-ea"/>
              </a:rPr>
              <a:t>15</a:t>
            </a:fld>
            <a:endParaRPr lang="en-US" sz="1200" b="0" strike="noStrike" spc="-1">
              <a:solidFill>
                <a:srgbClr val="000000"/>
              </a:solidFill>
              <a:latin typeface="Times New Roman"/>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9" name="PlaceHolder 1"/>
          <p:cNvSpPr>
            <a:spLocks noGrp="1" noRot="1" noChangeAspect="1"/>
          </p:cNvSpPr>
          <p:nvPr>
            <p:ph type="sldImg"/>
          </p:nvPr>
        </p:nvSpPr>
        <p:spPr>
          <a:xfrm>
            <a:off x="685800" y="1143000"/>
            <a:ext cx="5485680" cy="3085560"/>
          </a:xfrm>
          <a:prstGeom prst="rect">
            <a:avLst/>
          </a:prstGeom>
          <a:ln w="0">
            <a:noFill/>
          </a:ln>
        </p:spPr>
      </p:sp>
      <p:sp>
        <p:nvSpPr>
          <p:cNvPr id="620"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lstStyle/>
          <a:p>
            <a:pPr marL="216000" indent="0">
              <a:lnSpc>
                <a:spcPct val="100000"/>
              </a:lnSpc>
              <a:buNone/>
            </a:pPr>
            <a:r>
              <a:rPr lang="en-GB" sz="1200" b="0" strike="noStrike" spc="-1">
                <a:solidFill>
                  <a:srgbClr val="000000"/>
                </a:solidFill>
                <a:latin typeface="Arial"/>
              </a:rPr>
              <a:t>To synthesize this vision, we present the 5-Pillar African AI Democracy Framework.</a:t>
            </a:r>
            <a:endParaRPr lang="en-US" sz="1200" b="0" strike="noStrike" spc="-1">
              <a:solidFill>
                <a:srgbClr val="000000"/>
              </a:solidFill>
              <a:latin typeface="Arial"/>
            </a:endParaRPr>
          </a:p>
          <a:p>
            <a:pPr marL="216000" indent="0">
              <a:lnSpc>
                <a:spcPct val="100000"/>
              </a:lnSpc>
              <a:buNone/>
            </a:pPr>
            <a:r>
              <a:rPr lang="en-GB" sz="1200" b="0" strike="noStrike" spc="-1">
                <a:solidFill>
                  <a:srgbClr val="000000"/>
                </a:solidFill>
                <a:latin typeface="Arial"/>
              </a:rPr>
              <a:t>First, People — putting local communities at the absolute center of system design through free, prior, and informed consent for every affected group.</a:t>
            </a:r>
            <a:endParaRPr lang="en-US" sz="1200" b="0" strike="noStrike" spc="-1">
              <a:solidFill>
                <a:srgbClr val="000000"/>
              </a:solidFill>
              <a:latin typeface="Arial"/>
            </a:endParaRPr>
          </a:p>
          <a:p>
            <a:pPr marL="216000" indent="0">
              <a:lnSpc>
                <a:spcPct val="100000"/>
              </a:lnSpc>
              <a:buNone/>
            </a:pPr>
            <a:r>
              <a:rPr lang="en-GB" sz="1200" b="0" strike="noStrike" spc="-1">
                <a:solidFill>
                  <a:srgbClr val="000000"/>
                </a:solidFill>
                <a:latin typeface="Arial"/>
              </a:rPr>
              <a:t>Second, Participation — treating universal broadband and multilingual computing interfaces as fundamental democratic rights, with offline-capable AI as constitutional infrastructure.</a:t>
            </a:r>
            <a:endParaRPr lang="en-US" sz="1200" b="0" strike="noStrike" spc="-1">
              <a:solidFill>
                <a:srgbClr val="000000"/>
              </a:solidFill>
              <a:latin typeface="Arial"/>
            </a:endParaRPr>
          </a:p>
          <a:p>
            <a:pPr marL="216000" indent="0">
              <a:lnSpc>
                <a:spcPct val="100000"/>
              </a:lnSpc>
              <a:buNone/>
            </a:pPr>
            <a:r>
              <a:rPr lang="en-GB" sz="1200" b="0" strike="noStrike" spc="-1">
                <a:solidFill>
                  <a:srgbClr val="000000"/>
                </a:solidFill>
                <a:latin typeface="Arial"/>
              </a:rPr>
              <a:t>Third, Policy — crafting a comprehensive National AI Act anchored securely in NDPA 2023, Ubuntu ethics, and Omoluabi principles, with mandatory algorithmic impact assessments for all public AI.</a:t>
            </a:r>
            <a:endParaRPr lang="en-US" sz="1200" b="0" strike="noStrike" spc="-1">
              <a:solidFill>
                <a:srgbClr val="000000"/>
              </a:solidFill>
              <a:latin typeface="Arial"/>
            </a:endParaRPr>
          </a:p>
          <a:p>
            <a:pPr marL="216000" indent="0">
              <a:lnSpc>
                <a:spcPct val="100000"/>
              </a:lnSpc>
              <a:buNone/>
            </a:pPr>
            <a:r>
              <a:rPr lang="en-GB" sz="1200" b="0" strike="noStrike" spc="-1">
                <a:solidFill>
                  <a:srgbClr val="000000"/>
                </a:solidFill>
                <a:latin typeface="Arial"/>
              </a:rPr>
              <a:t>Fourth, Platforms — insisting on trusted, privacy-preserving, federated national computing nodes. Nigerian government AI must not exfiltrate citizen data abroad.</a:t>
            </a:r>
            <a:endParaRPr lang="en-US" sz="1200" b="0" strike="noStrike" spc="-1">
              <a:solidFill>
                <a:srgbClr val="000000"/>
              </a:solidFill>
              <a:latin typeface="Arial"/>
            </a:endParaRPr>
          </a:p>
          <a:p>
            <a:pPr marL="216000" indent="0">
              <a:lnSpc>
                <a:spcPct val="100000"/>
              </a:lnSpc>
              <a:buNone/>
            </a:pPr>
            <a:r>
              <a:rPr lang="en-GB" sz="1200" b="0" strike="noStrike" spc="-1">
                <a:solidFill>
                  <a:srgbClr val="000000"/>
                </a:solidFill>
                <a:latin typeface="Arial"/>
              </a:rPr>
              <a:t>Fifth, Protection — establishing a completely independent AI oversight body with civil society and academic representation to protect citizens from algorithmic harm, with a dedicated ombudsman function.</a:t>
            </a:r>
            <a:endParaRPr lang="en-US" sz="1200" b="0" strike="noStrike" spc="-1">
              <a:solidFill>
                <a:srgbClr val="000000"/>
              </a:solidFill>
              <a:latin typeface="Arial"/>
            </a:endParaRPr>
          </a:p>
        </p:txBody>
      </p:sp>
      <p:sp>
        <p:nvSpPr>
          <p:cNvPr id="621" name="PlaceHolder 3"/>
          <p:cNvSpPr>
            <a:spLocks noGrp="1"/>
          </p:cNvSpPr>
          <p:nvPr>
            <p:ph type="sldNum" idx="19"/>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strike="noStrike" spc="-1">
                <a:solidFill>
                  <a:schemeClr val="dk1"/>
                </a:solidFill>
                <a:latin typeface="+mn-lt"/>
                <a:ea typeface="+mn-ea"/>
              </a:defRPr>
            </a:lvl1pPr>
          </a:lstStyle>
          <a:p>
            <a:pPr indent="0" algn="r" defTabSz="914400">
              <a:lnSpc>
                <a:spcPct val="100000"/>
              </a:lnSpc>
              <a:buNone/>
              <a:tabLst>
                <a:tab pos="0" algn="l"/>
              </a:tabLst>
            </a:pPr>
            <a:fld id="{3B80FECA-39B0-423C-8249-2B43271608E1}" type="slidenum">
              <a:rPr lang="en-US" sz="1200" b="0" strike="noStrike" spc="-1">
                <a:solidFill>
                  <a:schemeClr val="dk1"/>
                </a:solidFill>
                <a:latin typeface="+mn-lt"/>
                <a:ea typeface="+mn-ea"/>
              </a:rPr>
              <a:t>16</a:t>
            </a:fld>
            <a:endParaRPr lang="en-US" sz="1200" b="0" strike="noStrike" spc="-1">
              <a:solidFill>
                <a:srgbClr val="000000"/>
              </a:solidFill>
              <a:latin typeface="Times New Roman"/>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2" name="PlaceHolder 1"/>
          <p:cNvSpPr>
            <a:spLocks noGrp="1" noRot="1" noChangeAspect="1"/>
          </p:cNvSpPr>
          <p:nvPr>
            <p:ph type="sldImg"/>
          </p:nvPr>
        </p:nvSpPr>
        <p:spPr>
          <a:xfrm>
            <a:off x="685800" y="1143000"/>
            <a:ext cx="5485680" cy="3085560"/>
          </a:xfrm>
          <a:prstGeom prst="rect">
            <a:avLst/>
          </a:prstGeom>
          <a:ln w="0">
            <a:noFill/>
          </a:ln>
        </p:spPr>
      </p:sp>
      <p:sp>
        <p:nvSpPr>
          <p:cNvPr id="623"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lstStyle/>
          <a:p>
            <a:pPr marL="216000" indent="0">
              <a:lnSpc>
                <a:spcPct val="100000"/>
              </a:lnSpc>
              <a:buNone/>
            </a:pPr>
            <a:r>
              <a:rPr lang="en-GB" sz="1200" b="0" strike="noStrike" spc="-1">
                <a:solidFill>
                  <a:srgbClr val="000000"/>
                </a:solidFill>
                <a:latin typeface="Arial"/>
              </a:rPr>
              <a:t>As we look toward immediate action items, we have seven operational non-negotiables that must be executed before 2030.</a:t>
            </a:r>
            <a:endParaRPr lang="en-US" sz="1200" b="0" strike="noStrike" spc="-1">
              <a:solidFill>
                <a:srgbClr val="000000"/>
              </a:solidFill>
              <a:latin typeface="Arial"/>
            </a:endParaRPr>
          </a:p>
          <a:p>
            <a:pPr marL="216000" indent="0">
              <a:lnSpc>
                <a:spcPct val="100000"/>
              </a:lnSpc>
              <a:buNone/>
            </a:pPr>
            <a:r>
              <a:rPr lang="en-GB" sz="1200" b="0" strike="noStrike" spc="-1">
                <a:solidFill>
                  <a:srgbClr val="000000"/>
                </a:solidFill>
                <a:latin typeface="Arial"/>
              </a:rPr>
              <a:t>We must pass our National AI Act, grounded in NDPA 2023, with mandatory algorithmic impact assessments for all public-sector AI systems.</a:t>
            </a:r>
            <a:endParaRPr lang="en-US" sz="1200" b="0" strike="noStrike" spc="-1">
              <a:solidFill>
                <a:srgbClr val="000000"/>
              </a:solidFill>
              <a:latin typeface="Arial"/>
            </a:endParaRPr>
          </a:p>
          <a:p>
            <a:pPr marL="216000" indent="0">
              <a:lnSpc>
                <a:spcPct val="100000"/>
              </a:lnSpc>
              <a:buNone/>
            </a:pPr>
            <a:r>
              <a:rPr lang="en-GB" sz="1200" b="0" strike="noStrike" spc="-1">
                <a:solidFill>
                  <a:srgbClr val="000000"/>
                </a:solidFill>
                <a:latin typeface="Arial"/>
              </a:rPr>
              <a:t>We must establish an independent oversight body where citizens can openly contest automated outcomes — with civil society, academic, and technical representation.</a:t>
            </a:r>
            <a:endParaRPr lang="en-US" sz="1200" b="0" strike="noStrike" spc="-1">
              <a:solidFill>
                <a:srgbClr val="000000"/>
              </a:solidFill>
              <a:latin typeface="Arial"/>
            </a:endParaRPr>
          </a:p>
          <a:p>
            <a:pPr marL="216000" indent="0">
              <a:lnSpc>
                <a:spcPct val="100000"/>
              </a:lnSpc>
              <a:buNone/>
            </a:pPr>
            <a:r>
              <a:rPr lang="en-GB" sz="1200" b="0" strike="noStrike" spc="-1">
                <a:solidFill>
                  <a:srgbClr val="000000"/>
                </a:solidFill>
                <a:latin typeface="Arial"/>
              </a:rPr>
              <a:t>We must create a dedicated national funding stream via TETFUND specifically for local language NLP engineering for Yorùbá, Hausa, Igbo, and Pidgin.</a:t>
            </a:r>
            <a:endParaRPr lang="en-US" sz="1200" b="0" strike="noStrike" spc="-1">
              <a:solidFill>
                <a:srgbClr val="000000"/>
              </a:solidFill>
              <a:latin typeface="Arial"/>
            </a:endParaRPr>
          </a:p>
          <a:p>
            <a:pPr marL="216000" indent="0">
              <a:lnSpc>
                <a:spcPct val="100000"/>
              </a:lnSpc>
              <a:buNone/>
            </a:pPr>
            <a:r>
              <a:rPr lang="en-GB" sz="1200" b="0" strike="noStrike" spc="-1">
                <a:solidFill>
                  <a:srgbClr val="000000"/>
                </a:solidFill>
                <a:latin typeface="Arial"/>
              </a:rPr>
              <a:t>We must mandate open procurement standards that require demographic performance audits before public money is spent on AI systems.</a:t>
            </a:r>
            <a:endParaRPr lang="en-US" sz="1200" b="0" strike="noStrike" spc="-1">
              <a:solidFill>
                <a:srgbClr val="000000"/>
              </a:solidFill>
              <a:latin typeface="Arial"/>
            </a:endParaRPr>
          </a:p>
          <a:p>
            <a:pPr marL="216000" indent="0">
              <a:lnSpc>
                <a:spcPct val="100000"/>
              </a:lnSpc>
              <a:buNone/>
            </a:pPr>
            <a:r>
              <a:rPr lang="en-GB" sz="1200" b="0" strike="noStrike" spc="-1">
                <a:solidFill>
                  <a:srgbClr val="000000"/>
                </a:solidFill>
                <a:latin typeface="Arial"/>
              </a:rPr>
              <a:t>We must embed digital rights education deeply into our secondary and tertiary educational structures. Citizens who cannot read an algorithm can still be harmed by one.</a:t>
            </a:r>
            <a:endParaRPr lang="en-US" sz="1200" b="0" strike="noStrike" spc="-1">
              <a:solidFill>
                <a:srgbClr val="000000"/>
              </a:solidFill>
              <a:latin typeface="Arial"/>
            </a:endParaRPr>
          </a:p>
          <a:p>
            <a:pPr marL="216000" indent="0">
              <a:lnSpc>
                <a:spcPct val="100000"/>
              </a:lnSpc>
              <a:buNone/>
            </a:pPr>
            <a:r>
              <a:rPr lang="en-GB" sz="1200" b="0" strike="noStrike" spc="-1">
                <a:solidFill>
                  <a:srgbClr val="000000"/>
                </a:solidFill>
                <a:latin typeface="Arial"/>
              </a:rPr>
              <a:t>We must co-lead a sovereign African AI Governance Coalition alongside regional partners — not simply adopting EU AI Act models wholesale.</a:t>
            </a:r>
            <a:endParaRPr lang="en-US" sz="1200" b="0" strike="noStrike" spc="-1">
              <a:solidFill>
                <a:srgbClr val="000000"/>
              </a:solidFill>
              <a:latin typeface="Arial"/>
            </a:endParaRPr>
          </a:p>
          <a:p>
            <a:pPr marL="216000" indent="0">
              <a:lnSpc>
                <a:spcPct val="100000"/>
              </a:lnSpc>
              <a:buNone/>
            </a:pPr>
            <a:r>
              <a:rPr lang="en-GB" sz="1200" b="0" strike="noStrike" spc="-1">
                <a:solidFill>
                  <a:srgbClr val="000000"/>
                </a:solidFill>
                <a:latin typeface="Arial"/>
              </a:rPr>
              <a:t>And we must finalize a structural University-Government-Civil Society Compact so that our research labs are auditing these architectures before deployment, not consulting on disasters after the fact.</a:t>
            </a:r>
            <a:endParaRPr lang="en-US" sz="1200" b="0" strike="noStrike" spc="-1">
              <a:solidFill>
                <a:srgbClr val="000000"/>
              </a:solidFill>
              <a:latin typeface="Arial"/>
            </a:endParaRPr>
          </a:p>
        </p:txBody>
      </p:sp>
      <p:sp>
        <p:nvSpPr>
          <p:cNvPr id="624" name="PlaceHolder 3"/>
          <p:cNvSpPr>
            <a:spLocks noGrp="1"/>
          </p:cNvSpPr>
          <p:nvPr>
            <p:ph type="sldNum" idx="20"/>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strike="noStrike" spc="-1">
                <a:solidFill>
                  <a:schemeClr val="dk1"/>
                </a:solidFill>
                <a:latin typeface="+mn-lt"/>
                <a:ea typeface="+mn-ea"/>
              </a:defRPr>
            </a:lvl1pPr>
          </a:lstStyle>
          <a:p>
            <a:pPr indent="0" algn="r" defTabSz="914400">
              <a:lnSpc>
                <a:spcPct val="100000"/>
              </a:lnSpc>
              <a:buNone/>
              <a:tabLst>
                <a:tab pos="0" algn="l"/>
              </a:tabLst>
            </a:pPr>
            <a:fld id="{57273DFE-7B4B-411C-8E6D-495E677651DF}" type="slidenum">
              <a:rPr lang="en-US" sz="1200" b="0" strike="noStrike" spc="-1">
                <a:solidFill>
                  <a:schemeClr val="dk1"/>
                </a:solidFill>
                <a:latin typeface="+mn-lt"/>
                <a:ea typeface="+mn-ea"/>
              </a:rPr>
              <a:t>17</a:t>
            </a:fld>
            <a:endParaRPr lang="en-US" sz="1200" b="0" strike="noStrike" spc="-1">
              <a:solidFill>
                <a:srgbClr val="000000"/>
              </a:solidFill>
              <a:latin typeface="Times New Roman"/>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5" name="PlaceHolder 1"/>
          <p:cNvSpPr>
            <a:spLocks noGrp="1" noRot="1" noChangeAspect="1"/>
          </p:cNvSpPr>
          <p:nvPr>
            <p:ph type="sldImg"/>
          </p:nvPr>
        </p:nvSpPr>
        <p:spPr>
          <a:xfrm>
            <a:off x="685800" y="1143000"/>
            <a:ext cx="5485680" cy="3085560"/>
          </a:xfrm>
          <a:prstGeom prst="rect">
            <a:avLst/>
          </a:prstGeom>
          <a:ln w="0">
            <a:noFill/>
          </a:ln>
        </p:spPr>
      </p:sp>
      <p:sp>
        <p:nvSpPr>
          <p:cNvPr id="626"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lstStyle/>
          <a:p>
            <a:pPr marL="216000" indent="0">
              <a:lnSpc>
                <a:spcPct val="100000"/>
              </a:lnSpc>
              <a:buNone/>
            </a:pPr>
            <a:r>
              <a:rPr lang="en-GB" sz="1200" b="0" strike="noStrike" spc="-1">
                <a:solidFill>
                  <a:srgbClr val="000000"/>
                </a:solidFill>
                <a:latin typeface="Arial"/>
              </a:rPr>
              <a:t>This brings us to our generational roadmap.</a:t>
            </a:r>
            <a:endParaRPr lang="en-US" sz="1200" b="0" strike="noStrike" spc="-1">
              <a:solidFill>
                <a:srgbClr val="000000"/>
              </a:solidFill>
              <a:latin typeface="Arial"/>
            </a:endParaRPr>
          </a:p>
          <a:p>
            <a:pPr marL="216000" indent="0">
              <a:lnSpc>
                <a:spcPct val="100000"/>
              </a:lnSpc>
              <a:buNone/>
            </a:pPr>
            <a:r>
              <a:rPr lang="en-GB" sz="1200" b="0" strike="noStrike" spc="-1">
                <a:solidFill>
                  <a:srgbClr val="000000"/>
                </a:solidFill>
                <a:latin typeface="Arial"/>
              </a:rPr>
              <a:t>We are currently launching Phase 1: Foundations (2025–2030), focused on baseline legislation, the National AI Act, NDPC enforcement capacity, multilingual NLP research funding through TETFUND, AI literacy in secondary and tertiary curricula, and forming the African AI Governance Coalition.</a:t>
            </a:r>
            <a:endParaRPr lang="en-US" sz="1200" b="0" strike="noStrike" spc="-1">
              <a:solidFill>
                <a:srgbClr val="000000"/>
              </a:solidFill>
              <a:latin typeface="Arial"/>
            </a:endParaRPr>
          </a:p>
          <a:p>
            <a:pPr marL="216000" indent="0">
              <a:lnSpc>
                <a:spcPct val="100000"/>
              </a:lnSpc>
              <a:buNone/>
            </a:pPr>
            <a:r>
              <a:rPr lang="en-GB" sz="1200" b="0" strike="noStrike" spc="-1">
                <a:solidFill>
                  <a:srgbClr val="000000"/>
                </a:solidFill>
                <a:latin typeface="Arial"/>
              </a:rPr>
              <a:t>This moves us into Phase 2: Integration (2030–2040), where audited automated systems enter our electoral cycles, e-government platforms expand in multiple languages nationwide, federated civic data infrastructure is built across all 36 states, and smart city governance frameworks integrate with full algorithmic transparency.</a:t>
            </a:r>
            <a:endParaRPr lang="en-US" sz="1200" b="0" strike="noStrike" spc="-1">
              <a:solidFill>
                <a:srgbClr val="000000"/>
              </a:solidFill>
              <a:latin typeface="Arial"/>
            </a:endParaRPr>
          </a:p>
          <a:p>
            <a:pPr marL="216000" indent="0">
              <a:lnSpc>
                <a:spcPct val="100000"/>
              </a:lnSpc>
              <a:buNone/>
            </a:pPr>
            <a:r>
              <a:rPr lang="en-GB" sz="1200" b="0" strike="noStrike" spc="-1">
                <a:solidFill>
                  <a:srgbClr val="000000"/>
                </a:solidFill>
                <a:latin typeface="Arial"/>
              </a:rPr>
              <a:t>This finally culminates in Phase 3: Transformation (2040–2050), where a mature digital republic protects constitutional algorithmic rights for over 400 million citizens, Cultural AI preserves our 500+ language heritage, and Nigeria stands as a dominant global leader in sovereign, culturally intelligent, and responsible AI democracy.</a:t>
            </a:r>
            <a:endParaRPr lang="en-US" sz="1200" b="0" strike="noStrike" spc="-1">
              <a:solidFill>
                <a:srgbClr val="000000"/>
              </a:solidFill>
              <a:latin typeface="Arial"/>
            </a:endParaRPr>
          </a:p>
        </p:txBody>
      </p:sp>
      <p:sp>
        <p:nvSpPr>
          <p:cNvPr id="627" name="PlaceHolder 3"/>
          <p:cNvSpPr>
            <a:spLocks noGrp="1"/>
          </p:cNvSpPr>
          <p:nvPr>
            <p:ph type="sldNum" idx="21"/>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strike="noStrike" spc="-1">
                <a:solidFill>
                  <a:schemeClr val="dk1"/>
                </a:solidFill>
                <a:latin typeface="+mn-lt"/>
                <a:ea typeface="+mn-ea"/>
              </a:defRPr>
            </a:lvl1pPr>
          </a:lstStyle>
          <a:p>
            <a:pPr indent="0" algn="r" defTabSz="914400">
              <a:lnSpc>
                <a:spcPct val="100000"/>
              </a:lnSpc>
              <a:buNone/>
              <a:tabLst>
                <a:tab pos="0" algn="l"/>
              </a:tabLst>
            </a:pPr>
            <a:fld id="{55D03265-3AD6-4FE9-8BBC-D9F15AB2F6CE}" type="slidenum">
              <a:rPr lang="en-US" sz="1200" b="0" strike="noStrike" spc="-1">
                <a:solidFill>
                  <a:schemeClr val="dk1"/>
                </a:solidFill>
                <a:latin typeface="+mn-lt"/>
                <a:ea typeface="+mn-ea"/>
              </a:rPr>
              <a:t>18</a:t>
            </a:fld>
            <a:endParaRPr lang="en-US" sz="1200" b="0" strike="noStrike" spc="-1">
              <a:solidFill>
                <a:srgbClr val="000000"/>
              </a:solidFill>
              <a:latin typeface="Times New Roman"/>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8" name="PlaceHolder 1"/>
          <p:cNvSpPr>
            <a:spLocks noGrp="1" noRot="1" noChangeAspect="1"/>
          </p:cNvSpPr>
          <p:nvPr>
            <p:ph type="sldImg"/>
          </p:nvPr>
        </p:nvSpPr>
        <p:spPr>
          <a:xfrm>
            <a:off x="685800" y="1143000"/>
            <a:ext cx="5486400" cy="3086100"/>
          </a:xfrm>
          <a:prstGeom prst="rect">
            <a:avLst/>
          </a:prstGeom>
          <a:ln w="0">
            <a:noFill/>
          </a:ln>
        </p:spPr>
      </p:sp>
      <p:sp>
        <p:nvSpPr>
          <p:cNvPr id="629"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lstStyle/>
          <a:p>
            <a:pPr marL="216000" indent="0">
              <a:lnSpc>
                <a:spcPct val="100000"/>
              </a:lnSpc>
              <a:buNone/>
            </a:pPr>
            <a:r>
              <a:rPr lang="en-GB" sz="1200" b="0" strike="noStrike" spc="-1">
                <a:solidFill>
                  <a:srgbClr val="000000"/>
                </a:solidFill>
                <a:latin typeface="Arial"/>
              </a:rPr>
              <a:t>As I conclude, I leave you with the single most critical realization of this presentation. The ultimate question for data scientists and academics is never: 'What can the algorithm do?' That is a purely technical constraint. The real question — the political and human question — is: 'What kind of society do we want AI to help us build?' Technology must never replace human agency; it must amplify human dignity.</a:t>
            </a:r>
            <a:endParaRPr lang="en-US" sz="1200" b="0" strike="noStrike" spc="-1">
              <a:solidFill>
                <a:srgbClr val="000000"/>
              </a:solidFill>
              <a:latin typeface="Arial"/>
            </a:endParaRPr>
          </a:p>
        </p:txBody>
      </p:sp>
      <p:sp>
        <p:nvSpPr>
          <p:cNvPr id="630" name="PlaceHolder 3"/>
          <p:cNvSpPr>
            <a:spLocks noGrp="1"/>
          </p:cNvSpPr>
          <p:nvPr>
            <p:ph type="sldNum" idx="22"/>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strike="noStrike" spc="-1">
                <a:solidFill>
                  <a:schemeClr val="dk1"/>
                </a:solidFill>
                <a:latin typeface="+mn-lt"/>
                <a:ea typeface="+mn-ea"/>
              </a:defRPr>
            </a:lvl1pPr>
          </a:lstStyle>
          <a:p>
            <a:pPr indent="0" algn="r" defTabSz="914400">
              <a:lnSpc>
                <a:spcPct val="100000"/>
              </a:lnSpc>
              <a:buNone/>
              <a:tabLst>
                <a:tab pos="0" algn="l"/>
              </a:tabLst>
            </a:pPr>
            <a:fld id="{A9C1FD2A-0411-48E1-A218-D3395A0B9567}" type="slidenum">
              <a:rPr lang="en-US" sz="1200" b="0" strike="noStrike" spc="-1">
                <a:solidFill>
                  <a:schemeClr val="dk1"/>
                </a:solidFill>
                <a:latin typeface="+mn-lt"/>
                <a:ea typeface="+mn-ea"/>
              </a:rPr>
              <a:t>19</a:t>
            </a:fld>
            <a:endParaRPr lang="en-US" sz="1200" b="0" strike="noStrike" spc="-1">
              <a:solidFill>
                <a:srgbClr val="000000"/>
              </a:solidFill>
              <a:latin typeface="Times New Roman"/>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1" name="PlaceHolder 1"/>
          <p:cNvSpPr>
            <a:spLocks noGrp="1" noRot="1" noChangeAspect="1"/>
          </p:cNvSpPr>
          <p:nvPr>
            <p:ph type="sldImg"/>
          </p:nvPr>
        </p:nvSpPr>
        <p:spPr>
          <a:xfrm>
            <a:off x="685800" y="1143000"/>
            <a:ext cx="5486400" cy="3086100"/>
          </a:xfrm>
          <a:prstGeom prst="rect">
            <a:avLst/>
          </a:prstGeom>
          <a:ln w="0">
            <a:noFill/>
          </a:ln>
        </p:spPr>
      </p:sp>
      <p:sp>
        <p:nvSpPr>
          <p:cNvPr id="632"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lstStyle/>
          <a:p>
            <a:pPr marL="216000" indent="0">
              <a:lnSpc>
                <a:spcPct val="100000"/>
              </a:lnSpc>
              <a:buNone/>
            </a:pPr>
            <a:r>
              <a:rPr lang="en-GB" sz="1200" b="0" strike="noStrike" spc="-1">
                <a:solidFill>
                  <a:srgbClr val="000000"/>
                </a:solidFill>
                <a:latin typeface="Arial"/>
              </a:rPr>
              <a:t>The best way to predict the future of our democracy is to code it ourselves. Our research pipelines, our teaching models, and our institutional collaborations are the actual blueprint for Nigeria 2050. Let us build it with deep integrity, high technical rigor, and absolute commitment to our people.</a:t>
            </a:r>
            <a:endParaRPr lang="en-US" sz="1200" b="0" strike="noStrike" spc="-1">
              <a:solidFill>
                <a:srgbClr val="000000"/>
              </a:solidFill>
              <a:latin typeface="Arial"/>
            </a:endParaRPr>
          </a:p>
          <a:p>
            <a:pPr marL="216000" indent="0">
              <a:lnSpc>
                <a:spcPct val="100000"/>
              </a:lnSpc>
              <a:buNone/>
            </a:pPr>
            <a:r>
              <a:rPr lang="en-GB" sz="1200" b="0" strike="noStrike" spc="-1">
                <a:solidFill>
                  <a:srgbClr val="000000"/>
                </a:solidFill>
                <a:latin typeface="Arial"/>
              </a:rPr>
              <a:t>Thank you very much, and I welcome your questions as we open up the floor.</a:t>
            </a:r>
            <a:endParaRPr lang="en-US" sz="1200" b="0" strike="noStrike" spc="-1">
              <a:solidFill>
                <a:srgbClr val="000000"/>
              </a:solidFill>
              <a:latin typeface="Arial"/>
            </a:endParaRPr>
          </a:p>
          <a:p>
            <a:pPr marL="216000" indent="0">
              <a:lnSpc>
                <a:spcPct val="100000"/>
              </a:lnSpc>
              <a:buNone/>
            </a:pPr>
            <a:r>
              <a:rPr lang="en-GB" sz="1200" b="0" strike="noStrike" spc="-1">
                <a:solidFill>
                  <a:srgbClr val="000000"/>
                </a:solidFill>
                <a:latin typeface="Arial"/>
              </a:rPr>
              <a:t>Connect with us: IRDIGEA · OOU CS Department · Data Science Nigeria · #Nigeria2050AI</a:t>
            </a:r>
            <a:endParaRPr lang="en-US" sz="1200" b="0" strike="noStrike" spc="-1">
              <a:solidFill>
                <a:srgbClr val="000000"/>
              </a:solidFill>
              <a:latin typeface="Arial"/>
            </a:endParaRPr>
          </a:p>
        </p:txBody>
      </p:sp>
      <p:sp>
        <p:nvSpPr>
          <p:cNvPr id="633" name="PlaceHolder 3"/>
          <p:cNvSpPr>
            <a:spLocks noGrp="1"/>
          </p:cNvSpPr>
          <p:nvPr>
            <p:ph type="sldNum" idx="23"/>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strike="noStrike" spc="-1">
                <a:solidFill>
                  <a:schemeClr val="dk1"/>
                </a:solidFill>
                <a:latin typeface="+mn-lt"/>
                <a:ea typeface="+mn-ea"/>
              </a:defRPr>
            </a:lvl1pPr>
          </a:lstStyle>
          <a:p>
            <a:pPr indent="0" algn="r" defTabSz="914400">
              <a:lnSpc>
                <a:spcPct val="100000"/>
              </a:lnSpc>
              <a:buNone/>
              <a:tabLst>
                <a:tab pos="0" algn="l"/>
              </a:tabLst>
            </a:pPr>
            <a:fld id="{81014A30-DC37-4B8F-B877-1C7AA5D6D7F5}" type="slidenum">
              <a:rPr lang="en-US" sz="1200" b="0" strike="noStrike" spc="-1">
                <a:solidFill>
                  <a:schemeClr val="dk1"/>
                </a:solidFill>
                <a:latin typeface="+mn-lt"/>
                <a:ea typeface="+mn-ea"/>
              </a:rPr>
              <a:t>20</a:t>
            </a:fld>
            <a:endParaRPr lang="en-US" sz="1200" b="0" strike="noStrike" spc="-1">
              <a:solidFill>
                <a:srgbClr val="000000"/>
              </a:solidFill>
              <a:latin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DEFAULT">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indent="0" algn="ctr">
              <a:buNone/>
            </a:pPr>
            <a:r>
              <a:rPr lang="en-US" sz="4400" b="0" strike="noStrike" spc="-1">
                <a:solidFill>
                  <a:srgbClr val="000000"/>
                </a:solidFill>
                <a:latin typeface="Arial"/>
              </a:rPr>
              <a:t>Click to edit the title text format</a:t>
            </a:r>
          </a:p>
        </p:txBody>
      </p:sp>
      <p:sp>
        <p:nvSpPr>
          <p:cNvPr id="3"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US" sz="2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US" sz="24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US" sz="20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US" sz="20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US" sz="20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US"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8.png"/><Relationship Id="rId7"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 Id="rId9" Type="http://schemas.openxmlformats.org/officeDocument/2006/relationships/image" Target="../media/image19.png"/></Relationships>
</file>

<file path=ppt/slides/_rels/slide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22.png"/><Relationship Id="rId4" Type="http://schemas.openxmlformats.org/officeDocument/2006/relationships/image" Target="../media/image21.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13.png"/><Relationship Id="rId7" Type="http://schemas.openxmlformats.org/officeDocument/2006/relationships/image" Target="../media/image26.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28.png"/></Relationships>
</file>

<file path=ppt/slides/_rels/slide1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37.png"/><Relationship Id="rId4" Type="http://schemas.openxmlformats.org/officeDocument/2006/relationships/image" Target="../media/image31.png"/></Relationships>
</file>

<file path=ppt/slides/_rels/slide16.xml.rels><?xml version="1.0" encoding="UTF-8" standalone="yes"?>
<Relationships xmlns="http://schemas.openxmlformats.org/package/2006/relationships"><Relationship Id="rId3" Type="http://schemas.openxmlformats.org/officeDocument/2006/relationships/image" Target="../media/image38.png"/><Relationship Id="rId7"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6">
            <a:lumMod val="50000"/>
          </a:schemeClr>
        </a:solidFill>
        <a:effectLst/>
      </p:bgPr>
    </p:bg>
    <p:spTree>
      <p:nvGrpSpPr>
        <p:cNvPr id="1" name=""/>
        <p:cNvGrpSpPr/>
        <p:nvPr/>
      </p:nvGrpSpPr>
      <p:grpSpPr>
        <a:xfrm>
          <a:off x="0" y="0"/>
          <a:ext cx="0" cy="0"/>
          <a:chOff x="0" y="0"/>
          <a:chExt cx="0" cy="0"/>
        </a:xfrm>
      </p:grpSpPr>
      <p:sp>
        <p:nvSpPr>
          <p:cNvPr id="8" name="Shape 0"/>
          <p:cNvSpPr/>
          <p:nvPr/>
        </p:nvSpPr>
        <p:spPr>
          <a:xfrm>
            <a:off x="6583680" y="-731520"/>
            <a:ext cx="3656880" cy="3656880"/>
          </a:xfrm>
          <a:solidFill>
            <a:srgbClr val="1A4A2E">
              <a:alpha val="70000"/>
            </a:srgb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FFFFFF"/>
              </a:solidFill>
              <a:latin typeface="Arial"/>
            </a:endParaRPr>
          </a:p>
        </p:txBody>
      </p:sp>
      <p:sp>
        <p:nvSpPr>
          <p:cNvPr id="9" name="Shape 1"/>
          <p:cNvSpPr/>
          <p:nvPr/>
        </p:nvSpPr>
        <p:spPr>
          <a:xfrm>
            <a:off x="-731520" y="3200400"/>
            <a:ext cx="2285280" cy="2285280"/>
          </a:xfrm>
          <a:solidFill>
            <a:srgbClr val="1E5C35">
              <a:alpha val="80000"/>
            </a:srgb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FFFFFF"/>
              </a:solidFill>
              <a:latin typeface="Arial"/>
            </a:endParaRPr>
          </a:p>
        </p:txBody>
      </p:sp>
      <p:sp>
        <p:nvSpPr>
          <p:cNvPr id="10" name="Shape 2"/>
          <p:cNvSpPr/>
          <p:nvPr/>
        </p:nvSpPr>
        <p:spPr>
          <a:xfrm>
            <a:off x="7132320" y="3474720"/>
            <a:ext cx="1645200" cy="1645200"/>
          </a:xfrm>
          <a:solidFill>
            <a:srgbClr val="D4A017">
              <a:alpha val="85000"/>
            </a:srgb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000000"/>
              </a:solidFill>
              <a:latin typeface="Arial"/>
            </a:endParaRPr>
          </a:p>
        </p:txBody>
      </p:sp>
      <p:sp>
        <p:nvSpPr>
          <p:cNvPr id="11" name="Text 3"/>
          <p:cNvSpPr/>
          <p:nvPr/>
        </p:nvSpPr>
        <p:spPr>
          <a:xfrm>
            <a:off x="457200" y="201240"/>
            <a:ext cx="6400080" cy="291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strike="noStrike" spc="296" dirty="0">
                <a:latin typeface="Arial"/>
                <a:ea typeface="Arial"/>
              </a:rPr>
              <a:t>DATA SCIENCE NIGERIA  ·  WEBINAR</a:t>
            </a:r>
            <a:endParaRPr lang="en-US" sz="1400" b="1" strike="noStrike" spc="-1" dirty="0">
              <a:latin typeface="Arial"/>
            </a:endParaRPr>
          </a:p>
        </p:txBody>
      </p:sp>
      <p:sp>
        <p:nvSpPr>
          <p:cNvPr id="12" name="Text 4"/>
          <p:cNvSpPr/>
          <p:nvPr/>
        </p:nvSpPr>
        <p:spPr>
          <a:xfrm>
            <a:off x="457200" y="567000"/>
            <a:ext cx="6857280" cy="1005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6600" b="1" strike="noStrike" spc="-1" dirty="0">
                <a:solidFill>
                  <a:srgbClr val="FFFFFF"/>
                </a:solidFill>
                <a:latin typeface="Arial"/>
                <a:ea typeface="Arial"/>
              </a:rPr>
              <a:t>Nigeria 2050:</a:t>
            </a:r>
            <a:endParaRPr lang="en-US" sz="6600" b="0" strike="noStrike" spc="-1" dirty="0">
              <a:solidFill>
                <a:srgbClr val="FFFFFF"/>
              </a:solidFill>
              <a:latin typeface="Arial"/>
            </a:endParaRPr>
          </a:p>
        </p:txBody>
      </p:sp>
      <p:sp>
        <p:nvSpPr>
          <p:cNvPr id="13" name="Text 5"/>
          <p:cNvSpPr/>
          <p:nvPr/>
        </p:nvSpPr>
        <p:spPr>
          <a:xfrm>
            <a:off x="457200" y="1600200"/>
            <a:ext cx="6857280" cy="822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4800" b="1" strike="noStrike" spc="-1">
                <a:solidFill>
                  <a:srgbClr val="D4A017"/>
                </a:solidFill>
                <a:latin typeface="Arial"/>
                <a:ea typeface="Arial"/>
              </a:rPr>
              <a:t>What Will Democracy</a:t>
            </a:r>
            <a:endParaRPr lang="en-US" sz="4800" b="0" strike="noStrike" spc="-1">
              <a:solidFill>
                <a:srgbClr val="FFFFFF"/>
              </a:solidFill>
              <a:latin typeface="Arial"/>
            </a:endParaRPr>
          </a:p>
        </p:txBody>
      </p:sp>
      <p:sp>
        <p:nvSpPr>
          <p:cNvPr id="14" name="Text 6"/>
          <p:cNvSpPr/>
          <p:nvPr/>
        </p:nvSpPr>
        <p:spPr>
          <a:xfrm>
            <a:off x="457200" y="2395800"/>
            <a:ext cx="6857280" cy="822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4800" b="1" strike="noStrike" spc="-1">
                <a:solidFill>
                  <a:srgbClr val="FFFFFF"/>
                </a:solidFill>
                <a:latin typeface="Arial"/>
                <a:ea typeface="Arial"/>
              </a:rPr>
              <a:t>Look Like with AI?</a:t>
            </a:r>
            <a:endParaRPr lang="en-US" sz="4800" b="0" strike="noStrike" spc="-1">
              <a:solidFill>
                <a:srgbClr val="FFFFFF"/>
              </a:solidFill>
              <a:latin typeface="Arial"/>
            </a:endParaRPr>
          </a:p>
        </p:txBody>
      </p:sp>
      <p:sp>
        <p:nvSpPr>
          <p:cNvPr id="15" name="Shape 7"/>
          <p:cNvSpPr/>
          <p:nvPr/>
        </p:nvSpPr>
        <p:spPr>
          <a:xfrm>
            <a:off x="457200" y="3310200"/>
            <a:ext cx="3199680" cy="45000"/>
          </a:xfrm>
          <a:prstGeom prst="rect">
            <a:avLst/>
          </a:prstGeom>
          <a:solidFill>
            <a:srgbClr val="D4A017"/>
          </a:solidFill>
          <a:ln w="0">
            <a:noFill/>
          </a:ln>
        </p:spPr>
        <p:style>
          <a:lnRef idx="0">
            <a:scrgbClr r="0" g="0" b="0"/>
          </a:lnRef>
          <a:fillRef idx="0">
            <a:scrgbClr r="0" g="0" b="0"/>
          </a:fillRef>
          <a:effectRef idx="0">
            <a:scrgbClr r="0" g="0" b="0"/>
          </a:effectRef>
          <a:fontRef idx="minor"/>
        </p:style>
        <p:txBody>
          <a:bodyPr lIns="90000" tIns="720" rIns="90000" bIns="720" anchor="t">
            <a:noAutofit/>
          </a:bodyPr>
          <a:lstStyle/>
          <a:p>
            <a:pPr>
              <a:lnSpc>
                <a:spcPct val="100000"/>
              </a:lnSpc>
            </a:pPr>
            <a:endParaRPr lang="en-US" sz="1800" b="0" strike="noStrike" spc="-1">
              <a:solidFill>
                <a:srgbClr val="000000"/>
              </a:solidFill>
              <a:latin typeface="Arial"/>
            </a:endParaRPr>
          </a:p>
        </p:txBody>
      </p:sp>
      <p:sp>
        <p:nvSpPr>
          <p:cNvPr id="16" name="Text 8"/>
          <p:cNvSpPr/>
          <p:nvPr/>
        </p:nvSpPr>
        <p:spPr>
          <a:xfrm>
            <a:off x="457199" y="3456360"/>
            <a:ext cx="7090229" cy="456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0" i="1" strike="noStrike" spc="-1" dirty="0">
                <a:latin typeface="Arial"/>
                <a:ea typeface="Arial"/>
              </a:rPr>
              <a:t>Exploring the Future of Governance, Participation, Trust &amp; Citizenship in the Age of AI</a:t>
            </a:r>
            <a:endParaRPr lang="en-US" sz="1300" b="0" strike="noStrike" spc="-1" dirty="0">
              <a:latin typeface="Arial"/>
            </a:endParaRPr>
          </a:p>
        </p:txBody>
      </p:sp>
      <p:sp>
        <p:nvSpPr>
          <p:cNvPr id="17" name="Text 9"/>
          <p:cNvSpPr/>
          <p:nvPr/>
        </p:nvSpPr>
        <p:spPr>
          <a:xfrm>
            <a:off x="457199" y="4023360"/>
            <a:ext cx="7801429" cy="346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800" b="1" spc="-1" dirty="0">
                <a:solidFill>
                  <a:srgbClr val="FFFFFF"/>
                </a:solidFill>
                <a:latin typeface="Arial"/>
                <a:ea typeface="Arial"/>
              </a:rPr>
              <a:t>Dr</a:t>
            </a:r>
            <a:r>
              <a:rPr lang="en-US" sz="2800" b="1" strike="noStrike" spc="-1" dirty="0">
                <a:solidFill>
                  <a:srgbClr val="FFFFFF"/>
                </a:solidFill>
                <a:latin typeface="Arial"/>
                <a:ea typeface="Arial"/>
              </a:rPr>
              <a:t>. Sakinat </a:t>
            </a:r>
            <a:r>
              <a:rPr lang="en-US" sz="2800" b="1" strike="noStrike" spc="-1" dirty="0" err="1">
                <a:solidFill>
                  <a:srgbClr val="FFFFFF"/>
                </a:solidFill>
                <a:latin typeface="Arial"/>
                <a:ea typeface="Arial"/>
              </a:rPr>
              <a:t>Oluwabukonla</a:t>
            </a:r>
            <a:r>
              <a:rPr lang="en-US" sz="2800" b="1" strike="noStrike" spc="-1" dirty="0">
                <a:solidFill>
                  <a:srgbClr val="FFFFFF"/>
                </a:solidFill>
                <a:latin typeface="Arial"/>
                <a:ea typeface="Arial"/>
              </a:rPr>
              <a:t> Folorunso</a:t>
            </a:r>
            <a:endParaRPr lang="en-US" sz="2800" b="0" strike="noStrike" spc="-1" dirty="0">
              <a:solidFill>
                <a:srgbClr val="FFFFFF"/>
              </a:solidFill>
              <a:latin typeface="Arial"/>
            </a:endParaRPr>
          </a:p>
        </p:txBody>
      </p:sp>
      <p:sp>
        <p:nvSpPr>
          <p:cNvPr id="18" name="Text 10"/>
          <p:cNvSpPr/>
          <p:nvPr/>
        </p:nvSpPr>
        <p:spPr>
          <a:xfrm>
            <a:off x="446319" y="4600666"/>
            <a:ext cx="8534400" cy="328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b="0" strike="noStrike" spc="-1" dirty="0">
                <a:latin typeface="Arial"/>
                <a:ea typeface="Arial"/>
              </a:rPr>
              <a:t>Olabisi Onabanjo University  ·  Associate Professor of AI Systems</a:t>
            </a:r>
            <a:endParaRPr lang="en-US" b="0" strike="noStrike" spc="-1" dirty="0">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0F7F1"/>
        </a:solidFill>
        <a:effectLst/>
      </p:bgPr>
    </p:bg>
    <p:spTree>
      <p:nvGrpSpPr>
        <p:cNvPr id="1" name=""/>
        <p:cNvGrpSpPr/>
        <p:nvPr/>
      </p:nvGrpSpPr>
      <p:grpSpPr>
        <a:xfrm>
          <a:off x="0" y="0"/>
          <a:ext cx="0" cy="0"/>
          <a:chOff x="0" y="0"/>
          <a:chExt cx="0" cy="0"/>
        </a:xfrm>
      </p:grpSpPr>
      <p:sp>
        <p:nvSpPr>
          <p:cNvPr id="19" name="Shape 0"/>
          <p:cNvSpPr/>
          <p:nvPr/>
        </p:nvSpPr>
        <p:spPr>
          <a:xfrm>
            <a:off x="0" y="0"/>
            <a:ext cx="9143280" cy="685080"/>
          </a:xfrm>
          <a:prstGeom prst="rect">
            <a:avLst/>
          </a:prstGeom>
          <a:solidFill>
            <a:srgbClr val="1A4A2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FFFFFF"/>
              </a:solidFill>
              <a:latin typeface="Arial"/>
            </a:endParaRPr>
          </a:p>
        </p:txBody>
      </p:sp>
      <p:sp>
        <p:nvSpPr>
          <p:cNvPr id="20" name="Text 1"/>
          <p:cNvSpPr/>
          <p:nvPr/>
        </p:nvSpPr>
        <p:spPr>
          <a:xfrm>
            <a:off x="365760" y="36720"/>
            <a:ext cx="8411760" cy="621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800" b="1" strike="noStrike" spc="-1">
                <a:solidFill>
                  <a:srgbClr val="FFFFFF"/>
                </a:solidFill>
                <a:latin typeface="Arial"/>
                <a:ea typeface="Arial"/>
              </a:rPr>
              <a:t>Imagine Nigeria in 2050…</a:t>
            </a:r>
            <a:endParaRPr lang="en-US" sz="2800" b="0" strike="noStrike" spc="-1">
              <a:solidFill>
                <a:srgbClr val="000000"/>
              </a:solidFill>
              <a:latin typeface="Arial"/>
            </a:endParaRPr>
          </a:p>
        </p:txBody>
      </p:sp>
      <p:sp>
        <p:nvSpPr>
          <p:cNvPr id="21" name="Text 2"/>
          <p:cNvSpPr/>
          <p:nvPr/>
        </p:nvSpPr>
        <p:spPr>
          <a:xfrm>
            <a:off x="365760" y="804600"/>
            <a:ext cx="8228880" cy="319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0" i="1" strike="noStrike" spc="-1">
                <a:solidFill>
                  <a:srgbClr val="D4A017"/>
                </a:solidFill>
                <a:latin typeface="Arial"/>
                <a:ea typeface="Arial"/>
              </a:rPr>
              <a:t>Will democracy become more inclusive and transparent — or more controlled and unequal?</a:t>
            </a:r>
            <a:endParaRPr lang="en-US" sz="1300" b="0" strike="noStrike" spc="-1">
              <a:solidFill>
                <a:srgbClr val="000000"/>
              </a:solidFill>
              <a:latin typeface="Arial"/>
            </a:endParaRPr>
          </a:p>
        </p:txBody>
      </p:sp>
      <p:sp>
        <p:nvSpPr>
          <p:cNvPr id="22" name="Shape 3"/>
          <p:cNvSpPr/>
          <p:nvPr/>
        </p:nvSpPr>
        <p:spPr>
          <a:xfrm>
            <a:off x="365760" y="1234440"/>
            <a:ext cx="4205520" cy="1005120"/>
          </a:xfrm>
          <a:prstGeom prst="roundRect">
            <a:avLst>
              <a:gd name="adj" fmla="val 9091"/>
            </a:avLst>
          </a:prstGeom>
          <a:solidFill>
            <a:srgbClr val="1E5C35"/>
          </a:solidFill>
          <a:ln w="0">
            <a:noFill/>
          </a:ln>
          <a:effectLst>
            <a:outerShdw blurRad="76320" dist="25455" dir="2700000" algn="bl" rotWithShape="0">
              <a:srgbClr val="000000">
                <a:alpha val="1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FFFFFF"/>
              </a:solidFill>
              <a:latin typeface="Arial"/>
            </a:endParaRPr>
          </a:p>
        </p:txBody>
      </p:sp>
      <p:pic>
        <p:nvPicPr>
          <p:cNvPr id="23" name="Image 0" descr="preencoded.png"/>
          <p:cNvPicPr/>
          <p:nvPr/>
        </p:nvPicPr>
        <p:blipFill>
          <a:blip r:embed="rId3"/>
          <a:stretch/>
        </p:blipFill>
        <p:spPr>
          <a:xfrm>
            <a:off x="548640" y="1490400"/>
            <a:ext cx="410760" cy="410760"/>
          </a:xfrm>
          <a:prstGeom prst="rect">
            <a:avLst/>
          </a:prstGeom>
          <a:ln w="0">
            <a:noFill/>
          </a:ln>
        </p:spPr>
      </p:pic>
      <p:sp>
        <p:nvSpPr>
          <p:cNvPr id="24" name="Text 4"/>
          <p:cNvSpPr/>
          <p:nvPr/>
        </p:nvSpPr>
        <p:spPr>
          <a:xfrm>
            <a:off x="1115640" y="1371600"/>
            <a:ext cx="3291120" cy="712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0" strike="noStrike" spc="-1">
                <a:solidFill>
                  <a:srgbClr val="FFFFFF"/>
                </a:solidFill>
                <a:latin typeface="Arial"/>
                <a:ea typeface="Arial"/>
              </a:rPr>
              <a:t>Every citizen has access to a multilingual AI civic assistant</a:t>
            </a:r>
            <a:endParaRPr lang="en-US" sz="1300" b="0" strike="noStrike" spc="-1">
              <a:solidFill>
                <a:srgbClr val="000000"/>
              </a:solidFill>
              <a:latin typeface="Arial"/>
            </a:endParaRPr>
          </a:p>
        </p:txBody>
      </p:sp>
      <p:sp>
        <p:nvSpPr>
          <p:cNvPr id="25" name="Shape 5"/>
          <p:cNvSpPr/>
          <p:nvPr/>
        </p:nvSpPr>
        <p:spPr>
          <a:xfrm>
            <a:off x="4800600" y="1234440"/>
            <a:ext cx="4205520" cy="1005120"/>
          </a:xfrm>
          <a:prstGeom prst="roundRect">
            <a:avLst>
              <a:gd name="adj" fmla="val 9091"/>
            </a:avLst>
          </a:prstGeom>
          <a:solidFill>
            <a:srgbClr val="1E5C35"/>
          </a:solidFill>
          <a:ln w="0">
            <a:noFill/>
          </a:ln>
          <a:effectLst>
            <a:outerShdw blurRad="76320" dist="25455" dir="2700000" algn="bl" rotWithShape="0">
              <a:srgbClr val="000000">
                <a:alpha val="1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FFFFFF"/>
              </a:solidFill>
              <a:latin typeface="Arial"/>
            </a:endParaRPr>
          </a:p>
        </p:txBody>
      </p:sp>
      <p:pic>
        <p:nvPicPr>
          <p:cNvPr id="26" name="Image 1" descr="preencoded.png"/>
          <p:cNvPicPr/>
          <p:nvPr/>
        </p:nvPicPr>
        <p:blipFill>
          <a:blip r:embed="rId4"/>
          <a:stretch/>
        </p:blipFill>
        <p:spPr>
          <a:xfrm>
            <a:off x="4983480" y="1490400"/>
            <a:ext cx="410760" cy="410760"/>
          </a:xfrm>
          <a:prstGeom prst="rect">
            <a:avLst/>
          </a:prstGeom>
          <a:ln w="0">
            <a:noFill/>
          </a:ln>
        </p:spPr>
      </p:pic>
      <p:sp>
        <p:nvSpPr>
          <p:cNvPr id="27" name="Text 6"/>
          <p:cNvSpPr/>
          <p:nvPr/>
        </p:nvSpPr>
        <p:spPr>
          <a:xfrm>
            <a:off x="5550480" y="1371600"/>
            <a:ext cx="3291120" cy="712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0" strike="noStrike" spc="-1">
                <a:solidFill>
                  <a:srgbClr val="FFFFFF"/>
                </a:solidFill>
                <a:latin typeface="Arial"/>
                <a:ea typeface="Arial"/>
              </a:rPr>
              <a:t>Laws are reviewed by intelligent legal systems before they pass</a:t>
            </a:r>
            <a:endParaRPr lang="en-US" sz="1300" b="0" strike="noStrike" spc="-1">
              <a:solidFill>
                <a:srgbClr val="000000"/>
              </a:solidFill>
              <a:latin typeface="Arial"/>
            </a:endParaRPr>
          </a:p>
        </p:txBody>
      </p:sp>
      <p:sp>
        <p:nvSpPr>
          <p:cNvPr id="28" name="Shape 7"/>
          <p:cNvSpPr/>
          <p:nvPr/>
        </p:nvSpPr>
        <p:spPr>
          <a:xfrm>
            <a:off x="365760" y="2423160"/>
            <a:ext cx="4205520" cy="1005120"/>
          </a:xfrm>
          <a:prstGeom prst="roundRect">
            <a:avLst>
              <a:gd name="adj" fmla="val 9091"/>
            </a:avLst>
          </a:prstGeom>
          <a:solidFill>
            <a:srgbClr val="1E5C35"/>
          </a:solidFill>
          <a:ln w="0">
            <a:noFill/>
          </a:ln>
          <a:effectLst>
            <a:outerShdw blurRad="76320" dist="25455" dir="2700000" algn="bl" rotWithShape="0">
              <a:srgbClr val="000000">
                <a:alpha val="1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FFFFFF"/>
              </a:solidFill>
              <a:latin typeface="Arial"/>
            </a:endParaRPr>
          </a:p>
        </p:txBody>
      </p:sp>
      <p:pic>
        <p:nvPicPr>
          <p:cNvPr id="29" name="Image 2" descr="preencoded.png"/>
          <p:cNvPicPr/>
          <p:nvPr/>
        </p:nvPicPr>
        <p:blipFill>
          <a:blip r:embed="rId5"/>
          <a:stretch/>
        </p:blipFill>
        <p:spPr>
          <a:xfrm>
            <a:off x="548640" y="2679120"/>
            <a:ext cx="410760" cy="410760"/>
          </a:xfrm>
          <a:prstGeom prst="rect">
            <a:avLst/>
          </a:prstGeom>
          <a:ln w="0">
            <a:noFill/>
          </a:ln>
        </p:spPr>
      </p:pic>
      <p:sp>
        <p:nvSpPr>
          <p:cNvPr id="30" name="Text 8"/>
          <p:cNvSpPr/>
          <p:nvPr/>
        </p:nvSpPr>
        <p:spPr>
          <a:xfrm>
            <a:off x="1115640" y="2560320"/>
            <a:ext cx="3291120" cy="712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0" strike="noStrike" spc="-1">
                <a:solidFill>
                  <a:srgbClr val="FFFFFF"/>
                </a:solidFill>
                <a:latin typeface="Arial"/>
                <a:ea typeface="Arial"/>
              </a:rPr>
              <a:t>Elections are digitally monitored and verified in real time</a:t>
            </a:r>
            <a:endParaRPr lang="en-US" sz="1300" b="0" strike="noStrike" spc="-1">
              <a:solidFill>
                <a:srgbClr val="000000"/>
              </a:solidFill>
              <a:latin typeface="Arial"/>
            </a:endParaRPr>
          </a:p>
        </p:txBody>
      </p:sp>
      <p:sp>
        <p:nvSpPr>
          <p:cNvPr id="31" name="Shape 9"/>
          <p:cNvSpPr/>
          <p:nvPr/>
        </p:nvSpPr>
        <p:spPr>
          <a:xfrm>
            <a:off x="4800600" y="2423160"/>
            <a:ext cx="4205520" cy="1005120"/>
          </a:xfrm>
          <a:prstGeom prst="roundRect">
            <a:avLst>
              <a:gd name="adj" fmla="val 9091"/>
            </a:avLst>
          </a:prstGeom>
          <a:solidFill>
            <a:srgbClr val="1E5C35"/>
          </a:solidFill>
          <a:ln w="0">
            <a:noFill/>
          </a:ln>
          <a:effectLst>
            <a:outerShdw blurRad="76320" dist="25455" dir="2700000" algn="bl" rotWithShape="0">
              <a:srgbClr val="000000">
                <a:alpha val="1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FFFFFF"/>
              </a:solidFill>
              <a:latin typeface="Arial"/>
            </a:endParaRPr>
          </a:p>
        </p:txBody>
      </p:sp>
      <p:pic>
        <p:nvPicPr>
          <p:cNvPr id="32" name="Image 3" descr="preencoded.png"/>
          <p:cNvPicPr/>
          <p:nvPr/>
        </p:nvPicPr>
        <p:blipFill>
          <a:blip r:embed="rId6"/>
          <a:stretch/>
        </p:blipFill>
        <p:spPr>
          <a:xfrm>
            <a:off x="4983480" y="2679120"/>
            <a:ext cx="410760" cy="410760"/>
          </a:xfrm>
          <a:prstGeom prst="rect">
            <a:avLst/>
          </a:prstGeom>
          <a:ln w="0">
            <a:noFill/>
          </a:ln>
        </p:spPr>
      </p:pic>
      <p:sp>
        <p:nvSpPr>
          <p:cNvPr id="33" name="Text 10"/>
          <p:cNvSpPr/>
          <p:nvPr/>
        </p:nvSpPr>
        <p:spPr>
          <a:xfrm>
            <a:off x="5550480" y="2560320"/>
            <a:ext cx="3291120" cy="712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0" strike="noStrike" spc="-1">
                <a:solidFill>
                  <a:srgbClr val="FFFFFF"/>
                </a:solidFill>
                <a:latin typeface="Arial"/>
                <a:ea typeface="Arial"/>
              </a:rPr>
              <a:t>Public services are personalised to every community</a:t>
            </a:r>
            <a:endParaRPr lang="en-US" sz="1300" b="0" strike="noStrike" spc="-1">
              <a:solidFill>
                <a:srgbClr val="000000"/>
              </a:solidFill>
              <a:latin typeface="Arial"/>
            </a:endParaRPr>
          </a:p>
        </p:txBody>
      </p:sp>
      <p:sp>
        <p:nvSpPr>
          <p:cNvPr id="34" name="Shape 11"/>
          <p:cNvSpPr/>
          <p:nvPr/>
        </p:nvSpPr>
        <p:spPr>
          <a:xfrm>
            <a:off x="365760" y="3611880"/>
            <a:ext cx="4205520" cy="1005120"/>
          </a:xfrm>
          <a:prstGeom prst="roundRect">
            <a:avLst>
              <a:gd name="adj" fmla="val 9091"/>
            </a:avLst>
          </a:prstGeom>
          <a:solidFill>
            <a:srgbClr val="1E5C35"/>
          </a:solidFill>
          <a:ln w="0">
            <a:noFill/>
          </a:ln>
          <a:effectLst>
            <a:outerShdw blurRad="76320" dist="25455" dir="2700000" algn="bl" rotWithShape="0">
              <a:srgbClr val="000000">
                <a:alpha val="1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FFFFFF"/>
              </a:solidFill>
              <a:latin typeface="Arial"/>
            </a:endParaRPr>
          </a:p>
        </p:txBody>
      </p:sp>
      <p:pic>
        <p:nvPicPr>
          <p:cNvPr id="35" name="Image 4" descr="preencoded.png"/>
          <p:cNvPicPr/>
          <p:nvPr/>
        </p:nvPicPr>
        <p:blipFill>
          <a:blip r:embed="rId7"/>
          <a:stretch/>
        </p:blipFill>
        <p:spPr>
          <a:xfrm>
            <a:off x="548640" y="3867840"/>
            <a:ext cx="410760" cy="410760"/>
          </a:xfrm>
          <a:prstGeom prst="rect">
            <a:avLst/>
          </a:prstGeom>
          <a:ln w="0">
            <a:noFill/>
          </a:ln>
        </p:spPr>
      </p:pic>
      <p:sp>
        <p:nvSpPr>
          <p:cNvPr id="36" name="Text 12"/>
          <p:cNvSpPr/>
          <p:nvPr/>
        </p:nvSpPr>
        <p:spPr>
          <a:xfrm>
            <a:off x="1115640" y="3749040"/>
            <a:ext cx="3291120" cy="712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0" strike="noStrike" spc="-1">
                <a:solidFill>
                  <a:srgbClr val="FFFFFF"/>
                </a:solidFill>
                <a:latin typeface="Arial"/>
                <a:ea typeface="Arial"/>
              </a:rPr>
              <a:t>Citizens interact with government through AI platforms in their own language</a:t>
            </a:r>
            <a:endParaRPr lang="en-US" sz="1300" b="0" strike="noStrike" spc="-1">
              <a:solidFill>
                <a:srgbClr val="000000"/>
              </a:solidFill>
              <a:latin typeface="Arial"/>
            </a:endParaRPr>
          </a:p>
        </p:txBody>
      </p:sp>
      <p:sp>
        <p:nvSpPr>
          <p:cNvPr id="37" name="Shape 13"/>
          <p:cNvSpPr/>
          <p:nvPr/>
        </p:nvSpPr>
        <p:spPr>
          <a:xfrm>
            <a:off x="4800600" y="3611880"/>
            <a:ext cx="4205520" cy="1005120"/>
          </a:xfrm>
          <a:prstGeom prst="roundRect">
            <a:avLst>
              <a:gd name="adj" fmla="val 9091"/>
            </a:avLst>
          </a:prstGeom>
          <a:solidFill>
            <a:srgbClr val="1E5C35"/>
          </a:solidFill>
          <a:ln w="0">
            <a:noFill/>
          </a:ln>
          <a:effectLst>
            <a:outerShdw blurRad="76320" dist="25455" dir="2700000" algn="bl" rotWithShape="0">
              <a:srgbClr val="000000">
                <a:alpha val="1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FFFFFF"/>
              </a:solidFill>
              <a:latin typeface="Arial"/>
            </a:endParaRPr>
          </a:p>
        </p:txBody>
      </p:sp>
      <p:pic>
        <p:nvPicPr>
          <p:cNvPr id="38" name="Image 5" descr="preencoded.png"/>
          <p:cNvPicPr/>
          <p:nvPr/>
        </p:nvPicPr>
        <p:blipFill>
          <a:blip r:embed="rId8"/>
          <a:stretch/>
        </p:blipFill>
        <p:spPr>
          <a:xfrm>
            <a:off x="4983480" y="3867840"/>
            <a:ext cx="410760" cy="410760"/>
          </a:xfrm>
          <a:prstGeom prst="rect">
            <a:avLst/>
          </a:prstGeom>
          <a:ln w="0">
            <a:noFill/>
          </a:ln>
        </p:spPr>
      </p:pic>
      <p:sp>
        <p:nvSpPr>
          <p:cNvPr id="39" name="Text 14"/>
          <p:cNvSpPr/>
          <p:nvPr/>
        </p:nvSpPr>
        <p:spPr>
          <a:xfrm>
            <a:off x="5550480" y="3749040"/>
            <a:ext cx="3291120" cy="712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0" strike="noStrike" spc="-1">
                <a:solidFill>
                  <a:srgbClr val="FFFFFF"/>
                </a:solidFill>
                <a:latin typeface="Arial"/>
                <a:ea typeface="Arial"/>
              </a:rPr>
              <a:t>Government decisions are AI-supported and independently auditable</a:t>
            </a:r>
            <a:endParaRPr lang="en-US" sz="1300" b="0" strike="noStrike" spc="-1">
              <a:solidFill>
                <a:srgbClr val="000000"/>
              </a:solidFill>
              <a:latin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0F7F1"/>
        </a:solidFill>
        <a:effectLst/>
      </p:bgPr>
    </p:bg>
    <p:spTree>
      <p:nvGrpSpPr>
        <p:cNvPr id="1" name=""/>
        <p:cNvGrpSpPr/>
        <p:nvPr/>
      </p:nvGrpSpPr>
      <p:grpSpPr>
        <a:xfrm>
          <a:off x="0" y="0"/>
          <a:ext cx="0" cy="0"/>
          <a:chOff x="0" y="0"/>
          <a:chExt cx="0" cy="0"/>
        </a:xfrm>
      </p:grpSpPr>
      <p:sp>
        <p:nvSpPr>
          <p:cNvPr id="40" name="Shape 0"/>
          <p:cNvSpPr/>
          <p:nvPr/>
        </p:nvSpPr>
        <p:spPr>
          <a:xfrm>
            <a:off x="0" y="0"/>
            <a:ext cx="9143280" cy="685080"/>
          </a:xfrm>
          <a:prstGeom prst="rect">
            <a:avLst/>
          </a:prstGeom>
          <a:solidFill>
            <a:srgbClr val="1A4A2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FFFFFF"/>
              </a:solidFill>
              <a:latin typeface="Arial"/>
            </a:endParaRPr>
          </a:p>
        </p:txBody>
      </p:sp>
      <p:sp>
        <p:nvSpPr>
          <p:cNvPr id="41" name="Text 1"/>
          <p:cNvSpPr/>
          <p:nvPr/>
        </p:nvSpPr>
        <p:spPr>
          <a:xfrm>
            <a:off x="365760" y="36720"/>
            <a:ext cx="8411760" cy="621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800" b="1" strike="noStrike" spc="-1">
                <a:solidFill>
                  <a:srgbClr val="FFFFFF"/>
                </a:solidFill>
                <a:latin typeface="Arial"/>
                <a:ea typeface="Arial"/>
              </a:rPr>
              <a:t>Nigeria's Democratic Landscape: Today &amp; 2050</a:t>
            </a:r>
            <a:endParaRPr lang="en-US" sz="2800" b="0" strike="noStrike" spc="-1">
              <a:solidFill>
                <a:srgbClr val="000000"/>
              </a:solidFill>
              <a:latin typeface="Arial"/>
            </a:endParaRPr>
          </a:p>
        </p:txBody>
      </p:sp>
      <p:sp>
        <p:nvSpPr>
          <p:cNvPr id="42" name="Shape 2"/>
          <p:cNvSpPr/>
          <p:nvPr/>
        </p:nvSpPr>
        <p:spPr>
          <a:xfrm>
            <a:off x="320040" y="822960"/>
            <a:ext cx="2010960" cy="1416600"/>
          </a:xfrm>
          <a:prstGeom prst="roundRect">
            <a:avLst>
              <a:gd name="adj" fmla="val 6452"/>
            </a:avLst>
          </a:prstGeom>
          <a:solidFill>
            <a:srgbClr val="E8F5E9"/>
          </a:solidFill>
          <a:ln w="0">
            <a:noFill/>
          </a:ln>
          <a:effectLst>
            <a:outerShdw blurRad="76320" dist="25455" dir="2700000" algn="bl" rotWithShape="0">
              <a:srgbClr val="000000">
                <a:alpha val="1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000000"/>
              </a:solidFill>
              <a:latin typeface="Arial"/>
            </a:endParaRPr>
          </a:p>
        </p:txBody>
      </p:sp>
      <p:sp>
        <p:nvSpPr>
          <p:cNvPr id="43" name="Text 3"/>
          <p:cNvSpPr/>
          <p:nvPr/>
        </p:nvSpPr>
        <p:spPr>
          <a:xfrm>
            <a:off x="320040" y="868680"/>
            <a:ext cx="2010960" cy="776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4200" b="1" strike="noStrike" spc="-1">
                <a:solidFill>
                  <a:srgbClr val="F5D060"/>
                </a:solidFill>
                <a:latin typeface="Arial"/>
                <a:ea typeface="Arial"/>
              </a:rPr>
              <a:t>240M+</a:t>
            </a:r>
            <a:endParaRPr lang="en-US" sz="4200" b="0" strike="noStrike" spc="-1">
              <a:solidFill>
                <a:srgbClr val="000000"/>
              </a:solidFill>
              <a:latin typeface="Arial"/>
            </a:endParaRPr>
          </a:p>
        </p:txBody>
      </p:sp>
      <p:sp>
        <p:nvSpPr>
          <p:cNvPr id="44" name="Text 4"/>
          <p:cNvSpPr/>
          <p:nvPr/>
        </p:nvSpPr>
        <p:spPr>
          <a:xfrm>
            <a:off x="320040" y="1645920"/>
            <a:ext cx="2010960" cy="502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50" b="0" strike="noStrike" spc="-1">
                <a:solidFill>
                  <a:srgbClr val="1A4A2E"/>
                </a:solidFill>
                <a:latin typeface="Arial"/>
                <a:ea typeface="Arial"/>
              </a:rPr>
              <a:t>Population Today</a:t>
            </a:r>
            <a:endParaRPr lang="en-US" sz="1050" b="0" strike="noStrike" spc="-1">
              <a:solidFill>
                <a:srgbClr val="000000"/>
              </a:solidFill>
              <a:latin typeface="Arial"/>
            </a:endParaRPr>
          </a:p>
          <a:p>
            <a:pPr algn="ctr" defTabSz="914400">
              <a:lnSpc>
                <a:spcPct val="100000"/>
              </a:lnSpc>
              <a:tabLst>
                <a:tab pos="0" algn="l"/>
              </a:tabLst>
            </a:pPr>
            <a:r>
              <a:rPr lang="en-US" sz="1050" b="0" strike="noStrike" spc="-1">
                <a:solidFill>
                  <a:srgbClr val="1A4A2E"/>
                </a:solidFill>
                <a:latin typeface="Arial"/>
                <a:ea typeface="Arial"/>
              </a:rPr>
              <a:t>(World's 6th largest — UN 2025)</a:t>
            </a:r>
            <a:endParaRPr lang="en-US" sz="1050" b="0" strike="noStrike" spc="-1">
              <a:solidFill>
                <a:srgbClr val="000000"/>
              </a:solidFill>
              <a:latin typeface="Arial"/>
            </a:endParaRPr>
          </a:p>
        </p:txBody>
      </p:sp>
      <p:sp>
        <p:nvSpPr>
          <p:cNvPr id="45" name="Shape 5"/>
          <p:cNvSpPr/>
          <p:nvPr/>
        </p:nvSpPr>
        <p:spPr>
          <a:xfrm>
            <a:off x="2468880" y="822960"/>
            <a:ext cx="2010960" cy="1416600"/>
          </a:xfrm>
          <a:prstGeom prst="roundRect">
            <a:avLst>
              <a:gd name="adj" fmla="val 6452"/>
            </a:avLst>
          </a:prstGeom>
          <a:solidFill>
            <a:srgbClr val="E8F5E9"/>
          </a:solidFill>
          <a:ln w="0">
            <a:noFill/>
          </a:ln>
          <a:effectLst>
            <a:outerShdw blurRad="76320" dist="25455" dir="2700000" algn="bl" rotWithShape="0">
              <a:srgbClr val="000000">
                <a:alpha val="1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000000"/>
              </a:solidFill>
              <a:latin typeface="Arial"/>
            </a:endParaRPr>
          </a:p>
        </p:txBody>
      </p:sp>
      <p:sp>
        <p:nvSpPr>
          <p:cNvPr id="46" name="Text 6"/>
          <p:cNvSpPr/>
          <p:nvPr/>
        </p:nvSpPr>
        <p:spPr>
          <a:xfrm>
            <a:off x="2468880" y="868680"/>
            <a:ext cx="2010960" cy="776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4200" b="1" strike="noStrike" spc="-1">
                <a:solidFill>
                  <a:srgbClr val="F5D060"/>
                </a:solidFill>
                <a:latin typeface="Arial"/>
                <a:ea typeface="Arial"/>
              </a:rPr>
              <a:t>93M</a:t>
            </a:r>
            <a:endParaRPr lang="en-US" sz="4200" b="0" strike="noStrike" spc="-1">
              <a:solidFill>
                <a:srgbClr val="000000"/>
              </a:solidFill>
              <a:latin typeface="Arial"/>
            </a:endParaRPr>
          </a:p>
        </p:txBody>
      </p:sp>
      <p:sp>
        <p:nvSpPr>
          <p:cNvPr id="47" name="Text 7"/>
          <p:cNvSpPr/>
          <p:nvPr/>
        </p:nvSpPr>
        <p:spPr>
          <a:xfrm>
            <a:off x="2468880" y="1645920"/>
            <a:ext cx="2010960" cy="502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50" b="0" strike="noStrike" spc="-1">
                <a:solidFill>
                  <a:srgbClr val="1A4A2E"/>
                </a:solidFill>
                <a:latin typeface="Arial"/>
                <a:ea typeface="Arial"/>
              </a:rPr>
              <a:t>Registered Voters</a:t>
            </a:r>
            <a:endParaRPr lang="en-US" sz="1050" b="0" strike="noStrike" spc="-1">
              <a:solidFill>
                <a:srgbClr val="000000"/>
              </a:solidFill>
              <a:latin typeface="Arial"/>
            </a:endParaRPr>
          </a:p>
          <a:p>
            <a:pPr algn="ctr" defTabSz="914400">
              <a:lnSpc>
                <a:spcPct val="100000"/>
              </a:lnSpc>
              <a:tabLst>
                <a:tab pos="0" algn="l"/>
              </a:tabLst>
            </a:pPr>
            <a:r>
              <a:rPr lang="en-US" sz="1050" b="0" strike="noStrike" spc="-1">
                <a:solidFill>
                  <a:srgbClr val="1A4A2E"/>
                </a:solidFill>
                <a:latin typeface="Arial"/>
                <a:ea typeface="Arial"/>
              </a:rPr>
              <a:t>(2023 general election — INEC)</a:t>
            </a:r>
            <a:endParaRPr lang="en-US" sz="1050" b="0" strike="noStrike" spc="-1">
              <a:solidFill>
                <a:srgbClr val="000000"/>
              </a:solidFill>
              <a:latin typeface="Arial"/>
            </a:endParaRPr>
          </a:p>
        </p:txBody>
      </p:sp>
      <p:sp>
        <p:nvSpPr>
          <p:cNvPr id="48" name="Shape 8"/>
          <p:cNvSpPr/>
          <p:nvPr/>
        </p:nvSpPr>
        <p:spPr>
          <a:xfrm>
            <a:off x="4617720" y="822960"/>
            <a:ext cx="2010960" cy="1416600"/>
          </a:xfrm>
          <a:prstGeom prst="roundRect">
            <a:avLst>
              <a:gd name="adj" fmla="val 6452"/>
            </a:avLst>
          </a:prstGeom>
          <a:solidFill>
            <a:srgbClr val="E8F5E9"/>
          </a:solidFill>
          <a:ln w="0">
            <a:noFill/>
          </a:ln>
          <a:effectLst>
            <a:outerShdw blurRad="76320" dist="25455" dir="2700000" algn="bl" rotWithShape="0">
              <a:srgbClr val="000000">
                <a:alpha val="1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000000"/>
              </a:solidFill>
              <a:latin typeface="Arial"/>
            </a:endParaRPr>
          </a:p>
        </p:txBody>
      </p:sp>
      <p:sp>
        <p:nvSpPr>
          <p:cNvPr id="49" name="Text 9"/>
          <p:cNvSpPr/>
          <p:nvPr/>
        </p:nvSpPr>
        <p:spPr>
          <a:xfrm>
            <a:off x="4617720" y="868680"/>
            <a:ext cx="2010960" cy="776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4200" b="1" strike="noStrike" spc="-1">
                <a:solidFill>
                  <a:srgbClr val="F5D060"/>
                </a:solidFill>
                <a:latin typeface="Arial"/>
                <a:ea typeface="Arial"/>
              </a:rPr>
              <a:t>26.7%</a:t>
            </a:r>
            <a:endParaRPr lang="en-US" sz="4200" b="0" strike="noStrike" spc="-1">
              <a:solidFill>
                <a:srgbClr val="000000"/>
              </a:solidFill>
              <a:latin typeface="Arial"/>
            </a:endParaRPr>
          </a:p>
        </p:txBody>
      </p:sp>
      <p:sp>
        <p:nvSpPr>
          <p:cNvPr id="50" name="Text 10"/>
          <p:cNvSpPr/>
          <p:nvPr/>
        </p:nvSpPr>
        <p:spPr>
          <a:xfrm>
            <a:off x="4617720" y="1645920"/>
            <a:ext cx="2010960" cy="502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50" b="0" strike="noStrike" spc="-1">
                <a:solidFill>
                  <a:srgbClr val="1A4A2E"/>
                </a:solidFill>
                <a:latin typeface="Arial"/>
                <a:ea typeface="Arial"/>
              </a:rPr>
              <a:t>Voter Turnout 2023</a:t>
            </a:r>
            <a:endParaRPr lang="en-US" sz="1050" b="0" strike="noStrike" spc="-1">
              <a:solidFill>
                <a:srgbClr val="000000"/>
              </a:solidFill>
              <a:latin typeface="Arial"/>
            </a:endParaRPr>
          </a:p>
          <a:p>
            <a:pPr algn="ctr" defTabSz="914400">
              <a:lnSpc>
                <a:spcPct val="100000"/>
              </a:lnSpc>
              <a:tabLst>
                <a:tab pos="0" algn="l"/>
              </a:tabLst>
            </a:pPr>
            <a:r>
              <a:rPr lang="en-US" sz="1050" b="0" strike="noStrike" spc="-1">
                <a:solidFill>
                  <a:srgbClr val="1A4A2E"/>
                </a:solidFill>
                <a:latin typeface="Arial"/>
                <a:ea typeface="Arial"/>
              </a:rPr>
              <a:t>(Down from 53.7% in 2011 — INEC)</a:t>
            </a:r>
            <a:endParaRPr lang="en-US" sz="1050" b="0" strike="noStrike" spc="-1">
              <a:solidFill>
                <a:srgbClr val="000000"/>
              </a:solidFill>
              <a:latin typeface="Arial"/>
            </a:endParaRPr>
          </a:p>
        </p:txBody>
      </p:sp>
      <p:sp>
        <p:nvSpPr>
          <p:cNvPr id="51" name="Shape 11"/>
          <p:cNvSpPr/>
          <p:nvPr/>
        </p:nvSpPr>
        <p:spPr>
          <a:xfrm>
            <a:off x="6766560" y="822960"/>
            <a:ext cx="2010960" cy="1416600"/>
          </a:xfrm>
          <a:prstGeom prst="roundRect">
            <a:avLst>
              <a:gd name="adj" fmla="val 6452"/>
            </a:avLst>
          </a:prstGeom>
          <a:solidFill>
            <a:srgbClr val="E8F5E9"/>
          </a:solidFill>
          <a:ln w="0">
            <a:noFill/>
          </a:ln>
          <a:effectLst>
            <a:outerShdw blurRad="76320" dist="25455" dir="2700000" algn="bl" rotWithShape="0">
              <a:srgbClr val="000000">
                <a:alpha val="1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000000"/>
              </a:solidFill>
              <a:latin typeface="Arial"/>
            </a:endParaRPr>
          </a:p>
        </p:txBody>
      </p:sp>
      <p:sp>
        <p:nvSpPr>
          <p:cNvPr id="52" name="Text 12"/>
          <p:cNvSpPr/>
          <p:nvPr/>
        </p:nvSpPr>
        <p:spPr>
          <a:xfrm>
            <a:off x="6766560" y="868680"/>
            <a:ext cx="2010960" cy="776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4200" b="1" strike="noStrike" spc="-1">
                <a:solidFill>
                  <a:srgbClr val="F5D060"/>
                </a:solidFill>
                <a:latin typeface="Arial"/>
                <a:ea typeface="Arial"/>
              </a:rPr>
              <a:t>~55%</a:t>
            </a:r>
            <a:endParaRPr lang="en-US" sz="4200" b="0" strike="noStrike" spc="-1">
              <a:solidFill>
                <a:srgbClr val="000000"/>
              </a:solidFill>
              <a:latin typeface="Arial"/>
            </a:endParaRPr>
          </a:p>
        </p:txBody>
      </p:sp>
      <p:sp>
        <p:nvSpPr>
          <p:cNvPr id="53" name="Text 13"/>
          <p:cNvSpPr/>
          <p:nvPr/>
        </p:nvSpPr>
        <p:spPr>
          <a:xfrm>
            <a:off x="6766560" y="1645920"/>
            <a:ext cx="2010960" cy="502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50" b="0" strike="noStrike" spc="-1">
                <a:solidFill>
                  <a:srgbClr val="1A4A2E"/>
                </a:solidFill>
                <a:latin typeface="Arial"/>
                <a:ea typeface="Arial"/>
              </a:rPr>
              <a:t>Offline in 2024</a:t>
            </a:r>
            <a:endParaRPr lang="en-US" sz="1050" b="0" strike="noStrike" spc="-1">
              <a:solidFill>
                <a:srgbClr val="000000"/>
              </a:solidFill>
              <a:latin typeface="Arial"/>
            </a:endParaRPr>
          </a:p>
          <a:p>
            <a:pPr algn="ctr" defTabSz="914400">
              <a:lnSpc>
                <a:spcPct val="100000"/>
              </a:lnSpc>
              <a:tabLst>
                <a:tab pos="0" algn="l"/>
              </a:tabLst>
            </a:pPr>
            <a:r>
              <a:rPr lang="en-US" sz="1050" b="0" strike="noStrike" spc="-1">
                <a:solidFill>
                  <a:srgbClr val="1A4A2E"/>
                </a:solidFill>
                <a:latin typeface="Arial"/>
                <a:ea typeface="Arial"/>
              </a:rPr>
              <a:t>(DataReportal / Kepios, Jan 2024)</a:t>
            </a:r>
            <a:endParaRPr lang="en-US" sz="1050" b="0" strike="noStrike" spc="-1">
              <a:solidFill>
                <a:srgbClr val="000000"/>
              </a:solidFill>
              <a:latin typeface="Arial"/>
            </a:endParaRPr>
          </a:p>
        </p:txBody>
      </p:sp>
      <p:sp>
        <p:nvSpPr>
          <p:cNvPr id="54" name="Shape 14"/>
          <p:cNvSpPr/>
          <p:nvPr/>
        </p:nvSpPr>
        <p:spPr>
          <a:xfrm>
            <a:off x="320040" y="2377440"/>
            <a:ext cx="8503200" cy="639360"/>
          </a:xfrm>
          <a:prstGeom prst="roundRect">
            <a:avLst>
              <a:gd name="adj" fmla="val 11429"/>
            </a:avLst>
          </a:prstGeom>
          <a:solidFill>
            <a:srgbClr val="1E5C35"/>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FFFFFF"/>
              </a:solidFill>
              <a:latin typeface="Arial"/>
            </a:endParaRPr>
          </a:p>
        </p:txBody>
      </p:sp>
      <p:pic>
        <p:nvPicPr>
          <p:cNvPr id="55" name="Image 0" descr="preencoded.png"/>
          <p:cNvPicPr/>
          <p:nvPr/>
        </p:nvPicPr>
        <p:blipFill>
          <a:blip r:embed="rId3"/>
          <a:stretch/>
        </p:blipFill>
        <p:spPr>
          <a:xfrm>
            <a:off x="548640" y="2487240"/>
            <a:ext cx="319320" cy="319320"/>
          </a:xfrm>
          <a:prstGeom prst="rect">
            <a:avLst/>
          </a:prstGeom>
          <a:ln w="0">
            <a:noFill/>
          </a:ln>
        </p:spPr>
      </p:pic>
      <p:sp>
        <p:nvSpPr>
          <p:cNvPr id="56" name="Text 15"/>
          <p:cNvSpPr/>
          <p:nvPr/>
        </p:nvSpPr>
        <p:spPr>
          <a:xfrm>
            <a:off x="1005840" y="2423160"/>
            <a:ext cx="7588800" cy="511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strike="noStrike" spc="-1">
                <a:solidFill>
                  <a:srgbClr val="D4A017"/>
                </a:solidFill>
                <a:latin typeface="Arial"/>
                <a:ea typeface="Arial"/>
              </a:rPr>
              <a:t>By 2050: Nigeria projected to be the 3rd most populous nation globally with ~400 million people  (UN medium-variant projection)</a:t>
            </a:r>
            <a:endParaRPr lang="en-US" sz="1300" b="0" strike="noStrike" spc="-1">
              <a:solidFill>
                <a:srgbClr val="000000"/>
              </a:solidFill>
              <a:latin typeface="Arial"/>
            </a:endParaRPr>
          </a:p>
        </p:txBody>
      </p:sp>
      <p:sp>
        <p:nvSpPr>
          <p:cNvPr id="57" name="Text 16"/>
          <p:cNvSpPr/>
          <p:nvPr/>
        </p:nvSpPr>
        <p:spPr>
          <a:xfrm>
            <a:off x="320040" y="3154680"/>
            <a:ext cx="8503200" cy="346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strike="noStrike" spc="-1">
                <a:solidFill>
                  <a:srgbClr val="1A4A2E"/>
                </a:solidFill>
                <a:latin typeface="Arial"/>
                <a:ea typeface="Arial"/>
              </a:rPr>
              <a:t>The Scale of the Opportunity</a:t>
            </a:r>
            <a:endParaRPr lang="en-US" sz="1500" b="0" strike="noStrike" spc="-1">
              <a:solidFill>
                <a:srgbClr val="000000"/>
              </a:solidFill>
              <a:latin typeface="Arial"/>
            </a:endParaRPr>
          </a:p>
        </p:txBody>
      </p:sp>
      <p:pic>
        <p:nvPicPr>
          <p:cNvPr id="58" name="Image 1" descr="preencoded.png"/>
          <p:cNvPicPr/>
          <p:nvPr/>
        </p:nvPicPr>
        <p:blipFill>
          <a:blip r:embed="rId4"/>
          <a:stretch/>
        </p:blipFill>
        <p:spPr>
          <a:xfrm>
            <a:off x="365760" y="3611880"/>
            <a:ext cx="255240" cy="255240"/>
          </a:xfrm>
          <a:prstGeom prst="rect">
            <a:avLst/>
          </a:prstGeom>
          <a:ln w="0">
            <a:noFill/>
          </a:ln>
        </p:spPr>
      </p:pic>
      <p:sp>
        <p:nvSpPr>
          <p:cNvPr id="59" name="Text 17"/>
          <p:cNvSpPr/>
          <p:nvPr/>
        </p:nvSpPr>
        <p:spPr>
          <a:xfrm>
            <a:off x="777240" y="3584520"/>
            <a:ext cx="7954560" cy="383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0" strike="noStrike" spc="-1">
                <a:solidFill>
                  <a:srgbClr val="0D2B1A"/>
                </a:solidFill>
                <a:latin typeface="Arial"/>
                <a:ea typeface="Arial"/>
              </a:rPr>
              <a:t>AI can help close the participation gap — bringing 55% of offline citizens into civic life</a:t>
            </a:r>
            <a:endParaRPr lang="en-US" sz="1300" b="0" strike="noStrike" spc="-1">
              <a:solidFill>
                <a:srgbClr val="000000"/>
              </a:solidFill>
              <a:latin typeface="Arial"/>
            </a:endParaRPr>
          </a:p>
        </p:txBody>
      </p:sp>
      <p:pic>
        <p:nvPicPr>
          <p:cNvPr id="60" name="Image 2" descr="preencoded.png"/>
          <p:cNvPicPr/>
          <p:nvPr/>
        </p:nvPicPr>
        <p:blipFill>
          <a:blip r:embed="rId4"/>
          <a:stretch/>
        </p:blipFill>
        <p:spPr>
          <a:xfrm>
            <a:off x="365760" y="4087440"/>
            <a:ext cx="255240" cy="255240"/>
          </a:xfrm>
          <a:prstGeom prst="rect">
            <a:avLst/>
          </a:prstGeom>
          <a:ln w="0">
            <a:noFill/>
          </a:ln>
        </p:spPr>
      </p:pic>
      <p:sp>
        <p:nvSpPr>
          <p:cNvPr id="61" name="Text 18"/>
          <p:cNvSpPr/>
          <p:nvPr/>
        </p:nvSpPr>
        <p:spPr>
          <a:xfrm>
            <a:off x="777240" y="4060080"/>
            <a:ext cx="7954560" cy="383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0" strike="noStrike" spc="-1">
                <a:solidFill>
                  <a:srgbClr val="0D2B1A"/>
                </a:solidFill>
                <a:latin typeface="Arial"/>
                <a:ea typeface="Arial"/>
              </a:rPr>
              <a:t>Digital voter education in Yorùbá, Hausa, Igbo and Pidgin can rebuild democratic engagement</a:t>
            </a:r>
            <a:endParaRPr lang="en-US" sz="1300" b="0" strike="noStrike" spc="-1">
              <a:solidFill>
                <a:srgbClr val="000000"/>
              </a:solidFill>
              <a:latin typeface="Arial"/>
            </a:endParaRPr>
          </a:p>
        </p:txBody>
      </p:sp>
      <p:pic>
        <p:nvPicPr>
          <p:cNvPr id="62" name="Image 3" descr="preencoded.png"/>
          <p:cNvPicPr/>
          <p:nvPr/>
        </p:nvPicPr>
        <p:blipFill>
          <a:blip r:embed="rId4"/>
          <a:stretch/>
        </p:blipFill>
        <p:spPr>
          <a:xfrm>
            <a:off x="365760" y="4563000"/>
            <a:ext cx="255240" cy="255240"/>
          </a:xfrm>
          <a:prstGeom prst="rect">
            <a:avLst/>
          </a:prstGeom>
          <a:ln w="0">
            <a:noFill/>
          </a:ln>
        </p:spPr>
      </p:pic>
      <p:sp>
        <p:nvSpPr>
          <p:cNvPr id="63" name="Text 19"/>
          <p:cNvSpPr/>
          <p:nvPr/>
        </p:nvSpPr>
        <p:spPr>
          <a:xfrm>
            <a:off x="777240" y="4535280"/>
            <a:ext cx="7954560" cy="383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0" strike="noStrike" spc="-1">
                <a:solidFill>
                  <a:srgbClr val="0D2B1A"/>
                </a:solidFill>
                <a:latin typeface="Arial"/>
                <a:ea typeface="Arial"/>
              </a:rPr>
              <a:t>Real-time data infrastructure transforms how resources reach the 774 LGAs that need them most</a:t>
            </a:r>
            <a:endParaRPr lang="en-US" sz="1300" b="0" strike="noStrike" spc="-1">
              <a:solidFill>
                <a:srgbClr val="000000"/>
              </a:solidFill>
              <a:latin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0F7F1"/>
        </a:solidFill>
        <a:effectLst/>
      </p:bgPr>
    </p:bg>
    <p:spTree>
      <p:nvGrpSpPr>
        <p:cNvPr id="1" name=""/>
        <p:cNvGrpSpPr/>
        <p:nvPr/>
      </p:nvGrpSpPr>
      <p:grpSpPr>
        <a:xfrm>
          <a:off x="0" y="0"/>
          <a:ext cx="0" cy="0"/>
          <a:chOff x="0" y="0"/>
          <a:chExt cx="0" cy="0"/>
        </a:xfrm>
      </p:grpSpPr>
      <p:sp>
        <p:nvSpPr>
          <p:cNvPr id="64" name="Shape 0"/>
          <p:cNvSpPr/>
          <p:nvPr/>
        </p:nvSpPr>
        <p:spPr>
          <a:xfrm>
            <a:off x="0" y="0"/>
            <a:ext cx="9143280" cy="685080"/>
          </a:xfrm>
          <a:prstGeom prst="rect">
            <a:avLst/>
          </a:prstGeom>
          <a:solidFill>
            <a:srgbClr val="1A4A2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FFFFFF"/>
              </a:solidFill>
              <a:latin typeface="Arial"/>
            </a:endParaRPr>
          </a:p>
        </p:txBody>
      </p:sp>
      <p:sp>
        <p:nvSpPr>
          <p:cNvPr id="65" name="Text 1"/>
          <p:cNvSpPr/>
          <p:nvPr/>
        </p:nvSpPr>
        <p:spPr>
          <a:xfrm>
            <a:off x="365760" y="36720"/>
            <a:ext cx="8411760" cy="621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800" b="1" strike="noStrike" spc="-1">
                <a:solidFill>
                  <a:srgbClr val="FFFFFF"/>
                </a:solidFill>
                <a:latin typeface="Arial"/>
                <a:ea typeface="Arial"/>
              </a:rPr>
              <a:t>AI Is Already Entering Nigerian Democracy</a:t>
            </a:r>
            <a:endParaRPr lang="en-US" sz="2800" b="0" strike="noStrike" spc="-1">
              <a:solidFill>
                <a:srgbClr val="000000"/>
              </a:solidFill>
              <a:latin typeface="Arial"/>
            </a:endParaRPr>
          </a:p>
        </p:txBody>
      </p:sp>
      <p:sp>
        <p:nvSpPr>
          <p:cNvPr id="66" name="Text 2"/>
          <p:cNvSpPr/>
          <p:nvPr/>
        </p:nvSpPr>
        <p:spPr>
          <a:xfrm>
            <a:off x="365760" y="777240"/>
            <a:ext cx="8228880" cy="319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0" i="1" strike="noStrike" spc="-1">
                <a:solidFill>
                  <a:srgbClr val="D4A017"/>
                </a:solidFill>
                <a:latin typeface="Arial"/>
                <a:ea typeface="Arial"/>
              </a:rPr>
              <a:t>AI governance is not a future concern — these systems are already running</a:t>
            </a:r>
            <a:endParaRPr lang="en-US" sz="1300" b="0" strike="noStrike" spc="-1">
              <a:solidFill>
                <a:srgbClr val="000000"/>
              </a:solidFill>
              <a:latin typeface="Arial"/>
            </a:endParaRPr>
          </a:p>
        </p:txBody>
      </p:sp>
      <p:sp>
        <p:nvSpPr>
          <p:cNvPr id="67" name="Shape 3"/>
          <p:cNvSpPr/>
          <p:nvPr/>
        </p:nvSpPr>
        <p:spPr>
          <a:xfrm>
            <a:off x="274320" y="1143000"/>
            <a:ext cx="2788200" cy="1626840"/>
          </a:xfrm>
          <a:prstGeom prst="roundRect">
            <a:avLst>
              <a:gd name="adj" fmla="val 5618"/>
            </a:avLst>
          </a:prstGeom>
          <a:solidFill>
            <a:srgbClr val="E8F5E9"/>
          </a:solidFill>
          <a:ln w="0">
            <a:noFill/>
          </a:ln>
          <a:effectLst>
            <a:outerShdw blurRad="76320" dist="25455" dir="2700000" algn="bl" rotWithShape="0">
              <a:srgbClr val="000000">
                <a:alpha val="1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000000"/>
              </a:solidFill>
              <a:latin typeface="Arial"/>
            </a:endParaRPr>
          </a:p>
        </p:txBody>
      </p:sp>
      <p:sp>
        <p:nvSpPr>
          <p:cNvPr id="68" name="Shape 4"/>
          <p:cNvSpPr/>
          <p:nvPr/>
        </p:nvSpPr>
        <p:spPr>
          <a:xfrm>
            <a:off x="365760" y="1234440"/>
            <a:ext cx="511200" cy="511200"/>
          </a:xfrm>
          <a:solidFill>
            <a:srgbClr val="D4A017"/>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000000"/>
              </a:solidFill>
              <a:latin typeface="Arial"/>
            </a:endParaRPr>
          </a:p>
        </p:txBody>
      </p:sp>
      <p:pic>
        <p:nvPicPr>
          <p:cNvPr id="69" name="Image 0" descr="preencoded.png"/>
          <p:cNvPicPr/>
          <p:nvPr/>
        </p:nvPicPr>
        <p:blipFill>
          <a:blip r:embed="rId3"/>
          <a:stretch/>
        </p:blipFill>
        <p:spPr>
          <a:xfrm>
            <a:off x="455400" y="1324080"/>
            <a:ext cx="332280" cy="332280"/>
          </a:xfrm>
          <a:prstGeom prst="rect">
            <a:avLst/>
          </a:prstGeom>
          <a:ln w="0">
            <a:noFill/>
          </a:ln>
        </p:spPr>
      </p:pic>
      <p:sp>
        <p:nvSpPr>
          <p:cNvPr id="70" name="Text 5"/>
          <p:cNvSpPr/>
          <p:nvPr/>
        </p:nvSpPr>
        <p:spPr>
          <a:xfrm>
            <a:off x="1024200" y="1252800"/>
            <a:ext cx="1919520" cy="456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strike="noStrike" spc="-1">
                <a:solidFill>
                  <a:srgbClr val="1A4A2E"/>
                </a:solidFill>
                <a:latin typeface="Arial"/>
                <a:ea typeface="Arial"/>
              </a:rPr>
              <a:t>BVAS &amp; Biometric Voting</a:t>
            </a:r>
            <a:endParaRPr lang="en-US" sz="1200" b="0" strike="noStrike" spc="-1">
              <a:solidFill>
                <a:srgbClr val="000000"/>
              </a:solidFill>
              <a:latin typeface="Arial"/>
            </a:endParaRPr>
          </a:p>
        </p:txBody>
      </p:sp>
      <p:sp>
        <p:nvSpPr>
          <p:cNvPr id="71" name="Text 6"/>
          <p:cNvSpPr/>
          <p:nvPr/>
        </p:nvSpPr>
        <p:spPr>
          <a:xfrm>
            <a:off x="411480" y="1783080"/>
            <a:ext cx="2541240" cy="867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50" b="0" strike="noStrike" spc="-1">
                <a:solidFill>
                  <a:srgbClr val="0D2B1A"/>
                </a:solidFill>
                <a:latin typeface="Arial"/>
                <a:ea typeface="Arial"/>
              </a:rPr>
              <a:t>INEC's Bimodal Voter Accreditation System uses fingerprint &amp; facial recognition — deployed nationwide in 2023, reaching 93M registered voters.</a:t>
            </a:r>
            <a:endParaRPr lang="en-US" sz="1050" b="0" strike="noStrike" spc="-1">
              <a:solidFill>
                <a:srgbClr val="000000"/>
              </a:solidFill>
              <a:latin typeface="Arial"/>
            </a:endParaRPr>
          </a:p>
        </p:txBody>
      </p:sp>
      <p:sp>
        <p:nvSpPr>
          <p:cNvPr id="72" name="Shape 7"/>
          <p:cNvSpPr/>
          <p:nvPr/>
        </p:nvSpPr>
        <p:spPr>
          <a:xfrm>
            <a:off x="3218760" y="1143000"/>
            <a:ext cx="2788200" cy="1626840"/>
          </a:xfrm>
          <a:prstGeom prst="roundRect">
            <a:avLst>
              <a:gd name="adj" fmla="val 5618"/>
            </a:avLst>
          </a:prstGeom>
          <a:solidFill>
            <a:srgbClr val="E8F5E9"/>
          </a:solidFill>
          <a:ln w="0">
            <a:noFill/>
          </a:ln>
          <a:effectLst>
            <a:outerShdw blurRad="76320" dist="25455" dir="2700000" algn="bl" rotWithShape="0">
              <a:srgbClr val="000000">
                <a:alpha val="1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000000"/>
              </a:solidFill>
              <a:latin typeface="Arial"/>
            </a:endParaRPr>
          </a:p>
        </p:txBody>
      </p:sp>
      <p:sp>
        <p:nvSpPr>
          <p:cNvPr id="73" name="Shape 8"/>
          <p:cNvSpPr/>
          <p:nvPr/>
        </p:nvSpPr>
        <p:spPr>
          <a:xfrm>
            <a:off x="3310200" y="1234440"/>
            <a:ext cx="511200" cy="511200"/>
          </a:xfrm>
          <a:solidFill>
            <a:srgbClr val="D4A017"/>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000000"/>
              </a:solidFill>
              <a:latin typeface="Arial"/>
            </a:endParaRPr>
          </a:p>
        </p:txBody>
      </p:sp>
      <p:pic>
        <p:nvPicPr>
          <p:cNvPr id="74" name="Image 1" descr="preencoded.png"/>
          <p:cNvPicPr/>
          <p:nvPr/>
        </p:nvPicPr>
        <p:blipFill>
          <a:blip r:embed="rId4"/>
          <a:stretch/>
        </p:blipFill>
        <p:spPr>
          <a:xfrm>
            <a:off x="3399840" y="1324080"/>
            <a:ext cx="332280" cy="332280"/>
          </a:xfrm>
          <a:prstGeom prst="rect">
            <a:avLst/>
          </a:prstGeom>
          <a:ln w="0">
            <a:noFill/>
          </a:ln>
        </p:spPr>
      </p:pic>
      <p:sp>
        <p:nvSpPr>
          <p:cNvPr id="75" name="Text 9"/>
          <p:cNvSpPr/>
          <p:nvPr/>
        </p:nvSpPr>
        <p:spPr>
          <a:xfrm>
            <a:off x="3968640" y="1252800"/>
            <a:ext cx="1919520" cy="456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strike="noStrike" spc="-1">
                <a:solidFill>
                  <a:srgbClr val="1A4A2E"/>
                </a:solidFill>
                <a:latin typeface="Arial"/>
                <a:ea typeface="Arial"/>
              </a:rPr>
              <a:t>Disinformation &amp; Deepfakes</a:t>
            </a:r>
            <a:endParaRPr lang="en-US" sz="1200" b="0" strike="noStrike" spc="-1">
              <a:solidFill>
                <a:srgbClr val="000000"/>
              </a:solidFill>
              <a:latin typeface="Arial"/>
            </a:endParaRPr>
          </a:p>
        </p:txBody>
      </p:sp>
      <p:sp>
        <p:nvSpPr>
          <p:cNvPr id="76" name="Text 10"/>
          <p:cNvSpPr/>
          <p:nvPr/>
        </p:nvSpPr>
        <p:spPr>
          <a:xfrm>
            <a:off x="3355920" y="1783080"/>
            <a:ext cx="2541240" cy="867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50" b="0" strike="noStrike" spc="-1">
                <a:solidFill>
                  <a:srgbClr val="0D2B1A"/>
                </a:solidFill>
                <a:latin typeface="Arial"/>
                <a:ea typeface="Arial"/>
              </a:rPr>
              <a:t>AI-generated audio mimicking political figures circulated on WhatsApp during the 2023 election. Multilingual audio fakes are a new civic challenge.</a:t>
            </a:r>
            <a:endParaRPr lang="en-US" sz="1050" b="0" strike="noStrike" spc="-1">
              <a:solidFill>
                <a:srgbClr val="000000"/>
              </a:solidFill>
              <a:latin typeface="Arial"/>
            </a:endParaRPr>
          </a:p>
        </p:txBody>
      </p:sp>
      <p:sp>
        <p:nvSpPr>
          <p:cNvPr id="77" name="Shape 11"/>
          <p:cNvSpPr/>
          <p:nvPr/>
        </p:nvSpPr>
        <p:spPr>
          <a:xfrm>
            <a:off x="6163200" y="1143000"/>
            <a:ext cx="2788200" cy="1626840"/>
          </a:xfrm>
          <a:prstGeom prst="roundRect">
            <a:avLst>
              <a:gd name="adj" fmla="val 5618"/>
            </a:avLst>
          </a:prstGeom>
          <a:solidFill>
            <a:srgbClr val="E8F5E9"/>
          </a:solidFill>
          <a:ln w="0">
            <a:noFill/>
          </a:ln>
          <a:effectLst>
            <a:outerShdw blurRad="76320" dist="25455" dir="2700000" algn="bl" rotWithShape="0">
              <a:srgbClr val="000000">
                <a:alpha val="1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000000"/>
              </a:solidFill>
              <a:latin typeface="Arial"/>
            </a:endParaRPr>
          </a:p>
        </p:txBody>
      </p:sp>
      <p:sp>
        <p:nvSpPr>
          <p:cNvPr id="78" name="Shape 12"/>
          <p:cNvSpPr/>
          <p:nvPr/>
        </p:nvSpPr>
        <p:spPr>
          <a:xfrm>
            <a:off x="6254640" y="1234440"/>
            <a:ext cx="511200" cy="511200"/>
          </a:xfrm>
          <a:solidFill>
            <a:srgbClr val="D4A017"/>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000000"/>
              </a:solidFill>
              <a:latin typeface="Arial"/>
            </a:endParaRPr>
          </a:p>
        </p:txBody>
      </p:sp>
      <p:pic>
        <p:nvPicPr>
          <p:cNvPr id="79" name="Image 2" descr="preencoded.png"/>
          <p:cNvPicPr/>
          <p:nvPr/>
        </p:nvPicPr>
        <p:blipFill>
          <a:blip r:embed="rId5"/>
          <a:stretch/>
        </p:blipFill>
        <p:spPr>
          <a:xfrm>
            <a:off x="6344280" y="1324080"/>
            <a:ext cx="332280" cy="332280"/>
          </a:xfrm>
          <a:prstGeom prst="rect">
            <a:avLst/>
          </a:prstGeom>
          <a:ln w="0">
            <a:noFill/>
          </a:ln>
        </p:spPr>
      </p:pic>
      <p:sp>
        <p:nvSpPr>
          <p:cNvPr id="80" name="Text 13"/>
          <p:cNvSpPr/>
          <p:nvPr/>
        </p:nvSpPr>
        <p:spPr>
          <a:xfrm>
            <a:off x="6912720" y="1252800"/>
            <a:ext cx="1919520" cy="456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strike="noStrike" spc="-1">
                <a:solidFill>
                  <a:srgbClr val="1A4A2E"/>
                </a:solidFill>
                <a:latin typeface="Arial"/>
                <a:ea typeface="Arial"/>
              </a:rPr>
              <a:t>Court &amp; Public Admin AI</a:t>
            </a:r>
            <a:endParaRPr lang="en-US" sz="1200" b="0" strike="noStrike" spc="-1">
              <a:solidFill>
                <a:srgbClr val="000000"/>
              </a:solidFill>
              <a:latin typeface="Arial"/>
            </a:endParaRPr>
          </a:p>
        </p:txBody>
      </p:sp>
      <p:sp>
        <p:nvSpPr>
          <p:cNvPr id="81" name="Text 14"/>
          <p:cNvSpPr/>
          <p:nvPr/>
        </p:nvSpPr>
        <p:spPr>
          <a:xfrm>
            <a:off x="6300360" y="1783080"/>
            <a:ext cx="2541240" cy="867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50" b="0" strike="noStrike" spc="-1">
                <a:solidFill>
                  <a:srgbClr val="0D2B1A"/>
                </a:solidFill>
                <a:latin typeface="Arial"/>
                <a:ea typeface="Arial"/>
              </a:rPr>
              <a:t>Lagos State Judiciary is piloting AI for case scheduling. FCT chatbots handle public inquiries on permits and civil services.</a:t>
            </a:r>
            <a:endParaRPr lang="en-US" sz="1050" b="0" strike="noStrike" spc="-1">
              <a:solidFill>
                <a:srgbClr val="000000"/>
              </a:solidFill>
              <a:latin typeface="Arial"/>
            </a:endParaRPr>
          </a:p>
        </p:txBody>
      </p:sp>
      <p:sp>
        <p:nvSpPr>
          <p:cNvPr id="82" name="Shape 15"/>
          <p:cNvSpPr/>
          <p:nvPr/>
        </p:nvSpPr>
        <p:spPr>
          <a:xfrm>
            <a:off x="274320" y="2926080"/>
            <a:ext cx="2788200" cy="1626840"/>
          </a:xfrm>
          <a:prstGeom prst="roundRect">
            <a:avLst>
              <a:gd name="adj" fmla="val 5618"/>
            </a:avLst>
          </a:prstGeom>
          <a:solidFill>
            <a:srgbClr val="E8F5E9"/>
          </a:solidFill>
          <a:ln w="0">
            <a:noFill/>
          </a:ln>
          <a:effectLst>
            <a:outerShdw blurRad="76320" dist="25455" dir="2700000" algn="bl" rotWithShape="0">
              <a:srgbClr val="000000">
                <a:alpha val="1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000000"/>
              </a:solidFill>
              <a:latin typeface="Arial"/>
            </a:endParaRPr>
          </a:p>
        </p:txBody>
      </p:sp>
      <p:sp>
        <p:nvSpPr>
          <p:cNvPr id="83" name="Shape 16"/>
          <p:cNvSpPr/>
          <p:nvPr/>
        </p:nvSpPr>
        <p:spPr>
          <a:xfrm>
            <a:off x="365760" y="3017520"/>
            <a:ext cx="511200" cy="511200"/>
          </a:xfrm>
          <a:solidFill>
            <a:srgbClr val="D4A017"/>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000000"/>
              </a:solidFill>
              <a:latin typeface="Arial"/>
            </a:endParaRPr>
          </a:p>
        </p:txBody>
      </p:sp>
      <p:pic>
        <p:nvPicPr>
          <p:cNvPr id="84" name="Image 3" descr="preencoded.png"/>
          <p:cNvPicPr/>
          <p:nvPr/>
        </p:nvPicPr>
        <p:blipFill>
          <a:blip r:embed="rId6"/>
          <a:stretch/>
        </p:blipFill>
        <p:spPr>
          <a:xfrm>
            <a:off x="455400" y="3107160"/>
            <a:ext cx="332280" cy="332280"/>
          </a:xfrm>
          <a:prstGeom prst="rect">
            <a:avLst/>
          </a:prstGeom>
          <a:ln w="0">
            <a:noFill/>
          </a:ln>
        </p:spPr>
      </p:pic>
      <p:sp>
        <p:nvSpPr>
          <p:cNvPr id="85" name="Text 17"/>
          <p:cNvSpPr/>
          <p:nvPr/>
        </p:nvSpPr>
        <p:spPr>
          <a:xfrm>
            <a:off x="1024200" y="3035880"/>
            <a:ext cx="1919520" cy="456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strike="noStrike" spc="-1">
                <a:solidFill>
                  <a:srgbClr val="1A4A2E"/>
                </a:solidFill>
                <a:latin typeface="Arial"/>
                <a:ea typeface="Arial"/>
              </a:rPr>
              <a:t>Civic Tech Platforms</a:t>
            </a:r>
            <a:endParaRPr lang="en-US" sz="1200" b="0" strike="noStrike" spc="-1">
              <a:solidFill>
                <a:srgbClr val="000000"/>
              </a:solidFill>
              <a:latin typeface="Arial"/>
            </a:endParaRPr>
          </a:p>
        </p:txBody>
      </p:sp>
      <p:sp>
        <p:nvSpPr>
          <p:cNvPr id="86" name="Text 18"/>
          <p:cNvSpPr/>
          <p:nvPr/>
        </p:nvSpPr>
        <p:spPr>
          <a:xfrm>
            <a:off x="411480" y="3566160"/>
            <a:ext cx="2541240" cy="867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50" b="0" strike="noStrike" spc="-1">
                <a:solidFill>
                  <a:srgbClr val="0D2B1A"/>
                </a:solidFill>
                <a:latin typeface="Arial"/>
                <a:ea typeface="Arial"/>
              </a:rPr>
              <a:t>BudgIT tracks public budgets across 36 states. EiE Nigeria's digital tools supported voter information. Tracka monitors constituency delivery.</a:t>
            </a:r>
            <a:endParaRPr lang="en-US" sz="1050" b="0" strike="noStrike" spc="-1">
              <a:solidFill>
                <a:srgbClr val="000000"/>
              </a:solidFill>
              <a:latin typeface="Arial"/>
            </a:endParaRPr>
          </a:p>
        </p:txBody>
      </p:sp>
      <p:sp>
        <p:nvSpPr>
          <p:cNvPr id="87" name="Shape 19"/>
          <p:cNvSpPr/>
          <p:nvPr/>
        </p:nvSpPr>
        <p:spPr>
          <a:xfrm>
            <a:off x="3218760" y="2926080"/>
            <a:ext cx="2788200" cy="1626840"/>
          </a:xfrm>
          <a:prstGeom prst="roundRect">
            <a:avLst>
              <a:gd name="adj" fmla="val 5618"/>
            </a:avLst>
          </a:prstGeom>
          <a:solidFill>
            <a:srgbClr val="E8F5E9"/>
          </a:solidFill>
          <a:ln w="0">
            <a:noFill/>
          </a:ln>
          <a:effectLst>
            <a:outerShdw blurRad="76320" dist="25455" dir="2700000" algn="bl" rotWithShape="0">
              <a:srgbClr val="000000">
                <a:alpha val="1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000000"/>
              </a:solidFill>
              <a:latin typeface="Arial"/>
            </a:endParaRPr>
          </a:p>
        </p:txBody>
      </p:sp>
      <p:sp>
        <p:nvSpPr>
          <p:cNvPr id="88" name="Shape 20"/>
          <p:cNvSpPr/>
          <p:nvPr/>
        </p:nvSpPr>
        <p:spPr>
          <a:xfrm>
            <a:off x="3310200" y="3017520"/>
            <a:ext cx="511200" cy="511200"/>
          </a:xfrm>
          <a:solidFill>
            <a:srgbClr val="D4A017"/>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000000"/>
              </a:solidFill>
              <a:latin typeface="Arial"/>
            </a:endParaRPr>
          </a:p>
        </p:txBody>
      </p:sp>
      <p:pic>
        <p:nvPicPr>
          <p:cNvPr id="89" name="Image 4" descr="preencoded.png"/>
          <p:cNvPicPr/>
          <p:nvPr/>
        </p:nvPicPr>
        <p:blipFill>
          <a:blip r:embed="rId7"/>
          <a:stretch/>
        </p:blipFill>
        <p:spPr>
          <a:xfrm>
            <a:off x="3399840" y="3107160"/>
            <a:ext cx="332280" cy="332280"/>
          </a:xfrm>
          <a:prstGeom prst="rect">
            <a:avLst/>
          </a:prstGeom>
          <a:ln w="0">
            <a:noFill/>
          </a:ln>
        </p:spPr>
      </p:pic>
      <p:sp>
        <p:nvSpPr>
          <p:cNvPr id="90" name="Text 21"/>
          <p:cNvSpPr/>
          <p:nvPr/>
        </p:nvSpPr>
        <p:spPr>
          <a:xfrm>
            <a:off x="3968640" y="3035880"/>
            <a:ext cx="1919520" cy="456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strike="noStrike" spc="-1">
                <a:solidFill>
                  <a:srgbClr val="1A4A2E"/>
                </a:solidFill>
                <a:latin typeface="Arial"/>
                <a:ea typeface="Arial"/>
              </a:rPr>
              <a:t>Census &amp; Population AI</a:t>
            </a:r>
            <a:endParaRPr lang="en-US" sz="1200" b="0" strike="noStrike" spc="-1">
              <a:solidFill>
                <a:srgbClr val="000000"/>
              </a:solidFill>
              <a:latin typeface="Arial"/>
            </a:endParaRPr>
          </a:p>
        </p:txBody>
      </p:sp>
      <p:sp>
        <p:nvSpPr>
          <p:cNvPr id="91" name="Text 22"/>
          <p:cNvSpPr/>
          <p:nvPr/>
        </p:nvSpPr>
        <p:spPr>
          <a:xfrm>
            <a:off x="3355920" y="3566160"/>
            <a:ext cx="2541240" cy="867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50" b="0" strike="noStrike" spc="-1">
                <a:solidFill>
                  <a:srgbClr val="0D2B1A"/>
                </a:solidFill>
                <a:latin typeface="Arial"/>
                <a:ea typeface="Arial"/>
              </a:rPr>
              <a:t>Nigeria's 2023 Census used AI-assisted enumeration, satellite imagery and geospatial mapping at scale for 240M+ people.</a:t>
            </a:r>
            <a:endParaRPr lang="en-US" sz="1050" b="0" strike="noStrike" spc="-1">
              <a:solidFill>
                <a:srgbClr val="000000"/>
              </a:solidFill>
              <a:latin typeface="Arial"/>
            </a:endParaRPr>
          </a:p>
        </p:txBody>
      </p:sp>
      <p:sp>
        <p:nvSpPr>
          <p:cNvPr id="92" name="Shape 23"/>
          <p:cNvSpPr/>
          <p:nvPr/>
        </p:nvSpPr>
        <p:spPr>
          <a:xfrm>
            <a:off x="6163200" y="2926080"/>
            <a:ext cx="2788200" cy="1626840"/>
          </a:xfrm>
          <a:prstGeom prst="roundRect">
            <a:avLst>
              <a:gd name="adj" fmla="val 5618"/>
            </a:avLst>
          </a:prstGeom>
          <a:solidFill>
            <a:srgbClr val="E8F5E9"/>
          </a:solidFill>
          <a:ln w="0">
            <a:noFill/>
          </a:ln>
          <a:effectLst>
            <a:outerShdw blurRad="76320" dist="25455" dir="2700000" algn="bl" rotWithShape="0">
              <a:srgbClr val="000000">
                <a:alpha val="1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000000"/>
              </a:solidFill>
              <a:latin typeface="Arial"/>
            </a:endParaRPr>
          </a:p>
        </p:txBody>
      </p:sp>
      <p:sp>
        <p:nvSpPr>
          <p:cNvPr id="93" name="Shape 24"/>
          <p:cNvSpPr/>
          <p:nvPr/>
        </p:nvSpPr>
        <p:spPr>
          <a:xfrm>
            <a:off x="6254640" y="3017520"/>
            <a:ext cx="511200" cy="511200"/>
          </a:xfrm>
          <a:solidFill>
            <a:srgbClr val="D4A017"/>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000000"/>
              </a:solidFill>
              <a:latin typeface="Arial"/>
            </a:endParaRPr>
          </a:p>
        </p:txBody>
      </p:sp>
      <p:pic>
        <p:nvPicPr>
          <p:cNvPr id="94" name="Image 5" descr="preencoded.png"/>
          <p:cNvPicPr/>
          <p:nvPr/>
        </p:nvPicPr>
        <p:blipFill>
          <a:blip r:embed="rId8"/>
          <a:stretch/>
        </p:blipFill>
        <p:spPr>
          <a:xfrm>
            <a:off x="6344280" y="3107160"/>
            <a:ext cx="332280" cy="332280"/>
          </a:xfrm>
          <a:prstGeom prst="rect">
            <a:avLst/>
          </a:prstGeom>
          <a:ln w="0">
            <a:noFill/>
          </a:ln>
        </p:spPr>
      </p:pic>
      <p:sp>
        <p:nvSpPr>
          <p:cNvPr id="95" name="Text 25"/>
          <p:cNvSpPr/>
          <p:nvPr/>
        </p:nvSpPr>
        <p:spPr>
          <a:xfrm>
            <a:off x="6912720" y="3035880"/>
            <a:ext cx="1919520" cy="456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strike="noStrike" spc="-1">
                <a:solidFill>
                  <a:srgbClr val="1A4A2E"/>
                </a:solidFill>
                <a:latin typeface="Arial"/>
                <a:ea typeface="Arial"/>
              </a:rPr>
              <a:t>AgriTech &amp; Food Security AI</a:t>
            </a:r>
            <a:endParaRPr lang="en-US" sz="1200" b="0" strike="noStrike" spc="-1">
              <a:solidFill>
                <a:srgbClr val="000000"/>
              </a:solidFill>
              <a:latin typeface="Arial"/>
            </a:endParaRPr>
          </a:p>
        </p:txBody>
      </p:sp>
      <p:sp>
        <p:nvSpPr>
          <p:cNvPr id="96" name="Text 26"/>
          <p:cNvSpPr/>
          <p:nvPr/>
        </p:nvSpPr>
        <p:spPr>
          <a:xfrm>
            <a:off x="6300360" y="3566160"/>
            <a:ext cx="2541240" cy="867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50" b="0" strike="noStrike" spc="-1">
                <a:solidFill>
                  <a:srgbClr val="0D2B1A"/>
                </a:solidFill>
                <a:latin typeface="Arial"/>
                <a:ea typeface="Arial"/>
              </a:rPr>
              <a:t>Farmcrowdy, Hello Tractor and GreenPath apply ML to crop disease detection and smallholder farmer credit — serving millions in rural communities.</a:t>
            </a:r>
            <a:endParaRPr lang="en-US" sz="1050" b="0" strike="noStrike" spc="-1">
              <a:solidFill>
                <a:srgbClr val="000000"/>
              </a:solidFill>
              <a:latin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0F7F1"/>
        </a:solidFill>
        <a:effectLst/>
      </p:bgPr>
    </p:bg>
    <p:spTree>
      <p:nvGrpSpPr>
        <p:cNvPr id="1" name=""/>
        <p:cNvGrpSpPr/>
        <p:nvPr/>
      </p:nvGrpSpPr>
      <p:grpSpPr>
        <a:xfrm>
          <a:off x="0" y="0"/>
          <a:ext cx="0" cy="0"/>
          <a:chOff x="0" y="0"/>
          <a:chExt cx="0" cy="0"/>
        </a:xfrm>
      </p:grpSpPr>
      <p:sp>
        <p:nvSpPr>
          <p:cNvPr id="97" name="Shape 0"/>
          <p:cNvSpPr/>
          <p:nvPr/>
        </p:nvSpPr>
        <p:spPr>
          <a:xfrm>
            <a:off x="0" y="0"/>
            <a:ext cx="9143280" cy="685080"/>
          </a:xfrm>
          <a:prstGeom prst="rect">
            <a:avLst/>
          </a:prstGeom>
          <a:solidFill>
            <a:srgbClr val="1A4A2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FFFFFF"/>
              </a:solidFill>
              <a:latin typeface="Arial"/>
            </a:endParaRPr>
          </a:p>
        </p:txBody>
      </p:sp>
      <p:sp>
        <p:nvSpPr>
          <p:cNvPr id="98" name="Text 1"/>
          <p:cNvSpPr/>
          <p:nvPr/>
        </p:nvSpPr>
        <p:spPr>
          <a:xfrm>
            <a:off x="365760" y="36720"/>
            <a:ext cx="8411760" cy="621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800" b="1" strike="noStrike" spc="-1">
                <a:solidFill>
                  <a:srgbClr val="FFFFFF"/>
                </a:solidFill>
                <a:latin typeface="Arial"/>
                <a:ea typeface="Arial"/>
              </a:rPr>
              <a:t>What Is AI Democracy?</a:t>
            </a:r>
            <a:endParaRPr lang="en-US" sz="2800" b="0" strike="noStrike" spc="-1">
              <a:solidFill>
                <a:srgbClr val="000000"/>
              </a:solidFill>
              <a:latin typeface="Arial"/>
            </a:endParaRPr>
          </a:p>
        </p:txBody>
      </p:sp>
      <p:sp>
        <p:nvSpPr>
          <p:cNvPr id="99" name="Shape 2"/>
          <p:cNvSpPr/>
          <p:nvPr/>
        </p:nvSpPr>
        <p:spPr>
          <a:xfrm>
            <a:off x="320040" y="822960"/>
            <a:ext cx="4022640" cy="4068360"/>
          </a:xfrm>
          <a:prstGeom prst="roundRect">
            <a:avLst>
              <a:gd name="adj" fmla="val 2273"/>
            </a:avLst>
          </a:prstGeom>
          <a:solidFill>
            <a:srgbClr val="1E5C35"/>
          </a:solidFill>
          <a:ln w="0">
            <a:noFill/>
          </a:ln>
          <a:effectLst>
            <a:outerShdw blurRad="76320" dist="25455" dir="2700000" algn="bl" rotWithShape="0">
              <a:srgbClr val="000000">
                <a:alpha val="1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FFFFFF"/>
              </a:solidFill>
              <a:latin typeface="Arial"/>
            </a:endParaRPr>
          </a:p>
        </p:txBody>
      </p:sp>
      <p:sp>
        <p:nvSpPr>
          <p:cNvPr id="100" name="Text 3"/>
          <p:cNvSpPr/>
          <p:nvPr/>
        </p:nvSpPr>
        <p:spPr>
          <a:xfrm>
            <a:off x="548640" y="914400"/>
            <a:ext cx="3565440" cy="383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700" b="1" strike="noStrike" spc="-1">
                <a:solidFill>
                  <a:srgbClr val="D4A017"/>
                </a:solidFill>
                <a:latin typeface="Arial"/>
                <a:ea typeface="Arial"/>
              </a:rPr>
              <a:t>Definition</a:t>
            </a:r>
            <a:endParaRPr lang="en-US" sz="1700" b="0" strike="noStrike" spc="-1">
              <a:solidFill>
                <a:srgbClr val="000000"/>
              </a:solidFill>
              <a:latin typeface="Arial"/>
            </a:endParaRPr>
          </a:p>
        </p:txBody>
      </p:sp>
      <p:sp>
        <p:nvSpPr>
          <p:cNvPr id="101" name="Text 4"/>
          <p:cNvSpPr/>
          <p:nvPr/>
        </p:nvSpPr>
        <p:spPr>
          <a:xfrm>
            <a:off x="548640" y="1371600"/>
            <a:ext cx="3565440" cy="502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0" strike="noStrike" spc="-1">
                <a:solidFill>
                  <a:srgbClr val="FFFFFF"/>
                </a:solidFill>
                <a:latin typeface="Arial"/>
                <a:ea typeface="Arial"/>
              </a:rPr>
              <a:t>AI Democracy refers to the use of artificial intelligence to support:</a:t>
            </a:r>
            <a:endParaRPr lang="en-US" sz="1300" b="0" strike="noStrike" spc="-1">
              <a:solidFill>
                <a:srgbClr val="000000"/>
              </a:solidFill>
              <a:latin typeface="Arial"/>
            </a:endParaRPr>
          </a:p>
        </p:txBody>
      </p:sp>
      <p:pic>
        <p:nvPicPr>
          <p:cNvPr id="102" name="Image 0" descr="preencoded.png"/>
          <p:cNvPicPr/>
          <p:nvPr/>
        </p:nvPicPr>
        <p:blipFill>
          <a:blip r:embed="rId3"/>
          <a:stretch/>
        </p:blipFill>
        <p:spPr>
          <a:xfrm>
            <a:off x="548640" y="1993320"/>
            <a:ext cx="236880" cy="236880"/>
          </a:xfrm>
          <a:prstGeom prst="rect">
            <a:avLst/>
          </a:prstGeom>
          <a:ln w="0">
            <a:noFill/>
          </a:ln>
        </p:spPr>
      </p:pic>
      <p:sp>
        <p:nvSpPr>
          <p:cNvPr id="103" name="Text 5"/>
          <p:cNvSpPr/>
          <p:nvPr/>
        </p:nvSpPr>
        <p:spPr>
          <a:xfrm>
            <a:off x="932760" y="1965960"/>
            <a:ext cx="3199680" cy="383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50" b="0" strike="noStrike" spc="-1">
                <a:solidFill>
                  <a:srgbClr val="FFFFFF"/>
                </a:solidFill>
                <a:latin typeface="Arial"/>
                <a:ea typeface="Arial"/>
              </a:rPr>
              <a:t>Governance and public decision-making</a:t>
            </a:r>
            <a:endParaRPr lang="en-US" sz="1250" b="0" strike="noStrike" spc="-1">
              <a:solidFill>
                <a:srgbClr val="000000"/>
              </a:solidFill>
              <a:latin typeface="Arial"/>
            </a:endParaRPr>
          </a:p>
        </p:txBody>
      </p:sp>
      <p:pic>
        <p:nvPicPr>
          <p:cNvPr id="104" name="Image 1" descr="preencoded.png"/>
          <p:cNvPicPr/>
          <p:nvPr/>
        </p:nvPicPr>
        <p:blipFill>
          <a:blip r:embed="rId3"/>
          <a:stretch/>
        </p:blipFill>
        <p:spPr>
          <a:xfrm>
            <a:off x="548640" y="2468880"/>
            <a:ext cx="236880" cy="236880"/>
          </a:xfrm>
          <a:prstGeom prst="rect">
            <a:avLst/>
          </a:prstGeom>
          <a:ln w="0">
            <a:noFill/>
          </a:ln>
        </p:spPr>
      </p:pic>
      <p:sp>
        <p:nvSpPr>
          <p:cNvPr id="105" name="Text 6"/>
          <p:cNvSpPr/>
          <p:nvPr/>
        </p:nvSpPr>
        <p:spPr>
          <a:xfrm>
            <a:off x="932760" y="2441520"/>
            <a:ext cx="3199680" cy="383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50" b="0" strike="noStrike" spc="-1">
                <a:solidFill>
                  <a:srgbClr val="FFFFFF"/>
                </a:solidFill>
                <a:latin typeface="Arial"/>
                <a:ea typeface="Arial"/>
              </a:rPr>
              <a:t>Civic engagement and participation</a:t>
            </a:r>
            <a:endParaRPr lang="en-US" sz="1250" b="0" strike="noStrike" spc="-1">
              <a:solidFill>
                <a:srgbClr val="000000"/>
              </a:solidFill>
              <a:latin typeface="Arial"/>
            </a:endParaRPr>
          </a:p>
        </p:txBody>
      </p:sp>
      <p:pic>
        <p:nvPicPr>
          <p:cNvPr id="106" name="Image 2" descr="preencoded.png"/>
          <p:cNvPicPr/>
          <p:nvPr/>
        </p:nvPicPr>
        <p:blipFill>
          <a:blip r:embed="rId3"/>
          <a:stretch/>
        </p:blipFill>
        <p:spPr>
          <a:xfrm>
            <a:off x="548640" y="2944440"/>
            <a:ext cx="236880" cy="236880"/>
          </a:xfrm>
          <a:prstGeom prst="rect">
            <a:avLst/>
          </a:prstGeom>
          <a:ln w="0">
            <a:noFill/>
          </a:ln>
        </p:spPr>
      </p:pic>
      <p:sp>
        <p:nvSpPr>
          <p:cNvPr id="107" name="Text 7"/>
          <p:cNvSpPr/>
          <p:nvPr/>
        </p:nvSpPr>
        <p:spPr>
          <a:xfrm>
            <a:off x="932760" y="2917080"/>
            <a:ext cx="3199680" cy="383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50" b="0" strike="noStrike" spc="-1">
                <a:solidFill>
                  <a:srgbClr val="FFFFFF"/>
                </a:solidFill>
                <a:latin typeface="Arial"/>
                <a:ea typeface="Arial"/>
              </a:rPr>
              <a:t>Transparent resource allocation</a:t>
            </a:r>
            <a:endParaRPr lang="en-US" sz="1250" b="0" strike="noStrike" spc="-1">
              <a:solidFill>
                <a:srgbClr val="000000"/>
              </a:solidFill>
              <a:latin typeface="Arial"/>
            </a:endParaRPr>
          </a:p>
        </p:txBody>
      </p:sp>
      <p:pic>
        <p:nvPicPr>
          <p:cNvPr id="108" name="Image 3" descr="preencoded.png"/>
          <p:cNvPicPr/>
          <p:nvPr/>
        </p:nvPicPr>
        <p:blipFill>
          <a:blip r:embed="rId3"/>
          <a:stretch/>
        </p:blipFill>
        <p:spPr>
          <a:xfrm>
            <a:off x="548640" y="3420000"/>
            <a:ext cx="236880" cy="236880"/>
          </a:xfrm>
          <a:prstGeom prst="rect">
            <a:avLst/>
          </a:prstGeom>
          <a:ln w="0">
            <a:noFill/>
          </a:ln>
        </p:spPr>
      </p:pic>
      <p:sp>
        <p:nvSpPr>
          <p:cNvPr id="109" name="Text 8"/>
          <p:cNvSpPr/>
          <p:nvPr/>
        </p:nvSpPr>
        <p:spPr>
          <a:xfrm>
            <a:off x="932760" y="3392280"/>
            <a:ext cx="3199680" cy="383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50" b="0" strike="noStrike" spc="-1">
                <a:solidFill>
                  <a:srgbClr val="FFFFFF"/>
                </a:solidFill>
                <a:latin typeface="Arial"/>
                <a:ea typeface="Arial"/>
              </a:rPr>
              <a:t>Evidence-based policy evaluation</a:t>
            </a:r>
            <a:endParaRPr lang="en-US" sz="1250" b="0" strike="noStrike" spc="-1">
              <a:solidFill>
                <a:srgbClr val="000000"/>
              </a:solidFill>
              <a:latin typeface="Arial"/>
            </a:endParaRPr>
          </a:p>
        </p:txBody>
      </p:sp>
      <p:pic>
        <p:nvPicPr>
          <p:cNvPr id="110" name="Image 4" descr="preencoded.png"/>
          <p:cNvPicPr/>
          <p:nvPr/>
        </p:nvPicPr>
        <p:blipFill>
          <a:blip r:embed="rId3"/>
          <a:stretch/>
        </p:blipFill>
        <p:spPr>
          <a:xfrm>
            <a:off x="548640" y="3895200"/>
            <a:ext cx="236880" cy="236880"/>
          </a:xfrm>
          <a:prstGeom prst="rect">
            <a:avLst/>
          </a:prstGeom>
          <a:ln w="0">
            <a:noFill/>
          </a:ln>
        </p:spPr>
      </p:pic>
      <p:sp>
        <p:nvSpPr>
          <p:cNvPr id="111" name="Text 9"/>
          <p:cNvSpPr/>
          <p:nvPr/>
        </p:nvSpPr>
        <p:spPr>
          <a:xfrm>
            <a:off x="932760" y="3867840"/>
            <a:ext cx="3199680" cy="383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50" b="0" strike="noStrike" spc="-1">
                <a:solidFill>
                  <a:srgbClr val="FFFFFF"/>
                </a:solidFill>
                <a:latin typeface="Arial"/>
                <a:ea typeface="Arial"/>
              </a:rPr>
              <a:t>Accessible public service delivery</a:t>
            </a:r>
            <a:endParaRPr lang="en-US" sz="1250" b="0" strike="noStrike" spc="-1">
              <a:solidFill>
                <a:srgbClr val="000000"/>
              </a:solidFill>
              <a:latin typeface="Arial"/>
            </a:endParaRPr>
          </a:p>
        </p:txBody>
      </p:sp>
      <p:sp>
        <p:nvSpPr>
          <p:cNvPr id="112" name="Shape 10"/>
          <p:cNvSpPr/>
          <p:nvPr/>
        </p:nvSpPr>
        <p:spPr>
          <a:xfrm>
            <a:off x="502920" y="4224600"/>
            <a:ext cx="3702600" cy="593640"/>
          </a:xfrm>
          <a:prstGeom prst="roundRect">
            <a:avLst>
              <a:gd name="adj" fmla="val 12308"/>
            </a:avLst>
          </a:prstGeom>
          <a:solidFill>
            <a:srgbClr val="D4A017">
              <a:alpha val="85000"/>
            </a:srgb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000000"/>
              </a:solidFill>
              <a:latin typeface="Arial"/>
            </a:endParaRPr>
          </a:p>
        </p:txBody>
      </p:sp>
      <p:sp>
        <p:nvSpPr>
          <p:cNvPr id="113" name="Text 11"/>
          <p:cNvSpPr/>
          <p:nvPr/>
        </p:nvSpPr>
        <p:spPr>
          <a:xfrm>
            <a:off x="594360" y="4251960"/>
            <a:ext cx="3519720" cy="502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0" i="1" strike="noStrike" spc="-1">
                <a:solidFill>
                  <a:srgbClr val="0D2B1A"/>
                </a:solidFill>
                <a:latin typeface="Arial"/>
                <a:ea typeface="Arial"/>
              </a:rPr>
              <a:t>Key question: Can AI strengthen democracy's core principles — or will it bypass them?</a:t>
            </a:r>
            <a:endParaRPr lang="en-US" sz="1100" b="0" strike="noStrike" spc="-1">
              <a:solidFill>
                <a:srgbClr val="000000"/>
              </a:solidFill>
              <a:latin typeface="Arial"/>
            </a:endParaRPr>
          </a:p>
        </p:txBody>
      </p:sp>
      <p:sp>
        <p:nvSpPr>
          <p:cNvPr id="114" name="Text 12"/>
          <p:cNvSpPr/>
          <p:nvPr/>
        </p:nvSpPr>
        <p:spPr>
          <a:xfrm>
            <a:off x="4617720" y="822960"/>
            <a:ext cx="4205520" cy="383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700" b="1" strike="noStrike" spc="-1">
                <a:solidFill>
                  <a:srgbClr val="1A4A2E"/>
                </a:solidFill>
                <a:latin typeface="Arial"/>
                <a:ea typeface="Arial"/>
              </a:rPr>
              <a:t>Democracy Beyond Elections</a:t>
            </a:r>
            <a:endParaRPr lang="en-US" sz="1700" b="0" strike="noStrike" spc="-1">
              <a:solidFill>
                <a:srgbClr val="000000"/>
              </a:solidFill>
              <a:latin typeface="Arial"/>
            </a:endParaRPr>
          </a:p>
        </p:txBody>
      </p:sp>
      <p:sp>
        <p:nvSpPr>
          <p:cNvPr id="115" name="Shape 13"/>
          <p:cNvSpPr/>
          <p:nvPr/>
        </p:nvSpPr>
        <p:spPr>
          <a:xfrm>
            <a:off x="4663440" y="1334880"/>
            <a:ext cx="401760" cy="401760"/>
          </a:xfrm>
          <a:solidFill>
            <a:srgbClr val="E8F5E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000000"/>
              </a:solidFill>
              <a:latin typeface="Arial"/>
            </a:endParaRPr>
          </a:p>
        </p:txBody>
      </p:sp>
      <p:pic>
        <p:nvPicPr>
          <p:cNvPr id="116" name="Image 5" descr="preencoded.png"/>
          <p:cNvPicPr/>
          <p:nvPr/>
        </p:nvPicPr>
        <p:blipFill>
          <a:blip r:embed="rId4"/>
          <a:stretch/>
        </p:blipFill>
        <p:spPr>
          <a:xfrm>
            <a:off x="4718160" y="1362600"/>
            <a:ext cx="291960" cy="291960"/>
          </a:xfrm>
          <a:prstGeom prst="rect">
            <a:avLst/>
          </a:prstGeom>
          <a:ln w="0">
            <a:noFill/>
          </a:ln>
        </p:spPr>
      </p:pic>
      <p:sp>
        <p:nvSpPr>
          <p:cNvPr id="117" name="Text 14"/>
          <p:cNvSpPr/>
          <p:nvPr/>
        </p:nvSpPr>
        <p:spPr>
          <a:xfrm>
            <a:off x="5193720" y="1316880"/>
            <a:ext cx="1828080" cy="273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strike="noStrike" spc="-1">
                <a:solidFill>
                  <a:srgbClr val="1A4A2E"/>
                </a:solidFill>
                <a:latin typeface="Arial"/>
                <a:ea typeface="Arial"/>
              </a:rPr>
              <a:t>Participation</a:t>
            </a:r>
            <a:endParaRPr lang="en-US" sz="1300" b="0" strike="noStrike" spc="-1">
              <a:solidFill>
                <a:srgbClr val="000000"/>
              </a:solidFill>
              <a:latin typeface="Arial"/>
            </a:endParaRPr>
          </a:p>
        </p:txBody>
      </p:sp>
      <p:sp>
        <p:nvSpPr>
          <p:cNvPr id="118" name="Text 15"/>
          <p:cNvSpPr/>
          <p:nvPr/>
        </p:nvSpPr>
        <p:spPr>
          <a:xfrm>
            <a:off x="5193720" y="1572840"/>
            <a:ext cx="3565440" cy="255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0" strike="noStrike" spc="-1">
                <a:solidFill>
                  <a:srgbClr val="0D2B1A"/>
                </a:solidFill>
                <a:latin typeface="Arial"/>
                <a:ea typeface="Arial"/>
              </a:rPr>
              <a:t>— Every citizen has a voice</a:t>
            </a:r>
            <a:endParaRPr lang="en-US" sz="1100" b="0" strike="noStrike" spc="-1">
              <a:solidFill>
                <a:srgbClr val="000000"/>
              </a:solidFill>
              <a:latin typeface="Arial"/>
            </a:endParaRPr>
          </a:p>
        </p:txBody>
      </p:sp>
      <p:sp>
        <p:nvSpPr>
          <p:cNvPr id="119" name="Shape 16"/>
          <p:cNvSpPr/>
          <p:nvPr/>
        </p:nvSpPr>
        <p:spPr>
          <a:xfrm>
            <a:off x="4663440" y="1929240"/>
            <a:ext cx="401760" cy="401760"/>
          </a:xfrm>
          <a:solidFill>
            <a:srgbClr val="E8F5E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000000"/>
              </a:solidFill>
              <a:latin typeface="Arial"/>
            </a:endParaRPr>
          </a:p>
        </p:txBody>
      </p:sp>
      <p:pic>
        <p:nvPicPr>
          <p:cNvPr id="120" name="Image 6" descr="preencoded.png"/>
          <p:cNvPicPr/>
          <p:nvPr/>
        </p:nvPicPr>
        <p:blipFill>
          <a:blip r:embed="rId5"/>
          <a:stretch/>
        </p:blipFill>
        <p:spPr>
          <a:xfrm>
            <a:off x="4718160" y="1956960"/>
            <a:ext cx="291960" cy="291960"/>
          </a:xfrm>
          <a:prstGeom prst="rect">
            <a:avLst/>
          </a:prstGeom>
          <a:ln w="0">
            <a:noFill/>
          </a:ln>
        </p:spPr>
      </p:pic>
      <p:sp>
        <p:nvSpPr>
          <p:cNvPr id="121" name="Text 17"/>
          <p:cNvSpPr/>
          <p:nvPr/>
        </p:nvSpPr>
        <p:spPr>
          <a:xfrm>
            <a:off x="5193720" y="1911240"/>
            <a:ext cx="1828080" cy="273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strike="noStrike" spc="-1">
                <a:solidFill>
                  <a:srgbClr val="1A4A2E"/>
                </a:solidFill>
                <a:latin typeface="Arial"/>
                <a:ea typeface="Arial"/>
              </a:rPr>
              <a:t>Accountability</a:t>
            </a:r>
            <a:endParaRPr lang="en-US" sz="1300" b="0" strike="noStrike" spc="-1">
              <a:solidFill>
                <a:srgbClr val="000000"/>
              </a:solidFill>
              <a:latin typeface="Arial"/>
            </a:endParaRPr>
          </a:p>
        </p:txBody>
      </p:sp>
      <p:sp>
        <p:nvSpPr>
          <p:cNvPr id="122" name="Text 18"/>
          <p:cNvSpPr/>
          <p:nvPr/>
        </p:nvSpPr>
        <p:spPr>
          <a:xfrm>
            <a:off x="5193720" y="2167200"/>
            <a:ext cx="3565440" cy="255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0" strike="noStrike" spc="-1">
                <a:solidFill>
                  <a:srgbClr val="0D2B1A"/>
                </a:solidFill>
                <a:latin typeface="Arial"/>
                <a:ea typeface="Arial"/>
              </a:rPr>
              <a:t>— Power is answerable</a:t>
            </a:r>
            <a:endParaRPr lang="en-US" sz="1100" b="0" strike="noStrike" spc="-1">
              <a:solidFill>
                <a:srgbClr val="000000"/>
              </a:solidFill>
              <a:latin typeface="Arial"/>
            </a:endParaRPr>
          </a:p>
        </p:txBody>
      </p:sp>
      <p:sp>
        <p:nvSpPr>
          <p:cNvPr id="123" name="Shape 19"/>
          <p:cNvSpPr/>
          <p:nvPr/>
        </p:nvSpPr>
        <p:spPr>
          <a:xfrm>
            <a:off x="4663440" y="2523600"/>
            <a:ext cx="401760" cy="401760"/>
          </a:xfrm>
          <a:solidFill>
            <a:srgbClr val="E8F5E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000000"/>
              </a:solidFill>
              <a:latin typeface="Arial"/>
            </a:endParaRPr>
          </a:p>
        </p:txBody>
      </p:sp>
      <p:pic>
        <p:nvPicPr>
          <p:cNvPr id="124" name="Image 7" descr="preencoded.png"/>
          <p:cNvPicPr/>
          <p:nvPr/>
        </p:nvPicPr>
        <p:blipFill>
          <a:blip r:embed="rId6"/>
          <a:stretch/>
        </p:blipFill>
        <p:spPr>
          <a:xfrm>
            <a:off x="4718160" y="2551320"/>
            <a:ext cx="291960" cy="291960"/>
          </a:xfrm>
          <a:prstGeom prst="rect">
            <a:avLst/>
          </a:prstGeom>
          <a:ln w="0">
            <a:noFill/>
          </a:ln>
        </p:spPr>
      </p:pic>
      <p:sp>
        <p:nvSpPr>
          <p:cNvPr id="125" name="Text 20"/>
          <p:cNvSpPr/>
          <p:nvPr/>
        </p:nvSpPr>
        <p:spPr>
          <a:xfrm>
            <a:off x="5193720" y="2505600"/>
            <a:ext cx="1828080" cy="273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strike="noStrike" spc="-1">
                <a:solidFill>
                  <a:srgbClr val="1A4A2E"/>
                </a:solidFill>
                <a:latin typeface="Arial"/>
                <a:ea typeface="Arial"/>
              </a:rPr>
              <a:t>Transparency</a:t>
            </a:r>
            <a:endParaRPr lang="en-US" sz="1300" b="0" strike="noStrike" spc="-1">
              <a:solidFill>
                <a:srgbClr val="000000"/>
              </a:solidFill>
              <a:latin typeface="Arial"/>
            </a:endParaRPr>
          </a:p>
        </p:txBody>
      </p:sp>
      <p:sp>
        <p:nvSpPr>
          <p:cNvPr id="126" name="Text 21"/>
          <p:cNvSpPr/>
          <p:nvPr/>
        </p:nvSpPr>
        <p:spPr>
          <a:xfrm>
            <a:off x="5193720" y="2761560"/>
            <a:ext cx="3565440" cy="255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0" strike="noStrike" spc="-1">
                <a:solidFill>
                  <a:srgbClr val="0D2B1A"/>
                </a:solidFill>
                <a:latin typeface="Arial"/>
                <a:ea typeface="Arial"/>
              </a:rPr>
              <a:t>— Decisions are open to scrutiny</a:t>
            </a:r>
            <a:endParaRPr lang="en-US" sz="1100" b="0" strike="noStrike" spc="-1">
              <a:solidFill>
                <a:srgbClr val="000000"/>
              </a:solidFill>
              <a:latin typeface="Arial"/>
            </a:endParaRPr>
          </a:p>
        </p:txBody>
      </p:sp>
      <p:sp>
        <p:nvSpPr>
          <p:cNvPr id="127" name="Shape 22"/>
          <p:cNvSpPr/>
          <p:nvPr/>
        </p:nvSpPr>
        <p:spPr>
          <a:xfrm>
            <a:off x="4663440" y="3117960"/>
            <a:ext cx="401760" cy="401760"/>
          </a:xfrm>
          <a:solidFill>
            <a:srgbClr val="E8F5E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000000"/>
              </a:solidFill>
              <a:latin typeface="Arial"/>
            </a:endParaRPr>
          </a:p>
        </p:txBody>
      </p:sp>
      <p:pic>
        <p:nvPicPr>
          <p:cNvPr id="128" name="Image 8" descr="preencoded.png"/>
          <p:cNvPicPr/>
          <p:nvPr/>
        </p:nvPicPr>
        <p:blipFill>
          <a:blip r:embed="rId7"/>
          <a:stretch/>
        </p:blipFill>
        <p:spPr>
          <a:xfrm>
            <a:off x="4718160" y="3145680"/>
            <a:ext cx="291960" cy="291960"/>
          </a:xfrm>
          <a:prstGeom prst="rect">
            <a:avLst/>
          </a:prstGeom>
          <a:ln w="0">
            <a:noFill/>
          </a:ln>
        </p:spPr>
      </p:pic>
      <p:sp>
        <p:nvSpPr>
          <p:cNvPr id="129" name="Text 23"/>
          <p:cNvSpPr/>
          <p:nvPr/>
        </p:nvSpPr>
        <p:spPr>
          <a:xfrm>
            <a:off x="5193720" y="3099960"/>
            <a:ext cx="1828080" cy="273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strike="noStrike" spc="-1">
                <a:solidFill>
                  <a:srgbClr val="1A4A2E"/>
                </a:solidFill>
                <a:latin typeface="Arial"/>
                <a:ea typeface="Arial"/>
              </a:rPr>
              <a:t>Representation</a:t>
            </a:r>
            <a:endParaRPr lang="en-US" sz="1300" b="0" strike="noStrike" spc="-1">
              <a:solidFill>
                <a:srgbClr val="000000"/>
              </a:solidFill>
              <a:latin typeface="Arial"/>
            </a:endParaRPr>
          </a:p>
        </p:txBody>
      </p:sp>
      <p:sp>
        <p:nvSpPr>
          <p:cNvPr id="130" name="Text 24"/>
          <p:cNvSpPr/>
          <p:nvPr/>
        </p:nvSpPr>
        <p:spPr>
          <a:xfrm>
            <a:off x="5193720" y="3355920"/>
            <a:ext cx="3565440" cy="255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0" strike="noStrike" spc="-1">
                <a:solidFill>
                  <a:srgbClr val="0D2B1A"/>
                </a:solidFill>
                <a:latin typeface="Arial"/>
                <a:ea typeface="Arial"/>
              </a:rPr>
              <a:t>— All groups are included</a:t>
            </a:r>
            <a:endParaRPr lang="en-US" sz="1100" b="0" strike="noStrike" spc="-1">
              <a:solidFill>
                <a:srgbClr val="000000"/>
              </a:solidFill>
              <a:latin typeface="Arial"/>
            </a:endParaRPr>
          </a:p>
        </p:txBody>
      </p:sp>
      <p:sp>
        <p:nvSpPr>
          <p:cNvPr id="131" name="Shape 25"/>
          <p:cNvSpPr/>
          <p:nvPr/>
        </p:nvSpPr>
        <p:spPr>
          <a:xfrm>
            <a:off x="4663440" y="3712320"/>
            <a:ext cx="401760" cy="401760"/>
          </a:xfrm>
          <a:solidFill>
            <a:srgbClr val="E8F5E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000000"/>
              </a:solidFill>
              <a:latin typeface="Arial"/>
            </a:endParaRPr>
          </a:p>
        </p:txBody>
      </p:sp>
      <p:pic>
        <p:nvPicPr>
          <p:cNvPr id="132" name="Image 9" descr="preencoded.png"/>
          <p:cNvPicPr/>
          <p:nvPr/>
        </p:nvPicPr>
        <p:blipFill>
          <a:blip r:embed="rId8"/>
          <a:stretch/>
        </p:blipFill>
        <p:spPr>
          <a:xfrm>
            <a:off x="4718160" y="3740040"/>
            <a:ext cx="291960" cy="291960"/>
          </a:xfrm>
          <a:prstGeom prst="rect">
            <a:avLst/>
          </a:prstGeom>
          <a:ln w="0">
            <a:noFill/>
          </a:ln>
        </p:spPr>
      </p:pic>
      <p:sp>
        <p:nvSpPr>
          <p:cNvPr id="133" name="Text 26"/>
          <p:cNvSpPr/>
          <p:nvPr/>
        </p:nvSpPr>
        <p:spPr>
          <a:xfrm>
            <a:off x="5193720" y="3694320"/>
            <a:ext cx="1828080" cy="273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strike="noStrike" spc="-1">
                <a:solidFill>
                  <a:srgbClr val="1A4A2E"/>
                </a:solidFill>
                <a:latin typeface="Arial"/>
                <a:ea typeface="Arial"/>
              </a:rPr>
              <a:t>Rule of Law</a:t>
            </a:r>
            <a:endParaRPr lang="en-US" sz="1300" b="0" strike="noStrike" spc="-1">
              <a:solidFill>
                <a:srgbClr val="000000"/>
              </a:solidFill>
              <a:latin typeface="Arial"/>
            </a:endParaRPr>
          </a:p>
        </p:txBody>
      </p:sp>
      <p:sp>
        <p:nvSpPr>
          <p:cNvPr id="134" name="Text 27"/>
          <p:cNvSpPr/>
          <p:nvPr/>
        </p:nvSpPr>
        <p:spPr>
          <a:xfrm>
            <a:off x="5193720" y="3950280"/>
            <a:ext cx="3565440" cy="255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0" strike="noStrike" spc="-1">
                <a:solidFill>
                  <a:srgbClr val="0D2B1A"/>
                </a:solidFill>
                <a:latin typeface="Arial"/>
                <a:ea typeface="Arial"/>
              </a:rPr>
              <a:t>— Algorithms must be law-bound</a:t>
            </a:r>
            <a:endParaRPr lang="en-US" sz="1100" b="0" strike="noStrike" spc="-1">
              <a:solidFill>
                <a:srgbClr val="000000"/>
              </a:solidFill>
              <a:latin typeface="Arial"/>
            </a:endParaRPr>
          </a:p>
        </p:txBody>
      </p:sp>
      <p:sp>
        <p:nvSpPr>
          <p:cNvPr id="135" name="Shape 28"/>
          <p:cNvSpPr/>
          <p:nvPr/>
        </p:nvSpPr>
        <p:spPr>
          <a:xfrm>
            <a:off x="4663440" y="4306680"/>
            <a:ext cx="401760" cy="401760"/>
          </a:xfrm>
          <a:solidFill>
            <a:srgbClr val="E8F5E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000000"/>
              </a:solidFill>
              <a:latin typeface="Arial"/>
            </a:endParaRPr>
          </a:p>
        </p:txBody>
      </p:sp>
      <p:pic>
        <p:nvPicPr>
          <p:cNvPr id="136" name="Image 10" descr="preencoded.png"/>
          <p:cNvPicPr/>
          <p:nvPr/>
        </p:nvPicPr>
        <p:blipFill>
          <a:blip r:embed="rId9"/>
          <a:stretch/>
        </p:blipFill>
        <p:spPr>
          <a:xfrm>
            <a:off x="4718160" y="4334400"/>
            <a:ext cx="291960" cy="291960"/>
          </a:xfrm>
          <a:prstGeom prst="rect">
            <a:avLst/>
          </a:prstGeom>
          <a:ln w="0">
            <a:noFill/>
          </a:ln>
        </p:spPr>
      </p:pic>
      <p:sp>
        <p:nvSpPr>
          <p:cNvPr id="137" name="Text 29"/>
          <p:cNvSpPr/>
          <p:nvPr/>
        </p:nvSpPr>
        <p:spPr>
          <a:xfrm>
            <a:off x="5193720" y="4288680"/>
            <a:ext cx="1828080" cy="273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strike="noStrike" spc="-1">
                <a:solidFill>
                  <a:srgbClr val="1A4A2E"/>
                </a:solidFill>
                <a:latin typeface="Arial"/>
                <a:ea typeface="Arial"/>
              </a:rPr>
              <a:t>Human Rights</a:t>
            </a:r>
            <a:endParaRPr lang="en-US" sz="1300" b="0" strike="noStrike" spc="-1">
              <a:solidFill>
                <a:srgbClr val="000000"/>
              </a:solidFill>
              <a:latin typeface="Arial"/>
            </a:endParaRPr>
          </a:p>
        </p:txBody>
      </p:sp>
      <p:sp>
        <p:nvSpPr>
          <p:cNvPr id="138" name="Text 30"/>
          <p:cNvSpPr/>
          <p:nvPr/>
        </p:nvSpPr>
        <p:spPr>
          <a:xfrm>
            <a:off x="5193720" y="4544640"/>
            <a:ext cx="3565440" cy="255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0" strike="noStrike" spc="-1">
                <a:solidFill>
                  <a:srgbClr val="0D2B1A"/>
                </a:solidFill>
                <a:latin typeface="Arial"/>
                <a:ea typeface="Arial"/>
              </a:rPr>
              <a:t>— Dignity is non-negotiable</a:t>
            </a:r>
            <a:endParaRPr lang="en-US" sz="1100" b="0" strike="noStrike" spc="-1">
              <a:solidFill>
                <a:srgbClr val="000000"/>
              </a:solidFill>
              <a:latin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0F7F1"/>
        </a:solidFill>
        <a:effectLst/>
      </p:bgPr>
    </p:bg>
    <p:spTree>
      <p:nvGrpSpPr>
        <p:cNvPr id="1" name=""/>
        <p:cNvGrpSpPr/>
        <p:nvPr/>
      </p:nvGrpSpPr>
      <p:grpSpPr>
        <a:xfrm>
          <a:off x="0" y="0"/>
          <a:ext cx="0" cy="0"/>
          <a:chOff x="0" y="0"/>
          <a:chExt cx="0" cy="0"/>
        </a:xfrm>
      </p:grpSpPr>
      <p:sp>
        <p:nvSpPr>
          <p:cNvPr id="139" name="Shape 0"/>
          <p:cNvSpPr/>
          <p:nvPr/>
        </p:nvSpPr>
        <p:spPr>
          <a:xfrm>
            <a:off x="0" y="0"/>
            <a:ext cx="9143280" cy="685080"/>
          </a:xfrm>
          <a:prstGeom prst="rect">
            <a:avLst/>
          </a:prstGeom>
          <a:solidFill>
            <a:srgbClr val="1A4A2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FFFFFF"/>
              </a:solidFill>
              <a:latin typeface="Arial"/>
            </a:endParaRPr>
          </a:p>
        </p:txBody>
      </p:sp>
      <p:sp>
        <p:nvSpPr>
          <p:cNvPr id="140" name="Text 1"/>
          <p:cNvSpPr/>
          <p:nvPr/>
        </p:nvSpPr>
        <p:spPr>
          <a:xfrm>
            <a:off x="365760" y="36720"/>
            <a:ext cx="8411760" cy="621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800" b="1" strike="noStrike" spc="-1">
                <a:solidFill>
                  <a:srgbClr val="FFFFFF"/>
                </a:solidFill>
                <a:latin typeface="Arial"/>
                <a:ea typeface="Arial"/>
              </a:rPr>
              <a:t>Three Possible Futures: Nigeria + AI by 2050</a:t>
            </a:r>
            <a:endParaRPr lang="en-US" sz="2800" b="0" strike="noStrike" spc="-1">
              <a:solidFill>
                <a:srgbClr val="000000"/>
              </a:solidFill>
              <a:latin typeface="Arial"/>
            </a:endParaRPr>
          </a:p>
        </p:txBody>
      </p:sp>
      <p:sp>
        <p:nvSpPr>
          <p:cNvPr id="141" name="Shape 2"/>
          <p:cNvSpPr/>
          <p:nvPr/>
        </p:nvSpPr>
        <p:spPr>
          <a:xfrm>
            <a:off x="274320" y="804600"/>
            <a:ext cx="2788200" cy="4159800"/>
          </a:xfrm>
          <a:prstGeom prst="roundRect">
            <a:avLst>
              <a:gd name="adj" fmla="val 3279"/>
            </a:avLst>
          </a:prstGeom>
          <a:solidFill>
            <a:srgbClr val="1A5C30"/>
          </a:solidFill>
          <a:ln w="0">
            <a:noFill/>
          </a:ln>
          <a:effectLst>
            <a:outerShdw blurRad="76320" dist="25455" dir="2700000" algn="bl" rotWithShape="0">
              <a:srgbClr val="000000">
                <a:alpha val="1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FFFFFF"/>
              </a:solidFill>
              <a:latin typeface="Arial"/>
            </a:endParaRPr>
          </a:p>
        </p:txBody>
      </p:sp>
      <p:sp>
        <p:nvSpPr>
          <p:cNvPr id="142" name="Shape 3"/>
          <p:cNvSpPr/>
          <p:nvPr/>
        </p:nvSpPr>
        <p:spPr>
          <a:xfrm>
            <a:off x="347400" y="868680"/>
            <a:ext cx="2642040" cy="502200"/>
          </a:xfrm>
          <a:prstGeom prst="roundRect">
            <a:avLst>
              <a:gd name="adj" fmla="val 10909"/>
            </a:avLst>
          </a:prstGeom>
          <a:solidFill>
            <a:srgbClr val="000000">
              <a:alpha val="20000"/>
            </a:srgb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FFFFFF"/>
              </a:solidFill>
              <a:latin typeface="Arial"/>
            </a:endParaRPr>
          </a:p>
        </p:txBody>
      </p:sp>
      <p:sp>
        <p:nvSpPr>
          <p:cNvPr id="143" name="Text 4"/>
          <p:cNvSpPr/>
          <p:nvPr/>
        </p:nvSpPr>
        <p:spPr>
          <a:xfrm>
            <a:off x="438840" y="896040"/>
            <a:ext cx="2468160" cy="227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1" strike="noStrike" spc="197">
                <a:solidFill>
                  <a:srgbClr val="FFFFFF"/>
                </a:solidFill>
                <a:latin typeface="Arial"/>
                <a:ea typeface="Arial"/>
              </a:rPr>
              <a:t>FUTURE 1</a:t>
            </a:r>
            <a:endParaRPr lang="en-US" sz="1000" b="0" strike="noStrike" spc="-1">
              <a:solidFill>
                <a:srgbClr val="000000"/>
              </a:solidFill>
              <a:latin typeface="Arial"/>
            </a:endParaRPr>
          </a:p>
        </p:txBody>
      </p:sp>
      <p:sp>
        <p:nvSpPr>
          <p:cNvPr id="144" name="Text 5"/>
          <p:cNvSpPr/>
          <p:nvPr/>
        </p:nvSpPr>
        <p:spPr>
          <a:xfrm>
            <a:off x="438840" y="1115640"/>
            <a:ext cx="2468160" cy="346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strike="noStrike" spc="-1" dirty="0">
                <a:solidFill>
                  <a:srgbClr val="FFFFFF"/>
                </a:solidFill>
                <a:latin typeface="Arial"/>
                <a:ea typeface="Arial"/>
              </a:rPr>
              <a:t>AI for People</a:t>
            </a:r>
            <a:endParaRPr lang="en-US" sz="1600" b="0" strike="noStrike" spc="-1" dirty="0">
              <a:solidFill>
                <a:srgbClr val="000000"/>
              </a:solidFill>
              <a:latin typeface="Arial"/>
            </a:endParaRPr>
          </a:p>
        </p:txBody>
      </p:sp>
      <p:pic>
        <p:nvPicPr>
          <p:cNvPr id="145" name="Image 0" descr="preencoded.png"/>
          <p:cNvPicPr/>
          <p:nvPr/>
        </p:nvPicPr>
        <p:blipFill>
          <a:blip r:embed="rId3"/>
          <a:stretch/>
        </p:blipFill>
        <p:spPr>
          <a:xfrm>
            <a:off x="438840" y="1609200"/>
            <a:ext cx="145440" cy="145440"/>
          </a:xfrm>
          <a:prstGeom prst="rect">
            <a:avLst/>
          </a:prstGeom>
          <a:ln w="0">
            <a:noFill/>
          </a:ln>
        </p:spPr>
      </p:pic>
      <p:sp>
        <p:nvSpPr>
          <p:cNvPr id="146" name="Text 6"/>
          <p:cNvSpPr/>
          <p:nvPr/>
        </p:nvSpPr>
        <p:spPr>
          <a:xfrm>
            <a:off x="658440" y="1572840"/>
            <a:ext cx="2331000" cy="456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50" b="0" strike="noStrike" spc="-1">
                <a:solidFill>
                  <a:srgbClr val="FFFFFF"/>
                </a:solidFill>
                <a:latin typeface="Arial"/>
                <a:ea typeface="Arial"/>
              </a:rPr>
              <a:t>AI strengthens electoral integrity and inclusion</a:t>
            </a:r>
            <a:endParaRPr lang="en-US" sz="1150" b="0" strike="noStrike" spc="-1">
              <a:solidFill>
                <a:srgbClr val="000000"/>
              </a:solidFill>
              <a:latin typeface="Arial"/>
            </a:endParaRPr>
          </a:p>
        </p:txBody>
      </p:sp>
      <p:pic>
        <p:nvPicPr>
          <p:cNvPr id="147" name="Image 1" descr="preencoded.png"/>
          <p:cNvPicPr/>
          <p:nvPr/>
        </p:nvPicPr>
        <p:blipFill>
          <a:blip r:embed="rId3"/>
          <a:stretch/>
        </p:blipFill>
        <p:spPr>
          <a:xfrm>
            <a:off x="438840" y="2157840"/>
            <a:ext cx="145440" cy="145440"/>
          </a:xfrm>
          <a:prstGeom prst="rect">
            <a:avLst/>
          </a:prstGeom>
          <a:ln w="0">
            <a:noFill/>
          </a:ln>
        </p:spPr>
      </p:pic>
      <p:sp>
        <p:nvSpPr>
          <p:cNvPr id="148" name="Text 7"/>
          <p:cNvSpPr/>
          <p:nvPr/>
        </p:nvSpPr>
        <p:spPr>
          <a:xfrm>
            <a:off x="658440" y="2121480"/>
            <a:ext cx="2331000" cy="456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50" b="0" strike="noStrike" spc="-1">
                <a:solidFill>
                  <a:srgbClr val="FFFFFF"/>
                </a:solidFill>
                <a:latin typeface="Arial"/>
                <a:ea typeface="Arial"/>
              </a:rPr>
              <a:t>National AI Act grounded in NDPA &amp; Ubuntu ethics</a:t>
            </a:r>
            <a:endParaRPr lang="en-US" sz="1150" b="0" strike="noStrike" spc="-1">
              <a:solidFill>
                <a:srgbClr val="000000"/>
              </a:solidFill>
              <a:latin typeface="Arial"/>
            </a:endParaRPr>
          </a:p>
        </p:txBody>
      </p:sp>
      <p:pic>
        <p:nvPicPr>
          <p:cNvPr id="149" name="Image 2" descr="preencoded.png"/>
          <p:cNvPicPr/>
          <p:nvPr/>
        </p:nvPicPr>
        <p:blipFill>
          <a:blip r:embed="rId3"/>
          <a:stretch/>
        </p:blipFill>
        <p:spPr>
          <a:xfrm>
            <a:off x="438840" y="2706480"/>
            <a:ext cx="145440" cy="145440"/>
          </a:xfrm>
          <a:prstGeom prst="rect">
            <a:avLst/>
          </a:prstGeom>
          <a:ln w="0">
            <a:noFill/>
          </a:ln>
        </p:spPr>
      </p:pic>
      <p:sp>
        <p:nvSpPr>
          <p:cNvPr id="150" name="Text 8"/>
          <p:cNvSpPr/>
          <p:nvPr/>
        </p:nvSpPr>
        <p:spPr>
          <a:xfrm>
            <a:off x="658440" y="2670120"/>
            <a:ext cx="2331000" cy="456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50" b="0" strike="noStrike" spc="-1">
                <a:solidFill>
                  <a:srgbClr val="FFFFFF"/>
                </a:solidFill>
                <a:latin typeface="Arial"/>
                <a:ea typeface="Arial"/>
              </a:rPr>
              <a:t>Multilingual NLP bridges 500+ language communities</a:t>
            </a:r>
            <a:endParaRPr lang="en-US" sz="1150" b="0" strike="noStrike" spc="-1">
              <a:solidFill>
                <a:srgbClr val="000000"/>
              </a:solidFill>
              <a:latin typeface="Arial"/>
            </a:endParaRPr>
          </a:p>
        </p:txBody>
      </p:sp>
      <p:pic>
        <p:nvPicPr>
          <p:cNvPr id="151" name="Image 3" descr="preencoded.png"/>
          <p:cNvPicPr/>
          <p:nvPr/>
        </p:nvPicPr>
        <p:blipFill>
          <a:blip r:embed="rId3"/>
          <a:stretch/>
        </p:blipFill>
        <p:spPr>
          <a:xfrm>
            <a:off x="438840" y="3255120"/>
            <a:ext cx="145440" cy="145440"/>
          </a:xfrm>
          <a:prstGeom prst="rect">
            <a:avLst/>
          </a:prstGeom>
          <a:ln w="0">
            <a:noFill/>
          </a:ln>
        </p:spPr>
      </p:pic>
      <p:sp>
        <p:nvSpPr>
          <p:cNvPr id="152" name="Text 9"/>
          <p:cNvSpPr/>
          <p:nvPr/>
        </p:nvSpPr>
        <p:spPr>
          <a:xfrm>
            <a:off x="658440" y="3218760"/>
            <a:ext cx="2331000" cy="456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50" b="0" strike="noStrike" spc="-1">
                <a:solidFill>
                  <a:srgbClr val="FFFFFF"/>
                </a:solidFill>
                <a:latin typeface="Arial"/>
                <a:ea typeface="Arial"/>
              </a:rPr>
              <a:t>Federated, privacy-preserving civic data systems</a:t>
            </a:r>
            <a:endParaRPr lang="en-US" sz="1150" b="0" strike="noStrike" spc="-1">
              <a:solidFill>
                <a:srgbClr val="000000"/>
              </a:solidFill>
              <a:latin typeface="Arial"/>
            </a:endParaRPr>
          </a:p>
        </p:txBody>
      </p:sp>
      <p:pic>
        <p:nvPicPr>
          <p:cNvPr id="153" name="Image 4" descr="preencoded.png"/>
          <p:cNvPicPr/>
          <p:nvPr/>
        </p:nvPicPr>
        <p:blipFill>
          <a:blip r:embed="rId3"/>
          <a:stretch/>
        </p:blipFill>
        <p:spPr>
          <a:xfrm>
            <a:off x="438840" y="3803760"/>
            <a:ext cx="145440" cy="145440"/>
          </a:xfrm>
          <a:prstGeom prst="rect">
            <a:avLst/>
          </a:prstGeom>
          <a:ln w="0">
            <a:noFill/>
          </a:ln>
        </p:spPr>
      </p:pic>
      <p:sp>
        <p:nvSpPr>
          <p:cNvPr id="154" name="Text 10"/>
          <p:cNvSpPr/>
          <p:nvPr/>
        </p:nvSpPr>
        <p:spPr>
          <a:xfrm>
            <a:off x="658440" y="3767400"/>
            <a:ext cx="2331000" cy="456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50" b="0" strike="noStrike" spc="-1">
                <a:solidFill>
                  <a:srgbClr val="FFFFFF"/>
                </a:solidFill>
                <a:latin typeface="Arial"/>
                <a:ea typeface="Arial"/>
              </a:rPr>
              <a:t>Citizens co-design AI tools for governance</a:t>
            </a:r>
            <a:endParaRPr lang="en-US" sz="1150" b="0" strike="noStrike" spc="-1">
              <a:solidFill>
                <a:srgbClr val="000000"/>
              </a:solidFill>
              <a:latin typeface="Arial"/>
            </a:endParaRPr>
          </a:p>
        </p:txBody>
      </p:sp>
      <p:sp>
        <p:nvSpPr>
          <p:cNvPr id="155" name="Text 11"/>
          <p:cNvSpPr/>
          <p:nvPr/>
        </p:nvSpPr>
        <p:spPr>
          <a:xfrm>
            <a:off x="411480" y="4645080"/>
            <a:ext cx="2559600" cy="255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strike="noStrike" spc="-1">
                <a:solidFill>
                  <a:srgbClr val="44DD88"/>
                </a:solidFill>
                <a:latin typeface="Arial"/>
                <a:ea typeface="Arial"/>
              </a:rPr>
              <a:t>→ Strong Democracy</a:t>
            </a:r>
            <a:endParaRPr lang="en-US" sz="1300" b="0" strike="noStrike" spc="-1">
              <a:solidFill>
                <a:srgbClr val="000000"/>
              </a:solidFill>
              <a:latin typeface="Arial"/>
            </a:endParaRPr>
          </a:p>
        </p:txBody>
      </p:sp>
      <p:sp>
        <p:nvSpPr>
          <p:cNvPr id="156" name="Shape 12"/>
          <p:cNvSpPr/>
          <p:nvPr/>
        </p:nvSpPr>
        <p:spPr>
          <a:xfrm>
            <a:off x="3218760" y="804600"/>
            <a:ext cx="2788200" cy="4159800"/>
          </a:xfrm>
          <a:prstGeom prst="roundRect">
            <a:avLst>
              <a:gd name="adj" fmla="val 3279"/>
            </a:avLst>
          </a:prstGeom>
          <a:solidFill>
            <a:srgbClr val="7A6010"/>
          </a:solidFill>
          <a:ln w="0">
            <a:noFill/>
          </a:ln>
          <a:effectLst>
            <a:outerShdw blurRad="76320" dist="25455" dir="2700000" algn="bl" rotWithShape="0">
              <a:srgbClr val="000000">
                <a:alpha val="1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FFFFFF"/>
              </a:solidFill>
              <a:latin typeface="Arial"/>
            </a:endParaRPr>
          </a:p>
        </p:txBody>
      </p:sp>
      <p:sp>
        <p:nvSpPr>
          <p:cNvPr id="157" name="Shape 13"/>
          <p:cNvSpPr/>
          <p:nvPr/>
        </p:nvSpPr>
        <p:spPr>
          <a:xfrm>
            <a:off x="3291840" y="868680"/>
            <a:ext cx="2642040" cy="502200"/>
          </a:xfrm>
          <a:prstGeom prst="roundRect">
            <a:avLst>
              <a:gd name="adj" fmla="val 10909"/>
            </a:avLst>
          </a:prstGeom>
          <a:solidFill>
            <a:srgbClr val="000000">
              <a:alpha val="20000"/>
            </a:srgb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FFFFFF"/>
              </a:solidFill>
              <a:latin typeface="Arial"/>
            </a:endParaRPr>
          </a:p>
        </p:txBody>
      </p:sp>
      <p:sp>
        <p:nvSpPr>
          <p:cNvPr id="158" name="Text 14"/>
          <p:cNvSpPr/>
          <p:nvPr/>
        </p:nvSpPr>
        <p:spPr>
          <a:xfrm>
            <a:off x="3383280" y="896040"/>
            <a:ext cx="2468160" cy="227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1" strike="noStrike" spc="197">
                <a:solidFill>
                  <a:srgbClr val="FFFFFF"/>
                </a:solidFill>
                <a:latin typeface="Arial"/>
                <a:ea typeface="Arial"/>
              </a:rPr>
              <a:t>FUTURE 2</a:t>
            </a:r>
            <a:endParaRPr lang="en-US" sz="1000" b="0" strike="noStrike" spc="-1">
              <a:solidFill>
                <a:srgbClr val="000000"/>
              </a:solidFill>
              <a:latin typeface="Arial"/>
            </a:endParaRPr>
          </a:p>
        </p:txBody>
      </p:sp>
      <p:sp>
        <p:nvSpPr>
          <p:cNvPr id="159" name="Text 15"/>
          <p:cNvSpPr/>
          <p:nvPr/>
        </p:nvSpPr>
        <p:spPr>
          <a:xfrm>
            <a:off x="3383280" y="1115640"/>
            <a:ext cx="2468160" cy="346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strike="noStrike" spc="-1">
                <a:solidFill>
                  <a:srgbClr val="FFFFFF"/>
                </a:solidFill>
                <a:latin typeface="Arial"/>
                <a:ea typeface="Arial"/>
              </a:rPr>
              <a:t>AI for Profit Only</a:t>
            </a:r>
            <a:endParaRPr lang="en-US" sz="1600" b="0" strike="noStrike" spc="-1">
              <a:solidFill>
                <a:srgbClr val="000000"/>
              </a:solidFill>
              <a:latin typeface="Arial"/>
            </a:endParaRPr>
          </a:p>
        </p:txBody>
      </p:sp>
      <p:pic>
        <p:nvPicPr>
          <p:cNvPr id="160" name="Image 5" descr="preencoded.png"/>
          <p:cNvPicPr/>
          <p:nvPr/>
        </p:nvPicPr>
        <p:blipFill>
          <a:blip r:embed="rId4"/>
          <a:stretch/>
        </p:blipFill>
        <p:spPr>
          <a:xfrm>
            <a:off x="3383280" y="1609200"/>
            <a:ext cx="145440" cy="145440"/>
          </a:xfrm>
          <a:prstGeom prst="rect">
            <a:avLst/>
          </a:prstGeom>
          <a:ln w="0">
            <a:noFill/>
          </a:ln>
        </p:spPr>
      </p:pic>
      <p:sp>
        <p:nvSpPr>
          <p:cNvPr id="161" name="Text 16"/>
          <p:cNvSpPr/>
          <p:nvPr/>
        </p:nvSpPr>
        <p:spPr>
          <a:xfrm>
            <a:off x="3602880" y="1572840"/>
            <a:ext cx="2331000" cy="456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50" b="0" strike="noStrike" spc="-1">
                <a:solidFill>
                  <a:srgbClr val="FFFFFF"/>
                </a:solidFill>
                <a:latin typeface="Arial"/>
                <a:ea typeface="Arial"/>
              </a:rPr>
              <a:t>AI adoption without coordination or regulation</a:t>
            </a:r>
            <a:endParaRPr lang="en-US" sz="1150" b="0" strike="noStrike" spc="-1">
              <a:solidFill>
                <a:srgbClr val="000000"/>
              </a:solidFill>
              <a:latin typeface="Arial"/>
            </a:endParaRPr>
          </a:p>
        </p:txBody>
      </p:sp>
      <p:pic>
        <p:nvPicPr>
          <p:cNvPr id="162" name="Image 6" descr="preencoded.png"/>
          <p:cNvPicPr/>
          <p:nvPr/>
        </p:nvPicPr>
        <p:blipFill>
          <a:blip r:embed="rId4"/>
          <a:stretch/>
        </p:blipFill>
        <p:spPr>
          <a:xfrm>
            <a:off x="3383280" y="2157840"/>
            <a:ext cx="145440" cy="145440"/>
          </a:xfrm>
          <a:prstGeom prst="rect">
            <a:avLst/>
          </a:prstGeom>
          <a:ln w="0">
            <a:noFill/>
          </a:ln>
        </p:spPr>
      </p:pic>
      <p:sp>
        <p:nvSpPr>
          <p:cNvPr id="163" name="Text 17"/>
          <p:cNvSpPr/>
          <p:nvPr/>
        </p:nvSpPr>
        <p:spPr>
          <a:xfrm>
            <a:off x="3602880" y="2121480"/>
            <a:ext cx="2331000" cy="456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50" b="0" strike="noStrike" spc="-1">
                <a:solidFill>
                  <a:srgbClr val="FFFFFF"/>
                </a:solidFill>
                <a:latin typeface="Arial"/>
                <a:ea typeface="Arial"/>
              </a:rPr>
              <a:t>Private platforms shape discourse unaccountably</a:t>
            </a:r>
            <a:endParaRPr lang="en-US" sz="1150" b="0" strike="noStrike" spc="-1">
              <a:solidFill>
                <a:srgbClr val="000000"/>
              </a:solidFill>
              <a:latin typeface="Arial"/>
            </a:endParaRPr>
          </a:p>
        </p:txBody>
      </p:sp>
      <p:pic>
        <p:nvPicPr>
          <p:cNvPr id="164" name="Image 7" descr="preencoded.png"/>
          <p:cNvPicPr/>
          <p:nvPr/>
        </p:nvPicPr>
        <p:blipFill>
          <a:blip r:embed="rId4"/>
          <a:stretch/>
        </p:blipFill>
        <p:spPr>
          <a:xfrm>
            <a:off x="3383280" y="2706480"/>
            <a:ext cx="145440" cy="145440"/>
          </a:xfrm>
          <a:prstGeom prst="rect">
            <a:avLst/>
          </a:prstGeom>
          <a:ln w="0">
            <a:noFill/>
          </a:ln>
        </p:spPr>
      </p:pic>
      <p:sp>
        <p:nvSpPr>
          <p:cNvPr id="165" name="Text 18"/>
          <p:cNvSpPr/>
          <p:nvPr/>
        </p:nvSpPr>
        <p:spPr>
          <a:xfrm>
            <a:off x="3602880" y="2670120"/>
            <a:ext cx="2331000" cy="456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50" b="0" strike="noStrike" spc="-1">
                <a:solidFill>
                  <a:srgbClr val="FFFFFF"/>
                </a:solidFill>
                <a:latin typeface="Arial"/>
                <a:ea typeface="Arial"/>
              </a:rPr>
              <a:t>Civic tech sector innovates but is under-resourced</a:t>
            </a:r>
            <a:endParaRPr lang="en-US" sz="1150" b="0" strike="noStrike" spc="-1">
              <a:solidFill>
                <a:srgbClr val="000000"/>
              </a:solidFill>
              <a:latin typeface="Arial"/>
            </a:endParaRPr>
          </a:p>
        </p:txBody>
      </p:sp>
      <p:pic>
        <p:nvPicPr>
          <p:cNvPr id="166" name="Image 8" descr="preencoded.png"/>
          <p:cNvPicPr/>
          <p:nvPr/>
        </p:nvPicPr>
        <p:blipFill>
          <a:blip r:embed="rId4"/>
          <a:stretch/>
        </p:blipFill>
        <p:spPr>
          <a:xfrm>
            <a:off x="3383280" y="3255120"/>
            <a:ext cx="145440" cy="145440"/>
          </a:xfrm>
          <a:prstGeom prst="rect">
            <a:avLst/>
          </a:prstGeom>
          <a:ln w="0">
            <a:noFill/>
          </a:ln>
        </p:spPr>
      </p:pic>
      <p:sp>
        <p:nvSpPr>
          <p:cNvPr id="167" name="Text 19"/>
          <p:cNvSpPr/>
          <p:nvPr/>
        </p:nvSpPr>
        <p:spPr>
          <a:xfrm>
            <a:off x="3602880" y="3218760"/>
            <a:ext cx="2331000" cy="456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50" b="0" strike="noStrike" spc="-1">
                <a:solidFill>
                  <a:srgbClr val="FFFFFF"/>
                </a:solidFill>
                <a:latin typeface="Arial"/>
                <a:ea typeface="Arial"/>
              </a:rPr>
              <a:t>Digital divide deepens between urban and rural</a:t>
            </a:r>
            <a:endParaRPr lang="en-US" sz="1150" b="0" strike="noStrike" spc="-1">
              <a:solidFill>
                <a:srgbClr val="000000"/>
              </a:solidFill>
              <a:latin typeface="Arial"/>
            </a:endParaRPr>
          </a:p>
        </p:txBody>
      </p:sp>
      <p:pic>
        <p:nvPicPr>
          <p:cNvPr id="168" name="Image 9" descr="preencoded.png"/>
          <p:cNvPicPr/>
          <p:nvPr/>
        </p:nvPicPr>
        <p:blipFill>
          <a:blip r:embed="rId4"/>
          <a:stretch/>
        </p:blipFill>
        <p:spPr>
          <a:xfrm>
            <a:off x="3383280" y="3803760"/>
            <a:ext cx="145440" cy="145440"/>
          </a:xfrm>
          <a:prstGeom prst="rect">
            <a:avLst/>
          </a:prstGeom>
          <a:ln w="0">
            <a:noFill/>
          </a:ln>
        </p:spPr>
      </p:pic>
      <p:sp>
        <p:nvSpPr>
          <p:cNvPr id="169" name="Text 20"/>
          <p:cNvSpPr/>
          <p:nvPr/>
        </p:nvSpPr>
        <p:spPr>
          <a:xfrm>
            <a:off x="3602880" y="3767400"/>
            <a:ext cx="2331000" cy="456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50" b="0" strike="noStrike" spc="-1">
                <a:solidFill>
                  <a:srgbClr val="FFFFFF"/>
                </a:solidFill>
                <a:latin typeface="Arial"/>
                <a:ea typeface="Arial"/>
              </a:rPr>
              <a:t>No accountability for algorithmic decisions</a:t>
            </a:r>
            <a:endParaRPr lang="en-US" sz="1150" b="0" strike="noStrike" spc="-1">
              <a:solidFill>
                <a:srgbClr val="000000"/>
              </a:solidFill>
              <a:latin typeface="Arial"/>
            </a:endParaRPr>
          </a:p>
        </p:txBody>
      </p:sp>
      <p:sp>
        <p:nvSpPr>
          <p:cNvPr id="170" name="Text 21"/>
          <p:cNvSpPr/>
          <p:nvPr/>
        </p:nvSpPr>
        <p:spPr>
          <a:xfrm>
            <a:off x="3355920" y="4645080"/>
            <a:ext cx="2559600" cy="255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strike="noStrike" spc="-1">
                <a:solidFill>
                  <a:srgbClr val="FFD700"/>
                </a:solidFill>
                <a:latin typeface="Arial"/>
                <a:ea typeface="Arial"/>
              </a:rPr>
              <a:t>→ Inequality</a:t>
            </a:r>
            <a:endParaRPr lang="en-US" sz="1300" b="0" strike="noStrike" spc="-1">
              <a:solidFill>
                <a:srgbClr val="000000"/>
              </a:solidFill>
              <a:latin typeface="Arial"/>
            </a:endParaRPr>
          </a:p>
        </p:txBody>
      </p:sp>
      <p:sp>
        <p:nvSpPr>
          <p:cNvPr id="171" name="Shape 22"/>
          <p:cNvSpPr/>
          <p:nvPr/>
        </p:nvSpPr>
        <p:spPr>
          <a:xfrm>
            <a:off x="6163200" y="804600"/>
            <a:ext cx="2788200" cy="4159800"/>
          </a:xfrm>
          <a:prstGeom prst="roundRect">
            <a:avLst>
              <a:gd name="adj" fmla="val 3279"/>
            </a:avLst>
          </a:prstGeom>
          <a:solidFill>
            <a:srgbClr val="7A1A10"/>
          </a:solidFill>
          <a:ln w="0">
            <a:noFill/>
          </a:ln>
          <a:effectLst>
            <a:outerShdw blurRad="76320" dist="25455" dir="2700000" algn="bl" rotWithShape="0">
              <a:srgbClr val="000000">
                <a:alpha val="1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FFFFFF"/>
              </a:solidFill>
              <a:latin typeface="Arial"/>
            </a:endParaRPr>
          </a:p>
        </p:txBody>
      </p:sp>
      <p:sp>
        <p:nvSpPr>
          <p:cNvPr id="172" name="Shape 23"/>
          <p:cNvSpPr/>
          <p:nvPr/>
        </p:nvSpPr>
        <p:spPr>
          <a:xfrm>
            <a:off x="6236280" y="868680"/>
            <a:ext cx="2642040" cy="502200"/>
          </a:xfrm>
          <a:prstGeom prst="roundRect">
            <a:avLst>
              <a:gd name="adj" fmla="val 10909"/>
            </a:avLst>
          </a:prstGeom>
          <a:solidFill>
            <a:srgbClr val="000000">
              <a:alpha val="20000"/>
            </a:srgb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FFFFFF"/>
              </a:solidFill>
              <a:latin typeface="Arial"/>
            </a:endParaRPr>
          </a:p>
        </p:txBody>
      </p:sp>
      <p:sp>
        <p:nvSpPr>
          <p:cNvPr id="173" name="Text 24"/>
          <p:cNvSpPr/>
          <p:nvPr/>
        </p:nvSpPr>
        <p:spPr>
          <a:xfrm>
            <a:off x="6327720" y="896040"/>
            <a:ext cx="2468160" cy="227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1" strike="noStrike" spc="197">
                <a:solidFill>
                  <a:srgbClr val="FFFFFF"/>
                </a:solidFill>
                <a:latin typeface="Arial"/>
                <a:ea typeface="Arial"/>
              </a:rPr>
              <a:t>FUTURE 3</a:t>
            </a:r>
            <a:endParaRPr lang="en-US" sz="1000" b="0" strike="noStrike" spc="-1">
              <a:solidFill>
                <a:srgbClr val="000000"/>
              </a:solidFill>
              <a:latin typeface="Arial"/>
            </a:endParaRPr>
          </a:p>
        </p:txBody>
      </p:sp>
      <p:sp>
        <p:nvSpPr>
          <p:cNvPr id="174" name="Text 25"/>
          <p:cNvSpPr/>
          <p:nvPr/>
        </p:nvSpPr>
        <p:spPr>
          <a:xfrm>
            <a:off x="6327720" y="1115640"/>
            <a:ext cx="2468160" cy="346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1" strike="noStrike" spc="-1">
                <a:solidFill>
                  <a:srgbClr val="FFFFFF"/>
                </a:solidFill>
                <a:latin typeface="Arial"/>
                <a:ea typeface="Arial"/>
              </a:rPr>
              <a:t>AI for Control</a:t>
            </a:r>
            <a:endParaRPr lang="en-US" sz="1600" b="0" strike="noStrike" spc="-1">
              <a:solidFill>
                <a:srgbClr val="000000"/>
              </a:solidFill>
              <a:latin typeface="Arial"/>
            </a:endParaRPr>
          </a:p>
        </p:txBody>
      </p:sp>
      <p:pic>
        <p:nvPicPr>
          <p:cNvPr id="175" name="Image 10" descr="preencoded.png"/>
          <p:cNvPicPr/>
          <p:nvPr/>
        </p:nvPicPr>
        <p:blipFill>
          <a:blip r:embed="rId5"/>
          <a:stretch/>
        </p:blipFill>
        <p:spPr>
          <a:xfrm>
            <a:off x="6327720" y="1609200"/>
            <a:ext cx="145440" cy="145440"/>
          </a:xfrm>
          <a:prstGeom prst="rect">
            <a:avLst/>
          </a:prstGeom>
          <a:ln w="0">
            <a:noFill/>
          </a:ln>
        </p:spPr>
      </p:pic>
      <p:sp>
        <p:nvSpPr>
          <p:cNvPr id="176" name="Text 26"/>
          <p:cNvSpPr/>
          <p:nvPr/>
        </p:nvSpPr>
        <p:spPr>
          <a:xfrm>
            <a:off x="6546960" y="1572840"/>
            <a:ext cx="2331000" cy="456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50" b="0" strike="noStrike" spc="-1">
                <a:solidFill>
                  <a:srgbClr val="FFFFFF"/>
                </a:solidFill>
                <a:latin typeface="Arial"/>
                <a:ea typeface="Arial"/>
              </a:rPr>
              <a:t>AI deployed to concentrate power, not distribute it</a:t>
            </a:r>
            <a:endParaRPr lang="en-US" sz="1150" b="0" strike="noStrike" spc="-1">
              <a:solidFill>
                <a:srgbClr val="000000"/>
              </a:solidFill>
              <a:latin typeface="Arial"/>
            </a:endParaRPr>
          </a:p>
        </p:txBody>
      </p:sp>
      <p:pic>
        <p:nvPicPr>
          <p:cNvPr id="177" name="Image 11" descr="preencoded.png"/>
          <p:cNvPicPr/>
          <p:nvPr/>
        </p:nvPicPr>
        <p:blipFill>
          <a:blip r:embed="rId5"/>
          <a:stretch/>
        </p:blipFill>
        <p:spPr>
          <a:xfrm>
            <a:off x="6327720" y="2157840"/>
            <a:ext cx="145440" cy="145440"/>
          </a:xfrm>
          <a:prstGeom prst="rect">
            <a:avLst/>
          </a:prstGeom>
          <a:ln w="0">
            <a:noFill/>
          </a:ln>
        </p:spPr>
      </p:pic>
      <p:sp>
        <p:nvSpPr>
          <p:cNvPr id="178" name="Text 27"/>
          <p:cNvSpPr/>
          <p:nvPr/>
        </p:nvSpPr>
        <p:spPr>
          <a:xfrm>
            <a:off x="6546960" y="2121480"/>
            <a:ext cx="2331000" cy="456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50" b="0" strike="noStrike" spc="-1">
                <a:solidFill>
                  <a:srgbClr val="FFFFFF"/>
                </a:solidFill>
                <a:latin typeface="Arial"/>
                <a:ea typeface="Arial"/>
              </a:rPr>
              <a:t>Mass surveillance enabled by unregulated AI tools</a:t>
            </a:r>
            <a:endParaRPr lang="en-US" sz="1150" b="0" strike="noStrike" spc="-1">
              <a:solidFill>
                <a:srgbClr val="000000"/>
              </a:solidFill>
              <a:latin typeface="Arial"/>
            </a:endParaRPr>
          </a:p>
        </p:txBody>
      </p:sp>
      <p:pic>
        <p:nvPicPr>
          <p:cNvPr id="179" name="Image 12" descr="preencoded.png"/>
          <p:cNvPicPr/>
          <p:nvPr/>
        </p:nvPicPr>
        <p:blipFill>
          <a:blip r:embed="rId5"/>
          <a:stretch/>
        </p:blipFill>
        <p:spPr>
          <a:xfrm>
            <a:off x="6327720" y="2706480"/>
            <a:ext cx="145440" cy="145440"/>
          </a:xfrm>
          <a:prstGeom prst="rect">
            <a:avLst/>
          </a:prstGeom>
          <a:ln w="0">
            <a:noFill/>
          </a:ln>
        </p:spPr>
      </p:pic>
      <p:sp>
        <p:nvSpPr>
          <p:cNvPr id="180" name="Text 28"/>
          <p:cNvSpPr/>
          <p:nvPr/>
        </p:nvSpPr>
        <p:spPr>
          <a:xfrm>
            <a:off x="6546960" y="2670120"/>
            <a:ext cx="2331000" cy="456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50" b="0" strike="noStrike" spc="-1">
                <a:solidFill>
                  <a:srgbClr val="FFFFFF"/>
                </a:solidFill>
                <a:latin typeface="Arial"/>
                <a:ea typeface="Arial"/>
              </a:rPr>
              <a:t>Biased algorithms entrench ethno-regional inequality</a:t>
            </a:r>
            <a:endParaRPr lang="en-US" sz="1150" b="0" strike="noStrike" spc="-1">
              <a:solidFill>
                <a:srgbClr val="000000"/>
              </a:solidFill>
              <a:latin typeface="Arial"/>
            </a:endParaRPr>
          </a:p>
        </p:txBody>
      </p:sp>
      <p:pic>
        <p:nvPicPr>
          <p:cNvPr id="181" name="Image 13" descr="preencoded.png"/>
          <p:cNvPicPr/>
          <p:nvPr/>
        </p:nvPicPr>
        <p:blipFill>
          <a:blip r:embed="rId5"/>
          <a:stretch/>
        </p:blipFill>
        <p:spPr>
          <a:xfrm>
            <a:off x="6327720" y="3255120"/>
            <a:ext cx="145440" cy="145440"/>
          </a:xfrm>
          <a:prstGeom prst="rect">
            <a:avLst/>
          </a:prstGeom>
          <a:ln w="0">
            <a:noFill/>
          </a:ln>
        </p:spPr>
      </p:pic>
      <p:sp>
        <p:nvSpPr>
          <p:cNvPr id="182" name="Text 29"/>
          <p:cNvSpPr/>
          <p:nvPr/>
        </p:nvSpPr>
        <p:spPr>
          <a:xfrm>
            <a:off x="6546960" y="3218760"/>
            <a:ext cx="2331000" cy="456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50" b="0" strike="noStrike" spc="-1">
                <a:solidFill>
                  <a:srgbClr val="FFFFFF"/>
                </a:solidFill>
                <a:latin typeface="Arial"/>
                <a:ea typeface="Arial"/>
              </a:rPr>
              <a:t>No independent AI oversight body</a:t>
            </a:r>
            <a:endParaRPr lang="en-US" sz="1150" b="0" strike="noStrike" spc="-1">
              <a:solidFill>
                <a:srgbClr val="000000"/>
              </a:solidFill>
              <a:latin typeface="Arial"/>
            </a:endParaRPr>
          </a:p>
        </p:txBody>
      </p:sp>
      <p:pic>
        <p:nvPicPr>
          <p:cNvPr id="183" name="Image 14" descr="preencoded.png"/>
          <p:cNvPicPr/>
          <p:nvPr/>
        </p:nvPicPr>
        <p:blipFill>
          <a:blip r:embed="rId5"/>
          <a:stretch/>
        </p:blipFill>
        <p:spPr>
          <a:xfrm>
            <a:off x="6327720" y="3803760"/>
            <a:ext cx="145440" cy="145440"/>
          </a:xfrm>
          <a:prstGeom prst="rect">
            <a:avLst/>
          </a:prstGeom>
          <a:ln w="0">
            <a:noFill/>
          </a:ln>
        </p:spPr>
      </p:pic>
      <p:sp>
        <p:nvSpPr>
          <p:cNvPr id="184" name="Text 30"/>
          <p:cNvSpPr/>
          <p:nvPr/>
        </p:nvSpPr>
        <p:spPr>
          <a:xfrm>
            <a:off x="6546960" y="3767400"/>
            <a:ext cx="2331000" cy="456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50" b="0" strike="noStrike" spc="-1">
                <a:solidFill>
                  <a:srgbClr val="FFFFFF"/>
                </a:solidFill>
                <a:latin typeface="Arial"/>
                <a:ea typeface="Arial"/>
              </a:rPr>
              <a:t>Digital authoritarianism — democracy in name only</a:t>
            </a:r>
            <a:endParaRPr lang="en-US" sz="1150" b="0" strike="noStrike" spc="-1">
              <a:solidFill>
                <a:srgbClr val="000000"/>
              </a:solidFill>
              <a:latin typeface="Arial"/>
            </a:endParaRPr>
          </a:p>
        </p:txBody>
      </p:sp>
      <p:sp>
        <p:nvSpPr>
          <p:cNvPr id="185" name="Text 31"/>
          <p:cNvSpPr/>
          <p:nvPr/>
        </p:nvSpPr>
        <p:spPr>
          <a:xfrm>
            <a:off x="6300360" y="4645080"/>
            <a:ext cx="2559600" cy="255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strike="noStrike" spc="-1">
                <a:solidFill>
                  <a:srgbClr val="FF6B6B"/>
                </a:solidFill>
                <a:latin typeface="Arial"/>
                <a:ea typeface="Arial"/>
              </a:rPr>
              <a:t>→ Digital Authoritarianism</a:t>
            </a:r>
            <a:endParaRPr lang="en-US" sz="1300" b="0" strike="noStrike" spc="-1">
              <a:solidFill>
                <a:srgbClr val="000000"/>
              </a:solidFill>
              <a:latin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0F7F1"/>
        </a:solidFill>
        <a:effectLst/>
      </p:bgPr>
    </p:bg>
    <p:spTree>
      <p:nvGrpSpPr>
        <p:cNvPr id="1" name=""/>
        <p:cNvGrpSpPr/>
        <p:nvPr/>
      </p:nvGrpSpPr>
      <p:grpSpPr>
        <a:xfrm>
          <a:off x="0" y="0"/>
          <a:ext cx="0" cy="0"/>
          <a:chOff x="0" y="0"/>
          <a:chExt cx="0" cy="0"/>
        </a:xfrm>
      </p:grpSpPr>
      <p:sp>
        <p:nvSpPr>
          <p:cNvPr id="186" name="Shape 0"/>
          <p:cNvSpPr/>
          <p:nvPr/>
        </p:nvSpPr>
        <p:spPr>
          <a:xfrm>
            <a:off x="0" y="0"/>
            <a:ext cx="9143280" cy="685080"/>
          </a:xfrm>
          <a:prstGeom prst="rect">
            <a:avLst/>
          </a:prstGeom>
          <a:solidFill>
            <a:srgbClr val="1A4A2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FFFFFF"/>
              </a:solidFill>
              <a:latin typeface="Arial"/>
            </a:endParaRPr>
          </a:p>
        </p:txBody>
      </p:sp>
      <p:sp>
        <p:nvSpPr>
          <p:cNvPr id="187" name="Text 1"/>
          <p:cNvSpPr/>
          <p:nvPr/>
        </p:nvSpPr>
        <p:spPr>
          <a:xfrm>
            <a:off x="365760" y="36720"/>
            <a:ext cx="8411760" cy="621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800" b="1" strike="noStrike" spc="-1">
                <a:solidFill>
                  <a:srgbClr val="FFFFFF"/>
                </a:solidFill>
                <a:latin typeface="Arial"/>
                <a:ea typeface="Arial"/>
              </a:rPr>
              <a:t>Electoral AI: Integrity 2.0</a:t>
            </a:r>
            <a:endParaRPr lang="en-US" sz="2800" b="0" strike="noStrike" spc="-1">
              <a:solidFill>
                <a:srgbClr val="000000"/>
              </a:solidFill>
              <a:latin typeface="Arial"/>
            </a:endParaRPr>
          </a:p>
        </p:txBody>
      </p:sp>
      <p:sp>
        <p:nvSpPr>
          <p:cNvPr id="188" name="Shape 2"/>
          <p:cNvSpPr/>
          <p:nvPr/>
        </p:nvSpPr>
        <p:spPr>
          <a:xfrm>
            <a:off x="274320" y="822960"/>
            <a:ext cx="4159800" cy="4205520"/>
          </a:xfrm>
          <a:prstGeom prst="roundRect">
            <a:avLst>
              <a:gd name="adj" fmla="val 2198"/>
            </a:avLst>
          </a:prstGeom>
          <a:solidFill>
            <a:srgbClr val="1E5C35"/>
          </a:solidFill>
          <a:ln w="0">
            <a:noFill/>
          </a:ln>
          <a:effectLst>
            <a:outerShdw blurRad="76320" dist="25455" dir="2700000" algn="bl" rotWithShape="0">
              <a:srgbClr val="000000">
                <a:alpha val="1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FFFFFF"/>
              </a:solidFill>
              <a:latin typeface="Arial"/>
            </a:endParaRPr>
          </a:p>
        </p:txBody>
      </p:sp>
      <p:sp>
        <p:nvSpPr>
          <p:cNvPr id="189" name="Text 3"/>
          <p:cNvSpPr/>
          <p:nvPr/>
        </p:nvSpPr>
        <p:spPr>
          <a:xfrm>
            <a:off x="457200" y="896040"/>
            <a:ext cx="3839760" cy="346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strike="noStrike" spc="-1">
                <a:solidFill>
                  <a:srgbClr val="D4A017"/>
                </a:solidFill>
                <a:latin typeface="Arial"/>
                <a:ea typeface="Arial"/>
              </a:rPr>
              <a:t>✔  PROMISE</a:t>
            </a:r>
            <a:endParaRPr lang="en-US" sz="1500" b="0" strike="noStrike" spc="-1">
              <a:solidFill>
                <a:srgbClr val="000000"/>
              </a:solidFill>
              <a:latin typeface="Arial"/>
            </a:endParaRPr>
          </a:p>
        </p:txBody>
      </p:sp>
      <p:sp>
        <p:nvSpPr>
          <p:cNvPr id="190" name="Text 4"/>
          <p:cNvSpPr/>
          <p:nvPr/>
        </p:nvSpPr>
        <p:spPr>
          <a:xfrm>
            <a:off x="457200" y="1353240"/>
            <a:ext cx="3794040" cy="474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50" b="0" strike="noStrike" spc="-1">
                <a:solidFill>
                  <a:srgbClr val="FFFFFF"/>
                </a:solidFill>
                <a:latin typeface="Arial"/>
                <a:ea typeface="Arial"/>
              </a:rPr>
              <a:t>→  Real-time result collation &amp; statistical anomaly detection</a:t>
            </a:r>
            <a:endParaRPr lang="en-US" sz="1150" b="0" strike="noStrike" spc="-1">
              <a:solidFill>
                <a:srgbClr val="000000"/>
              </a:solidFill>
              <a:latin typeface="Arial"/>
            </a:endParaRPr>
          </a:p>
        </p:txBody>
      </p:sp>
      <p:sp>
        <p:nvSpPr>
          <p:cNvPr id="191" name="Text 5"/>
          <p:cNvSpPr/>
          <p:nvPr/>
        </p:nvSpPr>
        <p:spPr>
          <a:xfrm>
            <a:off x="457200" y="1920240"/>
            <a:ext cx="3794040" cy="474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50" b="0" strike="noStrike" spc="-1">
                <a:solidFill>
                  <a:srgbClr val="FFFFFF"/>
                </a:solidFill>
                <a:latin typeface="Arial"/>
                <a:ea typeface="Arial"/>
              </a:rPr>
              <a:t>→  AI-assisted voter roll deduplication reducing ghost voter fraud</a:t>
            </a:r>
            <a:endParaRPr lang="en-US" sz="1150" b="0" strike="noStrike" spc="-1">
              <a:solidFill>
                <a:srgbClr val="000000"/>
              </a:solidFill>
              <a:latin typeface="Arial"/>
            </a:endParaRPr>
          </a:p>
        </p:txBody>
      </p:sp>
      <p:sp>
        <p:nvSpPr>
          <p:cNvPr id="192" name="Text 6"/>
          <p:cNvSpPr/>
          <p:nvPr/>
        </p:nvSpPr>
        <p:spPr>
          <a:xfrm>
            <a:off x="457200" y="2487240"/>
            <a:ext cx="3794040" cy="474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50" b="0" strike="noStrike" spc="-1">
                <a:solidFill>
                  <a:srgbClr val="FFFFFF"/>
                </a:solidFill>
                <a:latin typeface="Arial"/>
                <a:ea typeface="Arial"/>
              </a:rPr>
              <a:t>→  Accessible voting: screen-readers, voice, Braille-compatible</a:t>
            </a:r>
            <a:endParaRPr lang="en-US" sz="1150" b="0" strike="noStrike" spc="-1">
              <a:solidFill>
                <a:srgbClr val="000000"/>
              </a:solidFill>
              <a:latin typeface="Arial"/>
            </a:endParaRPr>
          </a:p>
        </p:txBody>
      </p:sp>
      <p:sp>
        <p:nvSpPr>
          <p:cNvPr id="193" name="Text 7"/>
          <p:cNvSpPr/>
          <p:nvPr/>
        </p:nvSpPr>
        <p:spPr>
          <a:xfrm>
            <a:off x="457200" y="3054240"/>
            <a:ext cx="3794040" cy="474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50" b="0" strike="noStrike" spc="-1">
                <a:solidFill>
                  <a:srgbClr val="FFFFFF"/>
                </a:solidFill>
                <a:latin typeface="Arial"/>
                <a:ea typeface="Arial"/>
              </a:rPr>
              <a:t>→  Multilingual voter education chatbots (Yorùbá, Hausa, Igbo, Pidgin)</a:t>
            </a:r>
            <a:endParaRPr lang="en-US" sz="1150" b="0" strike="noStrike" spc="-1">
              <a:solidFill>
                <a:srgbClr val="000000"/>
              </a:solidFill>
              <a:latin typeface="Arial"/>
            </a:endParaRPr>
          </a:p>
        </p:txBody>
      </p:sp>
      <p:sp>
        <p:nvSpPr>
          <p:cNvPr id="194" name="Text 8"/>
          <p:cNvSpPr/>
          <p:nvPr/>
        </p:nvSpPr>
        <p:spPr>
          <a:xfrm>
            <a:off x="457200" y="3620880"/>
            <a:ext cx="3794040" cy="474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50" b="0" strike="noStrike" spc="-1">
                <a:solidFill>
                  <a:srgbClr val="FFFFFF"/>
                </a:solidFill>
                <a:latin typeface="Arial"/>
                <a:ea typeface="Arial"/>
              </a:rPr>
              <a:t>→  Blockchain + AI audit trails for transparent result transmission</a:t>
            </a:r>
            <a:endParaRPr lang="en-US" sz="1150" b="0" strike="noStrike" spc="-1">
              <a:solidFill>
                <a:srgbClr val="000000"/>
              </a:solidFill>
              <a:latin typeface="Arial"/>
            </a:endParaRPr>
          </a:p>
        </p:txBody>
      </p:sp>
      <p:sp>
        <p:nvSpPr>
          <p:cNvPr id="195" name="Text 9"/>
          <p:cNvSpPr/>
          <p:nvPr/>
        </p:nvSpPr>
        <p:spPr>
          <a:xfrm>
            <a:off x="457200" y="4187880"/>
            <a:ext cx="3794040" cy="474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50" b="0" strike="noStrike" spc="-1">
                <a:solidFill>
                  <a:srgbClr val="FFFFFF"/>
                </a:solidFill>
                <a:latin typeface="Arial"/>
                <a:ea typeface="Arial"/>
              </a:rPr>
              <a:t>→  Satellite monitoring of voting queue lengths &amp; irregularities</a:t>
            </a:r>
            <a:endParaRPr lang="en-US" sz="1150" b="0" strike="noStrike" spc="-1">
              <a:solidFill>
                <a:srgbClr val="000000"/>
              </a:solidFill>
              <a:latin typeface="Arial"/>
            </a:endParaRPr>
          </a:p>
        </p:txBody>
      </p:sp>
      <p:sp>
        <p:nvSpPr>
          <p:cNvPr id="196" name="Shape 10"/>
          <p:cNvSpPr/>
          <p:nvPr/>
        </p:nvSpPr>
        <p:spPr>
          <a:xfrm>
            <a:off x="4709160" y="822960"/>
            <a:ext cx="4159800" cy="4205520"/>
          </a:xfrm>
          <a:prstGeom prst="roundRect">
            <a:avLst>
              <a:gd name="adj" fmla="val 2198"/>
            </a:avLst>
          </a:prstGeom>
          <a:solidFill>
            <a:srgbClr val="E8F5E9"/>
          </a:solidFill>
          <a:ln w="0">
            <a:noFill/>
          </a:ln>
          <a:effectLst>
            <a:outerShdw blurRad="76320" dist="25455" dir="2700000" algn="bl" rotWithShape="0">
              <a:srgbClr val="000000">
                <a:alpha val="1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000000"/>
              </a:solidFill>
              <a:latin typeface="Arial"/>
            </a:endParaRPr>
          </a:p>
        </p:txBody>
      </p:sp>
      <p:sp>
        <p:nvSpPr>
          <p:cNvPr id="197" name="Text 11"/>
          <p:cNvSpPr/>
          <p:nvPr/>
        </p:nvSpPr>
        <p:spPr>
          <a:xfrm>
            <a:off x="4892040" y="896040"/>
            <a:ext cx="3748320" cy="346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strike="noStrike" spc="-1">
                <a:solidFill>
                  <a:srgbClr val="1A4A2E"/>
                </a:solidFill>
                <a:latin typeface="Arial"/>
                <a:ea typeface="Arial"/>
              </a:rPr>
              <a:t>⚠  DESIGN CHALLENGE</a:t>
            </a:r>
            <a:endParaRPr lang="en-US" sz="1500" b="0" strike="noStrike" spc="-1">
              <a:solidFill>
                <a:srgbClr val="000000"/>
              </a:solidFill>
              <a:latin typeface="Arial"/>
            </a:endParaRPr>
          </a:p>
        </p:txBody>
      </p:sp>
      <p:sp>
        <p:nvSpPr>
          <p:cNvPr id="198" name="Text 12"/>
          <p:cNvSpPr/>
          <p:nvPr/>
        </p:nvSpPr>
        <p:spPr>
          <a:xfrm>
            <a:off x="4892040" y="1353240"/>
            <a:ext cx="3794040" cy="474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0" strike="noStrike" spc="-1">
                <a:solidFill>
                  <a:srgbClr val="0D2B1A"/>
                </a:solidFill>
                <a:latin typeface="Arial"/>
                <a:ea typeface="Arial"/>
              </a:rPr>
              <a:t>→  Facial recognition shows higher error rates on darker skin tones (Gender Shades, 2018: up to 34.7% vs 0.8%)</a:t>
            </a:r>
            <a:endParaRPr lang="en-US" sz="1100" b="0" strike="noStrike" spc="-1">
              <a:solidFill>
                <a:srgbClr val="000000"/>
              </a:solidFill>
              <a:latin typeface="Arial"/>
            </a:endParaRPr>
          </a:p>
        </p:txBody>
      </p:sp>
      <p:sp>
        <p:nvSpPr>
          <p:cNvPr id="199" name="Text 13"/>
          <p:cNvSpPr/>
          <p:nvPr/>
        </p:nvSpPr>
        <p:spPr>
          <a:xfrm>
            <a:off x="4892040" y="1920240"/>
            <a:ext cx="3794040" cy="474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0" strike="noStrike" spc="-1">
                <a:solidFill>
                  <a:srgbClr val="0D2B1A"/>
                </a:solidFill>
                <a:latin typeface="Arial"/>
                <a:ea typeface="Arial"/>
              </a:rPr>
              <a:t>→  Centralised biometric voter data requires robust cybersecurity</a:t>
            </a:r>
            <a:endParaRPr lang="en-US" sz="1100" b="0" strike="noStrike" spc="-1">
              <a:solidFill>
                <a:srgbClr val="000000"/>
              </a:solidFill>
              <a:latin typeface="Arial"/>
            </a:endParaRPr>
          </a:p>
        </p:txBody>
      </p:sp>
      <p:sp>
        <p:nvSpPr>
          <p:cNvPr id="200" name="Text 14"/>
          <p:cNvSpPr/>
          <p:nvPr/>
        </p:nvSpPr>
        <p:spPr>
          <a:xfrm>
            <a:off x="4892040" y="2487240"/>
            <a:ext cx="3794040" cy="474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0" strike="noStrike" spc="-1">
                <a:solidFill>
                  <a:srgbClr val="0D2B1A"/>
                </a:solidFill>
                <a:latin typeface="Arial"/>
                <a:ea typeface="Arial"/>
              </a:rPr>
              <a:t>→  AI result systems need independent audit for public trust</a:t>
            </a:r>
            <a:endParaRPr lang="en-US" sz="1100" b="0" strike="noStrike" spc="-1">
              <a:solidFill>
                <a:srgbClr val="000000"/>
              </a:solidFill>
              <a:latin typeface="Arial"/>
            </a:endParaRPr>
          </a:p>
        </p:txBody>
      </p:sp>
      <p:sp>
        <p:nvSpPr>
          <p:cNvPr id="201" name="Text 15"/>
          <p:cNvSpPr/>
          <p:nvPr/>
        </p:nvSpPr>
        <p:spPr>
          <a:xfrm>
            <a:off x="4892040" y="3054240"/>
            <a:ext cx="3794040" cy="474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0" strike="noStrike" spc="-1">
                <a:solidFill>
                  <a:srgbClr val="0D2B1A"/>
                </a:solidFill>
                <a:latin typeface="Arial"/>
                <a:ea typeface="Arial"/>
              </a:rPr>
              <a:t>→  ~55% of Nigerians were offline in early 2024 — AI tools must account for this</a:t>
            </a:r>
            <a:endParaRPr lang="en-US" sz="1100" b="0" strike="noStrike" spc="-1">
              <a:solidFill>
                <a:srgbClr val="000000"/>
              </a:solidFill>
              <a:latin typeface="Arial"/>
            </a:endParaRPr>
          </a:p>
        </p:txBody>
      </p:sp>
      <p:sp>
        <p:nvSpPr>
          <p:cNvPr id="202" name="Text 16"/>
          <p:cNvSpPr/>
          <p:nvPr/>
        </p:nvSpPr>
        <p:spPr>
          <a:xfrm>
            <a:off x="4892040" y="3620880"/>
            <a:ext cx="3794040" cy="474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0" strike="noStrike" spc="-1">
                <a:solidFill>
                  <a:srgbClr val="0D2B1A"/>
                </a:solidFill>
                <a:latin typeface="Arial"/>
                <a:ea typeface="Arial"/>
              </a:rPr>
              <a:t>→  Deepfake candidate videos technically feasible at scale since 2023</a:t>
            </a:r>
            <a:endParaRPr lang="en-US" sz="1100" b="0" strike="noStrike" spc="-1">
              <a:solidFill>
                <a:srgbClr val="000000"/>
              </a:solidFill>
              <a:latin typeface="Arial"/>
            </a:endParaRPr>
          </a:p>
        </p:txBody>
      </p:sp>
      <p:sp>
        <p:nvSpPr>
          <p:cNvPr id="203" name="Text 17"/>
          <p:cNvSpPr/>
          <p:nvPr/>
        </p:nvSpPr>
        <p:spPr>
          <a:xfrm>
            <a:off x="4892040" y="4187880"/>
            <a:ext cx="3794040" cy="474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0" strike="noStrike" spc="-1">
                <a:solidFill>
                  <a:srgbClr val="0D2B1A"/>
                </a:solidFill>
                <a:latin typeface="Arial"/>
                <a:ea typeface="Arial"/>
              </a:rPr>
              <a:t>→  Foreign vendor lock-in: open-source alternatives strengthen sovereignty</a:t>
            </a:r>
            <a:endParaRPr lang="en-US" sz="1100" b="0" strike="noStrike" spc="-1">
              <a:solidFill>
                <a:srgbClr val="000000"/>
              </a:solidFill>
              <a:latin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0F7F1"/>
        </a:solidFill>
        <a:effectLst/>
      </p:bgPr>
    </p:bg>
    <p:spTree>
      <p:nvGrpSpPr>
        <p:cNvPr id="1" name=""/>
        <p:cNvGrpSpPr/>
        <p:nvPr/>
      </p:nvGrpSpPr>
      <p:grpSpPr>
        <a:xfrm>
          <a:off x="0" y="0"/>
          <a:ext cx="0" cy="0"/>
          <a:chOff x="0" y="0"/>
          <a:chExt cx="0" cy="0"/>
        </a:xfrm>
      </p:grpSpPr>
      <p:sp>
        <p:nvSpPr>
          <p:cNvPr id="204" name="Shape 0"/>
          <p:cNvSpPr/>
          <p:nvPr/>
        </p:nvSpPr>
        <p:spPr>
          <a:xfrm>
            <a:off x="0" y="0"/>
            <a:ext cx="9143280" cy="685080"/>
          </a:xfrm>
          <a:prstGeom prst="rect">
            <a:avLst/>
          </a:prstGeom>
          <a:solidFill>
            <a:srgbClr val="1A4A2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FFFFFF"/>
              </a:solidFill>
              <a:latin typeface="Arial"/>
            </a:endParaRPr>
          </a:p>
        </p:txBody>
      </p:sp>
      <p:sp>
        <p:nvSpPr>
          <p:cNvPr id="205" name="Text 1"/>
          <p:cNvSpPr/>
          <p:nvPr/>
        </p:nvSpPr>
        <p:spPr>
          <a:xfrm>
            <a:off x="365760" y="36720"/>
            <a:ext cx="8411760" cy="621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800" b="1" strike="noStrike" spc="-1">
                <a:solidFill>
                  <a:srgbClr val="FFFFFF"/>
                </a:solidFill>
                <a:latin typeface="Arial"/>
                <a:ea typeface="Arial"/>
              </a:rPr>
              <a:t>GaaS: Direct Democratic Engagement</a:t>
            </a:r>
            <a:endParaRPr lang="en-US" sz="2800" b="0" strike="noStrike" spc="-1">
              <a:solidFill>
                <a:srgbClr val="000000"/>
              </a:solidFill>
              <a:latin typeface="Arial"/>
            </a:endParaRPr>
          </a:p>
        </p:txBody>
      </p:sp>
      <p:sp>
        <p:nvSpPr>
          <p:cNvPr id="206" name="Text 2"/>
          <p:cNvSpPr/>
          <p:nvPr/>
        </p:nvSpPr>
        <p:spPr>
          <a:xfrm>
            <a:off x="365760" y="777240"/>
            <a:ext cx="8228880" cy="319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0" i="1" strike="noStrike" spc="-1">
                <a:solidFill>
                  <a:srgbClr val="D4A017"/>
                </a:solidFill>
                <a:latin typeface="Arial"/>
                <a:ea typeface="Arial"/>
              </a:rPr>
              <a:t>From passive citizens to active co-creators of governance</a:t>
            </a:r>
            <a:endParaRPr lang="en-US" sz="1300" b="0" strike="noStrike" spc="-1">
              <a:solidFill>
                <a:srgbClr val="000000"/>
              </a:solidFill>
              <a:latin typeface="Arial"/>
            </a:endParaRPr>
          </a:p>
        </p:txBody>
      </p:sp>
      <p:sp>
        <p:nvSpPr>
          <p:cNvPr id="207" name="Shape 3"/>
          <p:cNvSpPr/>
          <p:nvPr/>
        </p:nvSpPr>
        <p:spPr>
          <a:xfrm>
            <a:off x="274320" y="1143000"/>
            <a:ext cx="2788200" cy="1663560"/>
          </a:xfrm>
          <a:prstGeom prst="roundRect">
            <a:avLst>
              <a:gd name="adj" fmla="val 5495"/>
            </a:avLst>
          </a:prstGeom>
          <a:solidFill>
            <a:srgbClr val="1E5C35"/>
          </a:solidFill>
          <a:ln w="0">
            <a:noFill/>
          </a:ln>
          <a:effectLst>
            <a:outerShdw blurRad="76320" dist="25455" dir="2700000" algn="bl" rotWithShape="0">
              <a:srgbClr val="000000">
                <a:alpha val="1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FFFFFF"/>
              </a:solidFill>
              <a:latin typeface="Arial"/>
            </a:endParaRPr>
          </a:p>
        </p:txBody>
      </p:sp>
      <p:sp>
        <p:nvSpPr>
          <p:cNvPr id="208" name="Shape 4"/>
          <p:cNvSpPr/>
          <p:nvPr/>
        </p:nvSpPr>
        <p:spPr>
          <a:xfrm>
            <a:off x="365760" y="1252800"/>
            <a:ext cx="547920" cy="547920"/>
          </a:xfrm>
          <a:solidFill>
            <a:srgbClr val="D4A017"/>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000000"/>
              </a:solidFill>
              <a:latin typeface="Arial"/>
            </a:endParaRPr>
          </a:p>
        </p:txBody>
      </p:sp>
      <p:pic>
        <p:nvPicPr>
          <p:cNvPr id="209" name="Image 0" descr="preencoded.png"/>
          <p:cNvPicPr/>
          <p:nvPr/>
        </p:nvPicPr>
        <p:blipFill>
          <a:blip r:embed="rId3"/>
          <a:stretch/>
        </p:blipFill>
        <p:spPr>
          <a:xfrm>
            <a:off x="461880" y="1348920"/>
            <a:ext cx="356040" cy="356040"/>
          </a:xfrm>
          <a:prstGeom prst="rect">
            <a:avLst/>
          </a:prstGeom>
          <a:ln w="0">
            <a:noFill/>
          </a:ln>
        </p:spPr>
      </p:pic>
      <p:sp>
        <p:nvSpPr>
          <p:cNvPr id="210" name="Text 5"/>
          <p:cNvSpPr/>
          <p:nvPr/>
        </p:nvSpPr>
        <p:spPr>
          <a:xfrm>
            <a:off x="1078920" y="1234440"/>
            <a:ext cx="1873800" cy="502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50" b="1" strike="noStrike" spc="-1">
                <a:solidFill>
                  <a:srgbClr val="D4A017"/>
                </a:solidFill>
                <a:latin typeface="Arial"/>
                <a:ea typeface="Arial"/>
              </a:rPr>
              <a:t>AI Citizens' Assembly</a:t>
            </a:r>
            <a:endParaRPr lang="en-US" sz="1250" b="0" strike="noStrike" spc="-1">
              <a:solidFill>
                <a:srgbClr val="000000"/>
              </a:solidFill>
              <a:latin typeface="Arial"/>
            </a:endParaRPr>
          </a:p>
        </p:txBody>
      </p:sp>
      <p:sp>
        <p:nvSpPr>
          <p:cNvPr id="211" name="Text 6"/>
          <p:cNvSpPr/>
          <p:nvPr/>
        </p:nvSpPr>
        <p:spPr>
          <a:xfrm>
            <a:off x="411480" y="1856160"/>
            <a:ext cx="2541240" cy="840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0" strike="noStrike" spc="-1">
                <a:solidFill>
                  <a:srgbClr val="FFFFFF"/>
                </a:solidFill>
                <a:latin typeface="Arial"/>
                <a:ea typeface="Arial"/>
              </a:rPr>
              <a:t>AI agents facilitate virtual town halls, synthesising millions of citizen opinions into actionable policy briefs for lawmakers and agencies.</a:t>
            </a:r>
            <a:endParaRPr lang="en-US" sz="1100" b="0" strike="noStrike" spc="-1">
              <a:solidFill>
                <a:srgbClr val="000000"/>
              </a:solidFill>
              <a:latin typeface="Arial"/>
            </a:endParaRPr>
          </a:p>
        </p:txBody>
      </p:sp>
      <p:sp>
        <p:nvSpPr>
          <p:cNvPr id="212" name="Shape 7"/>
          <p:cNvSpPr/>
          <p:nvPr/>
        </p:nvSpPr>
        <p:spPr>
          <a:xfrm>
            <a:off x="3218760" y="1143000"/>
            <a:ext cx="2788200" cy="1663560"/>
          </a:xfrm>
          <a:prstGeom prst="roundRect">
            <a:avLst>
              <a:gd name="adj" fmla="val 5495"/>
            </a:avLst>
          </a:prstGeom>
          <a:solidFill>
            <a:srgbClr val="1E5C35"/>
          </a:solidFill>
          <a:ln w="0">
            <a:noFill/>
          </a:ln>
          <a:effectLst>
            <a:outerShdw blurRad="76320" dist="25455" dir="2700000" algn="bl" rotWithShape="0">
              <a:srgbClr val="000000">
                <a:alpha val="1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FFFFFF"/>
              </a:solidFill>
              <a:latin typeface="Arial"/>
            </a:endParaRPr>
          </a:p>
        </p:txBody>
      </p:sp>
      <p:sp>
        <p:nvSpPr>
          <p:cNvPr id="213" name="Shape 8"/>
          <p:cNvSpPr/>
          <p:nvPr/>
        </p:nvSpPr>
        <p:spPr>
          <a:xfrm>
            <a:off x="3310200" y="1252800"/>
            <a:ext cx="547920" cy="547920"/>
          </a:xfrm>
          <a:solidFill>
            <a:srgbClr val="D4A017"/>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000000"/>
              </a:solidFill>
              <a:latin typeface="Arial"/>
            </a:endParaRPr>
          </a:p>
        </p:txBody>
      </p:sp>
      <p:pic>
        <p:nvPicPr>
          <p:cNvPr id="214" name="Image 1" descr="preencoded.png"/>
          <p:cNvPicPr/>
          <p:nvPr/>
        </p:nvPicPr>
        <p:blipFill>
          <a:blip r:embed="rId4"/>
          <a:stretch/>
        </p:blipFill>
        <p:spPr>
          <a:xfrm>
            <a:off x="3406320" y="1348920"/>
            <a:ext cx="356040" cy="356040"/>
          </a:xfrm>
          <a:prstGeom prst="rect">
            <a:avLst/>
          </a:prstGeom>
          <a:ln w="0">
            <a:noFill/>
          </a:ln>
        </p:spPr>
      </p:pic>
      <p:sp>
        <p:nvSpPr>
          <p:cNvPr id="215" name="Text 9"/>
          <p:cNvSpPr/>
          <p:nvPr/>
        </p:nvSpPr>
        <p:spPr>
          <a:xfrm>
            <a:off x="4023360" y="1234440"/>
            <a:ext cx="1873800" cy="502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50" b="1" strike="noStrike" spc="-1">
                <a:solidFill>
                  <a:srgbClr val="D4A017"/>
                </a:solidFill>
                <a:latin typeface="Arial"/>
                <a:ea typeface="Arial"/>
              </a:rPr>
              <a:t>Real-time Policy Feedback</a:t>
            </a:r>
            <a:endParaRPr lang="en-US" sz="1250" b="0" strike="noStrike" spc="-1">
              <a:solidFill>
                <a:srgbClr val="000000"/>
              </a:solidFill>
              <a:latin typeface="Arial"/>
            </a:endParaRPr>
          </a:p>
        </p:txBody>
      </p:sp>
      <p:sp>
        <p:nvSpPr>
          <p:cNvPr id="216" name="Text 10"/>
          <p:cNvSpPr/>
          <p:nvPr/>
        </p:nvSpPr>
        <p:spPr>
          <a:xfrm>
            <a:off x="3355920" y="1856160"/>
            <a:ext cx="2541240" cy="840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0" strike="noStrike" spc="-1">
                <a:solidFill>
                  <a:srgbClr val="FFFFFF"/>
                </a:solidFill>
                <a:latin typeface="Arial"/>
                <a:ea typeface="Arial"/>
              </a:rPr>
              <a:t>Government policies are refined based on real-time sentiment analysis and behavioural impact data from across 36 states and the FCT.</a:t>
            </a:r>
            <a:endParaRPr lang="en-US" sz="1100" b="0" strike="noStrike" spc="-1">
              <a:solidFill>
                <a:srgbClr val="000000"/>
              </a:solidFill>
              <a:latin typeface="Arial"/>
            </a:endParaRPr>
          </a:p>
        </p:txBody>
      </p:sp>
      <p:sp>
        <p:nvSpPr>
          <p:cNvPr id="217" name="Shape 11"/>
          <p:cNvSpPr/>
          <p:nvPr/>
        </p:nvSpPr>
        <p:spPr>
          <a:xfrm>
            <a:off x="6163200" y="1143000"/>
            <a:ext cx="2788200" cy="1663560"/>
          </a:xfrm>
          <a:prstGeom prst="roundRect">
            <a:avLst>
              <a:gd name="adj" fmla="val 5495"/>
            </a:avLst>
          </a:prstGeom>
          <a:solidFill>
            <a:srgbClr val="1E5C35"/>
          </a:solidFill>
          <a:ln w="0">
            <a:noFill/>
          </a:ln>
          <a:effectLst>
            <a:outerShdw blurRad="76320" dist="25455" dir="2700000" algn="bl" rotWithShape="0">
              <a:srgbClr val="000000">
                <a:alpha val="1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FFFFFF"/>
              </a:solidFill>
              <a:latin typeface="Arial"/>
            </a:endParaRPr>
          </a:p>
        </p:txBody>
      </p:sp>
      <p:sp>
        <p:nvSpPr>
          <p:cNvPr id="218" name="Shape 12"/>
          <p:cNvSpPr/>
          <p:nvPr/>
        </p:nvSpPr>
        <p:spPr>
          <a:xfrm>
            <a:off x="6254640" y="1252800"/>
            <a:ext cx="547920" cy="547920"/>
          </a:xfrm>
          <a:solidFill>
            <a:srgbClr val="D4A017"/>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000000"/>
              </a:solidFill>
              <a:latin typeface="Arial"/>
            </a:endParaRPr>
          </a:p>
        </p:txBody>
      </p:sp>
      <p:pic>
        <p:nvPicPr>
          <p:cNvPr id="219" name="Image 2" descr="preencoded.png"/>
          <p:cNvPicPr/>
          <p:nvPr/>
        </p:nvPicPr>
        <p:blipFill>
          <a:blip r:embed="rId5"/>
          <a:stretch/>
        </p:blipFill>
        <p:spPr>
          <a:xfrm>
            <a:off x="6350400" y="1348920"/>
            <a:ext cx="356040" cy="356040"/>
          </a:xfrm>
          <a:prstGeom prst="rect">
            <a:avLst/>
          </a:prstGeom>
          <a:ln w="0">
            <a:noFill/>
          </a:ln>
        </p:spPr>
      </p:pic>
      <p:sp>
        <p:nvSpPr>
          <p:cNvPr id="220" name="Text 13"/>
          <p:cNvSpPr/>
          <p:nvPr/>
        </p:nvSpPr>
        <p:spPr>
          <a:xfrm>
            <a:off x="6967800" y="1234440"/>
            <a:ext cx="1873800" cy="502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50" b="1" strike="noStrike" spc="-1">
                <a:solidFill>
                  <a:srgbClr val="D4A017"/>
                </a:solidFill>
                <a:latin typeface="Arial"/>
                <a:ea typeface="Arial"/>
              </a:rPr>
              <a:t>Hyper-local LGA Nodes</a:t>
            </a:r>
            <a:endParaRPr lang="en-US" sz="1250" b="0" strike="noStrike" spc="-1">
              <a:solidFill>
                <a:srgbClr val="000000"/>
              </a:solidFill>
              <a:latin typeface="Arial"/>
            </a:endParaRPr>
          </a:p>
        </p:txBody>
      </p:sp>
      <p:sp>
        <p:nvSpPr>
          <p:cNvPr id="221" name="Text 14"/>
          <p:cNvSpPr/>
          <p:nvPr/>
        </p:nvSpPr>
        <p:spPr>
          <a:xfrm>
            <a:off x="6300360" y="1856160"/>
            <a:ext cx="2541240" cy="840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0" strike="noStrike" spc="-1">
                <a:solidFill>
                  <a:srgbClr val="FFFFFF"/>
                </a:solidFill>
                <a:latin typeface="Arial"/>
                <a:ea typeface="Arial"/>
              </a:rPr>
              <a:t>Empowering all 774 LGAs through digital connectivity — ensuring rural voices carry equal weight to urban centres in policy design.</a:t>
            </a:r>
            <a:endParaRPr lang="en-US" sz="1100" b="0" strike="noStrike" spc="-1">
              <a:solidFill>
                <a:srgbClr val="000000"/>
              </a:solidFill>
              <a:latin typeface="Arial"/>
            </a:endParaRPr>
          </a:p>
        </p:txBody>
      </p:sp>
      <p:sp>
        <p:nvSpPr>
          <p:cNvPr id="222" name="Shape 15"/>
          <p:cNvSpPr/>
          <p:nvPr/>
        </p:nvSpPr>
        <p:spPr>
          <a:xfrm>
            <a:off x="274320" y="2971800"/>
            <a:ext cx="2788200" cy="1663560"/>
          </a:xfrm>
          <a:prstGeom prst="roundRect">
            <a:avLst>
              <a:gd name="adj" fmla="val 5495"/>
            </a:avLst>
          </a:prstGeom>
          <a:solidFill>
            <a:srgbClr val="1E5C35"/>
          </a:solidFill>
          <a:ln w="0">
            <a:noFill/>
          </a:ln>
          <a:effectLst>
            <a:outerShdw blurRad="76320" dist="25455" dir="2700000" algn="bl" rotWithShape="0">
              <a:srgbClr val="000000">
                <a:alpha val="1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FFFFFF"/>
              </a:solidFill>
              <a:latin typeface="Arial"/>
            </a:endParaRPr>
          </a:p>
        </p:txBody>
      </p:sp>
      <p:sp>
        <p:nvSpPr>
          <p:cNvPr id="223" name="Shape 16"/>
          <p:cNvSpPr/>
          <p:nvPr/>
        </p:nvSpPr>
        <p:spPr>
          <a:xfrm>
            <a:off x="365760" y="3081600"/>
            <a:ext cx="547920" cy="547920"/>
          </a:xfrm>
          <a:solidFill>
            <a:srgbClr val="D4A017"/>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000000"/>
              </a:solidFill>
              <a:latin typeface="Arial"/>
            </a:endParaRPr>
          </a:p>
        </p:txBody>
      </p:sp>
      <p:pic>
        <p:nvPicPr>
          <p:cNvPr id="224" name="Image 3" descr="preencoded.png"/>
          <p:cNvPicPr/>
          <p:nvPr/>
        </p:nvPicPr>
        <p:blipFill>
          <a:blip r:embed="rId6"/>
          <a:stretch/>
        </p:blipFill>
        <p:spPr>
          <a:xfrm>
            <a:off x="461880" y="3177720"/>
            <a:ext cx="356040" cy="356040"/>
          </a:xfrm>
          <a:prstGeom prst="rect">
            <a:avLst/>
          </a:prstGeom>
          <a:ln w="0">
            <a:noFill/>
          </a:ln>
        </p:spPr>
      </p:pic>
      <p:sp>
        <p:nvSpPr>
          <p:cNvPr id="225" name="Text 17"/>
          <p:cNvSpPr/>
          <p:nvPr/>
        </p:nvSpPr>
        <p:spPr>
          <a:xfrm>
            <a:off x="1078920" y="3063240"/>
            <a:ext cx="1873800" cy="502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50" b="1" strike="noStrike" spc="-1">
                <a:solidFill>
                  <a:srgbClr val="D4A017"/>
                </a:solidFill>
                <a:latin typeface="Arial"/>
                <a:ea typeface="Arial"/>
              </a:rPr>
              <a:t>AI Civic Assistants</a:t>
            </a:r>
            <a:endParaRPr lang="en-US" sz="1250" b="0" strike="noStrike" spc="-1">
              <a:solidFill>
                <a:srgbClr val="000000"/>
              </a:solidFill>
              <a:latin typeface="Arial"/>
            </a:endParaRPr>
          </a:p>
        </p:txBody>
      </p:sp>
      <p:sp>
        <p:nvSpPr>
          <p:cNvPr id="226" name="Text 18"/>
          <p:cNvSpPr/>
          <p:nvPr/>
        </p:nvSpPr>
        <p:spPr>
          <a:xfrm>
            <a:off x="411480" y="3684960"/>
            <a:ext cx="2541240" cy="840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0" strike="noStrike" spc="-1">
                <a:solidFill>
                  <a:srgbClr val="FFFFFF"/>
                </a:solidFill>
                <a:latin typeface="Arial"/>
                <a:ea typeface="Arial"/>
              </a:rPr>
              <a:t>Every citizen has access to a multilingual AI assistant that explains government services, processes applications and tracks public spending.</a:t>
            </a:r>
            <a:endParaRPr lang="en-US" sz="1100" b="0" strike="noStrike" spc="-1">
              <a:solidFill>
                <a:srgbClr val="000000"/>
              </a:solidFill>
              <a:latin typeface="Arial"/>
            </a:endParaRPr>
          </a:p>
        </p:txBody>
      </p:sp>
      <p:sp>
        <p:nvSpPr>
          <p:cNvPr id="227" name="Shape 19"/>
          <p:cNvSpPr/>
          <p:nvPr/>
        </p:nvSpPr>
        <p:spPr>
          <a:xfrm>
            <a:off x="3218760" y="2971800"/>
            <a:ext cx="2788200" cy="1663560"/>
          </a:xfrm>
          <a:prstGeom prst="roundRect">
            <a:avLst>
              <a:gd name="adj" fmla="val 5495"/>
            </a:avLst>
          </a:prstGeom>
          <a:solidFill>
            <a:srgbClr val="1E5C35"/>
          </a:solidFill>
          <a:ln w="0">
            <a:noFill/>
          </a:ln>
          <a:effectLst>
            <a:outerShdw blurRad="76320" dist="25455" dir="2700000" algn="bl" rotWithShape="0">
              <a:srgbClr val="000000">
                <a:alpha val="1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FFFFFF"/>
              </a:solidFill>
              <a:latin typeface="Arial"/>
            </a:endParaRPr>
          </a:p>
        </p:txBody>
      </p:sp>
      <p:sp>
        <p:nvSpPr>
          <p:cNvPr id="228" name="Shape 20"/>
          <p:cNvSpPr/>
          <p:nvPr/>
        </p:nvSpPr>
        <p:spPr>
          <a:xfrm>
            <a:off x="3310200" y="3081600"/>
            <a:ext cx="547920" cy="547920"/>
          </a:xfrm>
          <a:solidFill>
            <a:srgbClr val="D4A017"/>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000000"/>
              </a:solidFill>
              <a:latin typeface="Arial"/>
            </a:endParaRPr>
          </a:p>
        </p:txBody>
      </p:sp>
      <p:pic>
        <p:nvPicPr>
          <p:cNvPr id="229" name="Image 4" descr="preencoded.png"/>
          <p:cNvPicPr/>
          <p:nvPr/>
        </p:nvPicPr>
        <p:blipFill>
          <a:blip r:embed="rId7"/>
          <a:stretch/>
        </p:blipFill>
        <p:spPr>
          <a:xfrm>
            <a:off x="3406320" y="3177720"/>
            <a:ext cx="356040" cy="356040"/>
          </a:xfrm>
          <a:prstGeom prst="rect">
            <a:avLst/>
          </a:prstGeom>
          <a:ln w="0">
            <a:noFill/>
          </a:ln>
        </p:spPr>
      </p:pic>
      <p:sp>
        <p:nvSpPr>
          <p:cNvPr id="230" name="Text 21"/>
          <p:cNvSpPr/>
          <p:nvPr/>
        </p:nvSpPr>
        <p:spPr>
          <a:xfrm>
            <a:off x="4023360" y="3063240"/>
            <a:ext cx="1873800" cy="502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50" b="1" strike="noStrike" spc="-1">
                <a:solidFill>
                  <a:srgbClr val="D4A017"/>
                </a:solidFill>
                <a:latin typeface="Arial"/>
                <a:ea typeface="Arial"/>
              </a:rPr>
              <a:t>Automated Service Delivery</a:t>
            </a:r>
            <a:endParaRPr lang="en-US" sz="1250" b="0" strike="noStrike" spc="-1">
              <a:solidFill>
                <a:srgbClr val="000000"/>
              </a:solidFill>
              <a:latin typeface="Arial"/>
            </a:endParaRPr>
          </a:p>
        </p:txBody>
      </p:sp>
      <p:sp>
        <p:nvSpPr>
          <p:cNvPr id="231" name="Text 22"/>
          <p:cNvSpPr/>
          <p:nvPr/>
        </p:nvSpPr>
        <p:spPr>
          <a:xfrm>
            <a:off x="3355920" y="3684960"/>
            <a:ext cx="2541240" cy="840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0" strike="noStrike" spc="-1">
                <a:solidFill>
                  <a:srgbClr val="FFFFFF"/>
                </a:solidFill>
                <a:latin typeface="Arial"/>
                <a:ea typeface="Arial"/>
              </a:rPr>
              <a:t>From healthcare to education to taxation — AI-powered public services reduce bureaucracy, cut response times and improve resource allocation.</a:t>
            </a:r>
            <a:endParaRPr lang="en-US" sz="1100" b="0" strike="noStrike" spc="-1">
              <a:solidFill>
                <a:srgbClr val="000000"/>
              </a:solidFill>
              <a:latin typeface="Arial"/>
            </a:endParaRPr>
          </a:p>
        </p:txBody>
      </p:sp>
      <p:sp>
        <p:nvSpPr>
          <p:cNvPr id="232" name="Shape 23"/>
          <p:cNvSpPr/>
          <p:nvPr/>
        </p:nvSpPr>
        <p:spPr>
          <a:xfrm>
            <a:off x="6163200" y="2971800"/>
            <a:ext cx="2788200" cy="1663560"/>
          </a:xfrm>
          <a:prstGeom prst="roundRect">
            <a:avLst>
              <a:gd name="adj" fmla="val 5495"/>
            </a:avLst>
          </a:prstGeom>
          <a:solidFill>
            <a:srgbClr val="1E5C35"/>
          </a:solidFill>
          <a:ln w="0">
            <a:noFill/>
          </a:ln>
          <a:effectLst>
            <a:outerShdw blurRad="76320" dist="25455" dir="2700000" algn="bl" rotWithShape="0">
              <a:srgbClr val="000000">
                <a:alpha val="1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FFFFFF"/>
              </a:solidFill>
              <a:latin typeface="Arial"/>
            </a:endParaRPr>
          </a:p>
        </p:txBody>
      </p:sp>
      <p:sp>
        <p:nvSpPr>
          <p:cNvPr id="233" name="Shape 24"/>
          <p:cNvSpPr/>
          <p:nvPr/>
        </p:nvSpPr>
        <p:spPr>
          <a:xfrm>
            <a:off x="6254640" y="3081600"/>
            <a:ext cx="547920" cy="547920"/>
          </a:xfrm>
          <a:solidFill>
            <a:srgbClr val="D4A017"/>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000000"/>
              </a:solidFill>
              <a:latin typeface="Arial"/>
            </a:endParaRPr>
          </a:p>
        </p:txBody>
      </p:sp>
      <p:pic>
        <p:nvPicPr>
          <p:cNvPr id="234" name="Image 5" descr="preencoded.png"/>
          <p:cNvPicPr/>
          <p:nvPr/>
        </p:nvPicPr>
        <p:blipFill>
          <a:blip r:embed="rId8"/>
          <a:stretch/>
        </p:blipFill>
        <p:spPr>
          <a:xfrm>
            <a:off x="6350400" y="3177720"/>
            <a:ext cx="356040" cy="356040"/>
          </a:xfrm>
          <a:prstGeom prst="rect">
            <a:avLst/>
          </a:prstGeom>
          <a:ln w="0">
            <a:noFill/>
          </a:ln>
        </p:spPr>
      </p:pic>
      <p:sp>
        <p:nvSpPr>
          <p:cNvPr id="235" name="Text 25"/>
          <p:cNvSpPr/>
          <p:nvPr/>
        </p:nvSpPr>
        <p:spPr>
          <a:xfrm>
            <a:off x="6967800" y="3063240"/>
            <a:ext cx="1873800" cy="502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50" b="1" strike="noStrike" spc="-1">
                <a:solidFill>
                  <a:srgbClr val="D4A017"/>
                </a:solidFill>
                <a:latin typeface="Arial"/>
                <a:ea typeface="Arial"/>
              </a:rPr>
              <a:t>Rural Inclusion by Design</a:t>
            </a:r>
            <a:endParaRPr lang="en-US" sz="1250" b="0" strike="noStrike" spc="-1">
              <a:solidFill>
                <a:srgbClr val="000000"/>
              </a:solidFill>
              <a:latin typeface="Arial"/>
            </a:endParaRPr>
          </a:p>
        </p:txBody>
      </p:sp>
      <p:sp>
        <p:nvSpPr>
          <p:cNvPr id="236" name="Text 26"/>
          <p:cNvSpPr/>
          <p:nvPr/>
        </p:nvSpPr>
        <p:spPr>
          <a:xfrm>
            <a:off x="6300360" y="3684960"/>
            <a:ext cx="2541240" cy="840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0" strike="noStrike" spc="-1">
                <a:solidFill>
                  <a:srgbClr val="FFFFFF"/>
                </a:solidFill>
                <a:latin typeface="Arial"/>
                <a:ea typeface="Arial"/>
              </a:rPr>
              <a:t>Offline-capable, voice-first AI tools in Yorùbá, Hausa, Igbo and Pidgin ensure that no Nigerian is excluded from digital governance.</a:t>
            </a:r>
            <a:endParaRPr lang="en-US" sz="1100" b="0" strike="noStrike" spc="-1">
              <a:solidFill>
                <a:srgbClr val="000000"/>
              </a:solidFill>
              <a:latin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0F7F1"/>
        </a:solidFill>
        <a:effectLst/>
      </p:bgPr>
    </p:bg>
    <p:spTree>
      <p:nvGrpSpPr>
        <p:cNvPr id="1" name=""/>
        <p:cNvGrpSpPr/>
        <p:nvPr/>
      </p:nvGrpSpPr>
      <p:grpSpPr>
        <a:xfrm>
          <a:off x="0" y="0"/>
          <a:ext cx="0" cy="0"/>
          <a:chOff x="0" y="0"/>
          <a:chExt cx="0" cy="0"/>
        </a:xfrm>
      </p:grpSpPr>
      <p:sp>
        <p:nvSpPr>
          <p:cNvPr id="237" name="Shape 0"/>
          <p:cNvSpPr/>
          <p:nvPr/>
        </p:nvSpPr>
        <p:spPr>
          <a:xfrm>
            <a:off x="0" y="0"/>
            <a:ext cx="9143280" cy="685080"/>
          </a:xfrm>
          <a:prstGeom prst="rect">
            <a:avLst/>
          </a:prstGeom>
          <a:solidFill>
            <a:srgbClr val="1A4A2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FFFFFF"/>
              </a:solidFill>
              <a:latin typeface="Arial"/>
            </a:endParaRPr>
          </a:p>
        </p:txBody>
      </p:sp>
      <p:sp>
        <p:nvSpPr>
          <p:cNvPr id="238" name="Text 1"/>
          <p:cNvSpPr/>
          <p:nvPr/>
        </p:nvSpPr>
        <p:spPr>
          <a:xfrm>
            <a:off x="365760" y="36720"/>
            <a:ext cx="8411760" cy="621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800" b="1" strike="noStrike" spc="-1">
                <a:solidFill>
                  <a:srgbClr val="FFFFFF"/>
                </a:solidFill>
                <a:latin typeface="Arial"/>
                <a:ea typeface="Arial"/>
              </a:rPr>
              <a:t>Democracy Speaks Many Languages</a:t>
            </a:r>
            <a:endParaRPr lang="en-US" sz="2800" b="0" strike="noStrike" spc="-1">
              <a:solidFill>
                <a:srgbClr val="000000"/>
              </a:solidFill>
              <a:latin typeface="Arial"/>
            </a:endParaRPr>
          </a:p>
        </p:txBody>
      </p:sp>
      <p:sp>
        <p:nvSpPr>
          <p:cNvPr id="239" name="Shape 2"/>
          <p:cNvSpPr/>
          <p:nvPr/>
        </p:nvSpPr>
        <p:spPr>
          <a:xfrm>
            <a:off x="274320" y="804600"/>
            <a:ext cx="4114080" cy="4223880"/>
          </a:xfrm>
          <a:prstGeom prst="roundRect">
            <a:avLst>
              <a:gd name="adj" fmla="val 2222"/>
            </a:avLst>
          </a:prstGeom>
          <a:solidFill>
            <a:srgbClr val="1E5C35"/>
          </a:solidFill>
          <a:ln w="0">
            <a:noFill/>
          </a:ln>
          <a:effectLst>
            <a:outerShdw blurRad="76320" dist="25455" dir="2700000" algn="bl" rotWithShape="0">
              <a:srgbClr val="000000">
                <a:alpha val="1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FFFFFF"/>
              </a:solidFill>
              <a:latin typeface="Arial"/>
            </a:endParaRPr>
          </a:p>
        </p:txBody>
      </p:sp>
      <p:sp>
        <p:nvSpPr>
          <p:cNvPr id="240" name="Text 3"/>
          <p:cNvSpPr/>
          <p:nvPr/>
        </p:nvSpPr>
        <p:spPr>
          <a:xfrm>
            <a:off x="457200" y="896040"/>
            <a:ext cx="3748320" cy="346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strike="noStrike" spc="-1">
                <a:solidFill>
                  <a:srgbClr val="D4A017"/>
                </a:solidFill>
                <a:latin typeface="Arial"/>
                <a:ea typeface="Arial"/>
              </a:rPr>
              <a:t>Nigeria has over 500 languages</a:t>
            </a:r>
            <a:endParaRPr lang="en-US" sz="1500" b="0" strike="noStrike" spc="-1">
              <a:solidFill>
                <a:srgbClr val="000000"/>
              </a:solidFill>
              <a:latin typeface="Arial"/>
            </a:endParaRPr>
          </a:p>
        </p:txBody>
      </p:sp>
      <p:sp>
        <p:nvSpPr>
          <p:cNvPr id="241" name="Text 4"/>
          <p:cNvSpPr/>
          <p:nvPr/>
        </p:nvSpPr>
        <p:spPr>
          <a:xfrm>
            <a:off x="457200" y="1280160"/>
            <a:ext cx="3748320" cy="291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50" b="0" strike="noStrike" spc="-1">
                <a:solidFill>
                  <a:srgbClr val="FFFFFF"/>
                </a:solidFill>
                <a:latin typeface="Arial"/>
                <a:ea typeface="Arial"/>
              </a:rPr>
              <a:t>Will AI in 2050 understand:</a:t>
            </a:r>
            <a:endParaRPr lang="en-US" sz="1250" b="0" strike="noStrike" spc="-1">
              <a:solidFill>
                <a:srgbClr val="000000"/>
              </a:solidFill>
              <a:latin typeface="Arial"/>
            </a:endParaRPr>
          </a:p>
        </p:txBody>
      </p:sp>
      <p:sp>
        <p:nvSpPr>
          <p:cNvPr id="242" name="Shape 5"/>
          <p:cNvSpPr/>
          <p:nvPr/>
        </p:nvSpPr>
        <p:spPr>
          <a:xfrm>
            <a:off x="384120" y="1691640"/>
            <a:ext cx="1809720" cy="474840"/>
          </a:xfrm>
          <a:prstGeom prst="roundRect">
            <a:avLst>
              <a:gd name="adj" fmla="val 13462"/>
            </a:avLst>
          </a:prstGeom>
          <a:solidFill>
            <a:srgbClr val="1A4A2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FFFFFF"/>
              </a:solidFill>
              <a:latin typeface="Arial"/>
            </a:endParaRPr>
          </a:p>
        </p:txBody>
      </p:sp>
      <p:pic>
        <p:nvPicPr>
          <p:cNvPr id="243" name="Image 0" descr="preencoded.png"/>
          <p:cNvPicPr/>
          <p:nvPr/>
        </p:nvPicPr>
        <p:blipFill>
          <a:blip r:embed="rId3"/>
          <a:stretch/>
        </p:blipFill>
        <p:spPr>
          <a:xfrm>
            <a:off x="475560" y="1783080"/>
            <a:ext cx="273600" cy="273600"/>
          </a:xfrm>
          <a:prstGeom prst="rect">
            <a:avLst/>
          </a:prstGeom>
          <a:ln w="0">
            <a:noFill/>
          </a:ln>
        </p:spPr>
      </p:pic>
      <p:sp>
        <p:nvSpPr>
          <p:cNvPr id="244" name="Text 6"/>
          <p:cNvSpPr/>
          <p:nvPr/>
        </p:nvSpPr>
        <p:spPr>
          <a:xfrm>
            <a:off x="822960" y="1783080"/>
            <a:ext cx="1279440" cy="291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strike="noStrike" spc="-1">
                <a:solidFill>
                  <a:srgbClr val="FFFFFF"/>
                </a:solidFill>
                <a:latin typeface="Arial"/>
                <a:ea typeface="Arial"/>
              </a:rPr>
              <a:t>Yorùbá</a:t>
            </a:r>
            <a:endParaRPr lang="en-US" sz="1200" b="0" strike="noStrike" spc="-1">
              <a:solidFill>
                <a:srgbClr val="000000"/>
              </a:solidFill>
              <a:latin typeface="Arial"/>
            </a:endParaRPr>
          </a:p>
        </p:txBody>
      </p:sp>
      <p:sp>
        <p:nvSpPr>
          <p:cNvPr id="245" name="Shape 7"/>
          <p:cNvSpPr/>
          <p:nvPr/>
        </p:nvSpPr>
        <p:spPr>
          <a:xfrm>
            <a:off x="2350080" y="1691640"/>
            <a:ext cx="1809720" cy="474840"/>
          </a:xfrm>
          <a:prstGeom prst="roundRect">
            <a:avLst>
              <a:gd name="adj" fmla="val 13462"/>
            </a:avLst>
          </a:prstGeom>
          <a:solidFill>
            <a:srgbClr val="1A4A2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FFFFFF"/>
              </a:solidFill>
              <a:latin typeface="Arial"/>
            </a:endParaRPr>
          </a:p>
        </p:txBody>
      </p:sp>
      <p:pic>
        <p:nvPicPr>
          <p:cNvPr id="246" name="Image 1" descr="preencoded.png"/>
          <p:cNvPicPr/>
          <p:nvPr/>
        </p:nvPicPr>
        <p:blipFill>
          <a:blip r:embed="rId3"/>
          <a:stretch/>
        </p:blipFill>
        <p:spPr>
          <a:xfrm>
            <a:off x="2441520" y="1783080"/>
            <a:ext cx="273600" cy="273600"/>
          </a:xfrm>
          <a:prstGeom prst="rect">
            <a:avLst/>
          </a:prstGeom>
          <a:ln w="0">
            <a:noFill/>
          </a:ln>
        </p:spPr>
      </p:pic>
      <p:sp>
        <p:nvSpPr>
          <p:cNvPr id="247" name="Text 8"/>
          <p:cNvSpPr/>
          <p:nvPr/>
        </p:nvSpPr>
        <p:spPr>
          <a:xfrm>
            <a:off x="2788920" y="1783080"/>
            <a:ext cx="1279440" cy="291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strike="noStrike" spc="-1">
                <a:solidFill>
                  <a:srgbClr val="FFFFFF"/>
                </a:solidFill>
                <a:latin typeface="Arial"/>
                <a:ea typeface="Arial"/>
              </a:rPr>
              <a:t>Hausa</a:t>
            </a:r>
            <a:endParaRPr lang="en-US" sz="1200" b="0" strike="noStrike" spc="-1">
              <a:solidFill>
                <a:srgbClr val="000000"/>
              </a:solidFill>
              <a:latin typeface="Arial"/>
            </a:endParaRPr>
          </a:p>
        </p:txBody>
      </p:sp>
      <p:sp>
        <p:nvSpPr>
          <p:cNvPr id="248" name="Shape 9"/>
          <p:cNvSpPr/>
          <p:nvPr/>
        </p:nvSpPr>
        <p:spPr>
          <a:xfrm>
            <a:off x="384120" y="2313360"/>
            <a:ext cx="1809720" cy="474840"/>
          </a:xfrm>
          <a:prstGeom prst="roundRect">
            <a:avLst>
              <a:gd name="adj" fmla="val 13462"/>
            </a:avLst>
          </a:prstGeom>
          <a:solidFill>
            <a:srgbClr val="1A4A2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FFFFFF"/>
              </a:solidFill>
              <a:latin typeface="Arial"/>
            </a:endParaRPr>
          </a:p>
        </p:txBody>
      </p:sp>
      <p:pic>
        <p:nvPicPr>
          <p:cNvPr id="249" name="Image 2" descr="preencoded.png"/>
          <p:cNvPicPr/>
          <p:nvPr/>
        </p:nvPicPr>
        <p:blipFill>
          <a:blip r:embed="rId3"/>
          <a:stretch/>
        </p:blipFill>
        <p:spPr>
          <a:xfrm>
            <a:off x="475560" y="2404800"/>
            <a:ext cx="273600" cy="273600"/>
          </a:xfrm>
          <a:prstGeom prst="rect">
            <a:avLst/>
          </a:prstGeom>
          <a:ln w="0">
            <a:noFill/>
          </a:ln>
        </p:spPr>
      </p:pic>
      <p:sp>
        <p:nvSpPr>
          <p:cNvPr id="250" name="Text 10"/>
          <p:cNvSpPr/>
          <p:nvPr/>
        </p:nvSpPr>
        <p:spPr>
          <a:xfrm>
            <a:off x="822960" y="2404800"/>
            <a:ext cx="1279440" cy="291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strike="noStrike" spc="-1">
                <a:solidFill>
                  <a:srgbClr val="FFFFFF"/>
                </a:solidFill>
                <a:latin typeface="Arial"/>
                <a:ea typeface="Arial"/>
              </a:rPr>
              <a:t>Igbo</a:t>
            </a:r>
            <a:endParaRPr lang="en-US" sz="1200" b="0" strike="noStrike" spc="-1">
              <a:solidFill>
                <a:srgbClr val="000000"/>
              </a:solidFill>
              <a:latin typeface="Arial"/>
            </a:endParaRPr>
          </a:p>
        </p:txBody>
      </p:sp>
      <p:sp>
        <p:nvSpPr>
          <p:cNvPr id="251" name="Shape 11"/>
          <p:cNvSpPr/>
          <p:nvPr/>
        </p:nvSpPr>
        <p:spPr>
          <a:xfrm>
            <a:off x="2350080" y="2313360"/>
            <a:ext cx="1809720" cy="474840"/>
          </a:xfrm>
          <a:prstGeom prst="roundRect">
            <a:avLst>
              <a:gd name="adj" fmla="val 13462"/>
            </a:avLst>
          </a:prstGeom>
          <a:solidFill>
            <a:srgbClr val="1A4A2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FFFFFF"/>
              </a:solidFill>
              <a:latin typeface="Arial"/>
            </a:endParaRPr>
          </a:p>
        </p:txBody>
      </p:sp>
      <p:pic>
        <p:nvPicPr>
          <p:cNvPr id="252" name="Image 3" descr="preencoded.png"/>
          <p:cNvPicPr/>
          <p:nvPr/>
        </p:nvPicPr>
        <p:blipFill>
          <a:blip r:embed="rId3"/>
          <a:stretch/>
        </p:blipFill>
        <p:spPr>
          <a:xfrm>
            <a:off x="2441520" y="2404800"/>
            <a:ext cx="273600" cy="273600"/>
          </a:xfrm>
          <a:prstGeom prst="rect">
            <a:avLst/>
          </a:prstGeom>
          <a:ln w="0">
            <a:noFill/>
          </a:ln>
        </p:spPr>
      </p:pic>
      <p:sp>
        <p:nvSpPr>
          <p:cNvPr id="253" name="Text 12"/>
          <p:cNvSpPr/>
          <p:nvPr/>
        </p:nvSpPr>
        <p:spPr>
          <a:xfrm>
            <a:off x="2788920" y="2404800"/>
            <a:ext cx="1279440" cy="291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strike="noStrike" spc="-1">
                <a:solidFill>
                  <a:srgbClr val="FFFFFF"/>
                </a:solidFill>
                <a:latin typeface="Arial"/>
                <a:ea typeface="Arial"/>
              </a:rPr>
              <a:t>Tiv</a:t>
            </a:r>
            <a:endParaRPr lang="en-US" sz="1200" b="0" strike="noStrike" spc="-1">
              <a:solidFill>
                <a:srgbClr val="000000"/>
              </a:solidFill>
              <a:latin typeface="Arial"/>
            </a:endParaRPr>
          </a:p>
        </p:txBody>
      </p:sp>
      <p:sp>
        <p:nvSpPr>
          <p:cNvPr id="254" name="Shape 13"/>
          <p:cNvSpPr/>
          <p:nvPr/>
        </p:nvSpPr>
        <p:spPr>
          <a:xfrm>
            <a:off x="384120" y="2935080"/>
            <a:ext cx="1809720" cy="474840"/>
          </a:xfrm>
          <a:prstGeom prst="roundRect">
            <a:avLst>
              <a:gd name="adj" fmla="val 13462"/>
            </a:avLst>
          </a:prstGeom>
          <a:solidFill>
            <a:srgbClr val="1A4A2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FFFFFF"/>
              </a:solidFill>
              <a:latin typeface="Arial"/>
            </a:endParaRPr>
          </a:p>
        </p:txBody>
      </p:sp>
      <p:pic>
        <p:nvPicPr>
          <p:cNvPr id="255" name="Image 4" descr="preencoded.png"/>
          <p:cNvPicPr/>
          <p:nvPr/>
        </p:nvPicPr>
        <p:blipFill>
          <a:blip r:embed="rId3"/>
          <a:stretch/>
        </p:blipFill>
        <p:spPr>
          <a:xfrm>
            <a:off x="475560" y="3026520"/>
            <a:ext cx="273600" cy="273600"/>
          </a:xfrm>
          <a:prstGeom prst="rect">
            <a:avLst/>
          </a:prstGeom>
          <a:ln w="0">
            <a:noFill/>
          </a:ln>
        </p:spPr>
      </p:pic>
      <p:sp>
        <p:nvSpPr>
          <p:cNvPr id="256" name="Text 14"/>
          <p:cNvSpPr/>
          <p:nvPr/>
        </p:nvSpPr>
        <p:spPr>
          <a:xfrm>
            <a:off x="822960" y="3026520"/>
            <a:ext cx="1279440" cy="291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strike="noStrike" spc="-1">
                <a:solidFill>
                  <a:srgbClr val="FFFFFF"/>
                </a:solidFill>
                <a:latin typeface="Arial"/>
                <a:ea typeface="Arial"/>
              </a:rPr>
              <a:t>Efik</a:t>
            </a:r>
            <a:endParaRPr lang="en-US" sz="1200" b="0" strike="noStrike" spc="-1">
              <a:solidFill>
                <a:srgbClr val="000000"/>
              </a:solidFill>
              <a:latin typeface="Arial"/>
            </a:endParaRPr>
          </a:p>
        </p:txBody>
      </p:sp>
      <p:sp>
        <p:nvSpPr>
          <p:cNvPr id="257" name="Shape 15"/>
          <p:cNvSpPr/>
          <p:nvPr/>
        </p:nvSpPr>
        <p:spPr>
          <a:xfrm>
            <a:off x="2350080" y="2935080"/>
            <a:ext cx="1809720" cy="474840"/>
          </a:xfrm>
          <a:prstGeom prst="roundRect">
            <a:avLst>
              <a:gd name="adj" fmla="val 13462"/>
            </a:avLst>
          </a:prstGeom>
          <a:solidFill>
            <a:srgbClr val="1A4A2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FFFFFF"/>
              </a:solidFill>
              <a:latin typeface="Arial"/>
            </a:endParaRPr>
          </a:p>
        </p:txBody>
      </p:sp>
      <p:pic>
        <p:nvPicPr>
          <p:cNvPr id="258" name="Image 5" descr="preencoded.png"/>
          <p:cNvPicPr/>
          <p:nvPr/>
        </p:nvPicPr>
        <p:blipFill>
          <a:blip r:embed="rId3"/>
          <a:stretch/>
        </p:blipFill>
        <p:spPr>
          <a:xfrm>
            <a:off x="2441520" y="3026520"/>
            <a:ext cx="273600" cy="273600"/>
          </a:xfrm>
          <a:prstGeom prst="rect">
            <a:avLst/>
          </a:prstGeom>
          <a:ln w="0">
            <a:noFill/>
          </a:ln>
        </p:spPr>
      </p:pic>
      <p:sp>
        <p:nvSpPr>
          <p:cNvPr id="259" name="Text 16"/>
          <p:cNvSpPr/>
          <p:nvPr/>
        </p:nvSpPr>
        <p:spPr>
          <a:xfrm>
            <a:off x="2788920" y="3026520"/>
            <a:ext cx="1279440" cy="291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strike="noStrike" spc="-1">
                <a:solidFill>
                  <a:srgbClr val="FFFFFF"/>
                </a:solidFill>
                <a:latin typeface="Arial"/>
                <a:ea typeface="Arial"/>
              </a:rPr>
              <a:t>Fulfulde</a:t>
            </a:r>
            <a:endParaRPr lang="en-US" sz="1200" b="0" strike="noStrike" spc="-1">
              <a:solidFill>
                <a:srgbClr val="000000"/>
              </a:solidFill>
              <a:latin typeface="Arial"/>
            </a:endParaRPr>
          </a:p>
        </p:txBody>
      </p:sp>
      <p:sp>
        <p:nvSpPr>
          <p:cNvPr id="260" name="Shape 17"/>
          <p:cNvSpPr/>
          <p:nvPr/>
        </p:nvSpPr>
        <p:spPr>
          <a:xfrm>
            <a:off x="384120" y="3557160"/>
            <a:ext cx="1809720" cy="474840"/>
          </a:xfrm>
          <a:prstGeom prst="roundRect">
            <a:avLst>
              <a:gd name="adj" fmla="val 13462"/>
            </a:avLst>
          </a:prstGeom>
          <a:solidFill>
            <a:srgbClr val="1A4A2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FFFFFF"/>
              </a:solidFill>
              <a:latin typeface="Arial"/>
            </a:endParaRPr>
          </a:p>
        </p:txBody>
      </p:sp>
      <p:pic>
        <p:nvPicPr>
          <p:cNvPr id="261" name="Image 6" descr="preencoded.png"/>
          <p:cNvPicPr/>
          <p:nvPr/>
        </p:nvPicPr>
        <p:blipFill>
          <a:blip r:embed="rId3"/>
          <a:stretch/>
        </p:blipFill>
        <p:spPr>
          <a:xfrm>
            <a:off x="475560" y="3648600"/>
            <a:ext cx="273600" cy="273600"/>
          </a:xfrm>
          <a:prstGeom prst="rect">
            <a:avLst/>
          </a:prstGeom>
          <a:ln w="0">
            <a:noFill/>
          </a:ln>
        </p:spPr>
      </p:pic>
      <p:sp>
        <p:nvSpPr>
          <p:cNvPr id="262" name="Text 18"/>
          <p:cNvSpPr/>
          <p:nvPr/>
        </p:nvSpPr>
        <p:spPr>
          <a:xfrm>
            <a:off x="822960" y="3648600"/>
            <a:ext cx="1279440" cy="291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strike="noStrike" spc="-1">
                <a:solidFill>
                  <a:srgbClr val="FFFFFF"/>
                </a:solidFill>
                <a:latin typeface="Arial"/>
                <a:ea typeface="Arial"/>
              </a:rPr>
              <a:t>Kanuri</a:t>
            </a:r>
            <a:endParaRPr lang="en-US" sz="1200" b="0" strike="noStrike" spc="-1">
              <a:solidFill>
                <a:srgbClr val="000000"/>
              </a:solidFill>
              <a:latin typeface="Arial"/>
            </a:endParaRPr>
          </a:p>
        </p:txBody>
      </p:sp>
      <p:sp>
        <p:nvSpPr>
          <p:cNvPr id="263" name="Shape 19"/>
          <p:cNvSpPr/>
          <p:nvPr/>
        </p:nvSpPr>
        <p:spPr>
          <a:xfrm>
            <a:off x="2350080" y="3557160"/>
            <a:ext cx="1809720" cy="474840"/>
          </a:xfrm>
          <a:prstGeom prst="roundRect">
            <a:avLst>
              <a:gd name="adj" fmla="val 13462"/>
            </a:avLst>
          </a:prstGeom>
          <a:solidFill>
            <a:srgbClr val="1A4A2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FFFFFF"/>
              </a:solidFill>
              <a:latin typeface="Arial"/>
            </a:endParaRPr>
          </a:p>
        </p:txBody>
      </p:sp>
      <p:pic>
        <p:nvPicPr>
          <p:cNvPr id="264" name="Image 7" descr="preencoded.png"/>
          <p:cNvPicPr/>
          <p:nvPr/>
        </p:nvPicPr>
        <p:blipFill>
          <a:blip r:embed="rId3"/>
          <a:stretch/>
        </p:blipFill>
        <p:spPr>
          <a:xfrm>
            <a:off x="2441520" y="3648600"/>
            <a:ext cx="273600" cy="273600"/>
          </a:xfrm>
          <a:prstGeom prst="rect">
            <a:avLst/>
          </a:prstGeom>
          <a:ln w="0">
            <a:noFill/>
          </a:ln>
        </p:spPr>
      </p:pic>
      <p:sp>
        <p:nvSpPr>
          <p:cNvPr id="265" name="Text 20"/>
          <p:cNvSpPr/>
          <p:nvPr/>
        </p:nvSpPr>
        <p:spPr>
          <a:xfrm>
            <a:off x="2788920" y="3648600"/>
            <a:ext cx="1279440" cy="291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strike="noStrike" spc="-1">
                <a:solidFill>
                  <a:srgbClr val="FFFFFF"/>
                </a:solidFill>
                <a:latin typeface="Arial"/>
                <a:ea typeface="Arial"/>
              </a:rPr>
              <a:t>Naija Pidgin</a:t>
            </a:r>
            <a:endParaRPr lang="en-US" sz="1200" b="0" strike="noStrike" spc="-1">
              <a:solidFill>
                <a:srgbClr val="000000"/>
              </a:solidFill>
              <a:latin typeface="Arial"/>
            </a:endParaRPr>
          </a:p>
        </p:txBody>
      </p:sp>
      <p:sp>
        <p:nvSpPr>
          <p:cNvPr id="266" name="Text 21"/>
          <p:cNvSpPr/>
          <p:nvPr/>
        </p:nvSpPr>
        <p:spPr>
          <a:xfrm>
            <a:off x="457200" y="4663440"/>
            <a:ext cx="3748320" cy="273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i="1" strike="noStrike" spc="-1">
                <a:solidFill>
                  <a:srgbClr val="D4A017"/>
                </a:solidFill>
                <a:latin typeface="Arial"/>
                <a:ea typeface="Arial"/>
              </a:rPr>
              <a:t>Or only English?</a:t>
            </a:r>
            <a:endParaRPr lang="en-US" sz="1300" b="0" strike="noStrike" spc="-1">
              <a:solidFill>
                <a:srgbClr val="000000"/>
              </a:solidFill>
              <a:latin typeface="Arial"/>
            </a:endParaRPr>
          </a:p>
        </p:txBody>
      </p:sp>
      <p:sp>
        <p:nvSpPr>
          <p:cNvPr id="267" name="Shape 22"/>
          <p:cNvSpPr/>
          <p:nvPr/>
        </p:nvSpPr>
        <p:spPr>
          <a:xfrm>
            <a:off x="4663440" y="804600"/>
            <a:ext cx="4159800" cy="4223880"/>
          </a:xfrm>
          <a:prstGeom prst="roundRect">
            <a:avLst>
              <a:gd name="adj" fmla="val 2198"/>
            </a:avLst>
          </a:prstGeom>
          <a:solidFill>
            <a:srgbClr val="E8F5E9"/>
          </a:solidFill>
          <a:ln w="0">
            <a:noFill/>
          </a:ln>
          <a:effectLst>
            <a:outerShdw blurRad="76320" dist="25455" dir="2700000" algn="bl" rotWithShape="0">
              <a:srgbClr val="000000">
                <a:alpha val="1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000000"/>
              </a:solidFill>
              <a:latin typeface="Arial"/>
            </a:endParaRPr>
          </a:p>
        </p:txBody>
      </p:sp>
      <p:sp>
        <p:nvSpPr>
          <p:cNvPr id="268" name="Text 23"/>
          <p:cNvSpPr/>
          <p:nvPr/>
        </p:nvSpPr>
        <p:spPr>
          <a:xfrm>
            <a:off x="4846320" y="896040"/>
            <a:ext cx="3748320" cy="346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strike="noStrike" spc="-1">
                <a:solidFill>
                  <a:srgbClr val="1A4A2E"/>
                </a:solidFill>
                <a:latin typeface="Arial"/>
                <a:ea typeface="Arial"/>
              </a:rPr>
              <a:t>The Research Evidence</a:t>
            </a:r>
            <a:endParaRPr lang="en-US" sz="1500" b="0" strike="noStrike" spc="-1">
              <a:solidFill>
                <a:srgbClr val="000000"/>
              </a:solidFill>
              <a:latin typeface="Arial"/>
            </a:endParaRPr>
          </a:p>
        </p:txBody>
      </p:sp>
      <p:pic>
        <p:nvPicPr>
          <p:cNvPr id="269" name="Image 8" descr="preencoded.png"/>
          <p:cNvPicPr/>
          <p:nvPr/>
        </p:nvPicPr>
        <p:blipFill>
          <a:blip r:embed="rId4"/>
          <a:stretch/>
        </p:blipFill>
        <p:spPr>
          <a:xfrm>
            <a:off x="4846320" y="1389960"/>
            <a:ext cx="273600" cy="273600"/>
          </a:xfrm>
          <a:prstGeom prst="rect">
            <a:avLst/>
          </a:prstGeom>
          <a:ln w="0">
            <a:noFill/>
          </a:ln>
        </p:spPr>
      </p:pic>
      <p:sp>
        <p:nvSpPr>
          <p:cNvPr id="270" name="Text 24"/>
          <p:cNvSpPr/>
          <p:nvPr/>
        </p:nvSpPr>
        <p:spPr>
          <a:xfrm>
            <a:off x="5257800" y="1353240"/>
            <a:ext cx="3428280" cy="566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0" strike="noStrike" spc="-1">
                <a:solidFill>
                  <a:srgbClr val="0D2B1A"/>
                </a:solidFill>
                <a:latin typeface="Arial"/>
                <a:ea typeface="Arial"/>
              </a:rPr>
              <a:t>GPT-4 &amp; Llama trained on &lt;0.1% Yorùbá, Hausa, Igbo text (BLOOM language analysis)</a:t>
            </a:r>
            <a:endParaRPr lang="en-US" sz="1200" b="0" strike="noStrike" spc="-1">
              <a:solidFill>
                <a:srgbClr val="000000"/>
              </a:solidFill>
              <a:latin typeface="Arial"/>
            </a:endParaRPr>
          </a:p>
        </p:txBody>
      </p:sp>
      <p:pic>
        <p:nvPicPr>
          <p:cNvPr id="271" name="Image 9" descr="preencoded.png"/>
          <p:cNvPicPr/>
          <p:nvPr/>
        </p:nvPicPr>
        <p:blipFill>
          <a:blip r:embed="rId4"/>
          <a:stretch/>
        </p:blipFill>
        <p:spPr>
          <a:xfrm>
            <a:off x="4846320" y="2103120"/>
            <a:ext cx="273600" cy="273600"/>
          </a:xfrm>
          <a:prstGeom prst="rect">
            <a:avLst/>
          </a:prstGeom>
          <a:ln w="0">
            <a:noFill/>
          </a:ln>
        </p:spPr>
      </p:pic>
      <p:sp>
        <p:nvSpPr>
          <p:cNvPr id="272" name="Text 25"/>
          <p:cNvSpPr/>
          <p:nvPr/>
        </p:nvSpPr>
        <p:spPr>
          <a:xfrm>
            <a:off x="5257800" y="2066400"/>
            <a:ext cx="3428280" cy="566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0" strike="noStrike" spc="-1">
                <a:solidFill>
                  <a:srgbClr val="0D2B1A"/>
                </a:solidFill>
                <a:latin typeface="Arial"/>
                <a:ea typeface="Arial"/>
              </a:rPr>
              <a:t>NLP sentiment tools misclassify Naija Pidgin as noise or low-confidence input</a:t>
            </a:r>
            <a:endParaRPr lang="en-US" sz="1200" b="0" strike="noStrike" spc="-1">
              <a:solidFill>
                <a:srgbClr val="000000"/>
              </a:solidFill>
              <a:latin typeface="Arial"/>
            </a:endParaRPr>
          </a:p>
        </p:txBody>
      </p:sp>
      <p:pic>
        <p:nvPicPr>
          <p:cNvPr id="273" name="Image 10" descr="preencoded.png"/>
          <p:cNvPicPr/>
          <p:nvPr/>
        </p:nvPicPr>
        <p:blipFill>
          <a:blip r:embed="rId4"/>
          <a:stretch/>
        </p:blipFill>
        <p:spPr>
          <a:xfrm>
            <a:off x="4846320" y="2816280"/>
            <a:ext cx="273600" cy="273600"/>
          </a:xfrm>
          <a:prstGeom prst="rect">
            <a:avLst/>
          </a:prstGeom>
          <a:ln w="0">
            <a:noFill/>
          </a:ln>
        </p:spPr>
      </p:pic>
      <p:sp>
        <p:nvSpPr>
          <p:cNvPr id="274" name="Text 26"/>
          <p:cNvSpPr/>
          <p:nvPr/>
        </p:nvSpPr>
        <p:spPr>
          <a:xfrm>
            <a:off x="5257800" y="2779920"/>
            <a:ext cx="3428280" cy="566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0" strike="noStrike" spc="-1">
                <a:solidFill>
                  <a:srgbClr val="0D2B1A"/>
                </a:solidFill>
                <a:latin typeface="Arial"/>
                <a:ea typeface="Arial"/>
              </a:rPr>
              <a:t>Hate speech classifiers incorrectly flag Yorùbá proverbs as toxic content (AfricaNLP 2022)</a:t>
            </a:r>
            <a:endParaRPr lang="en-US" sz="1200" b="0" strike="noStrike" spc="-1">
              <a:solidFill>
                <a:srgbClr val="000000"/>
              </a:solidFill>
              <a:latin typeface="Arial"/>
            </a:endParaRPr>
          </a:p>
        </p:txBody>
      </p:sp>
      <p:pic>
        <p:nvPicPr>
          <p:cNvPr id="275" name="Image 11" descr="preencoded.png"/>
          <p:cNvPicPr/>
          <p:nvPr/>
        </p:nvPicPr>
        <p:blipFill>
          <a:blip r:embed="rId4"/>
          <a:stretch/>
        </p:blipFill>
        <p:spPr>
          <a:xfrm>
            <a:off x="4846320" y="3529440"/>
            <a:ext cx="273600" cy="273600"/>
          </a:xfrm>
          <a:prstGeom prst="rect">
            <a:avLst/>
          </a:prstGeom>
          <a:ln w="0">
            <a:noFill/>
          </a:ln>
        </p:spPr>
      </p:pic>
      <p:sp>
        <p:nvSpPr>
          <p:cNvPr id="276" name="Text 27"/>
          <p:cNvSpPr/>
          <p:nvPr/>
        </p:nvSpPr>
        <p:spPr>
          <a:xfrm>
            <a:off x="5257800" y="3493080"/>
            <a:ext cx="3428280" cy="566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0" strike="noStrike" spc="-1">
                <a:solidFill>
                  <a:srgbClr val="0D2B1A"/>
                </a:solidFill>
                <a:latin typeface="Arial"/>
                <a:ea typeface="Arial"/>
              </a:rPr>
              <a:t>Voice biometric systems fail Nigerian English phonology — 'abi', 'sha', 'na' unrecognised</a:t>
            </a:r>
            <a:endParaRPr lang="en-US" sz="1200" b="0" strike="noStrike" spc="-1">
              <a:solidFill>
                <a:srgbClr val="000000"/>
              </a:solidFill>
              <a:latin typeface="Arial"/>
            </a:endParaRPr>
          </a:p>
        </p:txBody>
      </p:sp>
      <p:sp>
        <p:nvSpPr>
          <p:cNvPr id="277" name="Shape 28"/>
          <p:cNvSpPr/>
          <p:nvPr/>
        </p:nvSpPr>
        <p:spPr>
          <a:xfrm>
            <a:off x="4754880" y="4224600"/>
            <a:ext cx="3931200" cy="712440"/>
          </a:xfrm>
          <a:prstGeom prst="roundRect">
            <a:avLst>
              <a:gd name="adj" fmla="val 10256"/>
            </a:avLst>
          </a:prstGeom>
          <a:solidFill>
            <a:srgbClr val="1E5C35"/>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FFFFFF"/>
              </a:solidFill>
              <a:latin typeface="Arial"/>
            </a:endParaRPr>
          </a:p>
        </p:txBody>
      </p:sp>
      <p:sp>
        <p:nvSpPr>
          <p:cNvPr id="278" name="Text 29"/>
          <p:cNvSpPr/>
          <p:nvPr/>
        </p:nvSpPr>
        <p:spPr>
          <a:xfrm>
            <a:off x="4892040" y="4279320"/>
            <a:ext cx="3656880" cy="593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1" strike="noStrike" spc="-1">
                <a:solidFill>
                  <a:srgbClr val="D4A017"/>
                </a:solidFill>
                <a:latin typeface="Arial"/>
                <a:ea typeface="Arial"/>
              </a:rPr>
              <a:t>What Researchers Must Do: Build FAIR multilingual datasets · Develop open NLP benchmarks · Publish under open licences for pan-African reuse</a:t>
            </a:r>
            <a:endParaRPr lang="en-US" sz="1100" b="0" strike="noStrike" spc="-1">
              <a:solidFill>
                <a:srgbClr val="000000"/>
              </a:solidFill>
              <a:latin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0F7F1"/>
        </a:solidFill>
        <a:effectLst/>
      </p:bgPr>
    </p:bg>
    <p:spTree>
      <p:nvGrpSpPr>
        <p:cNvPr id="1" name=""/>
        <p:cNvGrpSpPr/>
        <p:nvPr/>
      </p:nvGrpSpPr>
      <p:grpSpPr>
        <a:xfrm>
          <a:off x="0" y="0"/>
          <a:ext cx="0" cy="0"/>
          <a:chOff x="0" y="0"/>
          <a:chExt cx="0" cy="0"/>
        </a:xfrm>
      </p:grpSpPr>
      <p:sp>
        <p:nvSpPr>
          <p:cNvPr id="279" name="Shape 0"/>
          <p:cNvSpPr/>
          <p:nvPr/>
        </p:nvSpPr>
        <p:spPr>
          <a:xfrm>
            <a:off x="0" y="0"/>
            <a:ext cx="9143280" cy="685080"/>
          </a:xfrm>
          <a:prstGeom prst="rect">
            <a:avLst/>
          </a:prstGeom>
          <a:solidFill>
            <a:srgbClr val="1A4A2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FFFFFF"/>
              </a:solidFill>
              <a:latin typeface="Arial"/>
            </a:endParaRPr>
          </a:p>
        </p:txBody>
      </p:sp>
      <p:sp>
        <p:nvSpPr>
          <p:cNvPr id="280" name="Text 1"/>
          <p:cNvSpPr/>
          <p:nvPr/>
        </p:nvSpPr>
        <p:spPr>
          <a:xfrm>
            <a:off x="365760" y="36720"/>
            <a:ext cx="8411760" cy="621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800" b="1" strike="noStrike" spc="-1">
                <a:solidFill>
                  <a:srgbClr val="FFFFFF"/>
                </a:solidFill>
                <a:latin typeface="Arial"/>
                <a:ea typeface="Arial"/>
              </a:rPr>
              <a:t>Cultural AI &amp; Indigenous Knowledge</a:t>
            </a:r>
            <a:endParaRPr lang="en-US" sz="2800" b="0" strike="noStrike" spc="-1">
              <a:solidFill>
                <a:srgbClr val="000000"/>
              </a:solidFill>
              <a:latin typeface="Arial"/>
            </a:endParaRPr>
          </a:p>
        </p:txBody>
      </p:sp>
      <p:sp>
        <p:nvSpPr>
          <p:cNvPr id="281" name="Text 2"/>
          <p:cNvSpPr/>
          <p:nvPr/>
        </p:nvSpPr>
        <p:spPr>
          <a:xfrm>
            <a:off x="365760" y="708300"/>
            <a:ext cx="8228880" cy="319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0" i="1" strike="noStrike" spc="-1">
                <a:solidFill>
                  <a:srgbClr val="D4A017"/>
                </a:solidFill>
                <a:latin typeface="Arial"/>
                <a:ea typeface="Arial"/>
              </a:rPr>
              <a:t>AI that does not understand culture cannot serve democracy</a:t>
            </a:r>
            <a:endParaRPr lang="en-US" sz="1300" b="0" strike="noStrike" spc="-1">
              <a:solidFill>
                <a:srgbClr val="000000"/>
              </a:solidFill>
              <a:latin typeface="Arial"/>
            </a:endParaRPr>
          </a:p>
        </p:txBody>
      </p:sp>
      <p:sp>
        <p:nvSpPr>
          <p:cNvPr id="282" name="Shape 3"/>
          <p:cNvSpPr/>
          <p:nvPr/>
        </p:nvSpPr>
        <p:spPr>
          <a:xfrm>
            <a:off x="274320" y="1005840"/>
            <a:ext cx="8594640" cy="867960"/>
          </a:xfrm>
          <a:prstGeom prst="roundRect">
            <a:avLst>
              <a:gd name="adj" fmla="val 10526"/>
            </a:avLst>
          </a:prstGeom>
          <a:solidFill>
            <a:srgbClr val="1E5C35"/>
          </a:solidFill>
          <a:ln w="0">
            <a:noFill/>
          </a:ln>
          <a:effectLst>
            <a:outerShdw blurRad="76320" dist="25455" dir="2700000" algn="bl" rotWithShape="0">
              <a:srgbClr val="000000">
                <a:alpha val="1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FFFFFF"/>
              </a:solidFill>
              <a:latin typeface="Arial"/>
            </a:endParaRPr>
          </a:p>
        </p:txBody>
      </p:sp>
      <p:sp>
        <p:nvSpPr>
          <p:cNvPr id="283" name="Shape 4"/>
          <p:cNvSpPr/>
          <p:nvPr/>
        </p:nvSpPr>
        <p:spPr>
          <a:xfrm>
            <a:off x="548640" y="1161360"/>
            <a:ext cx="547920" cy="547920"/>
          </a:xfrm>
          <a:solidFill>
            <a:srgbClr val="D4A017"/>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000000"/>
              </a:solidFill>
              <a:latin typeface="Arial"/>
            </a:endParaRPr>
          </a:p>
        </p:txBody>
      </p:sp>
      <p:pic>
        <p:nvPicPr>
          <p:cNvPr id="284" name="Image 0" descr="preencoded.png"/>
          <p:cNvPicPr/>
          <p:nvPr/>
        </p:nvPicPr>
        <p:blipFill>
          <a:blip r:embed="rId3"/>
          <a:stretch/>
        </p:blipFill>
        <p:spPr>
          <a:xfrm>
            <a:off x="644760" y="1257480"/>
            <a:ext cx="356040" cy="356040"/>
          </a:xfrm>
          <a:prstGeom prst="rect">
            <a:avLst/>
          </a:prstGeom>
          <a:ln w="0">
            <a:noFill/>
          </a:ln>
        </p:spPr>
      </p:pic>
      <p:sp>
        <p:nvSpPr>
          <p:cNvPr id="285" name="Text 5"/>
          <p:cNvSpPr/>
          <p:nvPr/>
        </p:nvSpPr>
        <p:spPr>
          <a:xfrm>
            <a:off x="1261800" y="1078920"/>
            <a:ext cx="2285280" cy="346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strike="noStrike" spc="-1">
                <a:solidFill>
                  <a:srgbClr val="D4A017"/>
                </a:solidFill>
                <a:latin typeface="Arial"/>
                <a:ea typeface="Arial"/>
              </a:rPr>
              <a:t>Omoluabi Ethics</a:t>
            </a:r>
            <a:endParaRPr lang="en-US" sz="1500" b="0" strike="noStrike" spc="-1">
              <a:solidFill>
                <a:srgbClr val="000000"/>
              </a:solidFill>
              <a:latin typeface="Arial"/>
            </a:endParaRPr>
          </a:p>
        </p:txBody>
      </p:sp>
      <p:sp>
        <p:nvSpPr>
          <p:cNvPr id="286" name="Text 6"/>
          <p:cNvSpPr/>
          <p:nvPr/>
        </p:nvSpPr>
        <p:spPr>
          <a:xfrm>
            <a:off x="3657600" y="1097280"/>
            <a:ext cx="5074200" cy="657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0" strike="noStrike" spc="-1">
                <a:solidFill>
                  <a:srgbClr val="FFFFFF"/>
                </a:solidFill>
                <a:latin typeface="Arial"/>
                <a:ea typeface="Arial"/>
              </a:rPr>
              <a:t>Yorùbá values of good character (ìwà rere) offer a grounded ethics framework for AI — accountability, integrity, and service to community. A truly Nigerian AI must speak this language.</a:t>
            </a:r>
            <a:endParaRPr lang="en-US" sz="1200" b="0" strike="noStrike" spc="-1">
              <a:solidFill>
                <a:srgbClr val="000000"/>
              </a:solidFill>
              <a:latin typeface="Arial"/>
            </a:endParaRPr>
          </a:p>
        </p:txBody>
      </p:sp>
      <p:sp>
        <p:nvSpPr>
          <p:cNvPr id="287" name="Shape 7"/>
          <p:cNvSpPr/>
          <p:nvPr/>
        </p:nvSpPr>
        <p:spPr>
          <a:xfrm>
            <a:off x="274320" y="2011680"/>
            <a:ext cx="8594640" cy="867960"/>
          </a:xfrm>
          <a:prstGeom prst="roundRect">
            <a:avLst>
              <a:gd name="adj" fmla="val 10526"/>
            </a:avLst>
          </a:prstGeom>
          <a:solidFill>
            <a:srgbClr val="1E5C35"/>
          </a:solidFill>
          <a:ln w="0">
            <a:noFill/>
          </a:ln>
          <a:effectLst>
            <a:outerShdw blurRad="76320" dist="25455" dir="2700000" algn="bl" rotWithShape="0">
              <a:srgbClr val="000000">
                <a:alpha val="1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FFFFFF"/>
              </a:solidFill>
              <a:latin typeface="Arial"/>
            </a:endParaRPr>
          </a:p>
        </p:txBody>
      </p:sp>
      <p:sp>
        <p:nvSpPr>
          <p:cNvPr id="288" name="Shape 8"/>
          <p:cNvSpPr/>
          <p:nvPr/>
        </p:nvSpPr>
        <p:spPr>
          <a:xfrm>
            <a:off x="548640" y="2167200"/>
            <a:ext cx="547920" cy="547920"/>
          </a:xfrm>
          <a:solidFill>
            <a:srgbClr val="D4A017"/>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000000"/>
              </a:solidFill>
              <a:latin typeface="Arial"/>
            </a:endParaRPr>
          </a:p>
        </p:txBody>
      </p:sp>
      <p:pic>
        <p:nvPicPr>
          <p:cNvPr id="289" name="Image 1" descr="preencoded.png"/>
          <p:cNvPicPr/>
          <p:nvPr/>
        </p:nvPicPr>
        <p:blipFill>
          <a:blip r:embed="rId4"/>
          <a:stretch/>
        </p:blipFill>
        <p:spPr>
          <a:xfrm>
            <a:off x="644760" y="2263320"/>
            <a:ext cx="356040" cy="356040"/>
          </a:xfrm>
          <a:prstGeom prst="rect">
            <a:avLst/>
          </a:prstGeom>
          <a:ln w="0">
            <a:noFill/>
          </a:ln>
        </p:spPr>
      </p:pic>
      <p:sp>
        <p:nvSpPr>
          <p:cNvPr id="290" name="Text 9"/>
          <p:cNvSpPr/>
          <p:nvPr/>
        </p:nvSpPr>
        <p:spPr>
          <a:xfrm>
            <a:off x="1261800" y="2084760"/>
            <a:ext cx="2285280" cy="346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strike="noStrike" spc="-1">
                <a:solidFill>
                  <a:srgbClr val="D4A017"/>
                </a:solidFill>
                <a:latin typeface="Arial"/>
                <a:ea typeface="Arial"/>
              </a:rPr>
              <a:t>Ubuntu Philosophy</a:t>
            </a:r>
            <a:endParaRPr lang="en-US" sz="1500" b="0" strike="noStrike" spc="-1">
              <a:solidFill>
                <a:srgbClr val="000000"/>
              </a:solidFill>
              <a:latin typeface="Arial"/>
            </a:endParaRPr>
          </a:p>
        </p:txBody>
      </p:sp>
      <p:sp>
        <p:nvSpPr>
          <p:cNvPr id="291" name="Text 10"/>
          <p:cNvSpPr/>
          <p:nvPr/>
        </p:nvSpPr>
        <p:spPr>
          <a:xfrm>
            <a:off x="3657600" y="2103120"/>
            <a:ext cx="5074200" cy="657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0" strike="noStrike" spc="-1">
                <a:solidFill>
                  <a:srgbClr val="FFFFFF"/>
                </a:solidFill>
                <a:latin typeface="Arial"/>
                <a:ea typeface="Arial"/>
              </a:rPr>
              <a:t>'I am because we are.' Collective intelligence models that centre community over individualism. AI governance built on Ubuntu is inherently participatory and relationship-centred.</a:t>
            </a:r>
            <a:endParaRPr lang="en-US" sz="1200" b="0" strike="noStrike" spc="-1">
              <a:solidFill>
                <a:srgbClr val="000000"/>
              </a:solidFill>
              <a:latin typeface="Arial"/>
            </a:endParaRPr>
          </a:p>
        </p:txBody>
      </p:sp>
      <p:sp>
        <p:nvSpPr>
          <p:cNvPr id="292" name="Shape 11"/>
          <p:cNvSpPr/>
          <p:nvPr/>
        </p:nvSpPr>
        <p:spPr>
          <a:xfrm>
            <a:off x="274320" y="3017520"/>
            <a:ext cx="8594640" cy="867960"/>
          </a:xfrm>
          <a:prstGeom prst="roundRect">
            <a:avLst>
              <a:gd name="adj" fmla="val 10526"/>
            </a:avLst>
          </a:prstGeom>
          <a:solidFill>
            <a:srgbClr val="1E5C35"/>
          </a:solidFill>
          <a:ln w="0">
            <a:noFill/>
          </a:ln>
          <a:effectLst>
            <a:outerShdw blurRad="76320" dist="25455" dir="2700000" algn="bl" rotWithShape="0">
              <a:srgbClr val="000000">
                <a:alpha val="1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FFFFFF"/>
              </a:solidFill>
              <a:latin typeface="Arial"/>
            </a:endParaRPr>
          </a:p>
        </p:txBody>
      </p:sp>
      <p:sp>
        <p:nvSpPr>
          <p:cNvPr id="293" name="Shape 12"/>
          <p:cNvSpPr/>
          <p:nvPr/>
        </p:nvSpPr>
        <p:spPr>
          <a:xfrm>
            <a:off x="548640" y="3173040"/>
            <a:ext cx="547920" cy="547920"/>
          </a:xfrm>
          <a:solidFill>
            <a:srgbClr val="D4A017"/>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000000"/>
              </a:solidFill>
              <a:latin typeface="Arial"/>
            </a:endParaRPr>
          </a:p>
        </p:txBody>
      </p:sp>
      <p:pic>
        <p:nvPicPr>
          <p:cNvPr id="294" name="Image 2" descr="preencoded.png"/>
          <p:cNvPicPr/>
          <p:nvPr/>
        </p:nvPicPr>
        <p:blipFill>
          <a:blip r:embed="rId5"/>
          <a:stretch/>
        </p:blipFill>
        <p:spPr>
          <a:xfrm>
            <a:off x="644760" y="3269160"/>
            <a:ext cx="356040" cy="356040"/>
          </a:xfrm>
          <a:prstGeom prst="rect">
            <a:avLst/>
          </a:prstGeom>
          <a:ln w="0">
            <a:noFill/>
          </a:ln>
        </p:spPr>
      </p:pic>
      <p:sp>
        <p:nvSpPr>
          <p:cNvPr id="295" name="Text 13"/>
          <p:cNvSpPr/>
          <p:nvPr/>
        </p:nvSpPr>
        <p:spPr>
          <a:xfrm>
            <a:off x="1261800" y="3090600"/>
            <a:ext cx="2285280" cy="346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strike="noStrike" spc="-1">
                <a:solidFill>
                  <a:srgbClr val="D4A017"/>
                </a:solidFill>
                <a:latin typeface="Arial"/>
                <a:ea typeface="Arial"/>
              </a:rPr>
              <a:t>Indigenous Knowledge Systems</a:t>
            </a:r>
            <a:endParaRPr lang="en-US" sz="1500" b="0" strike="noStrike" spc="-1">
              <a:solidFill>
                <a:srgbClr val="000000"/>
              </a:solidFill>
              <a:latin typeface="Arial"/>
            </a:endParaRPr>
          </a:p>
        </p:txBody>
      </p:sp>
      <p:sp>
        <p:nvSpPr>
          <p:cNvPr id="296" name="Text 14"/>
          <p:cNvSpPr/>
          <p:nvPr/>
        </p:nvSpPr>
        <p:spPr>
          <a:xfrm>
            <a:off x="3657600" y="3108960"/>
            <a:ext cx="5074200" cy="657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0" strike="noStrike" spc="-1">
                <a:solidFill>
                  <a:srgbClr val="FFFFFF"/>
                </a:solidFill>
                <a:latin typeface="Arial"/>
                <a:ea typeface="Arial"/>
              </a:rPr>
              <a:t>Oral traditions, kinship structures, and customary governance contain democratic logic refined over centuries. AI trained on these becomes culturally intelligent, not just statistically accurate.</a:t>
            </a:r>
            <a:endParaRPr lang="en-US" sz="1200" b="0" strike="noStrike" spc="-1">
              <a:solidFill>
                <a:srgbClr val="000000"/>
              </a:solidFill>
              <a:latin typeface="Arial"/>
            </a:endParaRPr>
          </a:p>
        </p:txBody>
      </p:sp>
      <p:sp>
        <p:nvSpPr>
          <p:cNvPr id="297" name="Shape 15"/>
          <p:cNvSpPr/>
          <p:nvPr/>
        </p:nvSpPr>
        <p:spPr>
          <a:xfrm>
            <a:off x="274320" y="4023360"/>
            <a:ext cx="8594640" cy="867960"/>
          </a:xfrm>
          <a:prstGeom prst="roundRect">
            <a:avLst>
              <a:gd name="adj" fmla="val 10526"/>
            </a:avLst>
          </a:prstGeom>
          <a:solidFill>
            <a:srgbClr val="1E5C35"/>
          </a:solidFill>
          <a:ln w="0">
            <a:noFill/>
          </a:ln>
          <a:effectLst>
            <a:outerShdw blurRad="76320" dist="25455" dir="2700000" algn="bl" rotWithShape="0">
              <a:srgbClr val="000000">
                <a:alpha val="1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FFFFFF"/>
              </a:solidFill>
              <a:latin typeface="Arial"/>
            </a:endParaRPr>
          </a:p>
        </p:txBody>
      </p:sp>
      <p:sp>
        <p:nvSpPr>
          <p:cNvPr id="298" name="Shape 16"/>
          <p:cNvSpPr/>
          <p:nvPr/>
        </p:nvSpPr>
        <p:spPr>
          <a:xfrm>
            <a:off x="548640" y="4178880"/>
            <a:ext cx="547920" cy="547920"/>
          </a:xfrm>
          <a:solidFill>
            <a:srgbClr val="D4A017"/>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000000"/>
              </a:solidFill>
              <a:latin typeface="Arial"/>
            </a:endParaRPr>
          </a:p>
        </p:txBody>
      </p:sp>
      <p:pic>
        <p:nvPicPr>
          <p:cNvPr id="299" name="Image 3" descr="preencoded.png"/>
          <p:cNvPicPr/>
          <p:nvPr/>
        </p:nvPicPr>
        <p:blipFill>
          <a:blip r:embed="rId6"/>
          <a:stretch/>
        </p:blipFill>
        <p:spPr>
          <a:xfrm>
            <a:off x="644760" y="4275000"/>
            <a:ext cx="356040" cy="356040"/>
          </a:xfrm>
          <a:prstGeom prst="rect">
            <a:avLst/>
          </a:prstGeom>
          <a:ln w="0">
            <a:noFill/>
          </a:ln>
        </p:spPr>
      </p:pic>
      <p:sp>
        <p:nvSpPr>
          <p:cNvPr id="300" name="Text 17"/>
          <p:cNvSpPr/>
          <p:nvPr/>
        </p:nvSpPr>
        <p:spPr>
          <a:xfrm>
            <a:off x="1261800" y="4096440"/>
            <a:ext cx="2285280" cy="346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strike="noStrike" spc="-1">
                <a:solidFill>
                  <a:srgbClr val="D4A017"/>
                </a:solidFill>
                <a:latin typeface="Arial"/>
                <a:ea typeface="Arial"/>
              </a:rPr>
              <a:t>Cultural AI Research Agenda</a:t>
            </a:r>
            <a:endParaRPr lang="en-US" sz="1500" b="0" strike="noStrike" spc="-1">
              <a:solidFill>
                <a:srgbClr val="000000"/>
              </a:solidFill>
              <a:latin typeface="Arial"/>
            </a:endParaRPr>
          </a:p>
        </p:txBody>
      </p:sp>
      <p:sp>
        <p:nvSpPr>
          <p:cNvPr id="301" name="Text 18"/>
          <p:cNvSpPr/>
          <p:nvPr/>
        </p:nvSpPr>
        <p:spPr>
          <a:xfrm>
            <a:off x="3657600" y="4114800"/>
            <a:ext cx="5074200" cy="657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0" strike="noStrike" spc="-1">
                <a:solidFill>
                  <a:srgbClr val="FFFFFF"/>
                </a:solidFill>
                <a:latin typeface="Arial"/>
                <a:ea typeface="Arial"/>
              </a:rPr>
              <a:t>African-led data collection, annotation by native speakers, and community consent frameworks aligned with FAIR principles. This is not a wish list — it is an active research programme.</a:t>
            </a:r>
            <a:endParaRPr lang="en-US" sz="1200" b="0" strike="noStrike" spc="-1">
              <a:solidFill>
                <a:srgbClr val="000000"/>
              </a:solidFill>
              <a:latin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0F7F1"/>
        </a:solidFill>
        <a:effectLst/>
      </p:bgPr>
    </p:bg>
    <p:spTree>
      <p:nvGrpSpPr>
        <p:cNvPr id="1" name=""/>
        <p:cNvGrpSpPr/>
        <p:nvPr/>
      </p:nvGrpSpPr>
      <p:grpSpPr>
        <a:xfrm>
          <a:off x="0" y="0"/>
          <a:ext cx="0" cy="0"/>
          <a:chOff x="0" y="0"/>
          <a:chExt cx="0" cy="0"/>
        </a:xfrm>
      </p:grpSpPr>
      <p:sp>
        <p:nvSpPr>
          <p:cNvPr id="302" name="Shape 0"/>
          <p:cNvSpPr/>
          <p:nvPr/>
        </p:nvSpPr>
        <p:spPr>
          <a:xfrm>
            <a:off x="0" y="0"/>
            <a:ext cx="9143280" cy="685080"/>
          </a:xfrm>
          <a:prstGeom prst="rect">
            <a:avLst/>
          </a:prstGeom>
          <a:solidFill>
            <a:srgbClr val="1A4A2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FFFFFF"/>
              </a:solidFill>
              <a:latin typeface="Arial"/>
            </a:endParaRPr>
          </a:p>
        </p:txBody>
      </p:sp>
      <p:sp>
        <p:nvSpPr>
          <p:cNvPr id="303" name="Text 1"/>
          <p:cNvSpPr/>
          <p:nvPr/>
        </p:nvSpPr>
        <p:spPr>
          <a:xfrm>
            <a:off x="365760" y="36720"/>
            <a:ext cx="8411760" cy="621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800" b="1" strike="noStrike" spc="-1">
                <a:solidFill>
                  <a:srgbClr val="FFFFFF"/>
                </a:solidFill>
                <a:latin typeface="Arial"/>
                <a:ea typeface="Arial"/>
              </a:rPr>
              <a:t>Navigating Ethnic Diversity: Algorithmic Bias</a:t>
            </a:r>
            <a:endParaRPr lang="en-US" sz="2800" b="0" strike="noStrike" spc="-1">
              <a:solidFill>
                <a:srgbClr val="000000"/>
              </a:solidFill>
              <a:latin typeface="Arial"/>
            </a:endParaRPr>
          </a:p>
        </p:txBody>
      </p:sp>
      <p:sp>
        <p:nvSpPr>
          <p:cNvPr id="304" name="Shape 2"/>
          <p:cNvSpPr/>
          <p:nvPr/>
        </p:nvSpPr>
        <p:spPr>
          <a:xfrm>
            <a:off x="274320" y="804600"/>
            <a:ext cx="8594640" cy="776520"/>
          </a:xfrm>
          <a:prstGeom prst="roundRect">
            <a:avLst>
              <a:gd name="adj" fmla="val 11765"/>
            </a:avLst>
          </a:prstGeom>
          <a:solidFill>
            <a:srgbClr val="E8F5E9"/>
          </a:solidFill>
          <a:ln w="0">
            <a:noFill/>
          </a:ln>
          <a:effectLst>
            <a:outerShdw blurRad="76320" dist="25455" dir="2700000" algn="bl" rotWithShape="0">
              <a:srgbClr val="000000">
                <a:alpha val="1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000000"/>
              </a:solidFill>
              <a:latin typeface="Arial"/>
            </a:endParaRPr>
          </a:p>
        </p:txBody>
      </p:sp>
      <p:sp>
        <p:nvSpPr>
          <p:cNvPr id="305" name="Text 3"/>
          <p:cNvSpPr/>
          <p:nvPr/>
        </p:nvSpPr>
        <p:spPr>
          <a:xfrm>
            <a:off x="457200" y="868680"/>
            <a:ext cx="8228880" cy="639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0" i="1" strike="noStrike" spc="-1">
                <a:solidFill>
                  <a:srgbClr val="1A4A2E"/>
                </a:solidFill>
                <a:latin typeface="Arial"/>
                <a:ea typeface="Arial"/>
              </a:rPr>
              <a:t>"In a multi-ethnic nation with 250+ ethnic groups, AI systems risk reinforcing historical inequalities if training data is unrepresentative. Bias in AI is not a bug — it is the mirror of our history."</a:t>
            </a:r>
            <a:endParaRPr lang="en-US" sz="1300" b="0" strike="noStrike" spc="-1">
              <a:solidFill>
                <a:srgbClr val="000000"/>
              </a:solidFill>
              <a:latin typeface="Arial"/>
            </a:endParaRPr>
          </a:p>
        </p:txBody>
      </p:sp>
      <p:sp>
        <p:nvSpPr>
          <p:cNvPr id="306" name="Shape 4"/>
          <p:cNvSpPr/>
          <p:nvPr/>
        </p:nvSpPr>
        <p:spPr>
          <a:xfrm>
            <a:off x="274320" y="1719000"/>
            <a:ext cx="2788200" cy="3199680"/>
          </a:xfrm>
          <a:prstGeom prst="roundRect">
            <a:avLst>
              <a:gd name="adj" fmla="val 3279"/>
            </a:avLst>
          </a:prstGeom>
          <a:solidFill>
            <a:srgbClr val="E8F5E9"/>
          </a:solidFill>
          <a:ln w="0">
            <a:noFill/>
          </a:ln>
          <a:effectLst>
            <a:outerShdw blurRad="76320" dist="25455" dir="2700000" algn="bl" rotWithShape="0">
              <a:srgbClr val="000000">
                <a:alpha val="1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000000"/>
              </a:solidFill>
              <a:latin typeface="Arial"/>
            </a:endParaRPr>
          </a:p>
        </p:txBody>
      </p:sp>
      <p:sp>
        <p:nvSpPr>
          <p:cNvPr id="307" name="Text 5"/>
          <p:cNvSpPr/>
          <p:nvPr/>
        </p:nvSpPr>
        <p:spPr>
          <a:xfrm>
            <a:off x="411480" y="1801440"/>
            <a:ext cx="2541240" cy="365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50" b="1" strike="noStrike" spc="-1">
                <a:solidFill>
                  <a:srgbClr val="1A4A2E"/>
                </a:solidFill>
                <a:latin typeface="Arial"/>
                <a:ea typeface="Arial"/>
              </a:rPr>
              <a:t>Training Data Bias</a:t>
            </a:r>
            <a:endParaRPr lang="en-US" sz="1350" b="0" strike="noStrike" spc="-1">
              <a:solidFill>
                <a:srgbClr val="000000"/>
              </a:solidFill>
              <a:latin typeface="Arial"/>
            </a:endParaRPr>
          </a:p>
        </p:txBody>
      </p:sp>
      <p:sp>
        <p:nvSpPr>
          <p:cNvPr id="308" name="Text 6"/>
          <p:cNvSpPr/>
          <p:nvPr/>
        </p:nvSpPr>
        <p:spPr>
          <a:xfrm>
            <a:off x="411480" y="2240280"/>
            <a:ext cx="2541240" cy="566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1" strike="noStrike" spc="-1">
                <a:solidFill>
                  <a:srgbClr val="D4A017"/>
                </a:solidFill>
                <a:latin typeface="Arial"/>
                <a:ea typeface="Arial"/>
              </a:rPr>
              <a:t>→  </a:t>
            </a:r>
            <a:r>
              <a:rPr lang="en-US" sz="1100" b="0" strike="noStrike" spc="-1">
                <a:solidFill>
                  <a:srgbClr val="0D2B1A"/>
                </a:solidFill>
                <a:latin typeface="Arial"/>
                <a:ea typeface="Arial"/>
              </a:rPr>
              <a:t>GPT-4, Llama trained on &lt;0.1% Yorùbá, Hausa, Igbo text</a:t>
            </a:r>
            <a:endParaRPr lang="en-US" sz="1100" b="0" strike="noStrike" spc="-1">
              <a:solidFill>
                <a:srgbClr val="000000"/>
              </a:solidFill>
              <a:latin typeface="Arial"/>
            </a:endParaRPr>
          </a:p>
        </p:txBody>
      </p:sp>
      <p:sp>
        <p:nvSpPr>
          <p:cNvPr id="309" name="Text 7"/>
          <p:cNvSpPr/>
          <p:nvPr/>
        </p:nvSpPr>
        <p:spPr>
          <a:xfrm>
            <a:off x="411480" y="2898720"/>
            <a:ext cx="2541240" cy="566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1" strike="noStrike" spc="-1">
                <a:solidFill>
                  <a:srgbClr val="D4A017"/>
                </a:solidFill>
                <a:latin typeface="Arial"/>
                <a:ea typeface="Arial"/>
              </a:rPr>
              <a:t>→  </a:t>
            </a:r>
            <a:r>
              <a:rPr lang="en-US" sz="1100" b="0" strike="noStrike" spc="-1">
                <a:solidFill>
                  <a:srgbClr val="0D2B1A"/>
                </a:solidFill>
                <a:latin typeface="Arial"/>
                <a:ea typeface="Arial"/>
              </a:rPr>
              <a:t>Sentiment tools misclassify Naija Pidgin as noise</a:t>
            </a:r>
            <a:endParaRPr lang="en-US" sz="1100" b="0" strike="noStrike" spc="-1">
              <a:solidFill>
                <a:srgbClr val="000000"/>
              </a:solidFill>
              <a:latin typeface="Arial"/>
            </a:endParaRPr>
          </a:p>
        </p:txBody>
      </p:sp>
      <p:sp>
        <p:nvSpPr>
          <p:cNvPr id="310" name="Text 8"/>
          <p:cNvSpPr/>
          <p:nvPr/>
        </p:nvSpPr>
        <p:spPr>
          <a:xfrm>
            <a:off x="411480" y="3557160"/>
            <a:ext cx="2541240" cy="566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1" strike="noStrike" spc="-1">
                <a:solidFill>
                  <a:srgbClr val="D4A017"/>
                </a:solidFill>
                <a:latin typeface="Arial"/>
                <a:ea typeface="Arial"/>
              </a:rPr>
              <a:t>→  </a:t>
            </a:r>
            <a:r>
              <a:rPr lang="en-US" sz="1100" b="0" strike="noStrike" spc="-1">
                <a:solidFill>
                  <a:srgbClr val="0D2B1A"/>
                </a:solidFill>
                <a:latin typeface="Arial"/>
                <a:ea typeface="Arial"/>
              </a:rPr>
              <a:t>Facial recognition error rates significantly higher on darker skin (Gender Shades, 2018: 34.7% vs 0.8%)</a:t>
            </a:r>
            <a:endParaRPr lang="en-US" sz="1100" b="0" strike="noStrike" spc="-1">
              <a:solidFill>
                <a:srgbClr val="000000"/>
              </a:solidFill>
              <a:latin typeface="Arial"/>
            </a:endParaRPr>
          </a:p>
        </p:txBody>
      </p:sp>
      <p:sp>
        <p:nvSpPr>
          <p:cNvPr id="311" name="Text 9"/>
          <p:cNvSpPr/>
          <p:nvPr/>
        </p:nvSpPr>
        <p:spPr>
          <a:xfrm>
            <a:off x="411480" y="4215240"/>
            <a:ext cx="2541240" cy="566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1" strike="noStrike" spc="-1">
                <a:solidFill>
                  <a:srgbClr val="D4A017"/>
                </a:solidFill>
                <a:latin typeface="Arial"/>
                <a:ea typeface="Arial"/>
              </a:rPr>
              <a:t>→  </a:t>
            </a:r>
            <a:r>
              <a:rPr lang="en-US" sz="1100" b="0" strike="noStrike" spc="-1">
                <a:solidFill>
                  <a:srgbClr val="0D2B1A"/>
                </a:solidFill>
                <a:latin typeface="Arial"/>
                <a:ea typeface="Arial"/>
              </a:rPr>
              <a:t>NLP hate speech classifiers flag Yorùbá proverbs as toxic content (AfricaNLP, 2022)</a:t>
            </a:r>
            <a:endParaRPr lang="en-US" sz="1100" b="0" strike="noStrike" spc="-1">
              <a:solidFill>
                <a:srgbClr val="000000"/>
              </a:solidFill>
              <a:latin typeface="Arial"/>
            </a:endParaRPr>
          </a:p>
        </p:txBody>
      </p:sp>
      <p:sp>
        <p:nvSpPr>
          <p:cNvPr id="312" name="Shape 10"/>
          <p:cNvSpPr/>
          <p:nvPr/>
        </p:nvSpPr>
        <p:spPr>
          <a:xfrm>
            <a:off x="3218760" y="1719000"/>
            <a:ext cx="2788200" cy="3199680"/>
          </a:xfrm>
          <a:prstGeom prst="roundRect">
            <a:avLst>
              <a:gd name="adj" fmla="val 3279"/>
            </a:avLst>
          </a:prstGeom>
          <a:solidFill>
            <a:srgbClr val="E8F5E9"/>
          </a:solidFill>
          <a:ln w="0">
            <a:noFill/>
          </a:ln>
          <a:effectLst>
            <a:outerShdw blurRad="76320" dist="25455" dir="2700000" algn="bl" rotWithShape="0">
              <a:srgbClr val="000000">
                <a:alpha val="1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000000"/>
              </a:solidFill>
              <a:latin typeface="Arial"/>
            </a:endParaRPr>
          </a:p>
        </p:txBody>
      </p:sp>
      <p:sp>
        <p:nvSpPr>
          <p:cNvPr id="313" name="Text 11"/>
          <p:cNvSpPr/>
          <p:nvPr/>
        </p:nvSpPr>
        <p:spPr>
          <a:xfrm>
            <a:off x="3355920" y="1801440"/>
            <a:ext cx="2541240" cy="365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50" b="1" strike="noStrike" spc="-1">
                <a:solidFill>
                  <a:srgbClr val="1A4A2E"/>
                </a:solidFill>
                <a:latin typeface="Arial"/>
                <a:ea typeface="Arial"/>
              </a:rPr>
              <a:t>Design Bias</a:t>
            </a:r>
            <a:endParaRPr lang="en-US" sz="1350" b="0" strike="noStrike" spc="-1">
              <a:solidFill>
                <a:srgbClr val="000000"/>
              </a:solidFill>
              <a:latin typeface="Arial"/>
            </a:endParaRPr>
          </a:p>
        </p:txBody>
      </p:sp>
      <p:sp>
        <p:nvSpPr>
          <p:cNvPr id="314" name="Text 12"/>
          <p:cNvSpPr/>
          <p:nvPr/>
        </p:nvSpPr>
        <p:spPr>
          <a:xfrm>
            <a:off x="3355920" y="2240280"/>
            <a:ext cx="2541240" cy="566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1" strike="noStrike" spc="-1">
                <a:solidFill>
                  <a:srgbClr val="D4A017"/>
                </a:solidFill>
                <a:latin typeface="Arial"/>
                <a:ea typeface="Arial"/>
              </a:rPr>
              <a:t>→  </a:t>
            </a:r>
            <a:r>
              <a:rPr lang="en-US" sz="1100" b="0" strike="noStrike" spc="-1">
                <a:solidFill>
                  <a:srgbClr val="0D2B1A"/>
                </a:solidFill>
                <a:latin typeface="Arial"/>
                <a:ea typeface="Arial"/>
              </a:rPr>
              <a:t>Biometric systems deployed without rural user testing</a:t>
            </a:r>
            <a:endParaRPr lang="en-US" sz="1100" b="0" strike="noStrike" spc="-1">
              <a:solidFill>
                <a:srgbClr val="000000"/>
              </a:solidFill>
              <a:latin typeface="Arial"/>
            </a:endParaRPr>
          </a:p>
        </p:txBody>
      </p:sp>
      <p:sp>
        <p:nvSpPr>
          <p:cNvPr id="315" name="Text 13"/>
          <p:cNvSpPr/>
          <p:nvPr/>
        </p:nvSpPr>
        <p:spPr>
          <a:xfrm>
            <a:off x="3355920" y="2898720"/>
            <a:ext cx="2541240" cy="566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1" strike="noStrike" spc="-1">
                <a:solidFill>
                  <a:srgbClr val="D4A017"/>
                </a:solidFill>
                <a:latin typeface="Arial"/>
                <a:ea typeface="Arial"/>
              </a:rPr>
              <a:t>→  </a:t>
            </a:r>
            <a:r>
              <a:rPr lang="en-US" sz="1100" b="0" strike="noStrike" spc="-1">
                <a:solidFill>
                  <a:srgbClr val="0D2B1A"/>
                </a:solidFill>
                <a:latin typeface="Arial"/>
                <a:ea typeface="Arial"/>
              </a:rPr>
              <a:t>Digital platforms are English-only — over a third of Nigerian adults have limited English literacy (NBS, 2021)</a:t>
            </a:r>
            <a:endParaRPr lang="en-US" sz="1100" b="0" strike="noStrike" spc="-1">
              <a:solidFill>
                <a:srgbClr val="000000"/>
              </a:solidFill>
              <a:latin typeface="Arial"/>
            </a:endParaRPr>
          </a:p>
        </p:txBody>
      </p:sp>
      <p:sp>
        <p:nvSpPr>
          <p:cNvPr id="316" name="Text 14"/>
          <p:cNvSpPr/>
          <p:nvPr/>
        </p:nvSpPr>
        <p:spPr>
          <a:xfrm>
            <a:off x="3355920" y="3557160"/>
            <a:ext cx="2541240" cy="566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1" strike="noStrike" spc="-1">
                <a:solidFill>
                  <a:srgbClr val="D4A017"/>
                </a:solidFill>
                <a:latin typeface="Arial"/>
                <a:ea typeface="Arial"/>
              </a:rPr>
              <a:t>→  </a:t>
            </a:r>
            <a:r>
              <a:rPr lang="en-US" sz="1100" b="0" strike="noStrike" spc="-1">
                <a:solidFill>
                  <a:srgbClr val="0D2B1A"/>
                </a:solidFill>
                <a:latin typeface="Arial"/>
                <a:ea typeface="Arial"/>
              </a:rPr>
              <a:t>AI civic tools assume internet access — ~55% of Nigerians were offline in early 2024 (DataReportal, 2024)</a:t>
            </a:r>
            <a:endParaRPr lang="en-US" sz="1100" b="0" strike="noStrike" spc="-1">
              <a:solidFill>
                <a:srgbClr val="000000"/>
              </a:solidFill>
              <a:latin typeface="Arial"/>
            </a:endParaRPr>
          </a:p>
        </p:txBody>
      </p:sp>
      <p:sp>
        <p:nvSpPr>
          <p:cNvPr id="317" name="Text 15"/>
          <p:cNvSpPr/>
          <p:nvPr/>
        </p:nvSpPr>
        <p:spPr>
          <a:xfrm>
            <a:off x="3355920" y="4215240"/>
            <a:ext cx="2541240" cy="566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1" strike="noStrike" spc="-1">
                <a:solidFill>
                  <a:srgbClr val="D4A017"/>
                </a:solidFill>
                <a:latin typeface="Arial"/>
                <a:ea typeface="Arial"/>
              </a:rPr>
              <a:t>→  </a:t>
            </a:r>
            <a:r>
              <a:rPr lang="en-US" sz="1100" b="0" strike="noStrike" spc="-1">
                <a:solidFill>
                  <a:srgbClr val="0D2B1A"/>
                </a:solidFill>
                <a:latin typeface="Arial"/>
                <a:ea typeface="Arial"/>
              </a:rPr>
              <a:t>No disability-inclusive design standard for any Nigerian public AI system</a:t>
            </a:r>
            <a:endParaRPr lang="en-US" sz="1100" b="0" strike="noStrike" spc="-1">
              <a:solidFill>
                <a:srgbClr val="000000"/>
              </a:solidFill>
              <a:latin typeface="Arial"/>
            </a:endParaRPr>
          </a:p>
        </p:txBody>
      </p:sp>
      <p:sp>
        <p:nvSpPr>
          <p:cNvPr id="318" name="Shape 16"/>
          <p:cNvSpPr/>
          <p:nvPr/>
        </p:nvSpPr>
        <p:spPr>
          <a:xfrm>
            <a:off x="6163200" y="1719000"/>
            <a:ext cx="2788200" cy="3199680"/>
          </a:xfrm>
          <a:prstGeom prst="roundRect">
            <a:avLst>
              <a:gd name="adj" fmla="val 3279"/>
            </a:avLst>
          </a:prstGeom>
          <a:solidFill>
            <a:srgbClr val="E8F5E9"/>
          </a:solidFill>
          <a:ln w="0">
            <a:noFill/>
          </a:ln>
          <a:effectLst>
            <a:outerShdw blurRad="76320" dist="25455" dir="2700000" algn="bl" rotWithShape="0">
              <a:srgbClr val="000000">
                <a:alpha val="1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000000"/>
              </a:solidFill>
              <a:latin typeface="Arial"/>
            </a:endParaRPr>
          </a:p>
        </p:txBody>
      </p:sp>
      <p:sp>
        <p:nvSpPr>
          <p:cNvPr id="319" name="Text 17"/>
          <p:cNvSpPr/>
          <p:nvPr/>
        </p:nvSpPr>
        <p:spPr>
          <a:xfrm>
            <a:off x="6300360" y="1801440"/>
            <a:ext cx="2541240" cy="365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50" b="1" strike="noStrike" spc="-1">
                <a:solidFill>
                  <a:srgbClr val="1A4A2E"/>
                </a:solidFill>
                <a:latin typeface="Arial"/>
                <a:ea typeface="Arial"/>
              </a:rPr>
              <a:t>The Solution Path</a:t>
            </a:r>
            <a:endParaRPr lang="en-US" sz="1350" b="0" strike="noStrike" spc="-1">
              <a:solidFill>
                <a:srgbClr val="000000"/>
              </a:solidFill>
              <a:latin typeface="Arial"/>
            </a:endParaRPr>
          </a:p>
        </p:txBody>
      </p:sp>
      <p:sp>
        <p:nvSpPr>
          <p:cNvPr id="320" name="Text 18"/>
          <p:cNvSpPr/>
          <p:nvPr/>
        </p:nvSpPr>
        <p:spPr>
          <a:xfrm>
            <a:off x="6300360" y="2240280"/>
            <a:ext cx="2541240" cy="566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1" strike="noStrike" spc="-1">
                <a:solidFill>
                  <a:srgbClr val="D4A017"/>
                </a:solidFill>
                <a:latin typeface="Arial"/>
                <a:ea typeface="Arial"/>
              </a:rPr>
              <a:t>→  </a:t>
            </a:r>
            <a:r>
              <a:rPr lang="en-US" sz="1100" b="0" strike="noStrike" spc="-1">
                <a:solidFill>
                  <a:srgbClr val="0D2B1A"/>
                </a:solidFill>
                <a:latin typeface="Arial"/>
                <a:ea typeface="Arial"/>
              </a:rPr>
              <a:t>Representative data sampling across all geopolitical zones</a:t>
            </a:r>
            <a:endParaRPr lang="en-US" sz="1100" b="0" strike="noStrike" spc="-1">
              <a:solidFill>
                <a:srgbClr val="000000"/>
              </a:solidFill>
              <a:latin typeface="Arial"/>
            </a:endParaRPr>
          </a:p>
        </p:txBody>
      </p:sp>
      <p:sp>
        <p:nvSpPr>
          <p:cNvPr id="321" name="Text 19"/>
          <p:cNvSpPr/>
          <p:nvPr/>
        </p:nvSpPr>
        <p:spPr>
          <a:xfrm>
            <a:off x="6300360" y="2898720"/>
            <a:ext cx="2541240" cy="566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1" strike="noStrike" spc="-1">
                <a:solidFill>
                  <a:srgbClr val="D4A017"/>
                </a:solidFill>
                <a:latin typeface="Arial"/>
                <a:ea typeface="Arial"/>
              </a:rPr>
              <a:t>→  </a:t>
            </a:r>
            <a:r>
              <a:rPr lang="en-US" sz="1100" b="0" strike="noStrike" spc="-1">
                <a:solidFill>
                  <a:srgbClr val="0D2B1A"/>
                </a:solidFill>
                <a:latin typeface="Arial"/>
                <a:ea typeface="Arial"/>
              </a:rPr>
              <a:t>Algorithmic impact assessments before deployment</a:t>
            </a:r>
            <a:endParaRPr lang="en-US" sz="1100" b="0" strike="noStrike" spc="-1">
              <a:solidFill>
                <a:srgbClr val="000000"/>
              </a:solidFill>
              <a:latin typeface="Arial"/>
            </a:endParaRPr>
          </a:p>
        </p:txBody>
      </p:sp>
      <p:sp>
        <p:nvSpPr>
          <p:cNvPr id="322" name="Text 20"/>
          <p:cNvSpPr/>
          <p:nvPr/>
        </p:nvSpPr>
        <p:spPr>
          <a:xfrm>
            <a:off x="6300360" y="3557160"/>
            <a:ext cx="2541240" cy="566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1" strike="noStrike" spc="-1">
                <a:solidFill>
                  <a:srgbClr val="D4A017"/>
                </a:solidFill>
                <a:latin typeface="Arial"/>
                <a:ea typeface="Arial"/>
              </a:rPr>
              <a:t>→  </a:t>
            </a:r>
            <a:r>
              <a:rPr lang="en-US" sz="1100" b="0" strike="noStrike" spc="-1">
                <a:solidFill>
                  <a:srgbClr val="0D2B1A"/>
                </a:solidFill>
                <a:latin typeface="Arial"/>
                <a:ea typeface="Arial"/>
              </a:rPr>
              <a:t>Open-source preferred for civic AI — local accountability and auditability</a:t>
            </a:r>
            <a:endParaRPr lang="en-US" sz="1100" b="0" strike="noStrike" spc="-1">
              <a:solidFill>
                <a:srgbClr val="000000"/>
              </a:solidFill>
              <a:latin typeface="Arial"/>
            </a:endParaRPr>
          </a:p>
        </p:txBody>
      </p:sp>
      <p:sp>
        <p:nvSpPr>
          <p:cNvPr id="323" name="Text 21"/>
          <p:cNvSpPr/>
          <p:nvPr/>
        </p:nvSpPr>
        <p:spPr>
          <a:xfrm>
            <a:off x="6300360" y="4215240"/>
            <a:ext cx="2541240" cy="566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1" strike="noStrike" spc="-1">
                <a:solidFill>
                  <a:srgbClr val="D4A017"/>
                </a:solidFill>
                <a:latin typeface="Arial"/>
                <a:ea typeface="Arial"/>
              </a:rPr>
              <a:t>→  </a:t>
            </a:r>
            <a:r>
              <a:rPr lang="en-US" sz="1100" b="0" strike="noStrike" spc="-1">
                <a:solidFill>
                  <a:srgbClr val="0D2B1A"/>
                </a:solidFill>
                <a:latin typeface="Arial"/>
                <a:ea typeface="Arial"/>
              </a:rPr>
              <a:t>Independent technical review bodies with civil society representation</a:t>
            </a:r>
            <a:endParaRPr lang="en-US" sz="1100" b="0" strike="noStrike" spc="-1">
              <a:solidFill>
                <a:srgbClr val="000000"/>
              </a:solidFill>
              <a:latin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0F7F1"/>
        </a:solidFill>
        <a:effectLst/>
      </p:bgPr>
    </p:bg>
    <p:spTree>
      <p:nvGrpSpPr>
        <p:cNvPr id="1" name=""/>
        <p:cNvGrpSpPr/>
        <p:nvPr/>
      </p:nvGrpSpPr>
      <p:grpSpPr>
        <a:xfrm>
          <a:off x="0" y="0"/>
          <a:ext cx="0" cy="0"/>
          <a:chOff x="0" y="0"/>
          <a:chExt cx="0" cy="0"/>
        </a:xfrm>
      </p:grpSpPr>
      <p:sp>
        <p:nvSpPr>
          <p:cNvPr id="324" name="Shape 0"/>
          <p:cNvSpPr/>
          <p:nvPr/>
        </p:nvSpPr>
        <p:spPr>
          <a:xfrm>
            <a:off x="0" y="0"/>
            <a:ext cx="9143280" cy="685080"/>
          </a:xfrm>
          <a:prstGeom prst="rect">
            <a:avLst/>
          </a:prstGeom>
          <a:solidFill>
            <a:srgbClr val="1A4A2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FFFFFF"/>
              </a:solidFill>
              <a:latin typeface="Arial"/>
            </a:endParaRPr>
          </a:p>
        </p:txBody>
      </p:sp>
      <p:sp>
        <p:nvSpPr>
          <p:cNvPr id="325" name="Text 1"/>
          <p:cNvSpPr/>
          <p:nvPr/>
        </p:nvSpPr>
        <p:spPr>
          <a:xfrm>
            <a:off x="365760" y="36720"/>
            <a:ext cx="8411760" cy="621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800" b="1" strike="noStrike" spc="-1">
                <a:solidFill>
                  <a:srgbClr val="FFFFFF"/>
                </a:solidFill>
                <a:latin typeface="Arial"/>
                <a:ea typeface="Arial"/>
              </a:rPr>
              <a:t>Global Lessons: AI &amp; Democracy in Action</a:t>
            </a:r>
            <a:endParaRPr lang="en-US" sz="2800" b="0" strike="noStrike" spc="-1">
              <a:solidFill>
                <a:srgbClr val="000000"/>
              </a:solidFill>
              <a:latin typeface="Arial"/>
            </a:endParaRPr>
          </a:p>
        </p:txBody>
      </p:sp>
      <p:sp>
        <p:nvSpPr>
          <p:cNvPr id="326" name="Text 2"/>
          <p:cNvSpPr/>
          <p:nvPr/>
        </p:nvSpPr>
        <p:spPr>
          <a:xfrm>
            <a:off x="365760" y="777240"/>
            <a:ext cx="8228880" cy="319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0" i="1" strike="noStrike" spc="-1">
                <a:solidFill>
                  <a:srgbClr val="D4A017"/>
                </a:solidFill>
                <a:latin typeface="Arial"/>
                <a:ea typeface="Arial"/>
              </a:rPr>
              <a:t>What Nigeria can learn — and build upon — from global precedents</a:t>
            </a:r>
            <a:endParaRPr lang="en-US" sz="1300" b="0" strike="noStrike" spc="-1">
              <a:solidFill>
                <a:srgbClr val="000000"/>
              </a:solidFill>
              <a:latin typeface="Arial"/>
            </a:endParaRPr>
          </a:p>
        </p:txBody>
      </p:sp>
      <p:sp>
        <p:nvSpPr>
          <p:cNvPr id="327" name="Shape 3"/>
          <p:cNvSpPr/>
          <p:nvPr/>
        </p:nvSpPr>
        <p:spPr>
          <a:xfrm>
            <a:off x="274320" y="1143000"/>
            <a:ext cx="4205520" cy="1206360"/>
          </a:xfrm>
          <a:prstGeom prst="roundRect">
            <a:avLst>
              <a:gd name="adj" fmla="val 7576"/>
            </a:avLst>
          </a:prstGeom>
          <a:solidFill>
            <a:srgbClr val="E8F5E9"/>
          </a:solidFill>
          <a:ln w="0">
            <a:noFill/>
          </a:ln>
          <a:effectLst>
            <a:outerShdw blurRad="76320" dist="25455" dir="2700000" algn="bl" rotWithShape="0">
              <a:srgbClr val="000000">
                <a:alpha val="1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000000"/>
              </a:solidFill>
              <a:latin typeface="Arial"/>
            </a:endParaRPr>
          </a:p>
        </p:txBody>
      </p:sp>
      <p:sp>
        <p:nvSpPr>
          <p:cNvPr id="328" name="Text 4"/>
          <p:cNvSpPr/>
          <p:nvPr/>
        </p:nvSpPr>
        <p:spPr>
          <a:xfrm>
            <a:off x="411480" y="1207080"/>
            <a:ext cx="3108240" cy="319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strike="noStrike" spc="-1">
                <a:solidFill>
                  <a:srgbClr val="1A4A2E"/>
                </a:solidFill>
                <a:latin typeface="Arial"/>
                <a:ea typeface="Arial"/>
              </a:rPr>
              <a:t>🇮🇳  India — Aadhaar Biometric ID</a:t>
            </a:r>
            <a:endParaRPr lang="en-US" sz="1200" b="0" strike="noStrike" spc="-1">
              <a:solidFill>
                <a:srgbClr val="000000"/>
              </a:solidFill>
              <a:latin typeface="Arial"/>
            </a:endParaRPr>
          </a:p>
        </p:txBody>
      </p:sp>
      <p:sp>
        <p:nvSpPr>
          <p:cNvPr id="329" name="Shape 5"/>
          <p:cNvSpPr/>
          <p:nvPr/>
        </p:nvSpPr>
        <p:spPr>
          <a:xfrm>
            <a:off x="3657600" y="1216080"/>
            <a:ext cx="712440" cy="236880"/>
          </a:xfrm>
          <a:prstGeom prst="roundRect">
            <a:avLst>
              <a:gd name="adj" fmla="val 19231"/>
            </a:avLst>
          </a:prstGeom>
          <a:solidFill>
            <a:srgbClr val="7A601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FFFFFF"/>
              </a:solidFill>
              <a:latin typeface="Arial"/>
            </a:endParaRPr>
          </a:p>
        </p:txBody>
      </p:sp>
      <p:sp>
        <p:nvSpPr>
          <p:cNvPr id="330" name="Text 6"/>
          <p:cNvSpPr/>
          <p:nvPr/>
        </p:nvSpPr>
        <p:spPr>
          <a:xfrm>
            <a:off x="3657600" y="1225440"/>
            <a:ext cx="712440" cy="200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900" b="1" strike="noStrike" spc="-1">
                <a:solidFill>
                  <a:srgbClr val="FFFFFF"/>
                </a:solidFill>
                <a:latin typeface="Arial"/>
                <a:ea typeface="Arial"/>
              </a:rPr>
              <a:t>MIXED</a:t>
            </a:r>
            <a:endParaRPr lang="en-US" sz="900" b="0" strike="noStrike" spc="-1">
              <a:solidFill>
                <a:srgbClr val="000000"/>
              </a:solidFill>
              <a:latin typeface="Arial"/>
            </a:endParaRPr>
          </a:p>
        </p:txBody>
      </p:sp>
      <p:sp>
        <p:nvSpPr>
          <p:cNvPr id="331" name="Text 7"/>
          <p:cNvSpPr/>
          <p:nvPr/>
        </p:nvSpPr>
        <p:spPr>
          <a:xfrm>
            <a:off x="411480" y="1563480"/>
            <a:ext cx="3912840" cy="712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50" b="0" strike="noStrike" spc="-1">
                <a:solidFill>
                  <a:srgbClr val="0D2B1A"/>
                </a:solidFill>
                <a:latin typeface="Arial"/>
                <a:ea typeface="Arial"/>
              </a:rPr>
              <a:t>1.4B citizens enrolled; improved welfare delivery and public service reach. Lesson: Scale must be matched with inclusion safeguards.</a:t>
            </a:r>
            <a:endParaRPr lang="en-US" sz="1050" b="0" strike="noStrike" spc="-1">
              <a:solidFill>
                <a:srgbClr val="000000"/>
              </a:solidFill>
              <a:latin typeface="Arial"/>
            </a:endParaRPr>
          </a:p>
        </p:txBody>
      </p:sp>
      <p:sp>
        <p:nvSpPr>
          <p:cNvPr id="332" name="Shape 8"/>
          <p:cNvSpPr/>
          <p:nvPr/>
        </p:nvSpPr>
        <p:spPr>
          <a:xfrm>
            <a:off x="4709160" y="1143000"/>
            <a:ext cx="4205520" cy="1206360"/>
          </a:xfrm>
          <a:prstGeom prst="roundRect">
            <a:avLst>
              <a:gd name="adj" fmla="val 7576"/>
            </a:avLst>
          </a:prstGeom>
          <a:solidFill>
            <a:srgbClr val="E8F5E9"/>
          </a:solidFill>
          <a:ln w="0">
            <a:noFill/>
          </a:ln>
          <a:effectLst>
            <a:outerShdw blurRad="76320" dist="25455" dir="2700000" algn="bl" rotWithShape="0">
              <a:srgbClr val="000000">
                <a:alpha val="1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000000"/>
              </a:solidFill>
              <a:latin typeface="Arial"/>
            </a:endParaRPr>
          </a:p>
        </p:txBody>
      </p:sp>
      <p:sp>
        <p:nvSpPr>
          <p:cNvPr id="333" name="Text 9"/>
          <p:cNvSpPr/>
          <p:nvPr/>
        </p:nvSpPr>
        <p:spPr>
          <a:xfrm>
            <a:off x="4846320" y="1207080"/>
            <a:ext cx="3108240" cy="319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strike="noStrike" spc="-1">
                <a:solidFill>
                  <a:srgbClr val="1A4A2E"/>
                </a:solidFill>
                <a:latin typeface="Arial"/>
                <a:ea typeface="Arial"/>
              </a:rPr>
              <a:t>🇺🇸  USA — COMPAS Recidivism Algorithm</a:t>
            </a:r>
            <a:endParaRPr lang="en-US" sz="1200" b="0" strike="noStrike" spc="-1">
              <a:solidFill>
                <a:srgbClr val="000000"/>
              </a:solidFill>
              <a:latin typeface="Arial"/>
            </a:endParaRPr>
          </a:p>
        </p:txBody>
      </p:sp>
      <p:sp>
        <p:nvSpPr>
          <p:cNvPr id="334" name="Shape 10"/>
          <p:cNvSpPr/>
          <p:nvPr/>
        </p:nvSpPr>
        <p:spPr>
          <a:xfrm>
            <a:off x="8092440" y="1216080"/>
            <a:ext cx="712440" cy="236880"/>
          </a:xfrm>
          <a:prstGeom prst="roundRect">
            <a:avLst>
              <a:gd name="adj" fmla="val 19231"/>
            </a:avLst>
          </a:prstGeom>
          <a:solidFill>
            <a:srgbClr val="7A1A1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FFFFFF"/>
              </a:solidFill>
              <a:latin typeface="Arial"/>
            </a:endParaRPr>
          </a:p>
        </p:txBody>
      </p:sp>
      <p:sp>
        <p:nvSpPr>
          <p:cNvPr id="335" name="Text 11"/>
          <p:cNvSpPr/>
          <p:nvPr/>
        </p:nvSpPr>
        <p:spPr>
          <a:xfrm>
            <a:off x="8092440" y="1225440"/>
            <a:ext cx="712440" cy="200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900" b="1" strike="noStrike" spc="-1">
                <a:solidFill>
                  <a:srgbClr val="FFFFFF"/>
                </a:solidFill>
                <a:latin typeface="Arial"/>
                <a:ea typeface="Arial"/>
              </a:rPr>
              <a:t>CAUTION</a:t>
            </a:r>
            <a:endParaRPr lang="en-US" sz="900" b="0" strike="noStrike" spc="-1">
              <a:solidFill>
                <a:srgbClr val="000000"/>
              </a:solidFill>
              <a:latin typeface="Arial"/>
            </a:endParaRPr>
          </a:p>
        </p:txBody>
      </p:sp>
      <p:sp>
        <p:nvSpPr>
          <p:cNvPr id="336" name="Text 12"/>
          <p:cNvSpPr/>
          <p:nvPr/>
        </p:nvSpPr>
        <p:spPr>
          <a:xfrm>
            <a:off x="4846320" y="1563480"/>
            <a:ext cx="3912840" cy="712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50" b="0" strike="noStrike" spc="-1">
                <a:solidFill>
                  <a:srgbClr val="0D2B1A"/>
                </a:solidFill>
                <a:latin typeface="Arial"/>
                <a:ea typeface="Arial"/>
              </a:rPr>
              <a:t>Black defendants were nearly 2× more likely to be flagged high-risk (45% vs 23% false positive rate, ProPublica 2016). Lesson: Demographic audits are essential for AI judicial tools.</a:t>
            </a:r>
            <a:endParaRPr lang="en-US" sz="1050" b="0" strike="noStrike" spc="-1">
              <a:solidFill>
                <a:srgbClr val="000000"/>
              </a:solidFill>
              <a:latin typeface="Arial"/>
            </a:endParaRPr>
          </a:p>
        </p:txBody>
      </p:sp>
      <p:sp>
        <p:nvSpPr>
          <p:cNvPr id="337" name="Shape 13"/>
          <p:cNvSpPr/>
          <p:nvPr/>
        </p:nvSpPr>
        <p:spPr>
          <a:xfrm>
            <a:off x="274320" y="2468880"/>
            <a:ext cx="4205520" cy="1206360"/>
          </a:xfrm>
          <a:prstGeom prst="roundRect">
            <a:avLst>
              <a:gd name="adj" fmla="val 7576"/>
            </a:avLst>
          </a:prstGeom>
          <a:solidFill>
            <a:srgbClr val="E8F5E9"/>
          </a:solidFill>
          <a:ln w="0">
            <a:noFill/>
          </a:ln>
          <a:effectLst>
            <a:outerShdw blurRad="76320" dist="25455" dir="2700000" algn="bl" rotWithShape="0">
              <a:srgbClr val="000000">
                <a:alpha val="1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000000"/>
              </a:solidFill>
              <a:latin typeface="Arial"/>
            </a:endParaRPr>
          </a:p>
        </p:txBody>
      </p:sp>
      <p:sp>
        <p:nvSpPr>
          <p:cNvPr id="338" name="Text 14"/>
          <p:cNvSpPr/>
          <p:nvPr/>
        </p:nvSpPr>
        <p:spPr>
          <a:xfrm>
            <a:off x="411480" y="2532960"/>
            <a:ext cx="3108240" cy="319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strike="noStrike" spc="-1">
                <a:solidFill>
                  <a:srgbClr val="1A4A2E"/>
                </a:solidFill>
                <a:latin typeface="Arial"/>
                <a:ea typeface="Arial"/>
              </a:rPr>
              <a:t>🇪🇪  Estonia — Digital Democracy Pioneer</a:t>
            </a:r>
            <a:endParaRPr lang="en-US" sz="1200" b="0" strike="noStrike" spc="-1">
              <a:solidFill>
                <a:srgbClr val="000000"/>
              </a:solidFill>
              <a:latin typeface="Arial"/>
            </a:endParaRPr>
          </a:p>
        </p:txBody>
      </p:sp>
      <p:sp>
        <p:nvSpPr>
          <p:cNvPr id="339" name="Shape 15"/>
          <p:cNvSpPr/>
          <p:nvPr/>
        </p:nvSpPr>
        <p:spPr>
          <a:xfrm>
            <a:off x="3657600" y="2541960"/>
            <a:ext cx="712440" cy="236880"/>
          </a:xfrm>
          <a:prstGeom prst="roundRect">
            <a:avLst>
              <a:gd name="adj" fmla="val 19231"/>
            </a:avLst>
          </a:prstGeom>
          <a:solidFill>
            <a:srgbClr val="1A5C3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FFFFFF"/>
              </a:solidFill>
              <a:latin typeface="Arial"/>
            </a:endParaRPr>
          </a:p>
        </p:txBody>
      </p:sp>
      <p:sp>
        <p:nvSpPr>
          <p:cNvPr id="340" name="Text 16"/>
          <p:cNvSpPr/>
          <p:nvPr/>
        </p:nvSpPr>
        <p:spPr>
          <a:xfrm>
            <a:off x="3657600" y="2551320"/>
            <a:ext cx="712440" cy="200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900" b="1" strike="noStrike" spc="-1">
                <a:solidFill>
                  <a:srgbClr val="FFFFFF"/>
                </a:solidFill>
                <a:latin typeface="Arial"/>
                <a:ea typeface="Arial"/>
              </a:rPr>
              <a:t>POSITIVE</a:t>
            </a:r>
            <a:endParaRPr lang="en-US" sz="900" b="0" strike="noStrike" spc="-1">
              <a:solidFill>
                <a:srgbClr val="000000"/>
              </a:solidFill>
              <a:latin typeface="Arial"/>
            </a:endParaRPr>
          </a:p>
        </p:txBody>
      </p:sp>
      <p:sp>
        <p:nvSpPr>
          <p:cNvPr id="341" name="Text 17"/>
          <p:cNvSpPr/>
          <p:nvPr/>
        </p:nvSpPr>
        <p:spPr>
          <a:xfrm>
            <a:off x="411480" y="2889360"/>
            <a:ext cx="3912840" cy="712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50" b="0" strike="noStrike" spc="-1">
                <a:solidFill>
                  <a:srgbClr val="0D2B1A"/>
                </a:solidFill>
                <a:latin typeface="Arial"/>
                <a:ea typeface="Arial"/>
              </a:rPr>
              <a:t>E-voting since 2005; 51.2% of votes cast digitally in 2023 — a world record. Open-source, independently audited. Lesson: Transparency + trust = democratic AI.</a:t>
            </a:r>
            <a:endParaRPr lang="en-US" sz="1050" b="0" strike="noStrike" spc="-1">
              <a:solidFill>
                <a:srgbClr val="000000"/>
              </a:solidFill>
              <a:latin typeface="Arial"/>
            </a:endParaRPr>
          </a:p>
        </p:txBody>
      </p:sp>
      <p:sp>
        <p:nvSpPr>
          <p:cNvPr id="342" name="Shape 18"/>
          <p:cNvSpPr/>
          <p:nvPr/>
        </p:nvSpPr>
        <p:spPr>
          <a:xfrm>
            <a:off x="4709160" y="2468880"/>
            <a:ext cx="4205520" cy="1206360"/>
          </a:xfrm>
          <a:prstGeom prst="roundRect">
            <a:avLst>
              <a:gd name="adj" fmla="val 7576"/>
            </a:avLst>
          </a:prstGeom>
          <a:solidFill>
            <a:srgbClr val="E8F5E9"/>
          </a:solidFill>
          <a:ln w="0">
            <a:noFill/>
          </a:ln>
          <a:effectLst>
            <a:outerShdw blurRad="76320" dist="25455" dir="2700000" algn="bl" rotWithShape="0">
              <a:srgbClr val="000000">
                <a:alpha val="1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000000"/>
              </a:solidFill>
              <a:latin typeface="Arial"/>
            </a:endParaRPr>
          </a:p>
        </p:txBody>
      </p:sp>
      <p:sp>
        <p:nvSpPr>
          <p:cNvPr id="343" name="Text 19"/>
          <p:cNvSpPr/>
          <p:nvPr/>
        </p:nvSpPr>
        <p:spPr>
          <a:xfrm>
            <a:off x="4846320" y="2532960"/>
            <a:ext cx="3108240" cy="319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strike="noStrike" spc="-1">
                <a:solidFill>
                  <a:srgbClr val="1A4A2E"/>
                </a:solidFill>
                <a:latin typeface="Arial"/>
                <a:ea typeface="Arial"/>
              </a:rPr>
              <a:t>🇧🇷  Brazil — AI Electoral Court</a:t>
            </a:r>
            <a:endParaRPr lang="en-US" sz="1200" b="0" strike="noStrike" spc="-1">
              <a:solidFill>
                <a:srgbClr val="000000"/>
              </a:solidFill>
              <a:latin typeface="Arial"/>
            </a:endParaRPr>
          </a:p>
        </p:txBody>
      </p:sp>
      <p:sp>
        <p:nvSpPr>
          <p:cNvPr id="344" name="Shape 20"/>
          <p:cNvSpPr/>
          <p:nvPr/>
        </p:nvSpPr>
        <p:spPr>
          <a:xfrm>
            <a:off x="8092440" y="2541960"/>
            <a:ext cx="712440" cy="236880"/>
          </a:xfrm>
          <a:prstGeom prst="roundRect">
            <a:avLst>
              <a:gd name="adj" fmla="val 19231"/>
            </a:avLst>
          </a:prstGeom>
          <a:solidFill>
            <a:srgbClr val="1A5C3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FFFFFF"/>
              </a:solidFill>
              <a:latin typeface="Arial"/>
            </a:endParaRPr>
          </a:p>
        </p:txBody>
      </p:sp>
      <p:sp>
        <p:nvSpPr>
          <p:cNvPr id="345" name="Text 21"/>
          <p:cNvSpPr/>
          <p:nvPr/>
        </p:nvSpPr>
        <p:spPr>
          <a:xfrm>
            <a:off x="8092440" y="2551320"/>
            <a:ext cx="712440" cy="200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900" b="1" strike="noStrike" spc="-1">
                <a:solidFill>
                  <a:srgbClr val="FFFFFF"/>
                </a:solidFill>
                <a:latin typeface="Arial"/>
                <a:ea typeface="Arial"/>
              </a:rPr>
              <a:t>POSITIVE</a:t>
            </a:r>
            <a:endParaRPr lang="en-US" sz="900" b="0" strike="noStrike" spc="-1">
              <a:solidFill>
                <a:srgbClr val="000000"/>
              </a:solidFill>
              <a:latin typeface="Arial"/>
            </a:endParaRPr>
          </a:p>
        </p:txBody>
      </p:sp>
      <p:sp>
        <p:nvSpPr>
          <p:cNvPr id="346" name="Text 22"/>
          <p:cNvSpPr/>
          <p:nvPr/>
        </p:nvSpPr>
        <p:spPr>
          <a:xfrm>
            <a:off x="4846320" y="2889360"/>
            <a:ext cx="3912840" cy="712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50" b="0" strike="noStrike" spc="-1">
                <a:solidFill>
                  <a:srgbClr val="0D2B1A"/>
                </a:solidFill>
                <a:latin typeface="Arial"/>
                <a:ea typeface="Arial"/>
              </a:rPr>
              <a:t>TSE uses ML to detect disinformation and issue rapid correction orders. AI + human oversight + legal authority = effective election protection.</a:t>
            </a:r>
            <a:endParaRPr lang="en-US" sz="1050" b="0" strike="noStrike" spc="-1">
              <a:solidFill>
                <a:srgbClr val="000000"/>
              </a:solidFill>
              <a:latin typeface="Arial"/>
            </a:endParaRPr>
          </a:p>
        </p:txBody>
      </p:sp>
      <p:sp>
        <p:nvSpPr>
          <p:cNvPr id="347" name="Shape 23"/>
          <p:cNvSpPr/>
          <p:nvPr/>
        </p:nvSpPr>
        <p:spPr>
          <a:xfrm>
            <a:off x="274320" y="3794760"/>
            <a:ext cx="4205520" cy="1206360"/>
          </a:xfrm>
          <a:prstGeom prst="roundRect">
            <a:avLst>
              <a:gd name="adj" fmla="val 7576"/>
            </a:avLst>
          </a:prstGeom>
          <a:solidFill>
            <a:srgbClr val="E8F5E9"/>
          </a:solidFill>
          <a:ln w="0">
            <a:noFill/>
          </a:ln>
          <a:effectLst>
            <a:outerShdw blurRad="76320" dist="25455" dir="2700000" algn="bl" rotWithShape="0">
              <a:srgbClr val="000000">
                <a:alpha val="1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000000"/>
              </a:solidFill>
              <a:latin typeface="Arial"/>
            </a:endParaRPr>
          </a:p>
        </p:txBody>
      </p:sp>
      <p:sp>
        <p:nvSpPr>
          <p:cNvPr id="348" name="Text 24"/>
          <p:cNvSpPr/>
          <p:nvPr/>
        </p:nvSpPr>
        <p:spPr>
          <a:xfrm>
            <a:off x="411480" y="3858840"/>
            <a:ext cx="3108240" cy="319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strike="noStrike" spc="-1">
                <a:solidFill>
                  <a:srgbClr val="1A4A2E"/>
                </a:solidFill>
                <a:latin typeface="Arial"/>
                <a:ea typeface="Arial"/>
              </a:rPr>
              <a:t>🇬🇭  Ghana — Biometric Function Creep</a:t>
            </a:r>
            <a:endParaRPr lang="en-US" sz="1200" b="0" strike="noStrike" spc="-1">
              <a:solidFill>
                <a:srgbClr val="000000"/>
              </a:solidFill>
              <a:latin typeface="Arial"/>
            </a:endParaRPr>
          </a:p>
        </p:txBody>
      </p:sp>
      <p:sp>
        <p:nvSpPr>
          <p:cNvPr id="349" name="Shape 25"/>
          <p:cNvSpPr/>
          <p:nvPr/>
        </p:nvSpPr>
        <p:spPr>
          <a:xfrm>
            <a:off x="3657600" y="3867840"/>
            <a:ext cx="712440" cy="236880"/>
          </a:xfrm>
          <a:prstGeom prst="roundRect">
            <a:avLst>
              <a:gd name="adj" fmla="val 19231"/>
            </a:avLst>
          </a:prstGeom>
          <a:solidFill>
            <a:srgbClr val="7A601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FFFFFF"/>
              </a:solidFill>
              <a:latin typeface="Arial"/>
            </a:endParaRPr>
          </a:p>
        </p:txBody>
      </p:sp>
      <p:sp>
        <p:nvSpPr>
          <p:cNvPr id="350" name="Text 26"/>
          <p:cNvSpPr/>
          <p:nvPr/>
        </p:nvSpPr>
        <p:spPr>
          <a:xfrm>
            <a:off x="3657600" y="3877200"/>
            <a:ext cx="712440" cy="200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900" b="1" strike="noStrike" spc="-1">
                <a:solidFill>
                  <a:srgbClr val="FFFFFF"/>
                </a:solidFill>
                <a:latin typeface="Arial"/>
                <a:ea typeface="Arial"/>
              </a:rPr>
              <a:t>MIXED</a:t>
            </a:r>
            <a:endParaRPr lang="en-US" sz="900" b="0" strike="noStrike" spc="-1">
              <a:solidFill>
                <a:srgbClr val="000000"/>
              </a:solidFill>
              <a:latin typeface="Arial"/>
            </a:endParaRPr>
          </a:p>
        </p:txBody>
      </p:sp>
      <p:sp>
        <p:nvSpPr>
          <p:cNvPr id="351" name="Text 27"/>
          <p:cNvSpPr/>
          <p:nvPr/>
        </p:nvSpPr>
        <p:spPr>
          <a:xfrm>
            <a:off x="411480" y="4215240"/>
            <a:ext cx="3912840" cy="712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50" b="0" strike="noStrike" spc="-1">
                <a:solidFill>
                  <a:srgbClr val="0D2B1A"/>
                </a:solidFill>
                <a:latin typeface="Arial"/>
                <a:ea typeface="Arial"/>
              </a:rPr>
              <a:t>NHIA biometric enrolment repurposed for political identity verification without explicit citizen consent. Lesson: Function creep is a governance failure, not a technology one.</a:t>
            </a:r>
            <a:endParaRPr lang="en-US" sz="1050" b="0" strike="noStrike" spc="-1">
              <a:solidFill>
                <a:srgbClr val="000000"/>
              </a:solidFill>
              <a:latin typeface="Arial"/>
            </a:endParaRPr>
          </a:p>
        </p:txBody>
      </p:sp>
      <p:sp>
        <p:nvSpPr>
          <p:cNvPr id="352" name="Shape 28"/>
          <p:cNvSpPr/>
          <p:nvPr/>
        </p:nvSpPr>
        <p:spPr>
          <a:xfrm>
            <a:off x="4709160" y="3794760"/>
            <a:ext cx="4205520" cy="1206360"/>
          </a:xfrm>
          <a:prstGeom prst="roundRect">
            <a:avLst>
              <a:gd name="adj" fmla="val 7576"/>
            </a:avLst>
          </a:prstGeom>
          <a:solidFill>
            <a:srgbClr val="E8F5E9"/>
          </a:solidFill>
          <a:ln w="0">
            <a:noFill/>
          </a:ln>
          <a:effectLst>
            <a:outerShdw blurRad="76320" dist="25455" dir="2700000" algn="bl" rotWithShape="0">
              <a:srgbClr val="000000">
                <a:alpha val="1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000000"/>
              </a:solidFill>
              <a:latin typeface="Arial"/>
            </a:endParaRPr>
          </a:p>
        </p:txBody>
      </p:sp>
      <p:sp>
        <p:nvSpPr>
          <p:cNvPr id="353" name="Text 29"/>
          <p:cNvSpPr/>
          <p:nvPr/>
        </p:nvSpPr>
        <p:spPr>
          <a:xfrm>
            <a:off x="4846320" y="3858840"/>
            <a:ext cx="3108240" cy="319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strike="noStrike" spc="-1">
                <a:solidFill>
                  <a:srgbClr val="1A4A2E"/>
                </a:solidFill>
                <a:latin typeface="Arial"/>
                <a:ea typeface="Arial"/>
              </a:rPr>
              <a:t>🌍  Africa — Infrastructure as Sovereignty</a:t>
            </a:r>
            <a:endParaRPr lang="en-US" sz="1200" b="0" strike="noStrike" spc="-1">
              <a:solidFill>
                <a:srgbClr val="000000"/>
              </a:solidFill>
              <a:latin typeface="Arial"/>
            </a:endParaRPr>
          </a:p>
        </p:txBody>
      </p:sp>
      <p:sp>
        <p:nvSpPr>
          <p:cNvPr id="354" name="Shape 30"/>
          <p:cNvSpPr/>
          <p:nvPr/>
        </p:nvSpPr>
        <p:spPr>
          <a:xfrm>
            <a:off x="8092440" y="3867840"/>
            <a:ext cx="712440" cy="236880"/>
          </a:xfrm>
          <a:prstGeom prst="roundRect">
            <a:avLst>
              <a:gd name="adj" fmla="val 19231"/>
            </a:avLst>
          </a:prstGeom>
          <a:solidFill>
            <a:srgbClr val="1A4A2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FFFFFF"/>
              </a:solidFill>
              <a:latin typeface="Arial"/>
            </a:endParaRPr>
          </a:p>
        </p:txBody>
      </p:sp>
      <p:sp>
        <p:nvSpPr>
          <p:cNvPr id="355" name="Text 31"/>
          <p:cNvSpPr/>
          <p:nvPr/>
        </p:nvSpPr>
        <p:spPr>
          <a:xfrm>
            <a:off x="8092440" y="3877200"/>
            <a:ext cx="712440" cy="200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900" b="1" strike="noStrike" spc="-1">
                <a:solidFill>
                  <a:srgbClr val="FFFFFF"/>
                </a:solidFill>
                <a:latin typeface="Arial"/>
                <a:ea typeface="Arial"/>
              </a:rPr>
              <a:t>NOTE</a:t>
            </a:r>
            <a:endParaRPr lang="en-US" sz="900" b="0" strike="noStrike" spc="-1">
              <a:solidFill>
                <a:srgbClr val="000000"/>
              </a:solidFill>
              <a:latin typeface="Arial"/>
            </a:endParaRPr>
          </a:p>
        </p:txBody>
      </p:sp>
      <p:sp>
        <p:nvSpPr>
          <p:cNvPr id="356" name="Text 32"/>
          <p:cNvSpPr/>
          <p:nvPr/>
        </p:nvSpPr>
        <p:spPr>
          <a:xfrm>
            <a:off x="4846320" y="4215240"/>
            <a:ext cx="3912840" cy="712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50" b="0" strike="noStrike" spc="-1">
                <a:solidFill>
                  <a:srgbClr val="0D2B1A"/>
                </a:solidFill>
                <a:latin typeface="Arial"/>
                <a:ea typeface="Arial"/>
              </a:rPr>
              <a:t>~70% of Africa's 4G infrastructure built by Chinese companies. AI-enabled CCTV documented in Lagos, Abuja, Nairobi (IDS Report, 2025). Lesson: Infrastructure choices are governance choices.</a:t>
            </a:r>
            <a:endParaRPr lang="en-US" sz="1050" b="0" strike="noStrike" spc="-1">
              <a:solidFill>
                <a:srgbClr val="000000"/>
              </a:solidFill>
              <a:latin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0F7F1"/>
        </a:solidFill>
        <a:effectLst/>
      </p:bgPr>
    </p:bg>
    <p:spTree>
      <p:nvGrpSpPr>
        <p:cNvPr id="1" name=""/>
        <p:cNvGrpSpPr/>
        <p:nvPr/>
      </p:nvGrpSpPr>
      <p:grpSpPr>
        <a:xfrm>
          <a:off x="0" y="0"/>
          <a:ext cx="0" cy="0"/>
          <a:chOff x="0" y="0"/>
          <a:chExt cx="0" cy="0"/>
        </a:xfrm>
      </p:grpSpPr>
      <p:sp>
        <p:nvSpPr>
          <p:cNvPr id="357" name="Shape 0"/>
          <p:cNvSpPr/>
          <p:nvPr/>
        </p:nvSpPr>
        <p:spPr>
          <a:xfrm>
            <a:off x="0" y="0"/>
            <a:ext cx="9143280" cy="685080"/>
          </a:xfrm>
          <a:prstGeom prst="rect">
            <a:avLst/>
          </a:prstGeom>
          <a:solidFill>
            <a:srgbClr val="1A4A2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FFFFFF"/>
              </a:solidFill>
              <a:latin typeface="Arial"/>
            </a:endParaRPr>
          </a:p>
        </p:txBody>
      </p:sp>
      <p:sp>
        <p:nvSpPr>
          <p:cNvPr id="358" name="Text 1"/>
          <p:cNvSpPr/>
          <p:nvPr/>
        </p:nvSpPr>
        <p:spPr>
          <a:xfrm>
            <a:off x="365760" y="36720"/>
            <a:ext cx="8411760" cy="621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800" b="1" strike="noStrike" spc="-1">
                <a:solidFill>
                  <a:srgbClr val="FFFFFF"/>
                </a:solidFill>
                <a:latin typeface="Arial"/>
                <a:ea typeface="Arial"/>
              </a:rPr>
              <a:t>Data Is the New Democratic Infrastructure</a:t>
            </a:r>
            <a:endParaRPr lang="en-US" sz="2800" b="0" strike="noStrike" spc="-1">
              <a:solidFill>
                <a:srgbClr val="000000"/>
              </a:solidFill>
              <a:latin typeface="Arial"/>
            </a:endParaRPr>
          </a:p>
        </p:txBody>
      </p:sp>
      <p:sp>
        <p:nvSpPr>
          <p:cNvPr id="359" name="Shape 2"/>
          <p:cNvSpPr/>
          <p:nvPr/>
        </p:nvSpPr>
        <p:spPr>
          <a:xfrm>
            <a:off x="274320" y="804600"/>
            <a:ext cx="8594640" cy="803880"/>
          </a:xfrm>
          <a:prstGeom prst="roundRect">
            <a:avLst>
              <a:gd name="adj" fmla="val 11364"/>
            </a:avLst>
          </a:prstGeom>
          <a:solidFill>
            <a:srgbClr val="1E5C35"/>
          </a:solidFill>
          <a:ln w="0">
            <a:noFill/>
          </a:ln>
          <a:effectLst>
            <a:outerShdw blurRad="76320" dist="25455" dir="2700000" algn="bl" rotWithShape="0">
              <a:srgbClr val="000000">
                <a:alpha val="1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FFFFFF"/>
              </a:solidFill>
              <a:latin typeface="Arial"/>
            </a:endParaRPr>
          </a:p>
        </p:txBody>
      </p:sp>
      <p:sp>
        <p:nvSpPr>
          <p:cNvPr id="360" name="Text 3"/>
          <p:cNvSpPr/>
          <p:nvPr/>
        </p:nvSpPr>
        <p:spPr>
          <a:xfrm>
            <a:off x="457200" y="868680"/>
            <a:ext cx="8228880" cy="685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0" i="1" strike="noStrike" spc="-1">
                <a:solidFill>
                  <a:srgbClr val="D4A017"/>
                </a:solidFill>
                <a:latin typeface="Arial"/>
                <a:ea typeface="Arial"/>
              </a:rPr>
              <a:t>"No AI without data. No democracy without data sovereignty. The critical questions are not technical — they are political: Who owns the data? Who controls it? Who benefits?"</a:t>
            </a:r>
            <a:endParaRPr lang="en-US" sz="1300" b="0" strike="noStrike" spc="-1">
              <a:solidFill>
                <a:srgbClr val="000000"/>
              </a:solidFill>
              <a:latin typeface="Arial"/>
            </a:endParaRPr>
          </a:p>
        </p:txBody>
      </p:sp>
      <p:sp>
        <p:nvSpPr>
          <p:cNvPr id="361" name="Shape 4"/>
          <p:cNvSpPr/>
          <p:nvPr/>
        </p:nvSpPr>
        <p:spPr>
          <a:xfrm>
            <a:off x="274320" y="1737360"/>
            <a:ext cx="2010960" cy="2376720"/>
          </a:xfrm>
          <a:prstGeom prst="roundRect">
            <a:avLst>
              <a:gd name="adj" fmla="val 4545"/>
            </a:avLst>
          </a:prstGeom>
          <a:solidFill>
            <a:srgbClr val="E8F5E9"/>
          </a:solidFill>
          <a:ln w="0">
            <a:noFill/>
          </a:ln>
          <a:effectLst>
            <a:outerShdw blurRad="76320" dist="25455" dir="2700000" algn="bl" rotWithShape="0">
              <a:srgbClr val="000000">
                <a:alpha val="1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000000"/>
              </a:solidFill>
              <a:latin typeface="Arial"/>
            </a:endParaRPr>
          </a:p>
        </p:txBody>
      </p:sp>
      <p:sp>
        <p:nvSpPr>
          <p:cNvPr id="362" name="Text 5"/>
          <p:cNvSpPr/>
          <p:nvPr/>
        </p:nvSpPr>
        <p:spPr>
          <a:xfrm>
            <a:off x="320040" y="1828800"/>
            <a:ext cx="1919520" cy="803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5800" b="1" strike="noStrike" spc="-1">
                <a:solidFill>
                  <a:srgbClr val="1A4A2E"/>
                </a:solidFill>
                <a:latin typeface="Arial"/>
                <a:ea typeface="Arial"/>
              </a:rPr>
              <a:t>F</a:t>
            </a:r>
            <a:endParaRPr lang="en-US" sz="5800" b="0" strike="noStrike" spc="-1">
              <a:solidFill>
                <a:srgbClr val="000000"/>
              </a:solidFill>
              <a:latin typeface="Arial"/>
            </a:endParaRPr>
          </a:p>
        </p:txBody>
      </p:sp>
      <p:sp>
        <p:nvSpPr>
          <p:cNvPr id="363" name="Text 6"/>
          <p:cNvSpPr/>
          <p:nvPr/>
        </p:nvSpPr>
        <p:spPr>
          <a:xfrm>
            <a:off x="320040" y="2633400"/>
            <a:ext cx="1919520" cy="346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strike="noStrike" spc="-1">
                <a:solidFill>
                  <a:srgbClr val="0D2B1A"/>
                </a:solidFill>
                <a:latin typeface="Arial"/>
                <a:ea typeface="Arial"/>
              </a:rPr>
              <a:t>Findable</a:t>
            </a:r>
            <a:endParaRPr lang="en-US" sz="1400" b="0" strike="noStrike" spc="-1">
              <a:solidFill>
                <a:srgbClr val="000000"/>
              </a:solidFill>
              <a:latin typeface="Arial"/>
            </a:endParaRPr>
          </a:p>
        </p:txBody>
      </p:sp>
      <p:sp>
        <p:nvSpPr>
          <p:cNvPr id="364" name="Text 7"/>
          <p:cNvSpPr/>
          <p:nvPr/>
        </p:nvSpPr>
        <p:spPr>
          <a:xfrm>
            <a:off x="365760" y="2999160"/>
            <a:ext cx="1828080" cy="1005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50" b="0" strike="noStrike" spc="-1">
                <a:solidFill>
                  <a:srgbClr val="0D2B1A"/>
                </a:solidFill>
                <a:latin typeface="Arial"/>
                <a:ea typeface="Arial"/>
              </a:rPr>
              <a:t>Metadata and data are registered with persistent identifiers and described richly enough to be discovered.</a:t>
            </a:r>
            <a:endParaRPr lang="en-US" sz="1050" b="0" strike="noStrike" spc="-1">
              <a:solidFill>
                <a:srgbClr val="000000"/>
              </a:solidFill>
              <a:latin typeface="Arial"/>
            </a:endParaRPr>
          </a:p>
        </p:txBody>
      </p:sp>
      <p:sp>
        <p:nvSpPr>
          <p:cNvPr id="365" name="Shape 8"/>
          <p:cNvSpPr/>
          <p:nvPr/>
        </p:nvSpPr>
        <p:spPr>
          <a:xfrm>
            <a:off x="2441520" y="1737360"/>
            <a:ext cx="2010960" cy="2376720"/>
          </a:xfrm>
          <a:prstGeom prst="roundRect">
            <a:avLst>
              <a:gd name="adj" fmla="val 4545"/>
            </a:avLst>
          </a:prstGeom>
          <a:solidFill>
            <a:srgbClr val="E8F5E9"/>
          </a:solidFill>
          <a:ln w="0">
            <a:noFill/>
          </a:ln>
          <a:effectLst>
            <a:outerShdw blurRad="76320" dist="25455" dir="2700000" algn="bl" rotWithShape="0">
              <a:srgbClr val="000000">
                <a:alpha val="1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000000"/>
              </a:solidFill>
              <a:latin typeface="Arial"/>
            </a:endParaRPr>
          </a:p>
        </p:txBody>
      </p:sp>
      <p:sp>
        <p:nvSpPr>
          <p:cNvPr id="366" name="Text 9"/>
          <p:cNvSpPr/>
          <p:nvPr/>
        </p:nvSpPr>
        <p:spPr>
          <a:xfrm>
            <a:off x="2487240" y="1828800"/>
            <a:ext cx="1919520" cy="803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5800" b="1" strike="noStrike" spc="-1">
                <a:solidFill>
                  <a:srgbClr val="1A4A2E"/>
                </a:solidFill>
                <a:latin typeface="Arial"/>
                <a:ea typeface="Arial"/>
              </a:rPr>
              <a:t>A</a:t>
            </a:r>
            <a:endParaRPr lang="en-US" sz="5800" b="0" strike="noStrike" spc="-1">
              <a:solidFill>
                <a:srgbClr val="000000"/>
              </a:solidFill>
              <a:latin typeface="Arial"/>
            </a:endParaRPr>
          </a:p>
        </p:txBody>
      </p:sp>
      <p:sp>
        <p:nvSpPr>
          <p:cNvPr id="367" name="Text 10"/>
          <p:cNvSpPr/>
          <p:nvPr/>
        </p:nvSpPr>
        <p:spPr>
          <a:xfrm>
            <a:off x="2487240" y="2633400"/>
            <a:ext cx="1919520" cy="346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strike="noStrike" spc="-1">
                <a:solidFill>
                  <a:srgbClr val="0D2B1A"/>
                </a:solidFill>
                <a:latin typeface="Arial"/>
                <a:ea typeface="Arial"/>
              </a:rPr>
              <a:t>Accessible</a:t>
            </a:r>
            <a:endParaRPr lang="en-US" sz="1400" b="0" strike="noStrike" spc="-1">
              <a:solidFill>
                <a:srgbClr val="000000"/>
              </a:solidFill>
              <a:latin typeface="Arial"/>
            </a:endParaRPr>
          </a:p>
        </p:txBody>
      </p:sp>
      <p:sp>
        <p:nvSpPr>
          <p:cNvPr id="368" name="Text 11"/>
          <p:cNvSpPr/>
          <p:nvPr/>
        </p:nvSpPr>
        <p:spPr>
          <a:xfrm>
            <a:off x="2532960" y="2999160"/>
            <a:ext cx="1828080" cy="1005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50" b="0" strike="noStrike" spc="-1">
                <a:solidFill>
                  <a:srgbClr val="0D2B1A"/>
                </a:solidFill>
                <a:latin typeface="Arial"/>
                <a:ea typeface="Arial"/>
              </a:rPr>
              <a:t>Data is retrievable by open, standardised protocols. Access conditions are clear and documented.</a:t>
            </a:r>
            <a:endParaRPr lang="en-US" sz="1050" b="0" strike="noStrike" spc="-1">
              <a:solidFill>
                <a:srgbClr val="000000"/>
              </a:solidFill>
              <a:latin typeface="Arial"/>
            </a:endParaRPr>
          </a:p>
        </p:txBody>
      </p:sp>
      <p:sp>
        <p:nvSpPr>
          <p:cNvPr id="369" name="Shape 12"/>
          <p:cNvSpPr/>
          <p:nvPr/>
        </p:nvSpPr>
        <p:spPr>
          <a:xfrm>
            <a:off x="4608720" y="1737360"/>
            <a:ext cx="2010960" cy="2376720"/>
          </a:xfrm>
          <a:prstGeom prst="roundRect">
            <a:avLst>
              <a:gd name="adj" fmla="val 4545"/>
            </a:avLst>
          </a:prstGeom>
          <a:solidFill>
            <a:srgbClr val="E8F5E9"/>
          </a:solidFill>
          <a:ln w="0">
            <a:noFill/>
          </a:ln>
          <a:effectLst>
            <a:outerShdw blurRad="76320" dist="25455" dir="2700000" algn="bl" rotWithShape="0">
              <a:srgbClr val="000000">
                <a:alpha val="1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000000"/>
              </a:solidFill>
              <a:latin typeface="Arial"/>
            </a:endParaRPr>
          </a:p>
        </p:txBody>
      </p:sp>
      <p:sp>
        <p:nvSpPr>
          <p:cNvPr id="370" name="Text 13"/>
          <p:cNvSpPr/>
          <p:nvPr/>
        </p:nvSpPr>
        <p:spPr>
          <a:xfrm>
            <a:off x="4654440" y="1828800"/>
            <a:ext cx="1919520" cy="803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5800" b="1" strike="noStrike" spc="-1">
                <a:solidFill>
                  <a:srgbClr val="1A4A2E"/>
                </a:solidFill>
                <a:latin typeface="Arial"/>
                <a:ea typeface="Arial"/>
              </a:rPr>
              <a:t>I</a:t>
            </a:r>
            <a:endParaRPr lang="en-US" sz="5800" b="0" strike="noStrike" spc="-1">
              <a:solidFill>
                <a:srgbClr val="000000"/>
              </a:solidFill>
              <a:latin typeface="Arial"/>
            </a:endParaRPr>
          </a:p>
        </p:txBody>
      </p:sp>
      <p:sp>
        <p:nvSpPr>
          <p:cNvPr id="371" name="Text 14"/>
          <p:cNvSpPr/>
          <p:nvPr/>
        </p:nvSpPr>
        <p:spPr>
          <a:xfrm>
            <a:off x="4654440" y="2633400"/>
            <a:ext cx="1919520" cy="346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strike="noStrike" spc="-1">
                <a:solidFill>
                  <a:srgbClr val="0D2B1A"/>
                </a:solidFill>
                <a:latin typeface="Arial"/>
                <a:ea typeface="Arial"/>
              </a:rPr>
              <a:t>Interoperable</a:t>
            </a:r>
            <a:endParaRPr lang="en-US" sz="1400" b="0" strike="noStrike" spc="-1">
              <a:solidFill>
                <a:srgbClr val="000000"/>
              </a:solidFill>
              <a:latin typeface="Arial"/>
            </a:endParaRPr>
          </a:p>
        </p:txBody>
      </p:sp>
      <p:sp>
        <p:nvSpPr>
          <p:cNvPr id="372" name="Text 15"/>
          <p:cNvSpPr/>
          <p:nvPr/>
        </p:nvSpPr>
        <p:spPr>
          <a:xfrm>
            <a:off x="4700160" y="2999160"/>
            <a:ext cx="1828080" cy="1005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50" b="0" strike="noStrike" spc="-1">
                <a:solidFill>
                  <a:srgbClr val="0D2B1A"/>
                </a:solidFill>
                <a:latin typeface="Arial"/>
                <a:ea typeface="Arial"/>
              </a:rPr>
              <a:t>Data uses FAIR-compliant vocabularies and links to other datasets. It integrates across borders and disciplines.</a:t>
            </a:r>
            <a:endParaRPr lang="en-US" sz="1050" b="0" strike="noStrike" spc="-1">
              <a:solidFill>
                <a:srgbClr val="000000"/>
              </a:solidFill>
              <a:latin typeface="Arial"/>
            </a:endParaRPr>
          </a:p>
        </p:txBody>
      </p:sp>
      <p:sp>
        <p:nvSpPr>
          <p:cNvPr id="373" name="Shape 16"/>
          <p:cNvSpPr/>
          <p:nvPr/>
        </p:nvSpPr>
        <p:spPr>
          <a:xfrm>
            <a:off x="6775560" y="1737360"/>
            <a:ext cx="2010960" cy="2376720"/>
          </a:xfrm>
          <a:prstGeom prst="roundRect">
            <a:avLst>
              <a:gd name="adj" fmla="val 4545"/>
            </a:avLst>
          </a:prstGeom>
          <a:solidFill>
            <a:srgbClr val="E8F5E9"/>
          </a:solidFill>
          <a:ln w="0">
            <a:noFill/>
          </a:ln>
          <a:effectLst>
            <a:outerShdw blurRad="76320" dist="25455" dir="2700000" algn="bl" rotWithShape="0">
              <a:srgbClr val="000000">
                <a:alpha val="1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000000"/>
              </a:solidFill>
              <a:latin typeface="Arial"/>
            </a:endParaRPr>
          </a:p>
        </p:txBody>
      </p:sp>
      <p:sp>
        <p:nvSpPr>
          <p:cNvPr id="374" name="Text 17"/>
          <p:cNvSpPr/>
          <p:nvPr/>
        </p:nvSpPr>
        <p:spPr>
          <a:xfrm>
            <a:off x="6821280" y="1828800"/>
            <a:ext cx="1919520" cy="803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5800" b="1" strike="noStrike" spc="-1">
                <a:solidFill>
                  <a:srgbClr val="1A4A2E"/>
                </a:solidFill>
                <a:latin typeface="Arial"/>
                <a:ea typeface="Arial"/>
              </a:rPr>
              <a:t>R</a:t>
            </a:r>
            <a:endParaRPr lang="en-US" sz="5800" b="0" strike="noStrike" spc="-1">
              <a:solidFill>
                <a:srgbClr val="000000"/>
              </a:solidFill>
              <a:latin typeface="Arial"/>
            </a:endParaRPr>
          </a:p>
        </p:txBody>
      </p:sp>
      <p:sp>
        <p:nvSpPr>
          <p:cNvPr id="375" name="Text 18"/>
          <p:cNvSpPr/>
          <p:nvPr/>
        </p:nvSpPr>
        <p:spPr>
          <a:xfrm>
            <a:off x="6821280" y="2633400"/>
            <a:ext cx="1919520" cy="346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strike="noStrike" spc="-1">
                <a:solidFill>
                  <a:srgbClr val="0D2B1A"/>
                </a:solidFill>
                <a:latin typeface="Arial"/>
                <a:ea typeface="Arial"/>
              </a:rPr>
              <a:t>Reusable</a:t>
            </a:r>
            <a:endParaRPr lang="en-US" sz="1400" b="0" strike="noStrike" spc="-1">
              <a:solidFill>
                <a:srgbClr val="000000"/>
              </a:solidFill>
              <a:latin typeface="Arial"/>
            </a:endParaRPr>
          </a:p>
        </p:txBody>
      </p:sp>
      <p:sp>
        <p:nvSpPr>
          <p:cNvPr id="376" name="Text 19"/>
          <p:cNvSpPr/>
          <p:nvPr/>
        </p:nvSpPr>
        <p:spPr>
          <a:xfrm>
            <a:off x="6867000" y="2999160"/>
            <a:ext cx="1828080" cy="1005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50" b="0" strike="noStrike" spc="-1">
                <a:solidFill>
                  <a:srgbClr val="0D2B1A"/>
                </a:solidFill>
                <a:latin typeface="Arial"/>
                <a:ea typeface="Arial"/>
              </a:rPr>
              <a:t>Data meets community standards with clear provenance, licensing, and domain-relevant attributes.</a:t>
            </a:r>
            <a:endParaRPr lang="en-US" sz="1050" b="0" strike="noStrike" spc="-1">
              <a:solidFill>
                <a:srgbClr val="000000"/>
              </a:solidFill>
              <a:latin typeface="Arial"/>
            </a:endParaRPr>
          </a:p>
        </p:txBody>
      </p:sp>
      <p:sp>
        <p:nvSpPr>
          <p:cNvPr id="377" name="Shape 20"/>
          <p:cNvSpPr/>
          <p:nvPr/>
        </p:nvSpPr>
        <p:spPr>
          <a:xfrm>
            <a:off x="365760" y="4087440"/>
            <a:ext cx="456480" cy="456480"/>
          </a:xfrm>
          <a:solidFill>
            <a:srgbClr val="1A4A2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FFFFFF"/>
              </a:solidFill>
              <a:latin typeface="Arial"/>
            </a:endParaRPr>
          </a:p>
        </p:txBody>
      </p:sp>
      <p:pic>
        <p:nvPicPr>
          <p:cNvPr id="378" name="Image 0" descr="preencoded.png"/>
          <p:cNvPicPr/>
          <p:nvPr/>
        </p:nvPicPr>
        <p:blipFill>
          <a:blip r:embed="rId3"/>
          <a:stretch/>
        </p:blipFill>
        <p:spPr>
          <a:xfrm>
            <a:off x="445680" y="4167360"/>
            <a:ext cx="296640" cy="296640"/>
          </a:xfrm>
          <a:prstGeom prst="rect">
            <a:avLst/>
          </a:prstGeom>
          <a:ln w="0">
            <a:noFill/>
          </a:ln>
        </p:spPr>
      </p:pic>
      <p:sp>
        <p:nvSpPr>
          <p:cNvPr id="379" name="Text 21"/>
          <p:cNvSpPr/>
          <p:nvPr/>
        </p:nvSpPr>
        <p:spPr>
          <a:xfrm>
            <a:off x="932760" y="4224600"/>
            <a:ext cx="1416600" cy="365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1" strike="noStrike" spc="-1">
                <a:solidFill>
                  <a:srgbClr val="1A4A2E"/>
                </a:solidFill>
                <a:latin typeface="Arial"/>
                <a:ea typeface="Arial"/>
              </a:rPr>
              <a:t>Who owns the data?</a:t>
            </a:r>
            <a:endParaRPr lang="en-US" sz="1100" b="0" strike="noStrike" spc="-1">
              <a:solidFill>
                <a:srgbClr val="000000"/>
              </a:solidFill>
              <a:latin typeface="Arial"/>
            </a:endParaRPr>
          </a:p>
        </p:txBody>
      </p:sp>
      <p:sp>
        <p:nvSpPr>
          <p:cNvPr id="380" name="Shape 22"/>
          <p:cNvSpPr/>
          <p:nvPr/>
        </p:nvSpPr>
        <p:spPr>
          <a:xfrm>
            <a:off x="2532960" y="4087440"/>
            <a:ext cx="456480" cy="456480"/>
          </a:xfrm>
          <a:solidFill>
            <a:srgbClr val="1A4A2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FFFFFF"/>
              </a:solidFill>
              <a:latin typeface="Arial"/>
            </a:endParaRPr>
          </a:p>
        </p:txBody>
      </p:sp>
      <p:pic>
        <p:nvPicPr>
          <p:cNvPr id="381" name="Image 1" descr="preencoded.png"/>
          <p:cNvPicPr/>
          <p:nvPr/>
        </p:nvPicPr>
        <p:blipFill>
          <a:blip r:embed="rId4"/>
          <a:stretch/>
        </p:blipFill>
        <p:spPr>
          <a:xfrm>
            <a:off x="2612880" y="4167360"/>
            <a:ext cx="296640" cy="296640"/>
          </a:xfrm>
          <a:prstGeom prst="rect">
            <a:avLst/>
          </a:prstGeom>
          <a:ln w="0">
            <a:noFill/>
          </a:ln>
        </p:spPr>
      </p:pic>
      <p:sp>
        <p:nvSpPr>
          <p:cNvPr id="382" name="Text 23"/>
          <p:cNvSpPr/>
          <p:nvPr/>
        </p:nvSpPr>
        <p:spPr>
          <a:xfrm>
            <a:off x="3099960" y="4224600"/>
            <a:ext cx="1416600" cy="365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1" strike="noStrike" spc="-1">
                <a:solidFill>
                  <a:srgbClr val="1A4A2E"/>
                </a:solidFill>
                <a:latin typeface="Arial"/>
                <a:ea typeface="Arial"/>
              </a:rPr>
              <a:t>Who controls the data?</a:t>
            </a:r>
            <a:endParaRPr lang="en-US" sz="1100" b="0" strike="noStrike" spc="-1">
              <a:solidFill>
                <a:srgbClr val="000000"/>
              </a:solidFill>
              <a:latin typeface="Arial"/>
            </a:endParaRPr>
          </a:p>
        </p:txBody>
      </p:sp>
      <p:sp>
        <p:nvSpPr>
          <p:cNvPr id="383" name="Shape 24"/>
          <p:cNvSpPr/>
          <p:nvPr/>
        </p:nvSpPr>
        <p:spPr>
          <a:xfrm>
            <a:off x="4700160" y="4087440"/>
            <a:ext cx="456480" cy="456480"/>
          </a:xfrm>
          <a:solidFill>
            <a:srgbClr val="1A4A2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FFFFFF"/>
              </a:solidFill>
              <a:latin typeface="Arial"/>
            </a:endParaRPr>
          </a:p>
        </p:txBody>
      </p:sp>
      <p:pic>
        <p:nvPicPr>
          <p:cNvPr id="384" name="Image 2" descr="preencoded.png"/>
          <p:cNvPicPr/>
          <p:nvPr/>
        </p:nvPicPr>
        <p:blipFill>
          <a:blip r:embed="rId5"/>
          <a:stretch/>
        </p:blipFill>
        <p:spPr>
          <a:xfrm>
            <a:off x="4780080" y="4167360"/>
            <a:ext cx="296640" cy="296640"/>
          </a:xfrm>
          <a:prstGeom prst="rect">
            <a:avLst/>
          </a:prstGeom>
          <a:ln w="0">
            <a:noFill/>
          </a:ln>
        </p:spPr>
      </p:pic>
      <p:sp>
        <p:nvSpPr>
          <p:cNvPr id="385" name="Text 25"/>
          <p:cNvSpPr/>
          <p:nvPr/>
        </p:nvSpPr>
        <p:spPr>
          <a:xfrm>
            <a:off x="5266800" y="4224600"/>
            <a:ext cx="1416600" cy="365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1" strike="noStrike" spc="-1">
                <a:solidFill>
                  <a:srgbClr val="1A4A2E"/>
                </a:solidFill>
                <a:latin typeface="Arial"/>
                <a:ea typeface="Arial"/>
              </a:rPr>
              <a:t>Who benefits from the data?</a:t>
            </a:r>
            <a:endParaRPr lang="en-US" sz="1100" b="0" strike="noStrike" spc="-1">
              <a:solidFill>
                <a:srgbClr val="000000"/>
              </a:solidFill>
              <a:latin typeface="Arial"/>
            </a:endParaRPr>
          </a:p>
        </p:txBody>
      </p:sp>
      <p:sp>
        <p:nvSpPr>
          <p:cNvPr id="386" name="Shape 26"/>
          <p:cNvSpPr/>
          <p:nvPr/>
        </p:nvSpPr>
        <p:spPr>
          <a:xfrm>
            <a:off x="6867000" y="4087440"/>
            <a:ext cx="456480" cy="456480"/>
          </a:xfrm>
          <a:solidFill>
            <a:srgbClr val="1A4A2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FFFFFF"/>
              </a:solidFill>
              <a:latin typeface="Arial"/>
            </a:endParaRPr>
          </a:p>
        </p:txBody>
      </p:sp>
      <p:pic>
        <p:nvPicPr>
          <p:cNvPr id="387" name="Image 3" descr="preencoded.png"/>
          <p:cNvPicPr/>
          <p:nvPr/>
        </p:nvPicPr>
        <p:blipFill>
          <a:blip r:embed="rId6"/>
          <a:stretch/>
        </p:blipFill>
        <p:spPr>
          <a:xfrm>
            <a:off x="6947280" y="4167360"/>
            <a:ext cx="296640" cy="296640"/>
          </a:xfrm>
          <a:prstGeom prst="rect">
            <a:avLst/>
          </a:prstGeom>
          <a:ln w="0">
            <a:noFill/>
          </a:ln>
        </p:spPr>
      </p:pic>
      <p:sp>
        <p:nvSpPr>
          <p:cNvPr id="388" name="Text 27"/>
          <p:cNvSpPr/>
          <p:nvPr/>
        </p:nvSpPr>
        <p:spPr>
          <a:xfrm>
            <a:off x="7434000" y="4224600"/>
            <a:ext cx="1416600" cy="365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1" strike="noStrike" spc="-1">
                <a:solidFill>
                  <a:srgbClr val="1A4A2E"/>
                </a:solidFill>
                <a:latin typeface="Arial"/>
                <a:ea typeface="Arial"/>
              </a:rPr>
              <a:t>Who is accountable for it?</a:t>
            </a:r>
            <a:endParaRPr lang="en-US" sz="1100" b="0" strike="noStrike" spc="-1">
              <a:solidFill>
                <a:srgbClr val="000000"/>
              </a:solidFill>
              <a:latin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0F7F1"/>
        </a:solidFill>
        <a:effectLst/>
      </p:bgPr>
    </p:bg>
    <p:spTree>
      <p:nvGrpSpPr>
        <p:cNvPr id="1" name=""/>
        <p:cNvGrpSpPr/>
        <p:nvPr/>
      </p:nvGrpSpPr>
      <p:grpSpPr>
        <a:xfrm>
          <a:off x="0" y="0"/>
          <a:ext cx="0" cy="0"/>
          <a:chOff x="0" y="0"/>
          <a:chExt cx="0" cy="0"/>
        </a:xfrm>
      </p:grpSpPr>
      <p:sp>
        <p:nvSpPr>
          <p:cNvPr id="389" name="Shape 0"/>
          <p:cNvSpPr/>
          <p:nvPr/>
        </p:nvSpPr>
        <p:spPr>
          <a:xfrm>
            <a:off x="0" y="0"/>
            <a:ext cx="9143280" cy="685080"/>
          </a:xfrm>
          <a:prstGeom prst="rect">
            <a:avLst/>
          </a:prstGeom>
          <a:solidFill>
            <a:srgbClr val="1A4A2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FFFFFF"/>
              </a:solidFill>
              <a:latin typeface="Arial"/>
            </a:endParaRPr>
          </a:p>
        </p:txBody>
      </p:sp>
      <p:sp>
        <p:nvSpPr>
          <p:cNvPr id="390" name="Text 1"/>
          <p:cNvSpPr/>
          <p:nvPr/>
        </p:nvSpPr>
        <p:spPr>
          <a:xfrm>
            <a:off x="365760" y="36720"/>
            <a:ext cx="8411760" cy="621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800" b="1" strike="noStrike" spc="-1">
                <a:solidFill>
                  <a:srgbClr val="FFFFFF"/>
                </a:solidFill>
                <a:latin typeface="Arial"/>
                <a:ea typeface="Arial"/>
              </a:rPr>
              <a:t>Five Ethical Questions Nigeria Must Answer</a:t>
            </a:r>
            <a:endParaRPr lang="en-US" sz="2800" b="0" strike="noStrike" spc="-1">
              <a:solidFill>
                <a:srgbClr val="000000"/>
              </a:solidFill>
              <a:latin typeface="Arial"/>
            </a:endParaRPr>
          </a:p>
        </p:txBody>
      </p:sp>
      <p:sp>
        <p:nvSpPr>
          <p:cNvPr id="391" name="Text 2"/>
          <p:cNvSpPr/>
          <p:nvPr/>
        </p:nvSpPr>
        <p:spPr>
          <a:xfrm>
            <a:off x="365760" y="777240"/>
            <a:ext cx="8228880" cy="319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0" i="1" strike="noStrike" spc="-1">
                <a:solidFill>
                  <a:srgbClr val="D4A017"/>
                </a:solidFill>
                <a:latin typeface="Arial"/>
                <a:ea typeface="Arial"/>
              </a:rPr>
              <a:t>Grounded in Ubuntu · Omoluabi · FAIR Data · Constitutional Rights</a:t>
            </a:r>
            <a:endParaRPr lang="en-US" sz="1300" b="0" strike="noStrike" spc="-1">
              <a:solidFill>
                <a:srgbClr val="000000"/>
              </a:solidFill>
              <a:latin typeface="Arial"/>
            </a:endParaRPr>
          </a:p>
        </p:txBody>
      </p:sp>
      <p:sp>
        <p:nvSpPr>
          <p:cNvPr id="392" name="Shape 3"/>
          <p:cNvSpPr/>
          <p:nvPr/>
        </p:nvSpPr>
        <p:spPr>
          <a:xfrm>
            <a:off x="274320" y="960120"/>
            <a:ext cx="8594640" cy="749160"/>
          </a:xfrm>
          <a:prstGeom prst="roundRect">
            <a:avLst>
              <a:gd name="adj" fmla="val 12195"/>
            </a:avLst>
          </a:prstGeom>
          <a:solidFill>
            <a:srgbClr val="E8F5E9"/>
          </a:solidFill>
          <a:ln w="0">
            <a:noFill/>
          </a:ln>
          <a:effectLst>
            <a:outerShdw blurRad="76320" dist="25455" dir="2700000" algn="bl" rotWithShape="0">
              <a:srgbClr val="000000">
                <a:alpha val="1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000000"/>
              </a:solidFill>
              <a:latin typeface="Arial"/>
            </a:endParaRPr>
          </a:p>
        </p:txBody>
      </p:sp>
      <p:sp>
        <p:nvSpPr>
          <p:cNvPr id="393" name="Shape 4"/>
          <p:cNvSpPr/>
          <p:nvPr/>
        </p:nvSpPr>
        <p:spPr>
          <a:xfrm>
            <a:off x="347400" y="1106280"/>
            <a:ext cx="474840" cy="474840"/>
          </a:xfrm>
          <a:solidFill>
            <a:srgbClr val="1A4A2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FFFFFF"/>
              </a:solidFill>
              <a:latin typeface="Arial"/>
            </a:endParaRPr>
          </a:p>
        </p:txBody>
      </p:sp>
      <p:sp>
        <p:nvSpPr>
          <p:cNvPr id="394" name="Text 5"/>
          <p:cNvSpPr/>
          <p:nvPr/>
        </p:nvSpPr>
        <p:spPr>
          <a:xfrm>
            <a:off x="347400" y="1106280"/>
            <a:ext cx="474840" cy="474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500" b="1" strike="noStrike" spc="-1">
                <a:solidFill>
                  <a:srgbClr val="D4A017"/>
                </a:solidFill>
                <a:latin typeface="Arial"/>
                <a:ea typeface="Arial"/>
              </a:rPr>
              <a:t>01</a:t>
            </a:r>
            <a:endParaRPr lang="en-US" sz="1500" b="0" strike="noStrike" spc="-1">
              <a:solidFill>
                <a:srgbClr val="000000"/>
              </a:solidFill>
              <a:latin typeface="Arial"/>
            </a:endParaRPr>
          </a:p>
        </p:txBody>
      </p:sp>
      <p:sp>
        <p:nvSpPr>
          <p:cNvPr id="395" name="Text 6"/>
          <p:cNvSpPr/>
          <p:nvPr/>
        </p:nvSpPr>
        <p:spPr>
          <a:xfrm>
            <a:off x="960120" y="1014840"/>
            <a:ext cx="3291120" cy="346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50" b="1" strike="noStrike" spc="-1">
                <a:solidFill>
                  <a:srgbClr val="1A4A2E"/>
                </a:solidFill>
                <a:latin typeface="Arial"/>
                <a:ea typeface="Arial"/>
              </a:rPr>
              <a:t>Who is accountable for AI decisions?</a:t>
            </a:r>
            <a:endParaRPr lang="en-US" sz="1350" b="0" strike="noStrike" spc="-1">
              <a:solidFill>
                <a:srgbClr val="000000"/>
              </a:solidFill>
              <a:latin typeface="Arial"/>
            </a:endParaRPr>
          </a:p>
        </p:txBody>
      </p:sp>
      <p:sp>
        <p:nvSpPr>
          <p:cNvPr id="396" name="Text 7"/>
          <p:cNvSpPr/>
          <p:nvPr/>
        </p:nvSpPr>
        <p:spPr>
          <a:xfrm>
            <a:off x="4389120" y="1014840"/>
            <a:ext cx="4370040" cy="621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50" b="0" strike="noStrike" spc="-1">
                <a:solidFill>
                  <a:srgbClr val="0D2B1A"/>
                </a:solidFill>
                <a:latin typeface="Arial"/>
                <a:ea typeface="Arial"/>
              </a:rPr>
              <a:t>Algorithms must have named human accountability. NDPA 2023 begins this — enforcement and judicial interpretation are the next frontier.</a:t>
            </a:r>
            <a:endParaRPr lang="en-US" sz="1150" b="0" strike="noStrike" spc="-1">
              <a:solidFill>
                <a:srgbClr val="000000"/>
              </a:solidFill>
              <a:latin typeface="Arial"/>
            </a:endParaRPr>
          </a:p>
        </p:txBody>
      </p:sp>
      <p:sp>
        <p:nvSpPr>
          <p:cNvPr id="397" name="Shape 8"/>
          <p:cNvSpPr/>
          <p:nvPr/>
        </p:nvSpPr>
        <p:spPr>
          <a:xfrm>
            <a:off x="274320" y="1792080"/>
            <a:ext cx="8594640" cy="749160"/>
          </a:xfrm>
          <a:prstGeom prst="roundRect">
            <a:avLst>
              <a:gd name="adj" fmla="val 12195"/>
            </a:avLst>
          </a:prstGeom>
          <a:solidFill>
            <a:srgbClr val="E8F5E9"/>
          </a:solidFill>
          <a:ln w="0">
            <a:noFill/>
          </a:ln>
          <a:effectLst>
            <a:outerShdw blurRad="76320" dist="25455" dir="2700000" algn="bl" rotWithShape="0">
              <a:srgbClr val="000000">
                <a:alpha val="1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000000"/>
              </a:solidFill>
              <a:latin typeface="Arial"/>
            </a:endParaRPr>
          </a:p>
        </p:txBody>
      </p:sp>
      <p:sp>
        <p:nvSpPr>
          <p:cNvPr id="398" name="Shape 9"/>
          <p:cNvSpPr/>
          <p:nvPr/>
        </p:nvSpPr>
        <p:spPr>
          <a:xfrm>
            <a:off x="347400" y="1938600"/>
            <a:ext cx="474840" cy="474840"/>
          </a:xfrm>
          <a:solidFill>
            <a:srgbClr val="1A4A2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FFFFFF"/>
              </a:solidFill>
              <a:latin typeface="Arial"/>
            </a:endParaRPr>
          </a:p>
        </p:txBody>
      </p:sp>
      <p:sp>
        <p:nvSpPr>
          <p:cNvPr id="399" name="Text 10"/>
          <p:cNvSpPr/>
          <p:nvPr/>
        </p:nvSpPr>
        <p:spPr>
          <a:xfrm>
            <a:off x="347400" y="1938600"/>
            <a:ext cx="474840" cy="474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500" b="1" strike="noStrike" spc="-1">
                <a:solidFill>
                  <a:srgbClr val="D4A017"/>
                </a:solidFill>
                <a:latin typeface="Arial"/>
                <a:ea typeface="Arial"/>
              </a:rPr>
              <a:t>02</a:t>
            </a:r>
            <a:endParaRPr lang="en-US" sz="1500" b="0" strike="noStrike" spc="-1">
              <a:solidFill>
                <a:srgbClr val="000000"/>
              </a:solidFill>
              <a:latin typeface="Arial"/>
            </a:endParaRPr>
          </a:p>
        </p:txBody>
      </p:sp>
      <p:sp>
        <p:nvSpPr>
          <p:cNvPr id="400" name="Text 11"/>
          <p:cNvSpPr/>
          <p:nvPr/>
        </p:nvSpPr>
        <p:spPr>
          <a:xfrm>
            <a:off x="960120" y="1847160"/>
            <a:ext cx="3291120" cy="346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50" b="1" strike="noStrike" spc="-1">
                <a:solidFill>
                  <a:srgbClr val="1A4A2E"/>
                </a:solidFill>
                <a:latin typeface="Arial"/>
                <a:ea typeface="Arial"/>
              </a:rPr>
              <a:t>How do we prevent bias?</a:t>
            </a:r>
            <a:endParaRPr lang="en-US" sz="1350" b="0" strike="noStrike" spc="-1">
              <a:solidFill>
                <a:srgbClr val="000000"/>
              </a:solidFill>
              <a:latin typeface="Arial"/>
            </a:endParaRPr>
          </a:p>
        </p:txBody>
      </p:sp>
      <p:sp>
        <p:nvSpPr>
          <p:cNvPr id="401" name="Text 12"/>
          <p:cNvSpPr/>
          <p:nvPr/>
        </p:nvSpPr>
        <p:spPr>
          <a:xfrm>
            <a:off x="4389120" y="1847160"/>
            <a:ext cx="4370040" cy="621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50" b="0" strike="noStrike" spc="-1">
                <a:solidFill>
                  <a:srgbClr val="0D2B1A"/>
                </a:solidFill>
                <a:latin typeface="Arial"/>
                <a:ea typeface="Arial"/>
              </a:rPr>
              <a:t>Mandatory demographic audits before any public AI deployment. FAIR datasets in all major Nigerian languages. Independent technical review bodies.</a:t>
            </a:r>
            <a:endParaRPr lang="en-US" sz="1150" b="0" strike="noStrike" spc="-1">
              <a:solidFill>
                <a:srgbClr val="000000"/>
              </a:solidFill>
              <a:latin typeface="Arial"/>
            </a:endParaRPr>
          </a:p>
        </p:txBody>
      </p:sp>
      <p:sp>
        <p:nvSpPr>
          <p:cNvPr id="402" name="Shape 13"/>
          <p:cNvSpPr/>
          <p:nvPr/>
        </p:nvSpPr>
        <p:spPr>
          <a:xfrm>
            <a:off x="274320" y="2624400"/>
            <a:ext cx="8594640" cy="749160"/>
          </a:xfrm>
          <a:prstGeom prst="roundRect">
            <a:avLst>
              <a:gd name="adj" fmla="val 12195"/>
            </a:avLst>
          </a:prstGeom>
          <a:solidFill>
            <a:srgbClr val="E8F5E9"/>
          </a:solidFill>
          <a:ln w="0">
            <a:noFill/>
          </a:ln>
          <a:effectLst>
            <a:outerShdw blurRad="76320" dist="25455" dir="2700000" algn="bl" rotWithShape="0">
              <a:srgbClr val="000000">
                <a:alpha val="1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000000"/>
              </a:solidFill>
              <a:latin typeface="Arial"/>
            </a:endParaRPr>
          </a:p>
        </p:txBody>
      </p:sp>
      <p:sp>
        <p:nvSpPr>
          <p:cNvPr id="403" name="Shape 14"/>
          <p:cNvSpPr/>
          <p:nvPr/>
        </p:nvSpPr>
        <p:spPr>
          <a:xfrm>
            <a:off x="347400" y="2770560"/>
            <a:ext cx="474840" cy="474840"/>
          </a:xfrm>
          <a:solidFill>
            <a:srgbClr val="1A4A2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FFFFFF"/>
              </a:solidFill>
              <a:latin typeface="Arial"/>
            </a:endParaRPr>
          </a:p>
        </p:txBody>
      </p:sp>
      <p:sp>
        <p:nvSpPr>
          <p:cNvPr id="404" name="Text 15"/>
          <p:cNvSpPr/>
          <p:nvPr/>
        </p:nvSpPr>
        <p:spPr>
          <a:xfrm>
            <a:off x="347400" y="2770560"/>
            <a:ext cx="474840" cy="474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500" b="1" strike="noStrike" spc="-1">
                <a:solidFill>
                  <a:srgbClr val="D4A017"/>
                </a:solidFill>
                <a:latin typeface="Arial"/>
                <a:ea typeface="Arial"/>
              </a:rPr>
              <a:t>03</a:t>
            </a:r>
            <a:endParaRPr lang="en-US" sz="1500" b="0" strike="noStrike" spc="-1">
              <a:solidFill>
                <a:srgbClr val="000000"/>
              </a:solidFill>
              <a:latin typeface="Arial"/>
            </a:endParaRPr>
          </a:p>
        </p:txBody>
      </p:sp>
      <p:sp>
        <p:nvSpPr>
          <p:cNvPr id="405" name="Text 16"/>
          <p:cNvSpPr/>
          <p:nvPr/>
        </p:nvSpPr>
        <p:spPr>
          <a:xfrm>
            <a:off x="960120" y="2679120"/>
            <a:ext cx="3291120" cy="346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50" b="1" strike="noStrike" spc="-1">
                <a:solidFill>
                  <a:srgbClr val="1A4A2E"/>
                </a:solidFill>
                <a:latin typeface="Arial"/>
                <a:ea typeface="Arial"/>
              </a:rPr>
              <a:t>How do we protect privacy?</a:t>
            </a:r>
            <a:endParaRPr lang="en-US" sz="1350" b="0" strike="noStrike" spc="-1">
              <a:solidFill>
                <a:srgbClr val="000000"/>
              </a:solidFill>
              <a:latin typeface="Arial"/>
            </a:endParaRPr>
          </a:p>
        </p:txBody>
      </p:sp>
      <p:sp>
        <p:nvSpPr>
          <p:cNvPr id="406" name="Text 17"/>
          <p:cNvSpPr/>
          <p:nvPr/>
        </p:nvSpPr>
        <p:spPr>
          <a:xfrm>
            <a:off x="4389120" y="2679120"/>
            <a:ext cx="4370040" cy="621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50" b="0" strike="noStrike" spc="-1">
                <a:solidFill>
                  <a:srgbClr val="0D2B1A"/>
                </a:solidFill>
                <a:latin typeface="Arial"/>
                <a:ea typeface="Arial"/>
              </a:rPr>
              <a:t>Data minimisation, purpose limitation, and federated learning architectures that process citizen data locally — not in foreign data centres.</a:t>
            </a:r>
            <a:endParaRPr lang="en-US" sz="1150" b="0" strike="noStrike" spc="-1">
              <a:solidFill>
                <a:srgbClr val="000000"/>
              </a:solidFill>
              <a:latin typeface="Arial"/>
            </a:endParaRPr>
          </a:p>
        </p:txBody>
      </p:sp>
      <p:sp>
        <p:nvSpPr>
          <p:cNvPr id="407" name="Shape 18"/>
          <p:cNvSpPr/>
          <p:nvPr/>
        </p:nvSpPr>
        <p:spPr>
          <a:xfrm>
            <a:off x="274320" y="3456360"/>
            <a:ext cx="8594640" cy="749160"/>
          </a:xfrm>
          <a:prstGeom prst="roundRect">
            <a:avLst>
              <a:gd name="adj" fmla="val 12195"/>
            </a:avLst>
          </a:prstGeom>
          <a:solidFill>
            <a:srgbClr val="E8F5E9"/>
          </a:solidFill>
          <a:ln w="0">
            <a:noFill/>
          </a:ln>
          <a:effectLst>
            <a:outerShdw blurRad="76320" dist="25455" dir="2700000" algn="bl" rotWithShape="0">
              <a:srgbClr val="000000">
                <a:alpha val="1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000000"/>
              </a:solidFill>
              <a:latin typeface="Arial"/>
            </a:endParaRPr>
          </a:p>
        </p:txBody>
      </p:sp>
      <p:sp>
        <p:nvSpPr>
          <p:cNvPr id="408" name="Shape 19"/>
          <p:cNvSpPr/>
          <p:nvPr/>
        </p:nvSpPr>
        <p:spPr>
          <a:xfrm>
            <a:off x="347400" y="3602880"/>
            <a:ext cx="474840" cy="474840"/>
          </a:xfrm>
          <a:solidFill>
            <a:srgbClr val="1A4A2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FFFFFF"/>
              </a:solidFill>
              <a:latin typeface="Arial"/>
            </a:endParaRPr>
          </a:p>
        </p:txBody>
      </p:sp>
      <p:sp>
        <p:nvSpPr>
          <p:cNvPr id="409" name="Text 20"/>
          <p:cNvSpPr/>
          <p:nvPr/>
        </p:nvSpPr>
        <p:spPr>
          <a:xfrm>
            <a:off x="347400" y="3602880"/>
            <a:ext cx="474840" cy="474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500" b="1" strike="noStrike" spc="-1">
                <a:solidFill>
                  <a:srgbClr val="D4A017"/>
                </a:solidFill>
                <a:latin typeface="Arial"/>
                <a:ea typeface="Arial"/>
              </a:rPr>
              <a:t>04</a:t>
            </a:r>
            <a:endParaRPr lang="en-US" sz="1500" b="0" strike="noStrike" spc="-1">
              <a:solidFill>
                <a:srgbClr val="000000"/>
              </a:solidFill>
              <a:latin typeface="Arial"/>
            </a:endParaRPr>
          </a:p>
        </p:txBody>
      </p:sp>
      <p:sp>
        <p:nvSpPr>
          <p:cNvPr id="410" name="Text 21"/>
          <p:cNvSpPr/>
          <p:nvPr/>
        </p:nvSpPr>
        <p:spPr>
          <a:xfrm>
            <a:off x="960120" y="3511440"/>
            <a:ext cx="3291120" cy="346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50" b="1" strike="noStrike" spc="-1">
                <a:solidFill>
                  <a:srgbClr val="1A4A2E"/>
                </a:solidFill>
                <a:latin typeface="Arial"/>
                <a:ea typeface="Arial"/>
              </a:rPr>
              <a:t>How do we ensure transparency?</a:t>
            </a:r>
            <a:endParaRPr lang="en-US" sz="1350" b="0" strike="noStrike" spc="-1">
              <a:solidFill>
                <a:srgbClr val="000000"/>
              </a:solidFill>
              <a:latin typeface="Arial"/>
            </a:endParaRPr>
          </a:p>
        </p:txBody>
      </p:sp>
      <p:sp>
        <p:nvSpPr>
          <p:cNvPr id="411" name="Text 22"/>
          <p:cNvSpPr/>
          <p:nvPr/>
        </p:nvSpPr>
        <p:spPr>
          <a:xfrm>
            <a:off x="4389120" y="3511440"/>
            <a:ext cx="4370040" cy="621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50" b="0" strike="noStrike" spc="-1">
                <a:solidFill>
                  <a:srgbClr val="0D2B1A"/>
                </a:solidFill>
                <a:latin typeface="Arial"/>
                <a:ea typeface="Arial"/>
              </a:rPr>
              <a:t>Public AI systems must publish performance metrics, training data sources, and demographic disaggregation. Open-source preferred for civic AI.</a:t>
            </a:r>
            <a:endParaRPr lang="en-US" sz="1150" b="0" strike="noStrike" spc="-1">
              <a:solidFill>
                <a:srgbClr val="000000"/>
              </a:solidFill>
              <a:latin typeface="Arial"/>
            </a:endParaRPr>
          </a:p>
        </p:txBody>
      </p:sp>
      <p:sp>
        <p:nvSpPr>
          <p:cNvPr id="412" name="Shape 23"/>
          <p:cNvSpPr/>
          <p:nvPr/>
        </p:nvSpPr>
        <p:spPr>
          <a:xfrm>
            <a:off x="274320" y="4288680"/>
            <a:ext cx="8594640" cy="749160"/>
          </a:xfrm>
          <a:prstGeom prst="roundRect">
            <a:avLst>
              <a:gd name="adj" fmla="val 12195"/>
            </a:avLst>
          </a:prstGeom>
          <a:solidFill>
            <a:srgbClr val="E8F5E9"/>
          </a:solidFill>
          <a:ln w="0">
            <a:noFill/>
          </a:ln>
          <a:effectLst>
            <a:outerShdw blurRad="76320" dist="25455" dir="2700000" algn="bl" rotWithShape="0">
              <a:srgbClr val="000000">
                <a:alpha val="1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000000"/>
              </a:solidFill>
              <a:latin typeface="Arial"/>
            </a:endParaRPr>
          </a:p>
        </p:txBody>
      </p:sp>
      <p:sp>
        <p:nvSpPr>
          <p:cNvPr id="413" name="Shape 24"/>
          <p:cNvSpPr/>
          <p:nvPr/>
        </p:nvSpPr>
        <p:spPr>
          <a:xfrm>
            <a:off x="347400" y="4434840"/>
            <a:ext cx="474840" cy="474840"/>
          </a:xfrm>
          <a:solidFill>
            <a:srgbClr val="1A4A2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FFFFFF"/>
              </a:solidFill>
              <a:latin typeface="Arial"/>
            </a:endParaRPr>
          </a:p>
        </p:txBody>
      </p:sp>
      <p:sp>
        <p:nvSpPr>
          <p:cNvPr id="414" name="Text 25"/>
          <p:cNvSpPr/>
          <p:nvPr/>
        </p:nvSpPr>
        <p:spPr>
          <a:xfrm>
            <a:off x="347400" y="4434840"/>
            <a:ext cx="474840" cy="474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500" b="1" strike="noStrike" spc="-1">
                <a:solidFill>
                  <a:srgbClr val="D4A017"/>
                </a:solidFill>
                <a:latin typeface="Arial"/>
                <a:ea typeface="Arial"/>
              </a:rPr>
              <a:t>05</a:t>
            </a:r>
            <a:endParaRPr lang="en-US" sz="1500" b="0" strike="noStrike" spc="-1">
              <a:solidFill>
                <a:srgbClr val="000000"/>
              </a:solidFill>
              <a:latin typeface="Arial"/>
            </a:endParaRPr>
          </a:p>
        </p:txBody>
      </p:sp>
      <p:sp>
        <p:nvSpPr>
          <p:cNvPr id="415" name="Text 26"/>
          <p:cNvSpPr/>
          <p:nvPr/>
        </p:nvSpPr>
        <p:spPr>
          <a:xfrm>
            <a:off x="960120" y="4343400"/>
            <a:ext cx="3291120" cy="346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50" b="1" strike="noStrike" spc="-1">
                <a:solidFill>
                  <a:srgbClr val="1A4A2E"/>
                </a:solidFill>
                <a:latin typeface="Arial"/>
                <a:ea typeface="Arial"/>
              </a:rPr>
              <a:t>How do we keep humans in control?</a:t>
            </a:r>
            <a:endParaRPr lang="en-US" sz="1350" b="0" strike="noStrike" spc="-1">
              <a:solidFill>
                <a:srgbClr val="000000"/>
              </a:solidFill>
              <a:latin typeface="Arial"/>
            </a:endParaRPr>
          </a:p>
        </p:txBody>
      </p:sp>
      <p:sp>
        <p:nvSpPr>
          <p:cNvPr id="416" name="Text 27"/>
          <p:cNvSpPr/>
          <p:nvPr/>
        </p:nvSpPr>
        <p:spPr>
          <a:xfrm>
            <a:off x="4389120" y="4343400"/>
            <a:ext cx="4370040" cy="621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50" b="0" strike="noStrike" spc="-1">
                <a:solidFill>
                  <a:srgbClr val="0D2B1A"/>
                </a:solidFill>
                <a:latin typeface="Arial"/>
                <a:ea typeface="Arial"/>
              </a:rPr>
              <a:t>Every high-stakes AI decision — in courts, elections, benefits — must have a human review pathway and a citizen appeals mechanism.</a:t>
            </a:r>
            <a:endParaRPr lang="en-US" sz="1150" b="0" strike="noStrike" spc="-1">
              <a:solidFill>
                <a:srgbClr val="000000"/>
              </a:solidFill>
              <a:latin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0F7F1"/>
        </a:solidFill>
        <a:effectLst/>
      </p:bgPr>
    </p:bg>
    <p:spTree>
      <p:nvGrpSpPr>
        <p:cNvPr id="1" name=""/>
        <p:cNvGrpSpPr/>
        <p:nvPr/>
      </p:nvGrpSpPr>
      <p:grpSpPr>
        <a:xfrm>
          <a:off x="0" y="0"/>
          <a:ext cx="0" cy="0"/>
          <a:chOff x="0" y="0"/>
          <a:chExt cx="0" cy="0"/>
        </a:xfrm>
      </p:grpSpPr>
      <p:sp>
        <p:nvSpPr>
          <p:cNvPr id="417" name="Shape 0"/>
          <p:cNvSpPr/>
          <p:nvPr/>
        </p:nvSpPr>
        <p:spPr>
          <a:xfrm>
            <a:off x="0" y="0"/>
            <a:ext cx="9143280" cy="685080"/>
          </a:xfrm>
          <a:prstGeom prst="rect">
            <a:avLst/>
          </a:prstGeom>
          <a:solidFill>
            <a:srgbClr val="1A4A2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FFFFFF"/>
              </a:solidFill>
              <a:latin typeface="Arial"/>
            </a:endParaRPr>
          </a:p>
        </p:txBody>
      </p:sp>
      <p:sp>
        <p:nvSpPr>
          <p:cNvPr id="418" name="Text 1"/>
          <p:cNvSpPr/>
          <p:nvPr/>
        </p:nvSpPr>
        <p:spPr>
          <a:xfrm>
            <a:off x="365760" y="36720"/>
            <a:ext cx="8411760" cy="621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800" b="1" strike="noStrike" spc="-1">
                <a:solidFill>
                  <a:srgbClr val="FFFFFF"/>
                </a:solidFill>
                <a:latin typeface="Arial"/>
                <a:ea typeface="Arial"/>
              </a:rPr>
              <a:t>The Role of You: Students, Researchers &amp; Academics</a:t>
            </a:r>
            <a:endParaRPr lang="en-US" sz="2800" b="0" strike="noStrike" spc="-1">
              <a:solidFill>
                <a:srgbClr val="000000"/>
              </a:solidFill>
              <a:latin typeface="Arial"/>
            </a:endParaRPr>
          </a:p>
        </p:txBody>
      </p:sp>
      <p:sp>
        <p:nvSpPr>
          <p:cNvPr id="419" name="Shape 2"/>
          <p:cNvSpPr/>
          <p:nvPr/>
        </p:nvSpPr>
        <p:spPr>
          <a:xfrm>
            <a:off x="274320" y="822960"/>
            <a:ext cx="2788200" cy="4159800"/>
          </a:xfrm>
          <a:prstGeom prst="roundRect">
            <a:avLst>
              <a:gd name="adj" fmla="val 3279"/>
            </a:avLst>
          </a:prstGeom>
          <a:solidFill>
            <a:srgbClr val="FFFFFF"/>
          </a:solidFill>
          <a:ln w="0">
            <a:noFill/>
          </a:ln>
          <a:effectLst>
            <a:outerShdw blurRad="76320" dist="25455" dir="2700000" algn="bl" rotWithShape="0">
              <a:srgbClr val="000000">
                <a:alpha val="1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000000"/>
              </a:solidFill>
              <a:latin typeface="Arial"/>
            </a:endParaRPr>
          </a:p>
        </p:txBody>
      </p:sp>
      <p:sp>
        <p:nvSpPr>
          <p:cNvPr id="420" name="Shape 3"/>
          <p:cNvSpPr/>
          <p:nvPr/>
        </p:nvSpPr>
        <p:spPr>
          <a:xfrm>
            <a:off x="347400" y="877680"/>
            <a:ext cx="2642040" cy="529560"/>
          </a:xfrm>
          <a:prstGeom prst="roundRect">
            <a:avLst>
              <a:gd name="adj" fmla="val 10345"/>
            </a:avLst>
          </a:prstGeom>
          <a:solidFill>
            <a:srgbClr val="E8F5E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000000"/>
              </a:solidFill>
              <a:latin typeface="Arial"/>
            </a:endParaRPr>
          </a:p>
        </p:txBody>
      </p:sp>
      <p:sp>
        <p:nvSpPr>
          <p:cNvPr id="421" name="Shape 4"/>
          <p:cNvSpPr/>
          <p:nvPr/>
        </p:nvSpPr>
        <p:spPr>
          <a:xfrm>
            <a:off x="402480" y="905400"/>
            <a:ext cx="401760" cy="401760"/>
          </a:xfrm>
          <a:solidFill>
            <a:srgbClr val="D4A017"/>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000000"/>
              </a:solidFill>
              <a:latin typeface="Arial"/>
            </a:endParaRPr>
          </a:p>
        </p:txBody>
      </p:sp>
      <p:pic>
        <p:nvPicPr>
          <p:cNvPr id="422" name="Image 0" descr="preencoded.png"/>
          <p:cNvPicPr/>
          <p:nvPr/>
        </p:nvPicPr>
        <p:blipFill>
          <a:blip r:embed="rId3"/>
          <a:stretch/>
        </p:blipFill>
        <p:spPr>
          <a:xfrm>
            <a:off x="475560" y="960120"/>
            <a:ext cx="255240" cy="255240"/>
          </a:xfrm>
          <a:prstGeom prst="rect">
            <a:avLst/>
          </a:prstGeom>
          <a:ln w="0">
            <a:noFill/>
          </a:ln>
        </p:spPr>
      </p:pic>
      <p:sp>
        <p:nvSpPr>
          <p:cNvPr id="423" name="Text 5"/>
          <p:cNvSpPr/>
          <p:nvPr/>
        </p:nvSpPr>
        <p:spPr>
          <a:xfrm>
            <a:off x="896040" y="932760"/>
            <a:ext cx="2084040" cy="365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50" b="1" strike="noStrike" spc="-1">
                <a:solidFill>
                  <a:srgbClr val="1A4A2E"/>
                </a:solidFill>
                <a:latin typeface="Arial"/>
                <a:ea typeface="Arial"/>
              </a:rPr>
              <a:t>Undergraduates</a:t>
            </a:r>
            <a:endParaRPr lang="en-US" sz="1250" b="0" strike="noStrike" spc="-1">
              <a:solidFill>
                <a:srgbClr val="000000"/>
              </a:solidFill>
              <a:latin typeface="Arial"/>
            </a:endParaRPr>
          </a:p>
        </p:txBody>
      </p:sp>
      <p:sp>
        <p:nvSpPr>
          <p:cNvPr id="424" name="Text 6"/>
          <p:cNvSpPr/>
          <p:nvPr/>
        </p:nvSpPr>
        <p:spPr>
          <a:xfrm>
            <a:off x="438840" y="1508760"/>
            <a:ext cx="2486520" cy="639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50" b="0" strike="noStrike" spc="-1">
                <a:solidFill>
                  <a:srgbClr val="0D2B1A"/>
                </a:solidFill>
                <a:latin typeface="Arial"/>
                <a:ea typeface="Arial"/>
              </a:rPr>
              <a:t>→  Learn AI ethics alongside model building — not just accuracy metrics</a:t>
            </a:r>
            <a:endParaRPr lang="en-US" sz="1150" b="0" strike="noStrike" spc="-1">
              <a:solidFill>
                <a:srgbClr val="000000"/>
              </a:solidFill>
              <a:latin typeface="Arial"/>
            </a:endParaRPr>
          </a:p>
        </p:txBody>
      </p:sp>
      <p:sp>
        <p:nvSpPr>
          <p:cNvPr id="425" name="Text 7"/>
          <p:cNvSpPr/>
          <p:nvPr/>
        </p:nvSpPr>
        <p:spPr>
          <a:xfrm>
            <a:off x="438840" y="2258640"/>
            <a:ext cx="2486520" cy="639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50" b="0" strike="noStrike" spc="-1">
                <a:solidFill>
                  <a:srgbClr val="0D2B1A"/>
                </a:solidFill>
                <a:latin typeface="Arial"/>
                <a:ea typeface="Arial"/>
              </a:rPr>
              <a:t>→  Use your final-year project to audit or build a civic AI tool</a:t>
            </a:r>
            <a:endParaRPr lang="en-US" sz="1150" b="0" strike="noStrike" spc="-1">
              <a:solidFill>
                <a:srgbClr val="000000"/>
              </a:solidFill>
              <a:latin typeface="Arial"/>
            </a:endParaRPr>
          </a:p>
        </p:txBody>
      </p:sp>
      <p:sp>
        <p:nvSpPr>
          <p:cNvPr id="426" name="Text 8"/>
          <p:cNvSpPr/>
          <p:nvPr/>
        </p:nvSpPr>
        <p:spPr>
          <a:xfrm>
            <a:off x="438840" y="3008520"/>
            <a:ext cx="2486520" cy="639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50" b="0" strike="noStrike" spc="-1">
                <a:solidFill>
                  <a:srgbClr val="0D2B1A"/>
                </a:solidFill>
                <a:latin typeface="Arial"/>
                <a:ea typeface="Arial"/>
              </a:rPr>
              <a:t>→  Join platforms like EiE Nigeria, BudgIT, Tracka as data volunteers</a:t>
            </a:r>
            <a:endParaRPr lang="en-US" sz="1150" b="0" strike="noStrike" spc="-1">
              <a:solidFill>
                <a:srgbClr val="000000"/>
              </a:solidFill>
              <a:latin typeface="Arial"/>
            </a:endParaRPr>
          </a:p>
        </p:txBody>
      </p:sp>
      <p:sp>
        <p:nvSpPr>
          <p:cNvPr id="427" name="Text 9"/>
          <p:cNvSpPr/>
          <p:nvPr/>
        </p:nvSpPr>
        <p:spPr>
          <a:xfrm>
            <a:off x="438840" y="3758040"/>
            <a:ext cx="2486520" cy="639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50" b="0" strike="noStrike" spc="-1">
                <a:solidFill>
                  <a:srgbClr val="0D2B1A"/>
                </a:solidFill>
                <a:latin typeface="Arial"/>
                <a:ea typeface="Arial"/>
              </a:rPr>
              <a:t>→  Ask of every system you build: whose interests does this serve?</a:t>
            </a:r>
            <a:endParaRPr lang="en-US" sz="1150" b="0" strike="noStrike" spc="-1">
              <a:solidFill>
                <a:srgbClr val="000000"/>
              </a:solidFill>
              <a:latin typeface="Arial"/>
            </a:endParaRPr>
          </a:p>
        </p:txBody>
      </p:sp>
      <p:sp>
        <p:nvSpPr>
          <p:cNvPr id="428" name="Shape 10"/>
          <p:cNvSpPr/>
          <p:nvPr/>
        </p:nvSpPr>
        <p:spPr>
          <a:xfrm>
            <a:off x="3218760" y="822960"/>
            <a:ext cx="2788200" cy="4159800"/>
          </a:xfrm>
          <a:prstGeom prst="roundRect">
            <a:avLst>
              <a:gd name="adj" fmla="val 3279"/>
            </a:avLst>
          </a:prstGeom>
          <a:solidFill>
            <a:srgbClr val="1A4A2E"/>
          </a:solidFill>
          <a:ln w="0">
            <a:noFill/>
          </a:ln>
          <a:effectLst>
            <a:outerShdw blurRad="76320" dist="25455" dir="2700000" algn="bl" rotWithShape="0">
              <a:srgbClr val="000000">
                <a:alpha val="1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FFFFFF"/>
              </a:solidFill>
              <a:latin typeface="Arial"/>
            </a:endParaRPr>
          </a:p>
        </p:txBody>
      </p:sp>
      <p:sp>
        <p:nvSpPr>
          <p:cNvPr id="429" name="Shape 11"/>
          <p:cNvSpPr/>
          <p:nvPr/>
        </p:nvSpPr>
        <p:spPr>
          <a:xfrm>
            <a:off x="3291840" y="877680"/>
            <a:ext cx="2642040" cy="529560"/>
          </a:xfrm>
          <a:prstGeom prst="roundRect">
            <a:avLst>
              <a:gd name="adj" fmla="val 10345"/>
            </a:avLst>
          </a:prstGeom>
          <a:solidFill>
            <a:srgbClr val="00000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FFFFFF"/>
              </a:solidFill>
              <a:latin typeface="Arial"/>
            </a:endParaRPr>
          </a:p>
        </p:txBody>
      </p:sp>
      <p:sp>
        <p:nvSpPr>
          <p:cNvPr id="430" name="Shape 12"/>
          <p:cNvSpPr/>
          <p:nvPr/>
        </p:nvSpPr>
        <p:spPr>
          <a:xfrm>
            <a:off x="3346560" y="905400"/>
            <a:ext cx="401760" cy="401760"/>
          </a:xfrm>
          <a:solidFill>
            <a:srgbClr val="D4A017"/>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000000"/>
              </a:solidFill>
              <a:latin typeface="Arial"/>
            </a:endParaRPr>
          </a:p>
        </p:txBody>
      </p:sp>
      <p:pic>
        <p:nvPicPr>
          <p:cNvPr id="431" name="Image 1" descr="preencoded.png"/>
          <p:cNvPicPr/>
          <p:nvPr/>
        </p:nvPicPr>
        <p:blipFill>
          <a:blip r:embed="rId4"/>
          <a:stretch/>
        </p:blipFill>
        <p:spPr>
          <a:xfrm>
            <a:off x="3420000" y="960120"/>
            <a:ext cx="255240" cy="255240"/>
          </a:xfrm>
          <a:prstGeom prst="rect">
            <a:avLst/>
          </a:prstGeom>
          <a:ln w="0">
            <a:noFill/>
          </a:ln>
        </p:spPr>
      </p:pic>
      <p:sp>
        <p:nvSpPr>
          <p:cNvPr id="432" name="Text 13"/>
          <p:cNvSpPr/>
          <p:nvPr/>
        </p:nvSpPr>
        <p:spPr>
          <a:xfrm>
            <a:off x="3840480" y="932760"/>
            <a:ext cx="2084040" cy="365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50" b="1" strike="noStrike" spc="-1">
                <a:solidFill>
                  <a:srgbClr val="FFFFFF"/>
                </a:solidFill>
                <a:latin typeface="Arial"/>
                <a:ea typeface="Arial"/>
              </a:rPr>
              <a:t>Postgraduates &amp; Researchers</a:t>
            </a:r>
            <a:endParaRPr lang="en-US" sz="1250" b="0" strike="noStrike" spc="-1">
              <a:solidFill>
                <a:srgbClr val="000000"/>
              </a:solidFill>
              <a:latin typeface="Arial"/>
            </a:endParaRPr>
          </a:p>
        </p:txBody>
      </p:sp>
      <p:sp>
        <p:nvSpPr>
          <p:cNvPr id="433" name="Text 14"/>
          <p:cNvSpPr/>
          <p:nvPr/>
        </p:nvSpPr>
        <p:spPr>
          <a:xfrm>
            <a:off x="3383280" y="1508760"/>
            <a:ext cx="2486520" cy="639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50" b="0" strike="noStrike" spc="-1">
                <a:solidFill>
                  <a:srgbClr val="FFFFFF"/>
                </a:solidFill>
                <a:latin typeface="Arial"/>
                <a:ea typeface="Arial"/>
              </a:rPr>
              <a:t>→  Build FAIR datasets in Nigerian languages — Yorùbá, Hausa, Igbo, Pidgin</a:t>
            </a:r>
            <a:endParaRPr lang="en-US" sz="1150" b="0" strike="noStrike" spc="-1">
              <a:solidFill>
                <a:srgbClr val="000000"/>
              </a:solidFill>
              <a:latin typeface="Arial"/>
            </a:endParaRPr>
          </a:p>
        </p:txBody>
      </p:sp>
      <p:sp>
        <p:nvSpPr>
          <p:cNvPr id="434" name="Text 15"/>
          <p:cNvSpPr/>
          <p:nvPr/>
        </p:nvSpPr>
        <p:spPr>
          <a:xfrm>
            <a:off x="3383280" y="2258640"/>
            <a:ext cx="2486520" cy="639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50" b="0" strike="noStrike" spc="-1">
                <a:solidFill>
                  <a:srgbClr val="FFFFFF"/>
                </a:solidFill>
                <a:latin typeface="Arial"/>
                <a:ea typeface="Arial"/>
              </a:rPr>
              <a:t>→  Publish bias audits of deployed public AI systems</a:t>
            </a:r>
            <a:endParaRPr lang="en-US" sz="1150" b="0" strike="noStrike" spc="-1">
              <a:solidFill>
                <a:srgbClr val="000000"/>
              </a:solidFill>
              <a:latin typeface="Arial"/>
            </a:endParaRPr>
          </a:p>
        </p:txBody>
      </p:sp>
      <p:sp>
        <p:nvSpPr>
          <p:cNvPr id="435" name="Text 16"/>
          <p:cNvSpPr/>
          <p:nvPr/>
        </p:nvSpPr>
        <p:spPr>
          <a:xfrm>
            <a:off x="3383280" y="3008520"/>
            <a:ext cx="2486520" cy="639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50" b="0" strike="noStrike" spc="-1">
                <a:solidFill>
                  <a:srgbClr val="FFFFFF"/>
                </a:solidFill>
                <a:latin typeface="Arial"/>
                <a:ea typeface="Arial"/>
              </a:rPr>
              <a:t>→  Develop explainable AI pipelines for civic and governance use cases</a:t>
            </a:r>
            <a:endParaRPr lang="en-US" sz="1150" b="0" strike="noStrike" spc="-1">
              <a:solidFill>
                <a:srgbClr val="000000"/>
              </a:solidFill>
              <a:latin typeface="Arial"/>
            </a:endParaRPr>
          </a:p>
        </p:txBody>
      </p:sp>
      <p:sp>
        <p:nvSpPr>
          <p:cNvPr id="436" name="Text 17"/>
          <p:cNvSpPr/>
          <p:nvPr/>
        </p:nvSpPr>
        <p:spPr>
          <a:xfrm>
            <a:off x="3383280" y="3758040"/>
            <a:ext cx="2486520" cy="639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50" b="0" strike="noStrike" spc="-1">
                <a:solidFill>
                  <a:srgbClr val="FFFFFF"/>
                </a:solidFill>
                <a:latin typeface="Arial"/>
                <a:ea typeface="Arial"/>
              </a:rPr>
              <a:t>→  Engage NITDA, NCAIR and the NDPC on regulatory and standards gaps</a:t>
            </a:r>
            <a:endParaRPr lang="en-US" sz="1150" b="0" strike="noStrike" spc="-1">
              <a:solidFill>
                <a:srgbClr val="000000"/>
              </a:solidFill>
              <a:latin typeface="Arial"/>
            </a:endParaRPr>
          </a:p>
        </p:txBody>
      </p:sp>
      <p:sp>
        <p:nvSpPr>
          <p:cNvPr id="437" name="Shape 18"/>
          <p:cNvSpPr/>
          <p:nvPr/>
        </p:nvSpPr>
        <p:spPr>
          <a:xfrm>
            <a:off x="6163200" y="822960"/>
            <a:ext cx="2788200" cy="4159800"/>
          </a:xfrm>
          <a:prstGeom prst="roundRect">
            <a:avLst>
              <a:gd name="adj" fmla="val 3279"/>
            </a:avLst>
          </a:prstGeom>
          <a:solidFill>
            <a:srgbClr val="1E5C35"/>
          </a:solidFill>
          <a:ln w="0">
            <a:noFill/>
          </a:ln>
          <a:effectLst>
            <a:outerShdw blurRad="76320" dist="25455" dir="2700000" algn="bl" rotWithShape="0">
              <a:srgbClr val="000000">
                <a:alpha val="1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FFFFFF"/>
              </a:solidFill>
              <a:latin typeface="Arial"/>
            </a:endParaRPr>
          </a:p>
        </p:txBody>
      </p:sp>
      <p:sp>
        <p:nvSpPr>
          <p:cNvPr id="438" name="Shape 19"/>
          <p:cNvSpPr/>
          <p:nvPr/>
        </p:nvSpPr>
        <p:spPr>
          <a:xfrm>
            <a:off x="6236280" y="877680"/>
            <a:ext cx="2642040" cy="529560"/>
          </a:xfrm>
          <a:prstGeom prst="roundRect">
            <a:avLst>
              <a:gd name="adj" fmla="val 10345"/>
            </a:avLst>
          </a:prstGeom>
          <a:solidFill>
            <a:srgbClr val="00000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FFFFFF"/>
              </a:solidFill>
              <a:latin typeface="Arial"/>
            </a:endParaRPr>
          </a:p>
        </p:txBody>
      </p:sp>
      <p:sp>
        <p:nvSpPr>
          <p:cNvPr id="439" name="Shape 20"/>
          <p:cNvSpPr/>
          <p:nvPr/>
        </p:nvSpPr>
        <p:spPr>
          <a:xfrm>
            <a:off x="6291000" y="905400"/>
            <a:ext cx="401760" cy="401760"/>
          </a:xfrm>
          <a:solidFill>
            <a:srgbClr val="D4A017"/>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000000"/>
              </a:solidFill>
              <a:latin typeface="Arial"/>
            </a:endParaRPr>
          </a:p>
        </p:txBody>
      </p:sp>
      <p:pic>
        <p:nvPicPr>
          <p:cNvPr id="440" name="Image 2" descr="preencoded.png"/>
          <p:cNvPicPr/>
          <p:nvPr/>
        </p:nvPicPr>
        <p:blipFill>
          <a:blip r:embed="rId5"/>
          <a:stretch/>
        </p:blipFill>
        <p:spPr>
          <a:xfrm>
            <a:off x="6364080" y="960120"/>
            <a:ext cx="255240" cy="255240"/>
          </a:xfrm>
          <a:prstGeom prst="rect">
            <a:avLst/>
          </a:prstGeom>
          <a:ln w="0">
            <a:noFill/>
          </a:ln>
        </p:spPr>
      </p:pic>
      <p:sp>
        <p:nvSpPr>
          <p:cNvPr id="441" name="Text 21"/>
          <p:cNvSpPr/>
          <p:nvPr/>
        </p:nvSpPr>
        <p:spPr>
          <a:xfrm>
            <a:off x="6784920" y="932760"/>
            <a:ext cx="2084040" cy="365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50" b="1" strike="noStrike" spc="-1">
                <a:solidFill>
                  <a:srgbClr val="FFFFFF"/>
                </a:solidFill>
                <a:latin typeface="Arial"/>
                <a:ea typeface="Arial"/>
              </a:rPr>
              <a:t>Academics &amp; Lecturers</a:t>
            </a:r>
            <a:endParaRPr lang="en-US" sz="1250" b="0" strike="noStrike" spc="-1">
              <a:solidFill>
                <a:srgbClr val="000000"/>
              </a:solidFill>
              <a:latin typeface="Arial"/>
            </a:endParaRPr>
          </a:p>
        </p:txBody>
      </p:sp>
      <p:sp>
        <p:nvSpPr>
          <p:cNvPr id="442" name="Text 22"/>
          <p:cNvSpPr/>
          <p:nvPr/>
        </p:nvSpPr>
        <p:spPr>
          <a:xfrm>
            <a:off x="6327720" y="1508760"/>
            <a:ext cx="2486520" cy="639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50" b="0" strike="noStrike" spc="-1">
                <a:solidFill>
                  <a:srgbClr val="FFFFFF"/>
                </a:solidFill>
                <a:latin typeface="Arial"/>
                <a:ea typeface="Arial"/>
              </a:rPr>
              <a:t>→  Integrate AI ethics into CS, law, and social science curricula</a:t>
            </a:r>
            <a:endParaRPr lang="en-US" sz="1150" b="0" strike="noStrike" spc="-1">
              <a:solidFill>
                <a:srgbClr val="000000"/>
              </a:solidFill>
              <a:latin typeface="Arial"/>
            </a:endParaRPr>
          </a:p>
        </p:txBody>
      </p:sp>
      <p:sp>
        <p:nvSpPr>
          <p:cNvPr id="443" name="Text 23"/>
          <p:cNvSpPr/>
          <p:nvPr/>
        </p:nvSpPr>
        <p:spPr>
          <a:xfrm>
            <a:off x="6327720" y="2258640"/>
            <a:ext cx="2486520" cy="639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50" b="0" strike="noStrike" spc="-1">
                <a:solidFill>
                  <a:srgbClr val="FFFFFF"/>
                </a:solidFill>
                <a:latin typeface="Arial"/>
                <a:ea typeface="Arial"/>
              </a:rPr>
              <a:t>→  Supervise community-engaged and participatory AI research</a:t>
            </a:r>
            <a:endParaRPr lang="en-US" sz="1150" b="0" strike="noStrike" spc="-1">
              <a:solidFill>
                <a:srgbClr val="000000"/>
              </a:solidFill>
              <a:latin typeface="Arial"/>
            </a:endParaRPr>
          </a:p>
        </p:txBody>
      </p:sp>
      <p:sp>
        <p:nvSpPr>
          <p:cNvPr id="444" name="Text 24"/>
          <p:cNvSpPr/>
          <p:nvPr/>
        </p:nvSpPr>
        <p:spPr>
          <a:xfrm>
            <a:off x="6327720" y="3008520"/>
            <a:ext cx="2486520" cy="639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50" b="0" strike="noStrike" spc="-1">
                <a:solidFill>
                  <a:srgbClr val="FFFFFF"/>
                </a:solidFill>
                <a:latin typeface="Arial"/>
                <a:ea typeface="Arial"/>
              </a:rPr>
              <a:t>→  Consult on national AI policy — fill the academic expertise gap</a:t>
            </a:r>
            <a:endParaRPr lang="en-US" sz="1150" b="0" strike="noStrike" spc="-1">
              <a:solidFill>
                <a:srgbClr val="000000"/>
              </a:solidFill>
              <a:latin typeface="Arial"/>
            </a:endParaRPr>
          </a:p>
        </p:txBody>
      </p:sp>
      <p:sp>
        <p:nvSpPr>
          <p:cNvPr id="445" name="Text 25"/>
          <p:cNvSpPr/>
          <p:nvPr/>
        </p:nvSpPr>
        <p:spPr>
          <a:xfrm>
            <a:off x="6327720" y="3758040"/>
            <a:ext cx="2486520" cy="639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50" b="0" strike="noStrike" spc="-1">
                <a:solidFill>
                  <a:srgbClr val="FFFFFF"/>
                </a:solidFill>
                <a:latin typeface="Arial"/>
                <a:ea typeface="Arial"/>
              </a:rPr>
              <a:t>→  Create open educational resources in Nigerian languages</a:t>
            </a:r>
            <a:endParaRPr lang="en-US" sz="1150" b="0" strike="noStrike" spc="-1">
              <a:solidFill>
                <a:srgbClr val="000000"/>
              </a:solidFill>
              <a:latin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0F7F1"/>
        </a:solidFill>
        <a:effectLst/>
      </p:bgPr>
    </p:bg>
    <p:spTree>
      <p:nvGrpSpPr>
        <p:cNvPr id="1" name=""/>
        <p:cNvGrpSpPr/>
        <p:nvPr/>
      </p:nvGrpSpPr>
      <p:grpSpPr>
        <a:xfrm>
          <a:off x="0" y="0"/>
          <a:ext cx="0" cy="0"/>
          <a:chOff x="0" y="0"/>
          <a:chExt cx="0" cy="0"/>
        </a:xfrm>
      </p:grpSpPr>
      <p:sp>
        <p:nvSpPr>
          <p:cNvPr id="446" name="Shape 0"/>
          <p:cNvSpPr/>
          <p:nvPr/>
        </p:nvSpPr>
        <p:spPr>
          <a:xfrm>
            <a:off x="0" y="0"/>
            <a:ext cx="9143280" cy="685080"/>
          </a:xfrm>
          <a:prstGeom prst="rect">
            <a:avLst/>
          </a:prstGeom>
          <a:solidFill>
            <a:srgbClr val="1A4A2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FFFFFF"/>
              </a:solidFill>
              <a:latin typeface="Arial"/>
            </a:endParaRPr>
          </a:p>
        </p:txBody>
      </p:sp>
      <p:sp>
        <p:nvSpPr>
          <p:cNvPr id="447" name="Text 1"/>
          <p:cNvSpPr/>
          <p:nvPr/>
        </p:nvSpPr>
        <p:spPr>
          <a:xfrm>
            <a:off x="365760" y="36720"/>
            <a:ext cx="8411760" cy="621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800" b="1" strike="noStrike" spc="-1">
                <a:solidFill>
                  <a:srgbClr val="FFFFFF"/>
                </a:solidFill>
                <a:latin typeface="Arial"/>
                <a:ea typeface="Arial"/>
              </a:rPr>
              <a:t>Towards an African AI Democracy Framework</a:t>
            </a:r>
            <a:endParaRPr lang="en-US" sz="2800" b="0" strike="noStrike" spc="-1">
              <a:solidFill>
                <a:srgbClr val="000000"/>
              </a:solidFill>
              <a:latin typeface="Arial"/>
            </a:endParaRPr>
          </a:p>
        </p:txBody>
      </p:sp>
      <p:sp>
        <p:nvSpPr>
          <p:cNvPr id="448" name="Text 2"/>
          <p:cNvSpPr/>
          <p:nvPr/>
        </p:nvSpPr>
        <p:spPr>
          <a:xfrm>
            <a:off x="365760" y="777240"/>
            <a:ext cx="8228880" cy="319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0" i="1" strike="noStrike" spc="-1">
                <a:solidFill>
                  <a:srgbClr val="D4A017"/>
                </a:solidFill>
                <a:latin typeface="Arial"/>
                <a:ea typeface="Arial"/>
              </a:rPr>
              <a:t>The 5-Pillar Model: People · Participation · Policy · Platforms · Protection</a:t>
            </a:r>
            <a:endParaRPr lang="en-US" sz="1300" b="0" strike="noStrike" spc="-1">
              <a:solidFill>
                <a:srgbClr val="000000"/>
              </a:solidFill>
              <a:latin typeface="Arial"/>
            </a:endParaRPr>
          </a:p>
        </p:txBody>
      </p:sp>
      <p:sp>
        <p:nvSpPr>
          <p:cNvPr id="449" name="Shape 3"/>
          <p:cNvSpPr/>
          <p:nvPr/>
        </p:nvSpPr>
        <p:spPr>
          <a:xfrm>
            <a:off x="274320" y="1097280"/>
            <a:ext cx="1599480" cy="3794040"/>
          </a:xfrm>
          <a:prstGeom prst="roundRect">
            <a:avLst>
              <a:gd name="adj" fmla="val 5714"/>
            </a:avLst>
          </a:prstGeom>
          <a:solidFill>
            <a:srgbClr val="E8F5E9"/>
          </a:solidFill>
          <a:ln w="0">
            <a:noFill/>
          </a:ln>
          <a:effectLst>
            <a:outerShdw blurRad="76320" dist="25455" dir="2700000" algn="bl" rotWithShape="0">
              <a:srgbClr val="000000">
                <a:alpha val="1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000000"/>
              </a:solidFill>
              <a:latin typeface="Arial"/>
            </a:endParaRPr>
          </a:p>
        </p:txBody>
      </p:sp>
      <p:sp>
        <p:nvSpPr>
          <p:cNvPr id="450" name="Shape 4"/>
          <p:cNvSpPr/>
          <p:nvPr/>
        </p:nvSpPr>
        <p:spPr>
          <a:xfrm>
            <a:off x="704160" y="1170360"/>
            <a:ext cx="730800" cy="730800"/>
          </a:xfrm>
          <a:solidFill>
            <a:srgbClr val="1A4A2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FFFFFF"/>
              </a:solidFill>
              <a:latin typeface="Arial"/>
            </a:endParaRPr>
          </a:p>
        </p:txBody>
      </p:sp>
      <p:pic>
        <p:nvPicPr>
          <p:cNvPr id="451" name="Image 0" descr="preencoded.png"/>
          <p:cNvPicPr/>
          <p:nvPr/>
        </p:nvPicPr>
        <p:blipFill>
          <a:blip r:embed="rId3"/>
          <a:stretch/>
        </p:blipFill>
        <p:spPr>
          <a:xfrm>
            <a:off x="841320" y="1234440"/>
            <a:ext cx="456480" cy="456480"/>
          </a:xfrm>
          <a:prstGeom prst="rect">
            <a:avLst/>
          </a:prstGeom>
          <a:ln w="0">
            <a:noFill/>
          </a:ln>
        </p:spPr>
      </p:pic>
      <p:sp>
        <p:nvSpPr>
          <p:cNvPr id="452" name="Text 5"/>
          <p:cNvSpPr/>
          <p:nvPr/>
        </p:nvSpPr>
        <p:spPr>
          <a:xfrm>
            <a:off x="320040" y="2030040"/>
            <a:ext cx="1508040" cy="383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strike="noStrike" spc="-1">
                <a:solidFill>
                  <a:srgbClr val="1A4A2E"/>
                </a:solidFill>
                <a:latin typeface="Arial"/>
                <a:ea typeface="Arial"/>
              </a:rPr>
              <a:t>People</a:t>
            </a:r>
            <a:endParaRPr lang="en-US" sz="1400" b="0" strike="noStrike" spc="-1">
              <a:solidFill>
                <a:srgbClr val="000000"/>
              </a:solidFill>
              <a:latin typeface="Arial"/>
            </a:endParaRPr>
          </a:p>
        </p:txBody>
      </p:sp>
      <p:sp>
        <p:nvSpPr>
          <p:cNvPr id="453" name="Text 6"/>
          <p:cNvSpPr/>
          <p:nvPr/>
        </p:nvSpPr>
        <p:spPr>
          <a:xfrm>
            <a:off x="320040" y="2414160"/>
            <a:ext cx="1508040" cy="383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00" b="0" i="1" strike="noStrike" spc="-1">
                <a:solidFill>
                  <a:srgbClr val="D4A017"/>
                </a:solidFill>
                <a:latin typeface="Arial"/>
                <a:ea typeface="Arial"/>
              </a:rPr>
              <a:t>Citizens at the Centre</a:t>
            </a:r>
            <a:endParaRPr lang="en-US" sz="1000" b="0" strike="noStrike" spc="-1">
              <a:solidFill>
                <a:srgbClr val="000000"/>
              </a:solidFill>
              <a:latin typeface="Arial"/>
            </a:endParaRPr>
          </a:p>
        </p:txBody>
      </p:sp>
      <p:sp>
        <p:nvSpPr>
          <p:cNvPr id="454" name="Text 7"/>
          <p:cNvSpPr/>
          <p:nvPr/>
        </p:nvSpPr>
        <p:spPr>
          <a:xfrm>
            <a:off x="347400" y="2834640"/>
            <a:ext cx="1443960" cy="1919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0D2B1A"/>
                </a:solidFill>
                <a:latin typeface="Arial"/>
                <a:ea typeface="Arial"/>
              </a:rPr>
              <a:t>AI in governance must be co-designed with communities. Community consent — free, prior, and informed — for every affected group.</a:t>
            </a:r>
            <a:endParaRPr lang="en-US" sz="1000" b="0" strike="noStrike" spc="-1">
              <a:solidFill>
                <a:srgbClr val="000000"/>
              </a:solidFill>
              <a:latin typeface="Arial"/>
            </a:endParaRPr>
          </a:p>
        </p:txBody>
      </p:sp>
      <p:sp>
        <p:nvSpPr>
          <p:cNvPr id="455" name="Shape 8"/>
          <p:cNvSpPr/>
          <p:nvPr/>
        </p:nvSpPr>
        <p:spPr>
          <a:xfrm>
            <a:off x="2011680" y="1097280"/>
            <a:ext cx="1599480" cy="3794040"/>
          </a:xfrm>
          <a:prstGeom prst="roundRect">
            <a:avLst>
              <a:gd name="adj" fmla="val 5714"/>
            </a:avLst>
          </a:prstGeom>
          <a:solidFill>
            <a:srgbClr val="E8F5E9"/>
          </a:solidFill>
          <a:ln w="0">
            <a:noFill/>
          </a:ln>
          <a:effectLst>
            <a:outerShdw blurRad="76320" dist="25455" dir="2700000" algn="bl" rotWithShape="0">
              <a:srgbClr val="000000">
                <a:alpha val="1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000000"/>
              </a:solidFill>
              <a:latin typeface="Arial"/>
            </a:endParaRPr>
          </a:p>
        </p:txBody>
      </p:sp>
      <p:sp>
        <p:nvSpPr>
          <p:cNvPr id="456" name="Shape 9"/>
          <p:cNvSpPr/>
          <p:nvPr/>
        </p:nvSpPr>
        <p:spPr>
          <a:xfrm>
            <a:off x="2441520" y="1170360"/>
            <a:ext cx="730800" cy="730800"/>
          </a:xfrm>
          <a:solidFill>
            <a:srgbClr val="1A4A2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FFFFFF"/>
              </a:solidFill>
              <a:latin typeface="Arial"/>
            </a:endParaRPr>
          </a:p>
        </p:txBody>
      </p:sp>
      <p:pic>
        <p:nvPicPr>
          <p:cNvPr id="457" name="Image 1" descr="preencoded.png"/>
          <p:cNvPicPr/>
          <p:nvPr/>
        </p:nvPicPr>
        <p:blipFill>
          <a:blip r:embed="rId4"/>
          <a:stretch/>
        </p:blipFill>
        <p:spPr>
          <a:xfrm>
            <a:off x="2578680" y="1234440"/>
            <a:ext cx="456480" cy="456480"/>
          </a:xfrm>
          <a:prstGeom prst="rect">
            <a:avLst/>
          </a:prstGeom>
          <a:ln w="0">
            <a:noFill/>
          </a:ln>
        </p:spPr>
      </p:pic>
      <p:sp>
        <p:nvSpPr>
          <p:cNvPr id="458" name="Text 10"/>
          <p:cNvSpPr/>
          <p:nvPr/>
        </p:nvSpPr>
        <p:spPr>
          <a:xfrm>
            <a:off x="2057400" y="2030040"/>
            <a:ext cx="1508040" cy="383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strike="noStrike" spc="-1">
                <a:solidFill>
                  <a:srgbClr val="1A4A2E"/>
                </a:solidFill>
                <a:latin typeface="Arial"/>
                <a:ea typeface="Arial"/>
              </a:rPr>
              <a:t>Participation</a:t>
            </a:r>
            <a:endParaRPr lang="en-US" sz="1400" b="0" strike="noStrike" spc="-1">
              <a:solidFill>
                <a:srgbClr val="000000"/>
              </a:solidFill>
              <a:latin typeface="Arial"/>
            </a:endParaRPr>
          </a:p>
        </p:txBody>
      </p:sp>
      <p:sp>
        <p:nvSpPr>
          <p:cNvPr id="459" name="Text 11"/>
          <p:cNvSpPr/>
          <p:nvPr/>
        </p:nvSpPr>
        <p:spPr>
          <a:xfrm>
            <a:off x="2057400" y="2414160"/>
            <a:ext cx="1508040" cy="383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00" b="0" i="1" strike="noStrike" spc="-1">
                <a:solidFill>
                  <a:srgbClr val="D4A017"/>
                </a:solidFill>
                <a:latin typeface="Arial"/>
                <a:ea typeface="Arial"/>
              </a:rPr>
              <a:t>Inclusive Engagement</a:t>
            </a:r>
            <a:endParaRPr lang="en-US" sz="1000" b="0" strike="noStrike" spc="-1">
              <a:solidFill>
                <a:srgbClr val="000000"/>
              </a:solidFill>
              <a:latin typeface="Arial"/>
            </a:endParaRPr>
          </a:p>
        </p:txBody>
      </p:sp>
      <p:sp>
        <p:nvSpPr>
          <p:cNvPr id="460" name="Text 12"/>
          <p:cNvSpPr/>
          <p:nvPr/>
        </p:nvSpPr>
        <p:spPr>
          <a:xfrm>
            <a:off x="2084760" y="2834640"/>
            <a:ext cx="1443960" cy="1919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0D2B1A"/>
                </a:solidFill>
                <a:latin typeface="Arial"/>
                <a:ea typeface="Arial"/>
              </a:rPr>
              <a:t>Universal broadband, multilingual interfaces, offline-capable AI for rural Nigeria — digital infrastructure as democratic infrastructure.</a:t>
            </a:r>
            <a:endParaRPr lang="en-US" sz="1000" b="0" strike="noStrike" spc="-1">
              <a:solidFill>
                <a:srgbClr val="000000"/>
              </a:solidFill>
              <a:latin typeface="Arial"/>
            </a:endParaRPr>
          </a:p>
        </p:txBody>
      </p:sp>
      <p:sp>
        <p:nvSpPr>
          <p:cNvPr id="461" name="Shape 13"/>
          <p:cNvSpPr/>
          <p:nvPr/>
        </p:nvSpPr>
        <p:spPr>
          <a:xfrm>
            <a:off x="3749040" y="1097280"/>
            <a:ext cx="1599480" cy="3794040"/>
          </a:xfrm>
          <a:prstGeom prst="roundRect">
            <a:avLst>
              <a:gd name="adj" fmla="val 5714"/>
            </a:avLst>
          </a:prstGeom>
          <a:solidFill>
            <a:srgbClr val="E8F5E9"/>
          </a:solidFill>
          <a:ln w="0">
            <a:noFill/>
          </a:ln>
          <a:effectLst>
            <a:outerShdw blurRad="76320" dist="25455" dir="2700000" algn="bl" rotWithShape="0">
              <a:srgbClr val="000000">
                <a:alpha val="1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000000"/>
              </a:solidFill>
              <a:latin typeface="Arial"/>
            </a:endParaRPr>
          </a:p>
        </p:txBody>
      </p:sp>
      <p:sp>
        <p:nvSpPr>
          <p:cNvPr id="462" name="Shape 14"/>
          <p:cNvSpPr/>
          <p:nvPr/>
        </p:nvSpPr>
        <p:spPr>
          <a:xfrm>
            <a:off x="4178880" y="1170360"/>
            <a:ext cx="730800" cy="730800"/>
          </a:xfrm>
          <a:solidFill>
            <a:srgbClr val="1A4A2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FFFFFF"/>
              </a:solidFill>
              <a:latin typeface="Arial"/>
            </a:endParaRPr>
          </a:p>
        </p:txBody>
      </p:sp>
      <p:pic>
        <p:nvPicPr>
          <p:cNvPr id="463" name="Image 2" descr="preencoded.png"/>
          <p:cNvPicPr/>
          <p:nvPr/>
        </p:nvPicPr>
        <p:blipFill>
          <a:blip r:embed="rId5"/>
          <a:stretch/>
        </p:blipFill>
        <p:spPr>
          <a:xfrm>
            <a:off x="4316040" y="1234440"/>
            <a:ext cx="456480" cy="456480"/>
          </a:xfrm>
          <a:prstGeom prst="rect">
            <a:avLst/>
          </a:prstGeom>
          <a:ln w="0">
            <a:noFill/>
          </a:ln>
        </p:spPr>
      </p:pic>
      <p:sp>
        <p:nvSpPr>
          <p:cNvPr id="464" name="Text 15"/>
          <p:cNvSpPr/>
          <p:nvPr/>
        </p:nvSpPr>
        <p:spPr>
          <a:xfrm>
            <a:off x="3794760" y="2030040"/>
            <a:ext cx="1508040" cy="383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strike="noStrike" spc="-1">
                <a:solidFill>
                  <a:srgbClr val="1A4A2E"/>
                </a:solidFill>
                <a:latin typeface="Arial"/>
                <a:ea typeface="Arial"/>
              </a:rPr>
              <a:t>Policy</a:t>
            </a:r>
            <a:endParaRPr lang="en-US" sz="1400" b="0" strike="noStrike" spc="-1">
              <a:solidFill>
                <a:srgbClr val="000000"/>
              </a:solidFill>
              <a:latin typeface="Arial"/>
            </a:endParaRPr>
          </a:p>
        </p:txBody>
      </p:sp>
      <p:sp>
        <p:nvSpPr>
          <p:cNvPr id="465" name="Text 16"/>
          <p:cNvSpPr/>
          <p:nvPr/>
        </p:nvSpPr>
        <p:spPr>
          <a:xfrm>
            <a:off x="3794760" y="2414160"/>
            <a:ext cx="1508040" cy="383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00" b="0" i="1" strike="noStrike" spc="-1">
                <a:solidFill>
                  <a:srgbClr val="D4A017"/>
                </a:solidFill>
                <a:latin typeface="Arial"/>
                <a:ea typeface="Arial"/>
              </a:rPr>
              <a:t>Responsible Regulation</a:t>
            </a:r>
            <a:endParaRPr lang="en-US" sz="1000" b="0" strike="noStrike" spc="-1">
              <a:solidFill>
                <a:srgbClr val="000000"/>
              </a:solidFill>
              <a:latin typeface="Arial"/>
            </a:endParaRPr>
          </a:p>
        </p:txBody>
      </p:sp>
      <p:sp>
        <p:nvSpPr>
          <p:cNvPr id="466" name="Text 17"/>
          <p:cNvSpPr/>
          <p:nvPr/>
        </p:nvSpPr>
        <p:spPr>
          <a:xfrm>
            <a:off x="3822120" y="2834640"/>
            <a:ext cx="1443960" cy="1919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0D2B1A"/>
                </a:solidFill>
                <a:latin typeface="Arial"/>
                <a:ea typeface="Arial"/>
              </a:rPr>
              <a:t>A National AI Act grounded in NDPA 2023, Ubuntu ethics, and Omoluabi principles. Algorithmic impact assessments mandatory for all public AI.</a:t>
            </a:r>
            <a:endParaRPr lang="en-US" sz="1000" b="0" strike="noStrike" spc="-1">
              <a:solidFill>
                <a:srgbClr val="000000"/>
              </a:solidFill>
              <a:latin typeface="Arial"/>
            </a:endParaRPr>
          </a:p>
        </p:txBody>
      </p:sp>
      <p:sp>
        <p:nvSpPr>
          <p:cNvPr id="467" name="Shape 18"/>
          <p:cNvSpPr/>
          <p:nvPr/>
        </p:nvSpPr>
        <p:spPr>
          <a:xfrm>
            <a:off x="5486400" y="1097280"/>
            <a:ext cx="1599480" cy="3794040"/>
          </a:xfrm>
          <a:prstGeom prst="roundRect">
            <a:avLst>
              <a:gd name="adj" fmla="val 5714"/>
            </a:avLst>
          </a:prstGeom>
          <a:solidFill>
            <a:srgbClr val="E8F5E9"/>
          </a:solidFill>
          <a:ln w="0">
            <a:noFill/>
          </a:ln>
          <a:effectLst>
            <a:outerShdw blurRad="76320" dist="25455" dir="2700000" algn="bl" rotWithShape="0">
              <a:srgbClr val="000000">
                <a:alpha val="1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000000"/>
              </a:solidFill>
              <a:latin typeface="Arial"/>
            </a:endParaRPr>
          </a:p>
        </p:txBody>
      </p:sp>
      <p:sp>
        <p:nvSpPr>
          <p:cNvPr id="468" name="Shape 19"/>
          <p:cNvSpPr/>
          <p:nvPr/>
        </p:nvSpPr>
        <p:spPr>
          <a:xfrm>
            <a:off x="5916240" y="1170360"/>
            <a:ext cx="730800" cy="730800"/>
          </a:xfrm>
          <a:solidFill>
            <a:srgbClr val="1A4A2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FFFFFF"/>
              </a:solidFill>
              <a:latin typeface="Arial"/>
            </a:endParaRPr>
          </a:p>
        </p:txBody>
      </p:sp>
      <p:pic>
        <p:nvPicPr>
          <p:cNvPr id="469" name="Image 3" descr="preencoded.png"/>
          <p:cNvPicPr/>
          <p:nvPr/>
        </p:nvPicPr>
        <p:blipFill>
          <a:blip r:embed="rId6"/>
          <a:stretch/>
        </p:blipFill>
        <p:spPr>
          <a:xfrm>
            <a:off x="6053400" y="1234440"/>
            <a:ext cx="456480" cy="456480"/>
          </a:xfrm>
          <a:prstGeom prst="rect">
            <a:avLst/>
          </a:prstGeom>
          <a:ln w="0">
            <a:noFill/>
          </a:ln>
        </p:spPr>
      </p:pic>
      <p:sp>
        <p:nvSpPr>
          <p:cNvPr id="470" name="Text 20"/>
          <p:cNvSpPr/>
          <p:nvPr/>
        </p:nvSpPr>
        <p:spPr>
          <a:xfrm>
            <a:off x="5532120" y="2030040"/>
            <a:ext cx="1508040" cy="383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strike="noStrike" spc="-1">
                <a:solidFill>
                  <a:srgbClr val="1A4A2E"/>
                </a:solidFill>
                <a:latin typeface="Arial"/>
                <a:ea typeface="Arial"/>
              </a:rPr>
              <a:t>Platforms</a:t>
            </a:r>
            <a:endParaRPr lang="en-US" sz="1400" b="0" strike="noStrike" spc="-1">
              <a:solidFill>
                <a:srgbClr val="000000"/>
              </a:solidFill>
              <a:latin typeface="Arial"/>
            </a:endParaRPr>
          </a:p>
        </p:txBody>
      </p:sp>
      <p:sp>
        <p:nvSpPr>
          <p:cNvPr id="471" name="Text 21"/>
          <p:cNvSpPr/>
          <p:nvPr/>
        </p:nvSpPr>
        <p:spPr>
          <a:xfrm>
            <a:off x="5532120" y="2414160"/>
            <a:ext cx="1508040" cy="383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00" b="0" i="1" strike="noStrike" spc="-1">
                <a:solidFill>
                  <a:srgbClr val="D4A017"/>
                </a:solidFill>
                <a:latin typeface="Arial"/>
                <a:ea typeface="Arial"/>
              </a:rPr>
              <a:t>Trusted Digital Infrastructure</a:t>
            </a:r>
            <a:endParaRPr lang="en-US" sz="1000" b="0" strike="noStrike" spc="-1">
              <a:solidFill>
                <a:srgbClr val="000000"/>
              </a:solidFill>
              <a:latin typeface="Arial"/>
            </a:endParaRPr>
          </a:p>
        </p:txBody>
      </p:sp>
      <p:sp>
        <p:nvSpPr>
          <p:cNvPr id="472" name="Text 22"/>
          <p:cNvSpPr/>
          <p:nvPr/>
        </p:nvSpPr>
        <p:spPr>
          <a:xfrm>
            <a:off x="5559480" y="2834640"/>
            <a:ext cx="1443960" cy="1919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0D2B1A"/>
                </a:solidFill>
                <a:latin typeface="Arial"/>
                <a:ea typeface="Arial"/>
              </a:rPr>
              <a:t>Federated, privacy-preserving civic data systems. Nigerian government AI must not exfiltrate citizen data abroad. Open-source preferred.</a:t>
            </a:r>
            <a:endParaRPr lang="en-US" sz="1000" b="0" strike="noStrike" spc="-1">
              <a:solidFill>
                <a:srgbClr val="000000"/>
              </a:solidFill>
              <a:latin typeface="Arial"/>
            </a:endParaRPr>
          </a:p>
        </p:txBody>
      </p:sp>
      <p:sp>
        <p:nvSpPr>
          <p:cNvPr id="473" name="Shape 23"/>
          <p:cNvSpPr/>
          <p:nvPr/>
        </p:nvSpPr>
        <p:spPr>
          <a:xfrm>
            <a:off x="7223760" y="1097280"/>
            <a:ext cx="1599480" cy="3794040"/>
          </a:xfrm>
          <a:prstGeom prst="roundRect">
            <a:avLst>
              <a:gd name="adj" fmla="val 5714"/>
            </a:avLst>
          </a:prstGeom>
          <a:solidFill>
            <a:srgbClr val="E8F5E9"/>
          </a:solidFill>
          <a:ln w="0">
            <a:noFill/>
          </a:ln>
          <a:effectLst>
            <a:outerShdw blurRad="76320" dist="25455" dir="2700000" algn="bl" rotWithShape="0">
              <a:srgbClr val="000000">
                <a:alpha val="1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000000"/>
              </a:solidFill>
              <a:latin typeface="Arial"/>
            </a:endParaRPr>
          </a:p>
        </p:txBody>
      </p:sp>
      <p:sp>
        <p:nvSpPr>
          <p:cNvPr id="474" name="Shape 24"/>
          <p:cNvSpPr/>
          <p:nvPr/>
        </p:nvSpPr>
        <p:spPr>
          <a:xfrm>
            <a:off x="7653600" y="1170360"/>
            <a:ext cx="730800" cy="730800"/>
          </a:xfrm>
          <a:solidFill>
            <a:srgbClr val="1A4A2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FFFFFF"/>
              </a:solidFill>
              <a:latin typeface="Arial"/>
            </a:endParaRPr>
          </a:p>
        </p:txBody>
      </p:sp>
      <p:pic>
        <p:nvPicPr>
          <p:cNvPr id="475" name="Image 4" descr="preencoded.png"/>
          <p:cNvPicPr/>
          <p:nvPr/>
        </p:nvPicPr>
        <p:blipFill>
          <a:blip r:embed="rId7"/>
          <a:stretch/>
        </p:blipFill>
        <p:spPr>
          <a:xfrm>
            <a:off x="7790760" y="1234440"/>
            <a:ext cx="456480" cy="456480"/>
          </a:xfrm>
          <a:prstGeom prst="rect">
            <a:avLst/>
          </a:prstGeom>
          <a:ln w="0">
            <a:noFill/>
          </a:ln>
        </p:spPr>
      </p:pic>
      <p:sp>
        <p:nvSpPr>
          <p:cNvPr id="476" name="Text 25"/>
          <p:cNvSpPr/>
          <p:nvPr/>
        </p:nvSpPr>
        <p:spPr>
          <a:xfrm>
            <a:off x="7269480" y="2030040"/>
            <a:ext cx="1508040" cy="383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strike="noStrike" spc="-1">
                <a:solidFill>
                  <a:srgbClr val="1A4A2E"/>
                </a:solidFill>
                <a:latin typeface="Arial"/>
                <a:ea typeface="Arial"/>
              </a:rPr>
              <a:t>Protection</a:t>
            </a:r>
            <a:endParaRPr lang="en-US" sz="1400" b="0" strike="noStrike" spc="-1">
              <a:solidFill>
                <a:srgbClr val="000000"/>
              </a:solidFill>
              <a:latin typeface="Arial"/>
            </a:endParaRPr>
          </a:p>
        </p:txBody>
      </p:sp>
      <p:sp>
        <p:nvSpPr>
          <p:cNvPr id="477" name="Text 26"/>
          <p:cNvSpPr/>
          <p:nvPr/>
        </p:nvSpPr>
        <p:spPr>
          <a:xfrm>
            <a:off x="7269480" y="2414160"/>
            <a:ext cx="1508040" cy="383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00" b="0" i="1" strike="noStrike" spc="-1">
                <a:solidFill>
                  <a:srgbClr val="D4A017"/>
                </a:solidFill>
                <a:latin typeface="Arial"/>
                <a:ea typeface="Arial"/>
              </a:rPr>
              <a:t>Ethics, Privacy &amp; Security</a:t>
            </a:r>
            <a:endParaRPr lang="en-US" sz="1000" b="0" strike="noStrike" spc="-1">
              <a:solidFill>
                <a:srgbClr val="000000"/>
              </a:solidFill>
              <a:latin typeface="Arial"/>
            </a:endParaRPr>
          </a:p>
        </p:txBody>
      </p:sp>
      <p:sp>
        <p:nvSpPr>
          <p:cNvPr id="478" name="Text 27"/>
          <p:cNvSpPr/>
          <p:nvPr/>
        </p:nvSpPr>
        <p:spPr>
          <a:xfrm>
            <a:off x="7296840" y="2834640"/>
            <a:ext cx="1443960" cy="1919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0" strike="noStrike" spc="-1">
                <a:solidFill>
                  <a:srgbClr val="0D2B1A"/>
                </a:solidFill>
                <a:latin typeface="Arial"/>
                <a:ea typeface="Arial"/>
              </a:rPr>
              <a:t>Independent AI oversight body. Citizens must have the right to contest AI decisions. Independent ombudsman for algorithmic harm.</a:t>
            </a:r>
            <a:endParaRPr lang="en-US" sz="1000" b="0" strike="noStrike" spc="-1">
              <a:solidFill>
                <a:srgbClr val="000000"/>
              </a:solidFill>
              <a:latin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0F7F1"/>
        </a:solidFill>
        <a:effectLst/>
      </p:bgPr>
    </p:bg>
    <p:spTree>
      <p:nvGrpSpPr>
        <p:cNvPr id="1" name=""/>
        <p:cNvGrpSpPr/>
        <p:nvPr/>
      </p:nvGrpSpPr>
      <p:grpSpPr>
        <a:xfrm>
          <a:off x="0" y="0"/>
          <a:ext cx="0" cy="0"/>
          <a:chOff x="0" y="0"/>
          <a:chExt cx="0" cy="0"/>
        </a:xfrm>
      </p:grpSpPr>
      <p:sp>
        <p:nvSpPr>
          <p:cNvPr id="479" name="Shape 0"/>
          <p:cNvSpPr/>
          <p:nvPr/>
        </p:nvSpPr>
        <p:spPr>
          <a:xfrm>
            <a:off x="0" y="0"/>
            <a:ext cx="9143280" cy="685080"/>
          </a:xfrm>
          <a:prstGeom prst="rect">
            <a:avLst/>
          </a:prstGeom>
          <a:solidFill>
            <a:srgbClr val="1A4A2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FFFFFF"/>
              </a:solidFill>
              <a:latin typeface="Arial"/>
            </a:endParaRPr>
          </a:p>
        </p:txBody>
      </p:sp>
      <p:sp>
        <p:nvSpPr>
          <p:cNvPr id="480" name="Text 1"/>
          <p:cNvSpPr/>
          <p:nvPr/>
        </p:nvSpPr>
        <p:spPr>
          <a:xfrm>
            <a:off x="365760" y="36720"/>
            <a:ext cx="8411760" cy="621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800" b="1" strike="noStrike" spc="-1">
                <a:solidFill>
                  <a:srgbClr val="FFFFFF"/>
                </a:solidFill>
                <a:latin typeface="Arial"/>
                <a:ea typeface="Arial"/>
              </a:rPr>
              <a:t>What Must Nigeria Do Before 2030?</a:t>
            </a:r>
            <a:endParaRPr lang="en-US" sz="2800" b="0" strike="noStrike" spc="-1">
              <a:solidFill>
                <a:srgbClr val="000000"/>
              </a:solidFill>
              <a:latin typeface="Arial"/>
            </a:endParaRPr>
          </a:p>
        </p:txBody>
      </p:sp>
      <p:sp>
        <p:nvSpPr>
          <p:cNvPr id="481" name="Text 2"/>
          <p:cNvSpPr/>
          <p:nvPr/>
        </p:nvSpPr>
        <p:spPr>
          <a:xfrm>
            <a:off x="365760" y="777240"/>
            <a:ext cx="8228880" cy="319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0" i="1" strike="noStrike" spc="-1">
                <a:solidFill>
                  <a:srgbClr val="D4A017"/>
                </a:solidFill>
                <a:latin typeface="Arial"/>
                <a:ea typeface="Arial"/>
              </a:rPr>
              <a:t>Seven Non-Negotiables for Responsible AI in Democracy</a:t>
            </a:r>
            <a:endParaRPr lang="en-US" sz="1300" b="0" strike="noStrike" spc="-1">
              <a:solidFill>
                <a:srgbClr val="000000"/>
              </a:solidFill>
              <a:latin typeface="Arial"/>
            </a:endParaRPr>
          </a:p>
        </p:txBody>
      </p:sp>
      <p:sp>
        <p:nvSpPr>
          <p:cNvPr id="482" name="Shape 3"/>
          <p:cNvSpPr/>
          <p:nvPr/>
        </p:nvSpPr>
        <p:spPr>
          <a:xfrm>
            <a:off x="274320" y="1005840"/>
            <a:ext cx="4205520" cy="1078200"/>
          </a:xfrm>
          <a:prstGeom prst="roundRect">
            <a:avLst>
              <a:gd name="adj" fmla="val 8475"/>
            </a:avLst>
          </a:prstGeom>
          <a:solidFill>
            <a:srgbClr val="1E5C35"/>
          </a:solidFill>
          <a:ln w="0">
            <a:noFill/>
          </a:ln>
          <a:effectLst>
            <a:outerShdw blurRad="76320" dist="25455" dir="2700000" algn="bl" rotWithShape="0">
              <a:srgbClr val="000000">
                <a:alpha val="1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FFFFFF"/>
              </a:solidFill>
              <a:latin typeface="Arial"/>
            </a:endParaRPr>
          </a:p>
        </p:txBody>
      </p:sp>
      <p:sp>
        <p:nvSpPr>
          <p:cNvPr id="483" name="Shape 4"/>
          <p:cNvSpPr/>
          <p:nvPr/>
        </p:nvSpPr>
        <p:spPr>
          <a:xfrm>
            <a:off x="402480" y="1261800"/>
            <a:ext cx="547920" cy="547920"/>
          </a:xfrm>
          <a:solidFill>
            <a:srgbClr val="D4A017"/>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000000"/>
              </a:solidFill>
              <a:latin typeface="Arial"/>
            </a:endParaRPr>
          </a:p>
        </p:txBody>
      </p:sp>
      <p:sp>
        <p:nvSpPr>
          <p:cNvPr id="484" name="Text 5"/>
          <p:cNvSpPr/>
          <p:nvPr/>
        </p:nvSpPr>
        <p:spPr>
          <a:xfrm>
            <a:off x="402480" y="1261800"/>
            <a:ext cx="547920" cy="547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00" b="1" strike="noStrike" spc="-1">
                <a:solidFill>
                  <a:srgbClr val="1A4A2E"/>
                </a:solidFill>
                <a:latin typeface="Arial"/>
                <a:ea typeface="Arial"/>
              </a:rPr>
              <a:t>01</a:t>
            </a:r>
            <a:endParaRPr lang="en-US" sz="1600" b="0" strike="noStrike" spc="-1">
              <a:solidFill>
                <a:srgbClr val="000000"/>
              </a:solidFill>
              <a:latin typeface="Arial"/>
            </a:endParaRPr>
          </a:p>
        </p:txBody>
      </p:sp>
      <p:sp>
        <p:nvSpPr>
          <p:cNvPr id="485" name="Text 6"/>
          <p:cNvSpPr/>
          <p:nvPr/>
        </p:nvSpPr>
        <p:spPr>
          <a:xfrm>
            <a:off x="1097280" y="1097280"/>
            <a:ext cx="3245400" cy="346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strike="noStrike" spc="-1">
                <a:solidFill>
                  <a:srgbClr val="D4A017"/>
                </a:solidFill>
                <a:latin typeface="Arial"/>
                <a:ea typeface="Arial"/>
              </a:rPr>
              <a:t>Pass a National AI Act</a:t>
            </a:r>
            <a:endParaRPr lang="en-US" sz="1300" b="0" strike="noStrike" spc="-1">
              <a:solidFill>
                <a:srgbClr val="000000"/>
              </a:solidFill>
              <a:latin typeface="Arial"/>
            </a:endParaRPr>
          </a:p>
        </p:txBody>
      </p:sp>
      <p:sp>
        <p:nvSpPr>
          <p:cNvPr id="486" name="Text 7"/>
          <p:cNvSpPr/>
          <p:nvPr/>
        </p:nvSpPr>
        <p:spPr>
          <a:xfrm>
            <a:off x="1097280" y="1463040"/>
            <a:ext cx="3245400" cy="547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50" b="0" strike="noStrike" spc="-1">
                <a:solidFill>
                  <a:srgbClr val="FFFFFF"/>
                </a:solidFill>
                <a:latin typeface="Arial"/>
                <a:ea typeface="Arial"/>
              </a:rPr>
              <a:t>Grounded in NDPA 2023, with mandatory algorithmic impact assessments for all public-sector AI systems.</a:t>
            </a:r>
            <a:endParaRPr lang="en-US" sz="1150" b="0" strike="noStrike" spc="-1">
              <a:solidFill>
                <a:srgbClr val="000000"/>
              </a:solidFill>
              <a:latin typeface="Arial"/>
            </a:endParaRPr>
          </a:p>
        </p:txBody>
      </p:sp>
      <p:sp>
        <p:nvSpPr>
          <p:cNvPr id="487" name="Shape 8"/>
          <p:cNvSpPr/>
          <p:nvPr/>
        </p:nvSpPr>
        <p:spPr>
          <a:xfrm>
            <a:off x="4709160" y="1005840"/>
            <a:ext cx="4205520" cy="1078200"/>
          </a:xfrm>
          <a:prstGeom prst="roundRect">
            <a:avLst>
              <a:gd name="adj" fmla="val 8475"/>
            </a:avLst>
          </a:prstGeom>
          <a:solidFill>
            <a:srgbClr val="1E5C35"/>
          </a:solidFill>
          <a:ln w="0">
            <a:noFill/>
          </a:ln>
          <a:effectLst>
            <a:outerShdw blurRad="76320" dist="25455" dir="2700000" algn="bl" rotWithShape="0">
              <a:srgbClr val="000000">
                <a:alpha val="1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FFFFFF"/>
              </a:solidFill>
              <a:latin typeface="Arial"/>
            </a:endParaRPr>
          </a:p>
        </p:txBody>
      </p:sp>
      <p:sp>
        <p:nvSpPr>
          <p:cNvPr id="488" name="Shape 9"/>
          <p:cNvSpPr/>
          <p:nvPr/>
        </p:nvSpPr>
        <p:spPr>
          <a:xfrm>
            <a:off x="4837320" y="1261800"/>
            <a:ext cx="547920" cy="547920"/>
          </a:xfrm>
          <a:solidFill>
            <a:srgbClr val="D4A017"/>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000000"/>
              </a:solidFill>
              <a:latin typeface="Arial"/>
            </a:endParaRPr>
          </a:p>
        </p:txBody>
      </p:sp>
      <p:sp>
        <p:nvSpPr>
          <p:cNvPr id="489" name="Text 10"/>
          <p:cNvSpPr/>
          <p:nvPr/>
        </p:nvSpPr>
        <p:spPr>
          <a:xfrm>
            <a:off x="4837320" y="1261800"/>
            <a:ext cx="547920" cy="547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00" b="1" strike="noStrike" spc="-1">
                <a:solidFill>
                  <a:srgbClr val="1A4A2E"/>
                </a:solidFill>
                <a:latin typeface="Arial"/>
                <a:ea typeface="Arial"/>
              </a:rPr>
              <a:t>02</a:t>
            </a:r>
            <a:endParaRPr lang="en-US" sz="1600" b="0" strike="noStrike" spc="-1">
              <a:solidFill>
                <a:srgbClr val="000000"/>
              </a:solidFill>
              <a:latin typeface="Arial"/>
            </a:endParaRPr>
          </a:p>
        </p:txBody>
      </p:sp>
      <p:sp>
        <p:nvSpPr>
          <p:cNvPr id="490" name="Text 11"/>
          <p:cNvSpPr/>
          <p:nvPr/>
        </p:nvSpPr>
        <p:spPr>
          <a:xfrm>
            <a:off x="5532120" y="1097280"/>
            <a:ext cx="3245400" cy="346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strike="noStrike" spc="-1">
                <a:solidFill>
                  <a:srgbClr val="D4A017"/>
                </a:solidFill>
                <a:latin typeface="Arial"/>
                <a:ea typeface="Arial"/>
              </a:rPr>
              <a:t>Establish an Independent AI Oversight Body</a:t>
            </a:r>
            <a:endParaRPr lang="en-US" sz="1300" b="0" strike="noStrike" spc="-1">
              <a:solidFill>
                <a:srgbClr val="000000"/>
              </a:solidFill>
              <a:latin typeface="Arial"/>
            </a:endParaRPr>
          </a:p>
        </p:txBody>
      </p:sp>
      <p:sp>
        <p:nvSpPr>
          <p:cNvPr id="491" name="Text 12"/>
          <p:cNvSpPr/>
          <p:nvPr/>
        </p:nvSpPr>
        <p:spPr>
          <a:xfrm>
            <a:off x="5532120" y="1463040"/>
            <a:ext cx="3245400" cy="547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50" b="0" strike="noStrike" spc="-1">
                <a:solidFill>
                  <a:srgbClr val="FFFFFF"/>
                </a:solidFill>
                <a:latin typeface="Arial"/>
                <a:ea typeface="Arial"/>
              </a:rPr>
              <a:t>With civil society, academic, and technical representation — citizens must be able to contest AI decisions.</a:t>
            </a:r>
            <a:endParaRPr lang="en-US" sz="1150" b="0" strike="noStrike" spc="-1">
              <a:solidFill>
                <a:srgbClr val="000000"/>
              </a:solidFill>
              <a:latin typeface="Arial"/>
            </a:endParaRPr>
          </a:p>
        </p:txBody>
      </p:sp>
      <p:sp>
        <p:nvSpPr>
          <p:cNvPr id="492" name="Shape 13"/>
          <p:cNvSpPr/>
          <p:nvPr/>
        </p:nvSpPr>
        <p:spPr>
          <a:xfrm>
            <a:off x="274320" y="2194560"/>
            <a:ext cx="4205520" cy="1078200"/>
          </a:xfrm>
          <a:prstGeom prst="roundRect">
            <a:avLst>
              <a:gd name="adj" fmla="val 8475"/>
            </a:avLst>
          </a:prstGeom>
          <a:solidFill>
            <a:srgbClr val="1E5C35"/>
          </a:solidFill>
          <a:ln w="0">
            <a:noFill/>
          </a:ln>
          <a:effectLst>
            <a:outerShdw blurRad="76320" dist="25455" dir="2700000" algn="bl" rotWithShape="0">
              <a:srgbClr val="000000">
                <a:alpha val="1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FFFFFF"/>
              </a:solidFill>
              <a:latin typeface="Arial"/>
            </a:endParaRPr>
          </a:p>
        </p:txBody>
      </p:sp>
      <p:sp>
        <p:nvSpPr>
          <p:cNvPr id="493" name="Shape 14"/>
          <p:cNvSpPr/>
          <p:nvPr/>
        </p:nvSpPr>
        <p:spPr>
          <a:xfrm>
            <a:off x="402480" y="2450520"/>
            <a:ext cx="547920" cy="547920"/>
          </a:xfrm>
          <a:solidFill>
            <a:srgbClr val="D4A017"/>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000000"/>
              </a:solidFill>
              <a:latin typeface="Arial"/>
            </a:endParaRPr>
          </a:p>
        </p:txBody>
      </p:sp>
      <p:sp>
        <p:nvSpPr>
          <p:cNvPr id="494" name="Text 15"/>
          <p:cNvSpPr/>
          <p:nvPr/>
        </p:nvSpPr>
        <p:spPr>
          <a:xfrm>
            <a:off x="402480" y="2450520"/>
            <a:ext cx="547920" cy="547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00" b="1" strike="noStrike" spc="-1">
                <a:solidFill>
                  <a:srgbClr val="1A4A2E"/>
                </a:solidFill>
                <a:latin typeface="Arial"/>
                <a:ea typeface="Arial"/>
              </a:rPr>
              <a:t>03</a:t>
            </a:r>
            <a:endParaRPr lang="en-US" sz="1600" b="0" strike="noStrike" spc="-1">
              <a:solidFill>
                <a:srgbClr val="000000"/>
              </a:solidFill>
              <a:latin typeface="Arial"/>
            </a:endParaRPr>
          </a:p>
        </p:txBody>
      </p:sp>
      <p:sp>
        <p:nvSpPr>
          <p:cNvPr id="495" name="Text 16"/>
          <p:cNvSpPr/>
          <p:nvPr/>
        </p:nvSpPr>
        <p:spPr>
          <a:xfrm>
            <a:off x="1097280" y="2286000"/>
            <a:ext cx="3245400" cy="346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strike="noStrike" spc="-1">
                <a:solidFill>
                  <a:srgbClr val="D4A017"/>
                </a:solidFill>
                <a:latin typeface="Arial"/>
                <a:ea typeface="Arial"/>
              </a:rPr>
              <a:t>Fund Nigerian Language NLP</a:t>
            </a:r>
            <a:endParaRPr lang="en-US" sz="1300" b="0" strike="noStrike" spc="-1">
              <a:solidFill>
                <a:srgbClr val="000000"/>
              </a:solidFill>
              <a:latin typeface="Arial"/>
            </a:endParaRPr>
          </a:p>
        </p:txBody>
      </p:sp>
      <p:sp>
        <p:nvSpPr>
          <p:cNvPr id="496" name="Text 17"/>
          <p:cNvSpPr/>
          <p:nvPr/>
        </p:nvSpPr>
        <p:spPr>
          <a:xfrm>
            <a:off x="1097280" y="2651760"/>
            <a:ext cx="3245400" cy="547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50" b="0" strike="noStrike" spc="-1">
                <a:solidFill>
                  <a:srgbClr val="FFFFFF"/>
                </a:solidFill>
                <a:latin typeface="Arial"/>
                <a:ea typeface="Arial"/>
              </a:rPr>
              <a:t>Dedicated funding for Yorùbá, Hausa, Igbo and Pidgin AI models as a TETFUND-eligible research priority.</a:t>
            </a:r>
            <a:endParaRPr lang="en-US" sz="1150" b="0" strike="noStrike" spc="-1">
              <a:solidFill>
                <a:srgbClr val="000000"/>
              </a:solidFill>
              <a:latin typeface="Arial"/>
            </a:endParaRPr>
          </a:p>
        </p:txBody>
      </p:sp>
      <p:sp>
        <p:nvSpPr>
          <p:cNvPr id="497" name="Shape 18"/>
          <p:cNvSpPr/>
          <p:nvPr/>
        </p:nvSpPr>
        <p:spPr>
          <a:xfrm>
            <a:off x="4709160" y="2194560"/>
            <a:ext cx="4205520" cy="1078200"/>
          </a:xfrm>
          <a:prstGeom prst="roundRect">
            <a:avLst>
              <a:gd name="adj" fmla="val 8475"/>
            </a:avLst>
          </a:prstGeom>
          <a:solidFill>
            <a:srgbClr val="1E5C35"/>
          </a:solidFill>
          <a:ln w="0">
            <a:noFill/>
          </a:ln>
          <a:effectLst>
            <a:outerShdw blurRad="76320" dist="25455" dir="2700000" algn="bl" rotWithShape="0">
              <a:srgbClr val="000000">
                <a:alpha val="1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FFFFFF"/>
              </a:solidFill>
              <a:latin typeface="Arial"/>
            </a:endParaRPr>
          </a:p>
        </p:txBody>
      </p:sp>
      <p:sp>
        <p:nvSpPr>
          <p:cNvPr id="498" name="Shape 19"/>
          <p:cNvSpPr/>
          <p:nvPr/>
        </p:nvSpPr>
        <p:spPr>
          <a:xfrm>
            <a:off x="4837320" y="2450520"/>
            <a:ext cx="547920" cy="547920"/>
          </a:xfrm>
          <a:solidFill>
            <a:srgbClr val="D4A017"/>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000000"/>
              </a:solidFill>
              <a:latin typeface="Arial"/>
            </a:endParaRPr>
          </a:p>
        </p:txBody>
      </p:sp>
      <p:sp>
        <p:nvSpPr>
          <p:cNvPr id="499" name="Text 20"/>
          <p:cNvSpPr/>
          <p:nvPr/>
        </p:nvSpPr>
        <p:spPr>
          <a:xfrm>
            <a:off x="4837320" y="2450520"/>
            <a:ext cx="547920" cy="547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00" b="1" strike="noStrike" spc="-1">
                <a:solidFill>
                  <a:srgbClr val="1A4A2E"/>
                </a:solidFill>
                <a:latin typeface="Arial"/>
                <a:ea typeface="Arial"/>
              </a:rPr>
              <a:t>04</a:t>
            </a:r>
            <a:endParaRPr lang="en-US" sz="1600" b="0" strike="noStrike" spc="-1">
              <a:solidFill>
                <a:srgbClr val="000000"/>
              </a:solidFill>
              <a:latin typeface="Arial"/>
            </a:endParaRPr>
          </a:p>
        </p:txBody>
      </p:sp>
      <p:sp>
        <p:nvSpPr>
          <p:cNvPr id="500" name="Text 21"/>
          <p:cNvSpPr/>
          <p:nvPr/>
        </p:nvSpPr>
        <p:spPr>
          <a:xfrm>
            <a:off x="5532120" y="2286000"/>
            <a:ext cx="3245400" cy="346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strike="noStrike" spc="-1">
                <a:solidFill>
                  <a:srgbClr val="D4A017"/>
                </a:solidFill>
                <a:latin typeface="Arial"/>
                <a:ea typeface="Arial"/>
              </a:rPr>
              <a:t>Mandate Open Procurement</a:t>
            </a:r>
            <a:endParaRPr lang="en-US" sz="1300" b="0" strike="noStrike" spc="-1">
              <a:solidFill>
                <a:srgbClr val="000000"/>
              </a:solidFill>
              <a:latin typeface="Arial"/>
            </a:endParaRPr>
          </a:p>
        </p:txBody>
      </p:sp>
      <p:sp>
        <p:nvSpPr>
          <p:cNvPr id="501" name="Text 22"/>
          <p:cNvSpPr/>
          <p:nvPr/>
        </p:nvSpPr>
        <p:spPr>
          <a:xfrm>
            <a:off x="5532120" y="2651760"/>
            <a:ext cx="3245400" cy="547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50" b="0" strike="noStrike" spc="-1">
                <a:solidFill>
                  <a:srgbClr val="FFFFFF"/>
                </a:solidFill>
                <a:latin typeface="Arial"/>
                <a:ea typeface="Arial"/>
              </a:rPr>
              <a:t>Government AI contracts must require open audits and demographic performance reports before deployment.</a:t>
            </a:r>
            <a:endParaRPr lang="en-US" sz="1150" b="0" strike="noStrike" spc="-1">
              <a:solidFill>
                <a:srgbClr val="000000"/>
              </a:solidFill>
              <a:latin typeface="Arial"/>
            </a:endParaRPr>
          </a:p>
        </p:txBody>
      </p:sp>
      <p:sp>
        <p:nvSpPr>
          <p:cNvPr id="502" name="Shape 23"/>
          <p:cNvSpPr/>
          <p:nvPr/>
        </p:nvSpPr>
        <p:spPr>
          <a:xfrm>
            <a:off x="274320" y="3383280"/>
            <a:ext cx="4205520" cy="1078200"/>
          </a:xfrm>
          <a:prstGeom prst="roundRect">
            <a:avLst>
              <a:gd name="adj" fmla="val 8475"/>
            </a:avLst>
          </a:prstGeom>
          <a:solidFill>
            <a:srgbClr val="1E5C35"/>
          </a:solidFill>
          <a:ln w="0">
            <a:noFill/>
          </a:ln>
          <a:effectLst>
            <a:outerShdw blurRad="76320" dist="25455" dir="2700000" algn="bl" rotWithShape="0">
              <a:srgbClr val="000000">
                <a:alpha val="1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FFFFFF"/>
              </a:solidFill>
              <a:latin typeface="Arial"/>
            </a:endParaRPr>
          </a:p>
        </p:txBody>
      </p:sp>
      <p:sp>
        <p:nvSpPr>
          <p:cNvPr id="503" name="Shape 24"/>
          <p:cNvSpPr/>
          <p:nvPr/>
        </p:nvSpPr>
        <p:spPr>
          <a:xfrm>
            <a:off x="402480" y="3639240"/>
            <a:ext cx="547920" cy="547920"/>
          </a:xfrm>
          <a:solidFill>
            <a:srgbClr val="D4A017"/>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000000"/>
              </a:solidFill>
              <a:latin typeface="Arial"/>
            </a:endParaRPr>
          </a:p>
        </p:txBody>
      </p:sp>
      <p:sp>
        <p:nvSpPr>
          <p:cNvPr id="504" name="Text 25"/>
          <p:cNvSpPr/>
          <p:nvPr/>
        </p:nvSpPr>
        <p:spPr>
          <a:xfrm>
            <a:off x="402480" y="3639240"/>
            <a:ext cx="547920" cy="547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00" b="1" strike="noStrike" spc="-1">
                <a:solidFill>
                  <a:srgbClr val="1A4A2E"/>
                </a:solidFill>
                <a:latin typeface="Arial"/>
                <a:ea typeface="Arial"/>
              </a:rPr>
              <a:t>05</a:t>
            </a:r>
            <a:endParaRPr lang="en-US" sz="1600" b="0" strike="noStrike" spc="-1">
              <a:solidFill>
                <a:srgbClr val="000000"/>
              </a:solidFill>
              <a:latin typeface="Arial"/>
            </a:endParaRPr>
          </a:p>
        </p:txBody>
      </p:sp>
      <p:sp>
        <p:nvSpPr>
          <p:cNvPr id="505" name="Text 26"/>
          <p:cNvSpPr/>
          <p:nvPr/>
        </p:nvSpPr>
        <p:spPr>
          <a:xfrm>
            <a:off x="1097280" y="3474720"/>
            <a:ext cx="3245400" cy="346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strike="noStrike" spc="-1">
                <a:solidFill>
                  <a:srgbClr val="D4A017"/>
                </a:solidFill>
                <a:latin typeface="Arial"/>
                <a:ea typeface="Arial"/>
              </a:rPr>
              <a:t>Digital Rights Education at Scale</a:t>
            </a:r>
            <a:endParaRPr lang="en-US" sz="1300" b="0" strike="noStrike" spc="-1">
              <a:solidFill>
                <a:srgbClr val="000000"/>
              </a:solidFill>
              <a:latin typeface="Arial"/>
            </a:endParaRPr>
          </a:p>
        </p:txBody>
      </p:sp>
      <p:sp>
        <p:nvSpPr>
          <p:cNvPr id="506" name="Text 27"/>
          <p:cNvSpPr/>
          <p:nvPr/>
        </p:nvSpPr>
        <p:spPr>
          <a:xfrm>
            <a:off x="1097280" y="3840480"/>
            <a:ext cx="3245400" cy="547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50" b="0" strike="noStrike" spc="-1">
                <a:solidFill>
                  <a:srgbClr val="FFFFFF"/>
                </a:solidFill>
                <a:latin typeface="Arial"/>
                <a:ea typeface="Arial"/>
              </a:rPr>
              <a:t>AI literacy embedded in secondary and tertiary curricula. Citizens who cannot read an algorithm can still be affected by one.</a:t>
            </a:r>
            <a:endParaRPr lang="en-US" sz="1150" b="0" strike="noStrike" spc="-1">
              <a:solidFill>
                <a:srgbClr val="000000"/>
              </a:solidFill>
              <a:latin typeface="Arial"/>
            </a:endParaRPr>
          </a:p>
        </p:txBody>
      </p:sp>
      <p:sp>
        <p:nvSpPr>
          <p:cNvPr id="507" name="Shape 28"/>
          <p:cNvSpPr/>
          <p:nvPr/>
        </p:nvSpPr>
        <p:spPr>
          <a:xfrm>
            <a:off x="4709160" y="3383280"/>
            <a:ext cx="4205520" cy="1078200"/>
          </a:xfrm>
          <a:prstGeom prst="roundRect">
            <a:avLst>
              <a:gd name="adj" fmla="val 8475"/>
            </a:avLst>
          </a:prstGeom>
          <a:solidFill>
            <a:srgbClr val="1E5C35"/>
          </a:solidFill>
          <a:ln w="0">
            <a:noFill/>
          </a:ln>
          <a:effectLst>
            <a:outerShdw blurRad="76320" dist="25455" dir="2700000" algn="bl" rotWithShape="0">
              <a:srgbClr val="000000">
                <a:alpha val="1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FFFFFF"/>
              </a:solidFill>
              <a:latin typeface="Arial"/>
            </a:endParaRPr>
          </a:p>
        </p:txBody>
      </p:sp>
      <p:sp>
        <p:nvSpPr>
          <p:cNvPr id="508" name="Shape 29"/>
          <p:cNvSpPr/>
          <p:nvPr/>
        </p:nvSpPr>
        <p:spPr>
          <a:xfrm>
            <a:off x="4837320" y="3639240"/>
            <a:ext cx="547920" cy="547920"/>
          </a:xfrm>
          <a:solidFill>
            <a:srgbClr val="D4A017"/>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000000"/>
              </a:solidFill>
              <a:latin typeface="Arial"/>
            </a:endParaRPr>
          </a:p>
        </p:txBody>
      </p:sp>
      <p:sp>
        <p:nvSpPr>
          <p:cNvPr id="509" name="Text 30"/>
          <p:cNvSpPr/>
          <p:nvPr/>
        </p:nvSpPr>
        <p:spPr>
          <a:xfrm>
            <a:off x="4837320" y="3639240"/>
            <a:ext cx="547920" cy="547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00" b="1" strike="noStrike" spc="-1">
                <a:solidFill>
                  <a:srgbClr val="1A4A2E"/>
                </a:solidFill>
                <a:latin typeface="Arial"/>
                <a:ea typeface="Arial"/>
              </a:rPr>
              <a:t>06</a:t>
            </a:r>
            <a:endParaRPr lang="en-US" sz="1600" b="0" strike="noStrike" spc="-1">
              <a:solidFill>
                <a:srgbClr val="000000"/>
              </a:solidFill>
              <a:latin typeface="Arial"/>
            </a:endParaRPr>
          </a:p>
        </p:txBody>
      </p:sp>
      <p:sp>
        <p:nvSpPr>
          <p:cNvPr id="510" name="Text 31"/>
          <p:cNvSpPr/>
          <p:nvPr/>
        </p:nvSpPr>
        <p:spPr>
          <a:xfrm>
            <a:off x="5532120" y="3474720"/>
            <a:ext cx="3245400" cy="346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strike="noStrike" spc="-1">
                <a:solidFill>
                  <a:srgbClr val="D4A017"/>
                </a:solidFill>
                <a:latin typeface="Arial"/>
                <a:ea typeface="Arial"/>
              </a:rPr>
              <a:t>African AI Governance Coalition</a:t>
            </a:r>
            <a:endParaRPr lang="en-US" sz="1300" b="0" strike="noStrike" spc="-1">
              <a:solidFill>
                <a:srgbClr val="000000"/>
              </a:solidFill>
              <a:latin typeface="Arial"/>
            </a:endParaRPr>
          </a:p>
        </p:txBody>
      </p:sp>
      <p:sp>
        <p:nvSpPr>
          <p:cNvPr id="511" name="Text 32"/>
          <p:cNvSpPr/>
          <p:nvPr/>
        </p:nvSpPr>
        <p:spPr>
          <a:xfrm>
            <a:off x="5532120" y="3840480"/>
            <a:ext cx="3245400" cy="547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50" b="0" strike="noStrike" spc="-1">
                <a:solidFill>
                  <a:srgbClr val="FFFFFF"/>
                </a:solidFill>
                <a:latin typeface="Arial"/>
                <a:ea typeface="Arial"/>
              </a:rPr>
              <a:t>Nigeria as co-leader with Ghana, Kenya and South Africa on African AI governance standards — not just adopting EU AI Act models.</a:t>
            </a:r>
            <a:endParaRPr lang="en-US" sz="1150" b="0" strike="noStrike" spc="-1">
              <a:solidFill>
                <a:srgbClr val="000000"/>
              </a:solidFill>
              <a:latin typeface="Arial"/>
            </a:endParaRPr>
          </a:p>
        </p:txBody>
      </p:sp>
      <p:sp>
        <p:nvSpPr>
          <p:cNvPr id="512" name="Shape 33"/>
          <p:cNvSpPr/>
          <p:nvPr/>
        </p:nvSpPr>
        <p:spPr>
          <a:xfrm>
            <a:off x="274320" y="4636080"/>
            <a:ext cx="8594640" cy="410760"/>
          </a:xfrm>
          <a:prstGeom prst="roundRect">
            <a:avLst>
              <a:gd name="adj" fmla="val 22222"/>
            </a:avLst>
          </a:prstGeom>
          <a:solidFill>
            <a:srgbClr val="1E5C35"/>
          </a:solidFill>
          <a:ln w="0">
            <a:noFill/>
          </a:ln>
          <a:effectLst>
            <a:outerShdw blurRad="76320" dist="25455" dir="2700000" algn="bl" rotWithShape="0">
              <a:srgbClr val="000000">
                <a:alpha val="1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FFFFFF"/>
              </a:solidFill>
              <a:latin typeface="Arial"/>
            </a:endParaRPr>
          </a:p>
        </p:txBody>
      </p:sp>
      <p:sp>
        <p:nvSpPr>
          <p:cNvPr id="513" name="Shape 34"/>
          <p:cNvSpPr/>
          <p:nvPr/>
        </p:nvSpPr>
        <p:spPr>
          <a:xfrm>
            <a:off x="347400" y="4663440"/>
            <a:ext cx="346680" cy="346680"/>
          </a:xfrm>
          <a:solidFill>
            <a:srgbClr val="D4A017"/>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000000"/>
              </a:solidFill>
              <a:latin typeface="Arial"/>
            </a:endParaRPr>
          </a:p>
        </p:txBody>
      </p:sp>
      <p:sp>
        <p:nvSpPr>
          <p:cNvPr id="514" name="Text 35"/>
          <p:cNvSpPr/>
          <p:nvPr/>
        </p:nvSpPr>
        <p:spPr>
          <a:xfrm>
            <a:off x="347400" y="4663440"/>
            <a:ext cx="346680" cy="346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1" strike="noStrike" spc="-1">
                <a:solidFill>
                  <a:srgbClr val="1A4A2E"/>
                </a:solidFill>
                <a:latin typeface="Arial"/>
                <a:ea typeface="Arial"/>
              </a:rPr>
              <a:t>07</a:t>
            </a:r>
            <a:endParaRPr lang="en-US" sz="1100" b="0" strike="noStrike" spc="-1">
              <a:solidFill>
                <a:srgbClr val="000000"/>
              </a:solidFill>
              <a:latin typeface="Arial"/>
            </a:endParaRPr>
          </a:p>
        </p:txBody>
      </p:sp>
      <p:sp>
        <p:nvSpPr>
          <p:cNvPr id="515" name="Text 36"/>
          <p:cNvSpPr/>
          <p:nvPr/>
        </p:nvSpPr>
        <p:spPr>
          <a:xfrm>
            <a:off x="822960" y="4663440"/>
            <a:ext cx="7863120" cy="346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50" b="0" strike="noStrike" spc="-1">
                <a:solidFill>
                  <a:srgbClr val="FFFFFF"/>
                </a:solidFill>
                <a:latin typeface="Arial"/>
                <a:ea typeface="Arial"/>
              </a:rPr>
              <a:t>University-Government-Civil Society Compact: Research universities co-designing and auditing public AI systems — not consulting after deployment.</a:t>
            </a:r>
            <a:endParaRPr lang="en-US" sz="1150" b="0" strike="noStrike" spc="-1">
              <a:solidFill>
                <a:srgbClr val="000000"/>
              </a:solidFill>
              <a:latin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0F7F1"/>
        </a:solidFill>
        <a:effectLst/>
      </p:bgPr>
    </p:bg>
    <p:spTree>
      <p:nvGrpSpPr>
        <p:cNvPr id="1" name=""/>
        <p:cNvGrpSpPr/>
        <p:nvPr/>
      </p:nvGrpSpPr>
      <p:grpSpPr>
        <a:xfrm>
          <a:off x="0" y="0"/>
          <a:ext cx="0" cy="0"/>
          <a:chOff x="0" y="0"/>
          <a:chExt cx="0" cy="0"/>
        </a:xfrm>
      </p:grpSpPr>
      <p:sp>
        <p:nvSpPr>
          <p:cNvPr id="516" name="Shape 0"/>
          <p:cNvSpPr/>
          <p:nvPr/>
        </p:nvSpPr>
        <p:spPr>
          <a:xfrm>
            <a:off x="0" y="0"/>
            <a:ext cx="9143280" cy="685080"/>
          </a:xfrm>
          <a:prstGeom prst="rect">
            <a:avLst/>
          </a:prstGeom>
          <a:solidFill>
            <a:srgbClr val="1A4A2E"/>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FFFFFF"/>
              </a:solidFill>
              <a:latin typeface="Arial"/>
            </a:endParaRPr>
          </a:p>
        </p:txBody>
      </p:sp>
      <p:sp>
        <p:nvSpPr>
          <p:cNvPr id="517" name="Text 1"/>
          <p:cNvSpPr/>
          <p:nvPr/>
        </p:nvSpPr>
        <p:spPr>
          <a:xfrm>
            <a:off x="365760" y="36720"/>
            <a:ext cx="8411760" cy="621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800" b="1" strike="noStrike" spc="-1">
                <a:solidFill>
                  <a:srgbClr val="FFFFFF"/>
                </a:solidFill>
                <a:latin typeface="Arial"/>
                <a:ea typeface="Arial"/>
              </a:rPr>
              <a:t>The Path Forward: Nigeria's AI Democracy Roadmap</a:t>
            </a:r>
            <a:endParaRPr lang="en-US" sz="2800" b="0" strike="noStrike" spc="-1">
              <a:solidFill>
                <a:srgbClr val="000000"/>
              </a:solidFill>
              <a:latin typeface="Arial"/>
            </a:endParaRPr>
          </a:p>
        </p:txBody>
      </p:sp>
      <p:sp>
        <p:nvSpPr>
          <p:cNvPr id="518" name="Shape 2"/>
          <p:cNvSpPr/>
          <p:nvPr/>
        </p:nvSpPr>
        <p:spPr>
          <a:xfrm>
            <a:off x="274320" y="804600"/>
            <a:ext cx="2788200" cy="4159800"/>
          </a:xfrm>
          <a:prstGeom prst="roundRect">
            <a:avLst>
              <a:gd name="adj" fmla="val 3279"/>
            </a:avLst>
          </a:prstGeom>
          <a:solidFill>
            <a:srgbClr val="1E5C35"/>
          </a:solidFill>
          <a:ln w="0">
            <a:noFill/>
          </a:ln>
          <a:effectLst>
            <a:outerShdw blurRad="76320" dist="25455" dir="2700000" algn="bl" rotWithShape="0">
              <a:srgbClr val="000000">
                <a:alpha val="1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FFFFFF"/>
              </a:solidFill>
              <a:latin typeface="Arial"/>
            </a:endParaRPr>
          </a:p>
        </p:txBody>
      </p:sp>
      <p:sp>
        <p:nvSpPr>
          <p:cNvPr id="519" name="Shape 3"/>
          <p:cNvSpPr/>
          <p:nvPr/>
        </p:nvSpPr>
        <p:spPr>
          <a:xfrm>
            <a:off x="347400" y="868680"/>
            <a:ext cx="2642040" cy="566280"/>
          </a:xfrm>
          <a:prstGeom prst="roundRect">
            <a:avLst>
              <a:gd name="adj" fmla="val 9677"/>
            </a:avLst>
          </a:prstGeom>
          <a:solidFill>
            <a:srgbClr val="000000">
              <a:alpha val="20000"/>
            </a:srgb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FFFFFF"/>
              </a:solidFill>
              <a:latin typeface="Arial"/>
            </a:endParaRPr>
          </a:p>
        </p:txBody>
      </p:sp>
      <p:sp>
        <p:nvSpPr>
          <p:cNvPr id="520" name="Text 4"/>
          <p:cNvSpPr/>
          <p:nvPr/>
        </p:nvSpPr>
        <p:spPr>
          <a:xfrm>
            <a:off x="438840" y="896040"/>
            <a:ext cx="2468160" cy="227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1" strike="noStrike" spc="197">
                <a:solidFill>
                  <a:srgbClr val="D4A017"/>
                </a:solidFill>
                <a:latin typeface="Arial"/>
                <a:ea typeface="Arial"/>
              </a:rPr>
              <a:t>Phase 1</a:t>
            </a:r>
            <a:endParaRPr lang="en-US" sz="1100" b="0" strike="noStrike" spc="-1">
              <a:solidFill>
                <a:srgbClr val="000000"/>
              </a:solidFill>
              <a:latin typeface="Arial"/>
            </a:endParaRPr>
          </a:p>
        </p:txBody>
      </p:sp>
      <p:sp>
        <p:nvSpPr>
          <p:cNvPr id="521" name="Text 5"/>
          <p:cNvSpPr/>
          <p:nvPr/>
        </p:nvSpPr>
        <p:spPr>
          <a:xfrm>
            <a:off x="438840" y="1115640"/>
            <a:ext cx="2468160" cy="273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strike="noStrike" spc="-1">
                <a:solidFill>
                  <a:srgbClr val="FFFFFF"/>
                </a:solidFill>
                <a:latin typeface="Arial"/>
                <a:ea typeface="Arial"/>
              </a:rPr>
              <a:t>2025–2030  ·  Foundations</a:t>
            </a:r>
            <a:endParaRPr lang="en-US" sz="1300" b="0" strike="noStrike" spc="-1">
              <a:solidFill>
                <a:srgbClr val="000000"/>
              </a:solidFill>
              <a:latin typeface="Arial"/>
            </a:endParaRPr>
          </a:p>
        </p:txBody>
      </p:sp>
      <p:sp>
        <p:nvSpPr>
          <p:cNvPr id="522" name="Text 6"/>
          <p:cNvSpPr/>
          <p:nvPr/>
        </p:nvSpPr>
        <p:spPr>
          <a:xfrm>
            <a:off x="457200" y="1508760"/>
            <a:ext cx="2449800" cy="456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0" strike="noStrike" spc="-1">
                <a:solidFill>
                  <a:srgbClr val="FFFFFF"/>
                </a:solidFill>
                <a:latin typeface="Arial"/>
                <a:ea typeface="Arial"/>
              </a:rPr>
              <a:t>→  Pass the National AI Act</a:t>
            </a:r>
            <a:endParaRPr lang="en-US" sz="1100" b="0" strike="noStrike" spc="-1">
              <a:solidFill>
                <a:srgbClr val="000000"/>
              </a:solidFill>
              <a:latin typeface="Arial"/>
            </a:endParaRPr>
          </a:p>
        </p:txBody>
      </p:sp>
      <p:sp>
        <p:nvSpPr>
          <p:cNvPr id="523" name="Text 7"/>
          <p:cNvSpPr/>
          <p:nvPr/>
        </p:nvSpPr>
        <p:spPr>
          <a:xfrm>
            <a:off x="457200" y="2057400"/>
            <a:ext cx="2449800" cy="456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0" strike="noStrike" spc="-1">
                <a:solidFill>
                  <a:srgbClr val="FFFFFF"/>
                </a:solidFill>
                <a:latin typeface="Arial"/>
                <a:ea typeface="Arial"/>
              </a:rPr>
              <a:t>→  Establish NDPC enforcement capacity</a:t>
            </a:r>
            <a:endParaRPr lang="en-US" sz="1100" b="0" strike="noStrike" spc="-1">
              <a:solidFill>
                <a:srgbClr val="000000"/>
              </a:solidFill>
              <a:latin typeface="Arial"/>
            </a:endParaRPr>
          </a:p>
        </p:txBody>
      </p:sp>
      <p:sp>
        <p:nvSpPr>
          <p:cNvPr id="524" name="Text 8"/>
          <p:cNvSpPr/>
          <p:nvPr/>
        </p:nvSpPr>
        <p:spPr>
          <a:xfrm>
            <a:off x="457200" y="2606040"/>
            <a:ext cx="2449800" cy="456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0" strike="noStrike" spc="-1">
                <a:solidFill>
                  <a:srgbClr val="FFFFFF"/>
                </a:solidFill>
                <a:latin typeface="Arial"/>
                <a:ea typeface="Arial"/>
              </a:rPr>
              <a:t>→  Fund multilingual NLP research (TETFUND)</a:t>
            </a:r>
            <a:endParaRPr lang="en-US" sz="1100" b="0" strike="noStrike" spc="-1">
              <a:solidFill>
                <a:srgbClr val="000000"/>
              </a:solidFill>
              <a:latin typeface="Arial"/>
            </a:endParaRPr>
          </a:p>
        </p:txBody>
      </p:sp>
      <p:sp>
        <p:nvSpPr>
          <p:cNvPr id="525" name="Text 9"/>
          <p:cNvSpPr/>
          <p:nvPr/>
        </p:nvSpPr>
        <p:spPr>
          <a:xfrm>
            <a:off x="457200" y="3154680"/>
            <a:ext cx="2449800" cy="456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0" strike="noStrike" spc="-1">
                <a:solidFill>
                  <a:srgbClr val="FFFFFF"/>
                </a:solidFill>
                <a:latin typeface="Arial"/>
                <a:ea typeface="Arial"/>
              </a:rPr>
              <a:t>→  AI literacy in secondary &amp; tertiary curricula</a:t>
            </a:r>
            <a:endParaRPr lang="en-US" sz="1100" b="0" strike="noStrike" spc="-1">
              <a:solidFill>
                <a:srgbClr val="000000"/>
              </a:solidFill>
              <a:latin typeface="Arial"/>
            </a:endParaRPr>
          </a:p>
        </p:txBody>
      </p:sp>
      <p:sp>
        <p:nvSpPr>
          <p:cNvPr id="526" name="Text 10"/>
          <p:cNvSpPr/>
          <p:nvPr/>
        </p:nvSpPr>
        <p:spPr>
          <a:xfrm>
            <a:off x="457200" y="3703320"/>
            <a:ext cx="2449800" cy="456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0" strike="noStrike" spc="-1">
                <a:solidFill>
                  <a:srgbClr val="FFFFFF"/>
                </a:solidFill>
                <a:latin typeface="Arial"/>
                <a:ea typeface="Arial"/>
              </a:rPr>
              <a:t>→  University-government research compacts</a:t>
            </a:r>
            <a:endParaRPr lang="en-US" sz="1100" b="0" strike="noStrike" spc="-1">
              <a:solidFill>
                <a:srgbClr val="000000"/>
              </a:solidFill>
              <a:latin typeface="Arial"/>
            </a:endParaRPr>
          </a:p>
        </p:txBody>
      </p:sp>
      <p:sp>
        <p:nvSpPr>
          <p:cNvPr id="527" name="Text 11"/>
          <p:cNvSpPr/>
          <p:nvPr/>
        </p:nvSpPr>
        <p:spPr>
          <a:xfrm>
            <a:off x="457200" y="4251960"/>
            <a:ext cx="2449800" cy="456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0" strike="noStrike" spc="-1">
                <a:solidFill>
                  <a:srgbClr val="FFFFFF"/>
                </a:solidFill>
                <a:latin typeface="Arial"/>
                <a:ea typeface="Arial"/>
              </a:rPr>
              <a:t>→  African AI Governance Coalition formation</a:t>
            </a:r>
            <a:endParaRPr lang="en-US" sz="1100" b="0" strike="noStrike" spc="-1">
              <a:solidFill>
                <a:srgbClr val="000000"/>
              </a:solidFill>
              <a:latin typeface="Arial"/>
            </a:endParaRPr>
          </a:p>
        </p:txBody>
      </p:sp>
      <p:sp>
        <p:nvSpPr>
          <p:cNvPr id="528" name="Shape 12"/>
          <p:cNvSpPr/>
          <p:nvPr/>
        </p:nvSpPr>
        <p:spPr>
          <a:xfrm>
            <a:off x="3218760" y="804600"/>
            <a:ext cx="2788200" cy="4159800"/>
          </a:xfrm>
          <a:prstGeom prst="roundRect">
            <a:avLst>
              <a:gd name="adj" fmla="val 3279"/>
            </a:avLst>
          </a:prstGeom>
          <a:solidFill>
            <a:srgbClr val="7A6010"/>
          </a:solidFill>
          <a:ln w="0">
            <a:noFill/>
          </a:ln>
          <a:effectLst>
            <a:outerShdw blurRad="76320" dist="25455" dir="2700000" algn="bl" rotWithShape="0">
              <a:srgbClr val="000000">
                <a:alpha val="1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FFFFFF"/>
              </a:solidFill>
              <a:latin typeface="Arial"/>
            </a:endParaRPr>
          </a:p>
        </p:txBody>
      </p:sp>
      <p:sp>
        <p:nvSpPr>
          <p:cNvPr id="529" name="Shape 13"/>
          <p:cNvSpPr/>
          <p:nvPr/>
        </p:nvSpPr>
        <p:spPr>
          <a:xfrm>
            <a:off x="3291840" y="868680"/>
            <a:ext cx="2642040" cy="566280"/>
          </a:xfrm>
          <a:prstGeom prst="roundRect">
            <a:avLst>
              <a:gd name="adj" fmla="val 9677"/>
            </a:avLst>
          </a:prstGeom>
          <a:solidFill>
            <a:srgbClr val="000000">
              <a:alpha val="20000"/>
            </a:srgb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FFFFFF"/>
              </a:solidFill>
              <a:latin typeface="Arial"/>
            </a:endParaRPr>
          </a:p>
        </p:txBody>
      </p:sp>
      <p:sp>
        <p:nvSpPr>
          <p:cNvPr id="530" name="Text 14"/>
          <p:cNvSpPr/>
          <p:nvPr/>
        </p:nvSpPr>
        <p:spPr>
          <a:xfrm>
            <a:off x="3383280" y="896040"/>
            <a:ext cx="2468160" cy="227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1" strike="noStrike" spc="197">
                <a:solidFill>
                  <a:srgbClr val="D4A017"/>
                </a:solidFill>
                <a:latin typeface="Arial"/>
                <a:ea typeface="Arial"/>
              </a:rPr>
              <a:t>Phase 2</a:t>
            </a:r>
            <a:endParaRPr lang="en-US" sz="1100" b="0" strike="noStrike" spc="-1">
              <a:solidFill>
                <a:srgbClr val="000000"/>
              </a:solidFill>
              <a:latin typeface="Arial"/>
            </a:endParaRPr>
          </a:p>
        </p:txBody>
      </p:sp>
      <p:sp>
        <p:nvSpPr>
          <p:cNvPr id="531" name="Text 15"/>
          <p:cNvSpPr/>
          <p:nvPr/>
        </p:nvSpPr>
        <p:spPr>
          <a:xfrm>
            <a:off x="3383280" y="1115640"/>
            <a:ext cx="2468160" cy="273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strike="noStrike" spc="-1">
                <a:solidFill>
                  <a:srgbClr val="FFFFFF"/>
                </a:solidFill>
                <a:latin typeface="Arial"/>
                <a:ea typeface="Arial"/>
              </a:rPr>
              <a:t>2030–2040  ·  Integration</a:t>
            </a:r>
            <a:endParaRPr lang="en-US" sz="1300" b="0" strike="noStrike" spc="-1">
              <a:solidFill>
                <a:srgbClr val="000000"/>
              </a:solidFill>
              <a:latin typeface="Arial"/>
            </a:endParaRPr>
          </a:p>
        </p:txBody>
      </p:sp>
      <p:sp>
        <p:nvSpPr>
          <p:cNvPr id="532" name="Text 16"/>
          <p:cNvSpPr/>
          <p:nvPr/>
        </p:nvSpPr>
        <p:spPr>
          <a:xfrm>
            <a:off x="3401640" y="1508760"/>
            <a:ext cx="2449800" cy="456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0" strike="noStrike" spc="-1">
                <a:solidFill>
                  <a:srgbClr val="FFFFFF"/>
                </a:solidFill>
                <a:latin typeface="Arial"/>
                <a:ea typeface="Arial"/>
              </a:rPr>
              <a:t>→  AI-assisted electoral systems with independent audit</a:t>
            </a:r>
            <a:endParaRPr lang="en-US" sz="1100" b="0" strike="noStrike" spc="-1">
              <a:solidFill>
                <a:srgbClr val="000000"/>
              </a:solidFill>
              <a:latin typeface="Arial"/>
            </a:endParaRPr>
          </a:p>
        </p:txBody>
      </p:sp>
      <p:sp>
        <p:nvSpPr>
          <p:cNvPr id="533" name="Text 17"/>
          <p:cNvSpPr/>
          <p:nvPr/>
        </p:nvSpPr>
        <p:spPr>
          <a:xfrm>
            <a:off x="3401640" y="2057400"/>
            <a:ext cx="2449800" cy="456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0" strike="noStrike" spc="-1">
                <a:solidFill>
                  <a:srgbClr val="FFFFFF"/>
                </a:solidFill>
                <a:latin typeface="Arial"/>
                <a:ea typeface="Arial"/>
              </a:rPr>
              <a:t>→  Multilingual e-government services nationwide</a:t>
            </a:r>
            <a:endParaRPr lang="en-US" sz="1100" b="0" strike="noStrike" spc="-1">
              <a:solidFill>
                <a:srgbClr val="000000"/>
              </a:solidFill>
              <a:latin typeface="Arial"/>
            </a:endParaRPr>
          </a:p>
        </p:txBody>
      </p:sp>
      <p:sp>
        <p:nvSpPr>
          <p:cNvPr id="534" name="Text 18"/>
          <p:cNvSpPr/>
          <p:nvPr/>
        </p:nvSpPr>
        <p:spPr>
          <a:xfrm>
            <a:off x="3401640" y="2606040"/>
            <a:ext cx="2449800" cy="456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0" strike="noStrike" spc="-1">
                <a:solidFill>
                  <a:srgbClr val="FFFFFF"/>
                </a:solidFill>
                <a:latin typeface="Arial"/>
                <a:ea typeface="Arial"/>
              </a:rPr>
              <a:t>→  Federated civic data infrastructure across 36 states</a:t>
            </a:r>
            <a:endParaRPr lang="en-US" sz="1100" b="0" strike="noStrike" spc="-1">
              <a:solidFill>
                <a:srgbClr val="000000"/>
              </a:solidFill>
              <a:latin typeface="Arial"/>
            </a:endParaRPr>
          </a:p>
        </p:txBody>
      </p:sp>
      <p:sp>
        <p:nvSpPr>
          <p:cNvPr id="535" name="Text 19"/>
          <p:cNvSpPr/>
          <p:nvPr/>
        </p:nvSpPr>
        <p:spPr>
          <a:xfrm>
            <a:off x="3401640" y="3154680"/>
            <a:ext cx="2449800" cy="456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0" strike="noStrike" spc="-1">
                <a:solidFill>
                  <a:srgbClr val="FFFFFF"/>
                </a:solidFill>
                <a:latin typeface="Arial"/>
                <a:ea typeface="Arial"/>
              </a:rPr>
              <a:t>→  AI in courts with human oversight and appeal rights</a:t>
            </a:r>
            <a:endParaRPr lang="en-US" sz="1100" b="0" strike="noStrike" spc="-1">
              <a:solidFill>
                <a:srgbClr val="000000"/>
              </a:solidFill>
              <a:latin typeface="Arial"/>
            </a:endParaRPr>
          </a:p>
        </p:txBody>
      </p:sp>
      <p:sp>
        <p:nvSpPr>
          <p:cNvPr id="536" name="Text 20"/>
          <p:cNvSpPr/>
          <p:nvPr/>
        </p:nvSpPr>
        <p:spPr>
          <a:xfrm>
            <a:off x="3401640" y="3703320"/>
            <a:ext cx="2449800" cy="456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0" strike="noStrike" spc="-1">
                <a:solidFill>
                  <a:srgbClr val="FFFFFF"/>
                </a:solidFill>
                <a:latin typeface="Arial"/>
                <a:ea typeface="Arial"/>
              </a:rPr>
              <a:t>→  FAIR data repositories for Nigerian languages</a:t>
            </a:r>
            <a:endParaRPr lang="en-US" sz="1100" b="0" strike="noStrike" spc="-1">
              <a:solidFill>
                <a:srgbClr val="000000"/>
              </a:solidFill>
              <a:latin typeface="Arial"/>
            </a:endParaRPr>
          </a:p>
        </p:txBody>
      </p:sp>
      <p:sp>
        <p:nvSpPr>
          <p:cNvPr id="537" name="Text 21"/>
          <p:cNvSpPr/>
          <p:nvPr/>
        </p:nvSpPr>
        <p:spPr>
          <a:xfrm>
            <a:off x="3401640" y="4251960"/>
            <a:ext cx="2449800" cy="456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0" strike="noStrike" spc="-1">
                <a:solidFill>
                  <a:srgbClr val="FFFFFF"/>
                </a:solidFill>
                <a:latin typeface="Arial"/>
                <a:ea typeface="Arial"/>
              </a:rPr>
              <a:t>→  Smart city governance with algorithmic transparency</a:t>
            </a:r>
            <a:endParaRPr lang="en-US" sz="1100" b="0" strike="noStrike" spc="-1">
              <a:solidFill>
                <a:srgbClr val="000000"/>
              </a:solidFill>
              <a:latin typeface="Arial"/>
            </a:endParaRPr>
          </a:p>
        </p:txBody>
      </p:sp>
      <p:sp>
        <p:nvSpPr>
          <p:cNvPr id="538" name="Shape 22"/>
          <p:cNvSpPr/>
          <p:nvPr/>
        </p:nvSpPr>
        <p:spPr>
          <a:xfrm>
            <a:off x="6163200" y="804600"/>
            <a:ext cx="2788200" cy="4159800"/>
          </a:xfrm>
          <a:prstGeom prst="roundRect">
            <a:avLst>
              <a:gd name="adj" fmla="val 3279"/>
            </a:avLst>
          </a:prstGeom>
          <a:solidFill>
            <a:srgbClr val="0D2B1A"/>
          </a:solidFill>
          <a:ln w="0">
            <a:noFill/>
          </a:ln>
          <a:effectLst>
            <a:outerShdw blurRad="76320" dist="25455" dir="2700000" algn="bl" rotWithShape="0">
              <a:srgbClr val="000000">
                <a:alpha val="18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FFFFFF"/>
              </a:solidFill>
              <a:latin typeface="Arial"/>
            </a:endParaRPr>
          </a:p>
        </p:txBody>
      </p:sp>
      <p:sp>
        <p:nvSpPr>
          <p:cNvPr id="539" name="Shape 23"/>
          <p:cNvSpPr/>
          <p:nvPr/>
        </p:nvSpPr>
        <p:spPr>
          <a:xfrm>
            <a:off x="6236280" y="868680"/>
            <a:ext cx="2642040" cy="566280"/>
          </a:xfrm>
          <a:prstGeom prst="roundRect">
            <a:avLst>
              <a:gd name="adj" fmla="val 9677"/>
            </a:avLst>
          </a:prstGeom>
          <a:solidFill>
            <a:srgbClr val="000000">
              <a:alpha val="20000"/>
            </a:srgb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FFFFFF"/>
              </a:solidFill>
              <a:latin typeface="Arial"/>
            </a:endParaRPr>
          </a:p>
        </p:txBody>
      </p:sp>
      <p:sp>
        <p:nvSpPr>
          <p:cNvPr id="540" name="Text 24"/>
          <p:cNvSpPr/>
          <p:nvPr/>
        </p:nvSpPr>
        <p:spPr>
          <a:xfrm>
            <a:off x="6327720" y="896040"/>
            <a:ext cx="2468160" cy="227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1" strike="noStrike" spc="197">
                <a:solidFill>
                  <a:srgbClr val="D4A017"/>
                </a:solidFill>
                <a:latin typeface="Arial"/>
                <a:ea typeface="Arial"/>
              </a:rPr>
              <a:t>Phase 3</a:t>
            </a:r>
            <a:endParaRPr lang="en-US" sz="1100" b="0" strike="noStrike" spc="-1">
              <a:solidFill>
                <a:srgbClr val="000000"/>
              </a:solidFill>
              <a:latin typeface="Arial"/>
            </a:endParaRPr>
          </a:p>
        </p:txBody>
      </p:sp>
      <p:sp>
        <p:nvSpPr>
          <p:cNvPr id="541" name="Text 25"/>
          <p:cNvSpPr/>
          <p:nvPr/>
        </p:nvSpPr>
        <p:spPr>
          <a:xfrm>
            <a:off x="6327720" y="1115640"/>
            <a:ext cx="2468160" cy="273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strike="noStrike" spc="-1">
                <a:solidFill>
                  <a:srgbClr val="FFFFFF"/>
                </a:solidFill>
                <a:latin typeface="Arial"/>
                <a:ea typeface="Arial"/>
              </a:rPr>
              <a:t>2040–2050  ·  Transformation</a:t>
            </a:r>
            <a:endParaRPr lang="en-US" sz="1300" b="0" strike="noStrike" spc="-1">
              <a:solidFill>
                <a:srgbClr val="000000"/>
              </a:solidFill>
              <a:latin typeface="Arial"/>
            </a:endParaRPr>
          </a:p>
        </p:txBody>
      </p:sp>
      <p:sp>
        <p:nvSpPr>
          <p:cNvPr id="542" name="Text 26"/>
          <p:cNvSpPr/>
          <p:nvPr/>
        </p:nvSpPr>
        <p:spPr>
          <a:xfrm>
            <a:off x="6346080" y="1508760"/>
            <a:ext cx="2449800" cy="456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0" strike="noStrike" spc="-1">
                <a:solidFill>
                  <a:srgbClr val="FFFFFF"/>
                </a:solidFill>
                <a:latin typeface="Arial"/>
                <a:ea typeface="Arial"/>
              </a:rPr>
              <a:t>→  AI-powered governance serving 400M+ citizens</a:t>
            </a:r>
            <a:endParaRPr lang="en-US" sz="1100" b="0" strike="noStrike" spc="-1">
              <a:solidFill>
                <a:srgbClr val="000000"/>
              </a:solidFill>
              <a:latin typeface="Arial"/>
            </a:endParaRPr>
          </a:p>
        </p:txBody>
      </p:sp>
      <p:sp>
        <p:nvSpPr>
          <p:cNvPr id="543" name="Text 27"/>
          <p:cNvSpPr/>
          <p:nvPr/>
        </p:nvSpPr>
        <p:spPr>
          <a:xfrm>
            <a:off x="6346080" y="2057400"/>
            <a:ext cx="2449800" cy="456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0" strike="noStrike" spc="-1">
                <a:solidFill>
                  <a:srgbClr val="FFFFFF"/>
                </a:solidFill>
                <a:latin typeface="Arial"/>
                <a:ea typeface="Arial"/>
              </a:rPr>
              <a:t>→  Constitutionalised digital and algorithmic rights</a:t>
            </a:r>
            <a:endParaRPr lang="en-US" sz="1100" b="0" strike="noStrike" spc="-1">
              <a:solidFill>
                <a:srgbClr val="000000"/>
              </a:solidFill>
              <a:latin typeface="Arial"/>
            </a:endParaRPr>
          </a:p>
        </p:txBody>
      </p:sp>
      <p:sp>
        <p:nvSpPr>
          <p:cNvPr id="544" name="Text 28"/>
          <p:cNvSpPr/>
          <p:nvPr/>
        </p:nvSpPr>
        <p:spPr>
          <a:xfrm>
            <a:off x="6346080" y="2606040"/>
            <a:ext cx="2449800" cy="456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0" strike="noStrike" spc="-1">
                <a:solidFill>
                  <a:srgbClr val="FFFFFF"/>
                </a:solidFill>
                <a:latin typeface="Arial"/>
                <a:ea typeface="Arial"/>
              </a:rPr>
              <a:t>→  Nigerian AI frameworks adopted pan-Africa</a:t>
            </a:r>
            <a:endParaRPr lang="en-US" sz="1100" b="0" strike="noStrike" spc="-1">
              <a:solidFill>
                <a:srgbClr val="000000"/>
              </a:solidFill>
              <a:latin typeface="Arial"/>
            </a:endParaRPr>
          </a:p>
        </p:txBody>
      </p:sp>
      <p:sp>
        <p:nvSpPr>
          <p:cNvPr id="545" name="Text 29"/>
          <p:cNvSpPr/>
          <p:nvPr/>
        </p:nvSpPr>
        <p:spPr>
          <a:xfrm>
            <a:off x="6346080" y="3154680"/>
            <a:ext cx="2449800" cy="456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0" strike="noStrike" spc="-1">
                <a:solidFill>
                  <a:srgbClr val="FFFFFF"/>
                </a:solidFill>
                <a:latin typeface="Arial"/>
                <a:ea typeface="Arial"/>
              </a:rPr>
              <a:t>→  Hybrid AI-human judicial and legislative processes</a:t>
            </a:r>
            <a:endParaRPr lang="en-US" sz="1100" b="0" strike="noStrike" spc="-1">
              <a:solidFill>
                <a:srgbClr val="000000"/>
              </a:solidFill>
              <a:latin typeface="Arial"/>
            </a:endParaRPr>
          </a:p>
        </p:txBody>
      </p:sp>
      <p:sp>
        <p:nvSpPr>
          <p:cNvPr id="546" name="Text 30"/>
          <p:cNvSpPr/>
          <p:nvPr/>
        </p:nvSpPr>
        <p:spPr>
          <a:xfrm>
            <a:off x="6346080" y="3703320"/>
            <a:ext cx="2449800" cy="456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0" strike="noStrike" spc="-1">
                <a:solidFill>
                  <a:srgbClr val="FFFFFF"/>
                </a:solidFill>
                <a:latin typeface="Arial"/>
                <a:ea typeface="Arial"/>
              </a:rPr>
              <a:t>→  Cultural AI preserving 500+ language heritage</a:t>
            </a:r>
            <a:endParaRPr lang="en-US" sz="1100" b="0" strike="noStrike" spc="-1">
              <a:solidFill>
                <a:srgbClr val="000000"/>
              </a:solidFill>
              <a:latin typeface="Arial"/>
            </a:endParaRPr>
          </a:p>
        </p:txBody>
      </p:sp>
      <p:sp>
        <p:nvSpPr>
          <p:cNvPr id="547" name="Text 31"/>
          <p:cNvSpPr/>
          <p:nvPr/>
        </p:nvSpPr>
        <p:spPr>
          <a:xfrm>
            <a:off x="6346080" y="4251960"/>
            <a:ext cx="2449800" cy="456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0" strike="noStrike" spc="-1">
                <a:solidFill>
                  <a:srgbClr val="FFFFFF"/>
                </a:solidFill>
                <a:latin typeface="Arial"/>
                <a:ea typeface="Arial"/>
              </a:rPr>
              <a:t>→  Nigeria as a global leader in responsible AI democracy</a:t>
            </a:r>
            <a:endParaRPr lang="en-US" sz="1100" b="0" strike="noStrike" spc="-1">
              <a:solidFill>
                <a:srgbClr val="000000"/>
              </a:solidFill>
              <a:latin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D2B1A"/>
        </a:solidFill>
        <a:effectLst/>
      </p:bgPr>
    </p:bg>
    <p:spTree>
      <p:nvGrpSpPr>
        <p:cNvPr id="1" name=""/>
        <p:cNvGrpSpPr/>
        <p:nvPr/>
      </p:nvGrpSpPr>
      <p:grpSpPr>
        <a:xfrm>
          <a:off x="0" y="0"/>
          <a:ext cx="0" cy="0"/>
          <a:chOff x="0" y="0"/>
          <a:chExt cx="0" cy="0"/>
        </a:xfrm>
      </p:grpSpPr>
      <p:sp>
        <p:nvSpPr>
          <p:cNvPr id="548" name="Shape 0"/>
          <p:cNvSpPr/>
          <p:nvPr/>
        </p:nvSpPr>
        <p:spPr>
          <a:xfrm>
            <a:off x="6583680" y="-731520"/>
            <a:ext cx="3656880" cy="3656880"/>
          </a:xfrm>
          <a:solidFill>
            <a:srgbClr val="1A4A2E">
              <a:alpha val="70000"/>
            </a:srgb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FFFFFF"/>
              </a:solidFill>
              <a:latin typeface="Arial"/>
            </a:endParaRPr>
          </a:p>
        </p:txBody>
      </p:sp>
      <p:sp>
        <p:nvSpPr>
          <p:cNvPr id="549" name="Shape 1"/>
          <p:cNvSpPr/>
          <p:nvPr/>
        </p:nvSpPr>
        <p:spPr>
          <a:xfrm>
            <a:off x="-731520" y="3200400"/>
            <a:ext cx="2285280" cy="2285280"/>
          </a:xfrm>
          <a:solidFill>
            <a:srgbClr val="1E5C35">
              <a:alpha val="80000"/>
            </a:srgb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FFFFFF"/>
              </a:solidFill>
              <a:latin typeface="Arial"/>
            </a:endParaRPr>
          </a:p>
        </p:txBody>
      </p:sp>
      <p:sp>
        <p:nvSpPr>
          <p:cNvPr id="550" name="Text 2"/>
          <p:cNvSpPr/>
          <p:nvPr/>
        </p:nvSpPr>
        <p:spPr>
          <a:xfrm>
            <a:off x="457200" y="411480"/>
            <a:ext cx="6400080" cy="365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strike="noStrike" spc="197">
                <a:solidFill>
                  <a:srgbClr val="D4A017"/>
                </a:solidFill>
                <a:latin typeface="Arial"/>
                <a:ea typeface="Arial"/>
              </a:rPr>
              <a:t>The Most Important Question</a:t>
            </a:r>
            <a:endParaRPr lang="en-US" sz="1400" b="0" strike="noStrike" spc="-1">
              <a:solidFill>
                <a:srgbClr val="FFFFFF"/>
              </a:solidFill>
              <a:latin typeface="Arial"/>
            </a:endParaRPr>
          </a:p>
        </p:txBody>
      </p:sp>
      <p:sp>
        <p:nvSpPr>
          <p:cNvPr id="551" name="Text 3"/>
          <p:cNvSpPr/>
          <p:nvPr/>
        </p:nvSpPr>
        <p:spPr>
          <a:xfrm>
            <a:off x="457200" y="960120"/>
            <a:ext cx="6400080" cy="456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200" b="0" strike="noStrike" spc="-1">
                <a:solidFill>
                  <a:srgbClr val="FFFFFF"/>
                </a:solidFill>
                <a:latin typeface="Arial"/>
                <a:ea typeface="Arial"/>
              </a:rPr>
              <a:t>Is not:</a:t>
            </a:r>
            <a:endParaRPr lang="en-US" sz="2200" b="0" strike="noStrike" spc="-1">
              <a:solidFill>
                <a:srgbClr val="FFFFFF"/>
              </a:solidFill>
              <a:latin typeface="Arial"/>
            </a:endParaRPr>
          </a:p>
        </p:txBody>
      </p:sp>
      <p:sp>
        <p:nvSpPr>
          <p:cNvPr id="552" name="Shape 4"/>
          <p:cNvSpPr/>
          <p:nvPr/>
        </p:nvSpPr>
        <p:spPr>
          <a:xfrm>
            <a:off x="457200" y="1481400"/>
            <a:ext cx="6400080" cy="639360"/>
          </a:xfrm>
          <a:prstGeom prst="roundRect">
            <a:avLst>
              <a:gd name="adj" fmla="val 14286"/>
            </a:avLst>
          </a:prstGeom>
          <a:solidFill>
            <a:srgbClr val="245C3A"/>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FFFFFF"/>
              </a:solidFill>
              <a:latin typeface="Arial"/>
            </a:endParaRPr>
          </a:p>
        </p:txBody>
      </p:sp>
      <p:sp>
        <p:nvSpPr>
          <p:cNvPr id="553" name="Text 5"/>
          <p:cNvSpPr/>
          <p:nvPr/>
        </p:nvSpPr>
        <p:spPr>
          <a:xfrm>
            <a:off x="640080" y="1536120"/>
            <a:ext cx="6034320" cy="502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400" b="0" i="1" strike="noStrike" spc="-1">
                <a:solidFill>
                  <a:srgbClr val="8EB89A"/>
                </a:solidFill>
                <a:latin typeface="Arial"/>
                <a:ea typeface="Arial"/>
              </a:rPr>
              <a:t>"What can AI do?"</a:t>
            </a:r>
            <a:endParaRPr lang="en-US" sz="2400" b="0" strike="noStrike" spc="-1">
              <a:solidFill>
                <a:srgbClr val="FFFFFF"/>
              </a:solidFill>
              <a:latin typeface="Arial"/>
            </a:endParaRPr>
          </a:p>
        </p:txBody>
      </p:sp>
      <p:sp>
        <p:nvSpPr>
          <p:cNvPr id="554" name="Text 6"/>
          <p:cNvSpPr/>
          <p:nvPr/>
        </p:nvSpPr>
        <p:spPr>
          <a:xfrm>
            <a:off x="457200" y="2286000"/>
            <a:ext cx="6400080" cy="456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200" b="0" strike="noStrike" spc="-1">
                <a:solidFill>
                  <a:srgbClr val="FFFFFF"/>
                </a:solidFill>
                <a:latin typeface="Arial"/>
                <a:ea typeface="Arial"/>
              </a:rPr>
              <a:t>The real question is:</a:t>
            </a:r>
            <a:endParaRPr lang="en-US" sz="2200" b="0" strike="noStrike" spc="-1">
              <a:solidFill>
                <a:srgbClr val="FFFFFF"/>
              </a:solidFill>
              <a:latin typeface="Arial"/>
            </a:endParaRPr>
          </a:p>
        </p:txBody>
      </p:sp>
      <p:sp>
        <p:nvSpPr>
          <p:cNvPr id="555" name="Shape 7"/>
          <p:cNvSpPr/>
          <p:nvPr/>
        </p:nvSpPr>
        <p:spPr>
          <a:xfrm>
            <a:off x="457200" y="2816280"/>
            <a:ext cx="6857280" cy="1005120"/>
          </a:xfrm>
          <a:prstGeom prst="roundRect">
            <a:avLst>
              <a:gd name="adj" fmla="val 10909"/>
            </a:avLst>
          </a:prstGeom>
          <a:solidFill>
            <a:srgbClr val="D4A017">
              <a:alpha val="95000"/>
            </a:srgb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000000"/>
              </a:solidFill>
              <a:latin typeface="Arial"/>
            </a:endParaRPr>
          </a:p>
        </p:txBody>
      </p:sp>
      <p:sp>
        <p:nvSpPr>
          <p:cNvPr id="556" name="Text 8"/>
          <p:cNvSpPr/>
          <p:nvPr/>
        </p:nvSpPr>
        <p:spPr>
          <a:xfrm>
            <a:off x="640080" y="2880360"/>
            <a:ext cx="6491520" cy="803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800" b="1" i="1" strike="noStrike" spc="-1">
                <a:solidFill>
                  <a:srgbClr val="0D2B1A"/>
                </a:solidFill>
                <a:latin typeface="Arial"/>
                <a:ea typeface="Arial"/>
              </a:rPr>
              <a:t>"What kind of society do we want AI to help us build?"</a:t>
            </a:r>
            <a:endParaRPr lang="en-US" sz="2800" b="0" strike="noStrike" spc="-1">
              <a:solidFill>
                <a:srgbClr val="FFFFFF"/>
              </a:solidFill>
              <a:latin typeface="Arial"/>
            </a:endParaRPr>
          </a:p>
        </p:txBody>
      </p:sp>
      <p:sp>
        <p:nvSpPr>
          <p:cNvPr id="557" name="Text 9"/>
          <p:cNvSpPr/>
          <p:nvPr/>
        </p:nvSpPr>
        <p:spPr>
          <a:xfrm>
            <a:off x="457200" y="4041720"/>
            <a:ext cx="8228880" cy="383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0" i="1" strike="noStrike" spc="-1">
                <a:solidFill>
                  <a:srgbClr val="FFFFFF"/>
                </a:solidFill>
                <a:latin typeface="Arial"/>
                <a:ea typeface="Arial"/>
              </a:rPr>
              <a:t>Technology should amplify human dignity, not replace it.</a:t>
            </a:r>
            <a:endParaRPr lang="en-US" sz="1600" b="0" strike="noStrike" spc="-1">
              <a:solidFill>
                <a:srgbClr val="FFFFFF"/>
              </a:solidFill>
              <a:latin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accent6">
            <a:lumMod val="50000"/>
          </a:schemeClr>
        </a:solidFill>
        <a:effectLst/>
      </p:bgPr>
    </p:bg>
    <p:spTree>
      <p:nvGrpSpPr>
        <p:cNvPr id="1" name=""/>
        <p:cNvGrpSpPr/>
        <p:nvPr/>
      </p:nvGrpSpPr>
      <p:grpSpPr>
        <a:xfrm>
          <a:off x="0" y="0"/>
          <a:ext cx="0" cy="0"/>
          <a:chOff x="0" y="0"/>
          <a:chExt cx="0" cy="0"/>
        </a:xfrm>
      </p:grpSpPr>
      <p:sp>
        <p:nvSpPr>
          <p:cNvPr id="558" name="Shape 0"/>
          <p:cNvSpPr/>
          <p:nvPr/>
        </p:nvSpPr>
        <p:spPr>
          <a:xfrm>
            <a:off x="6217920" y="-914400"/>
            <a:ext cx="4571280" cy="4571280"/>
          </a:xfrm>
          <a:solidFill>
            <a:srgbClr val="1A4A2E">
              <a:alpha val="75000"/>
            </a:srgb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FFFFFF"/>
              </a:solidFill>
              <a:latin typeface="Arial"/>
            </a:endParaRPr>
          </a:p>
        </p:txBody>
      </p:sp>
      <p:sp>
        <p:nvSpPr>
          <p:cNvPr id="559" name="Shape 1"/>
          <p:cNvSpPr/>
          <p:nvPr/>
        </p:nvSpPr>
        <p:spPr>
          <a:xfrm>
            <a:off x="-1097280" y="2926080"/>
            <a:ext cx="2925360" cy="2925360"/>
          </a:xfrm>
          <a:solidFill>
            <a:srgbClr val="1E5C35">
              <a:alpha val="80000"/>
            </a:srgb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FFFFFF"/>
              </a:solidFill>
              <a:latin typeface="Arial"/>
            </a:endParaRPr>
          </a:p>
        </p:txBody>
      </p:sp>
      <p:sp>
        <p:nvSpPr>
          <p:cNvPr id="560" name="Shape 2"/>
          <p:cNvSpPr/>
          <p:nvPr/>
        </p:nvSpPr>
        <p:spPr>
          <a:xfrm>
            <a:off x="6858000" y="3657600"/>
            <a:ext cx="1828080" cy="1828080"/>
          </a:xfrm>
          <a:solidFill>
            <a:srgbClr val="D4A017">
              <a:alpha val="85000"/>
            </a:srgb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en-US" sz="1800" b="0" strike="noStrike" spc="-1">
              <a:solidFill>
                <a:srgbClr val="000000"/>
              </a:solidFill>
              <a:latin typeface="Arial"/>
            </a:endParaRPr>
          </a:p>
        </p:txBody>
      </p:sp>
      <p:sp>
        <p:nvSpPr>
          <p:cNvPr id="561" name="Text 3"/>
          <p:cNvSpPr/>
          <p:nvPr/>
        </p:nvSpPr>
        <p:spPr>
          <a:xfrm>
            <a:off x="457200" y="502920"/>
            <a:ext cx="6400080" cy="776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5200" b="1" strike="noStrike" spc="-1">
                <a:solidFill>
                  <a:srgbClr val="FFFFFF"/>
                </a:solidFill>
                <a:latin typeface="Arial"/>
                <a:ea typeface="Arial"/>
              </a:rPr>
              <a:t>Nigeria 2050:</a:t>
            </a:r>
            <a:endParaRPr lang="en-US" sz="5200" b="0" strike="noStrike" spc="-1">
              <a:solidFill>
                <a:srgbClr val="FFFFFF"/>
              </a:solidFill>
              <a:latin typeface="Arial"/>
            </a:endParaRPr>
          </a:p>
        </p:txBody>
      </p:sp>
      <p:sp>
        <p:nvSpPr>
          <p:cNvPr id="562" name="Text 4"/>
          <p:cNvSpPr/>
          <p:nvPr/>
        </p:nvSpPr>
        <p:spPr>
          <a:xfrm>
            <a:off x="457200" y="1325880"/>
            <a:ext cx="6857280" cy="657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3800" b="1" strike="noStrike" spc="-1">
                <a:solidFill>
                  <a:srgbClr val="D4A017"/>
                </a:solidFill>
                <a:latin typeface="Arial"/>
                <a:ea typeface="Arial"/>
              </a:rPr>
              <a:t>Democracy Powered by AI,</a:t>
            </a:r>
            <a:endParaRPr lang="en-US" sz="3800" b="0" strike="noStrike" spc="-1">
              <a:solidFill>
                <a:srgbClr val="FFFFFF"/>
              </a:solidFill>
              <a:latin typeface="Arial"/>
            </a:endParaRPr>
          </a:p>
        </p:txBody>
      </p:sp>
      <p:sp>
        <p:nvSpPr>
          <p:cNvPr id="563" name="Text 5"/>
          <p:cNvSpPr/>
          <p:nvPr/>
        </p:nvSpPr>
        <p:spPr>
          <a:xfrm>
            <a:off x="457200" y="1993320"/>
            <a:ext cx="6857280" cy="657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3800" b="1" strike="noStrike" spc="-1">
                <a:solidFill>
                  <a:srgbClr val="FFFFFF"/>
                </a:solidFill>
                <a:latin typeface="Arial"/>
                <a:ea typeface="Arial"/>
              </a:rPr>
              <a:t>Guided by Humanity</a:t>
            </a:r>
            <a:endParaRPr lang="en-US" sz="3800" b="0" strike="noStrike" spc="-1">
              <a:solidFill>
                <a:srgbClr val="FFFFFF"/>
              </a:solidFill>
              <a:latin typeface="Arial"/>
            </a:endParaRPr>
          </a:p>
        </p:txBody>
      </p:sp>
      <p:sp>
        <p:nvSpPr>
          <p:cNvPr id="564" name="Shape 6"/>
          <p:cNvSpPr/>
          <p:nvPr/>
        </p:nvSpPr>
        <p:spPr>
          <a:xfrm>
            <a:off x="457200" y="2761560"/>
            <a:ext cx="3199680" cy="45000"/>
          </a:xfrm>
          <a:prstGeom prst="rect">
            <a:avLst/>
          </a:prstGeom>
          <a:solidFill>
            <a:srgbClr val="D4A017"/>
          </a:solidFill>
          <a:ln w="0">
            <a:noFill/>
          </a:ln>
        </p:spPr>
        <p:style>
          <a:lnRef idx="0">
            <a:scrgbClr r="0" g="0" b="0"/>
          </a:lnRef>
          <a:fillRef idx="0">
            <a:scrgbClr r="0" g="0" b="0"/>
          </a:fillRef>
          <a:effectRef idx="0">
            <a:scrgbClr r="0" g="0" b="0"/>
          </a:effectRef>
          <a:fontRef idx="minor"/>
        </p:style>
        <p:txBody>
          <a:bodyPr lIns="90000" tIns="720" rIns="90000" bIns="720" anchor="t">
            <a:noAutofit/>
          </a:bodyPr>
          <a:lstStyle/>
          <a:p>
            <a:pPr>
              <a:lnSpc>
                <a:spcPct val="100000"/>
              </a:lnSpc>
            </a:pPr>
            <a:endParaRPr lang="en-US" sz="1800" b="0" strike="noStrike" spc="-1">
              <a:solidFill>
                <a:srgbClr val="000000"/>
              </a:solidFill>
              <a:latin typeface="Arial"/>
            </a:endParaRPr>
          </a:p>
        </p:txBody>
      </p:sp>
      <p:sp>
        <p:nvSpPr>
          <p:cNvPr id="565" name="Text 7"/>
          <p:cNvSpPr/>
          <p:nvPr/>
        </p:nvSpPr>
        <p:spPr>
          <a:xfrm>
            <a:off x="457199" y="2907720"/>
            <a:ext cx="7257143" cy="803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b="0" i="1" strike="noStrike" spc="-1" dirty="0">
                <a:solidFill>
                  <a:schemeClr val="accent4">
                    <a:lumMod val="50000"/>
                  </a:schemeClr>
                </a:solidFill>
                <a:latin typeface="Arial"/>
                <a:ea typeface="Arial"/>
              </a:rPr>
              <a:t>"The best way to predict the future is to create it.</a:t>
            </a:r>
            <a:endParaRPr lang="en-US" b="0" strike="noStrike" spc="-1" dirty="0">
              <a:solidFill>
                <a:schemeClr val="accent4">
                  <a:lumMod val="50000"/>
                </a:schemeClr>
              </a:solidFill>
              <a:latin typeface="Arial"/>
            </a:endParaRPr>
          </a:p>
          <a:p>
            <a:pPr defTabSz="914400">
              <a:lnSpc>
                <a:spcPct val="100000"/>
              </a:lnSpc>
              <a:tabLst>
                <a:tab pos="0" algn="l"/>
              </a:tabLst>
            </a:pPr>
            <a:r>
              <a:rPr lang="en-US" b="0" i="1" strike="noStrike" spc="-1" dirty="0">
                <a:solidFill>
                  <a:schemeClr val="accent4">
                    <a:lumMod val="50000"/>
                  </a:schemeClr>
                </a:solidFill>
                <a:latin typeface="Arial"/>
                <a:ea typeface="Arial"/>
              </a:rPr>
              <a:t>Our research, our teaching, our institutions — that is the blueprint."</a:t>
            </a:r>
            <a:endParaRPr lang="en-US" b="0" strike="noStrike" spc="-1" dirty="0">
              <a:solidFill>
                <a:schemeClr val="accent4">
                  <a:lumMod val="50000"/>
                </a:schemeClr>
              </a:solidFill>
              <a:latin typeface="Arial"/>
            </a:endParaRPr>
          </a:p>
        </p:txBody>
      </p:sp>
      <p:sp>
        <p:nvSpPr>
          <p:cNvPr id="566" name="Text 8"/>
          <p:cNvSpPr/>
          <p:nvPr/>
        </p:nvSpPr>
        <p:spPr>
          <a:xfrm>
            <a:off x="372656" y="4434840"/>
            <a:ext cx="6400080" cy="319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000" b="1" spc="-1" dirty="0">
                <a:solidFill>
                  <a:schemeClr val="accent4">
                    <a:lumMod val="50000"/>
                  </a:schemeClr>
                </a:solidFill>
                <a:latin typeface="Arial"/>
                <a:ea typeface="Arial"/>
              </a:rPr>
              <a:t>Dr</a:t>
            </a:r>
            <a:r>
              <a:rPr lang="en-US" sz="2000" b="1" strike="noStrike" spc="-1" dirty="0">
                <a:solidFill>
                  <a:schemeClr val="accent4">
                    <a:lumMod val="50000"/>
                  </a:schemeClr>
                </a:solidFill>
                <a:latin typeface="Arial"/>
                <a:ea typeface="Arial"/>
              </a:rPr>
              <a:t>. Sakinat </a:t>
            </a:r>
            <a:r>
              <a:rPr lang="en-US" sz="2000" b="1" strike="noStrike" spc="-1" dirty="0" err="1">
                <a:solidFill>
                  <a:schemeClr val="accent4">
                    <a:lumMod val="50000"/>
                  </a:schemeClr>
                </a:solidFill>
                <a:latin typeface="Arial"/>
                <a:ea typeface="Arial"/>
              </a:rPr>
              <a:t>Oluwabukonla</a:t>
            </a:r>
            <a:r>
              <a:rPr lang="en-US" sz="2000" b="1" strike="noStrike" spc="-1" dirty="0">
                <a:solidFill>
                  <a:schemeClr val="accent4">
                    <a:lumMod val="50000"/>
                  </a:schemeClr>
                </a:solidFill>
                <a:latin typeface="Arial"/>
                <a:ea typeface="Arial"/>
              </a:rPr>
              <a:t> Folorunso  ·  OOU  </a:t>
            </a:r>
            <a:endParaRPr lang="en-US" sz="2000" b="0" strike="noStrike" spc="-1" dirty="0">
              <a:solidFill>
                <a:schemeClr val="accent4">
                  <a:lumMod val="50000"/>
                </a:schemeClr>
              </a:solidFill>
              <a:latin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EB951EB-590C-4EEC-9A71-2EB56AC48A89}"/>
              </a:ext>
            </a:extLst>
          </p:cNvPr>
          <p:cNvPicPr>
            <a:picLocks noChangeAspect="1"/>
          </p:cNvPicPr>
          <p:nvPr/>
        </p:nvPicPr>
        <p:blipFill>
          <a:blip r:embed="rId2"/>
          <a:srcRect t="4741" b="20694"/>
          <a:stretch>
            <a:fillRect/>
          </a:stretch>
        </p:blipFill>
        <p:spPr>
          <a:xfrm>
            <a:off x="20" y="10"/>
            <a:ext cx="9143979" cy="4551208"/>
          </a:xfrm>
          <a:prstGeom prst="rect">
            <a:avLst/>
          </a:prstGeom>
        </p:spPr>
      </p:pic>
    </p:spTree>
    <p:extLst>
      <p:ext uri="{BB962C8B-B14F-4D97-AF65-F5344CB8AC3E}">
        <p14:creationId xmlns:p14="http://schemas.microsoft.com/office/powerpoint/2010/main" val="432201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2AB7BA"/>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6131D7D-D234-8AD4-0CE4-8B68E2AAA1D6}"/>
              </a:ext>
            </a:extLst>
          </p:cNvPr>
          <p:cNvPicPr>
            <a:picLocks noChangeAspect="1"/>
          </p:cNvPicPr>
          <p:nvPr/>
        </p:nvPicPr>
        <p:blipFill>
          <a:blip r:embed="rId2"/>
          <a:stretch>
            <a:fillRect/>
          </a:stretch>
        </p:blipFill>
        <p:spPr>
          <a:xfrm>
            <a:off x="2429" y="0"/>
            <a:ext cx="9139141" cy="5143500"/>
          </a:xfrm>
          <a:prstGeom prst="rect">
            <a:avLst/>
          </a:prstGeom>
        </p:spPr>
      </p:pic>
    </p:spTree>
    <p:extLst>
      <p:ext uri="{BB962C8B-B14F-4D97-AF65-F5344CB8AC3E}">
        <p14:creationId xmlns:p14="http://schemas.microsoft.com/office/powerpoint/2010/main" val="4234451723"/>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2.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1272</TotalTime>
  <Words>5763</Words>
  <Application>Microsoft Office PowerPoint</Application>
  <PresentationFormat>On-screen Show (16:9)</PresentationFormat>
  <Paragraphs>402</Paragraphs>
  <Slides>22</Slides>
  <Notes>20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Arial</vt:lpstr>
      <vt:lpstr>Symbol</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Sakinat TijaniFolorunso</cp:lastModifiedBy>
  <cp:revision>2</cp:revision>
  <dcterms:modified xsi:type="dcterms:W3CDTF">2026-06-12T17:20:36Z</dcterms:modified>
</cp:coreProperties>
</file>

<file path=docProps/core0.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2026-06-11T19:37:13Z</dcterms:created>
  <dc:creator>Prof. Sakinat Oluwabukonla Folorunso</dc:creator>
  <dc:description/>
  <dc:language>en-US</dc:language>
  <cp:lastModifiedBy>Prof. Sakinat Oluwabukonla Folorunso</cp:lastModifiedBy>
  <dcterms:modified xsi:type="dcterms:W3CDTF">2026-06-11T19:37:13Z</dcterms:modified>
  <cp:revision>1</cp:revision>
  <dc:subject>PptxGenJS Presentation</dc:subject>
  <dc:title>Nigeria 2050: Democracy &amp; AI</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r8>20</vt:r8>
  </property>
  <property fmtid="{D5CDD505-2E9C-101B-9397-08002B2CF9AE}" pid="3" name="PresentationFormat">
    <vt:lpwstr>On-screen Show (16:9)</vt:lpwstr>
  </property>
  <property fmtid="{D5CDD505-2E9C-101B-9397-08002B2CF9AE}" pid="4" name="Slides">
    <vt:r8>20</vt:r8>
  </property>
</Properties>
</file>