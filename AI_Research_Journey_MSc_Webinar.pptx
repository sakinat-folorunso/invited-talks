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7310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Introduce yourself briefly. Emphasise that you were once exactly where they are now. Goal: inspire AND give them a concrete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verbal walk-through of agenda. Tell them to save questions for the Q&amp;A slide at the end — or drop them in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personal here. Share one formative story — the moment you knew AI research was your path. Humanise the CV.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Ubuntu: 'I am because we are.' Tie your motivation to something larger than personal career success. Students respond to purpose-driven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students: which of these excites you? Spend 2 minutes on a quick show-of-hands or chat poll. Then say: 'My work spans several of these — and so can yours.'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story of how YOU chose your first research problem. What worked, what you'd do differently. The Venn concept is classic — but make it personal.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time here. Students often underestimate steps 1 and 2. Emphasise that a well-scoped problem is 50% of the work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you don't need all of this on day one. Start with Python + one DL framework + literature reading. The rest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one concrete story per cluster — the paper, the dataset, the surprise finding. Students remember stories, not titles.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WHY this matters: Nigeria's NDPA 2023 legally requires data residency. Federated learning is not just elegant — it is legally necessary for pan-African clinical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students: 'How many of you speak Yorùbá, Hausa, or Igbo at home?' Then ask: 'Does your voice assistant understand you?' That's the problem. That's the opportunity.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your own rejection story. Normalise it. Then talk about your NeurIPS 2024 acceptance — and what the process felt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students to see ARISG as a possible home for their research. Describe your mentoring pipeline and how they can engage — open-source projects, datasets, co-authorship opportunities.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slowly. Pause on item 7 — imposter syndrome is real and pervasive among African researchers. Share your own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energy. Tell them: 'My door is open. Send me your research idea in one paragraph — I will respond.' Then open the floor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3 seed questions ready in case the room is quiet: (1) What AI problem in Nigeria excites you most? (2) What is your biggest fear about starting research? (3) How do you balance coursework and research?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9878B-412C-5DB3-EFCC-310C6D927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E089FB-63F0-BC24-A0B9-53F55E8E0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DF9BEF-3113-F3B5-B6E3-2F84B644A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3 seed questions ready in case the room is quiet: (1) What AI problem in Nigeria excites you most? (2) What is your biggest fear about starting research? (3) How do you balance coursework and research?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504E2-02D7-E1B7-6E17-5B84B23E88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391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cholar.google.com/citations?user=CpOk_oIAAAAJ&amp;hl=en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akinat-Folorunso" TargetMode="External"/><Relationship Id="rId3" Type="http://schemas.openxmlformats.org/officeDocument/2006/relationships/hyperlink" Target="mailto:sakinat.folorunso@oouagoiwoye.edu.ng" TargetMode="External"/><Relationship Id="rId7" Type="http://schemas.openxmlformats.org/officeDocument/2006/relationships/hyperlink" Target="https://sites.google.com/view/sakinatfolorunso/home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in/sakinat-folorunso-8b747760/" TargetMode="External"/><Relationship Id="rId5" Type="http://schemas.openxmlformats.org/officeDocument/2006/relationships/hyperlink" Target="https://orcid.org/0000-0002-7058-8618" TargetMode="External"/><Relationship Id="rId4" Type="http://schemas.openxmlformats.org/officeDocument/2006/relationships/hyperlink" Target="https://scholar.google.com/citations?hl=en&amp;user=CpOk_oIAAAAJ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548640"/>
            <a:ext cx="3840480" cy="3840480"/>
          </a:xfrm>
          <a:prstGeom prst="ellipse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D4A017">
              <a:alpha val="18000"/>
            </a:srgbClr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1645920" cy="64008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Your AI Research Journey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Curiosity to Contribution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5029200" cy="36576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2724912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Sakinat Oluwabukonla Folorunso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 of AI Systems, Olabisi Onabanjo University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Researcher, ARISG | Section EiC, JNSPS | ICTP Associate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Computer Science Webinar  ·  Olabisi Onabanjo University  ·  2026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200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Roadmap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together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11480" y="1453896"/>
            <a:ext cx="457200" cy="457200"/>
          </a:xfrm>
          <a:prstGeom prst="ellipse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114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48132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45389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am I &amp; Why AI Research?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0040" y="2194560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411480" y="2322576"/>
            <a:ext cx="457200" cy="457200"/>
          </a:xfrm>
          <a:prstGeom prst="ellipse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41148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35000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232257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Research Landscape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20040" y="3063240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411480" y="3191256"/>
            <a:ext cx="457200" cy="457200"/>
          </a:xfrm>
          <a:prstGeom prst="ellipse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41148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21868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319125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Your Research Problem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320040" y="3931920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7"/>
          <p:cNvSpPr/>
          <p:nvPr/>
        </p:nvSpPr>
        <p:spPr>
          <a:xfrm>
            <a:off x="411480" y="4059936"/>
            <a:ext cx="457200" cy="457200"/>
          </a:xfrm>
          <a:prstGeom prst="ellipse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18"/>
          <p:cNvSpPr/>
          <p:nvPr/>
        </p:nvSpPr>
        <p:spPr>
          <a:xfrm>
            <a:off x="41148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087368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17320" y="405993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Research Skills &amp; Tools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4800600" y="1325880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1"/>
          <p:cNvSpPr/>
          <p:nvPr/>
        </p:nvSpPr>
        <p:spPr>
          <a:xfrm>
            <a:off x="4892040" y="1453896"/>
            <a:ext cx="457200" cy="457200"/>
          </a:xfrm>
          <a:prstGeom prst="ellipse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2"/>
          <p:cNvSpPr/>
          <p:nvPr/>
        </p:nvSpPr>
        <p:spPr>
          <a:xfrm>
            <a:off x="489204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1481328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897880" y="145389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Showcasing My Research Areas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4800600" y="2194560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25"/>
          <p:cNvSpPr/>
          <p:nvPr/>
        </p:nvSpPr>
        <p:spPr>
          <a:xfrm>
            <a:off x="4892040" y="2322576"/>
            <a:ext cx="457200" cy="457200"/>
          </a:xfrm>
          <a:prstGeom prst="ellipse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26"/>
          <p:cNvSpPr/>
          <p:nvPr/>
        </p:nvSpPr>
        <p:spPr>
          <a:xfrm>
            <a:off x="489204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0680" y="2350008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897880" y="232257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&amp; Community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4800600" y="3063240"/>
            <a:ext cx="41605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29"/>
          <p:cNvSpPr/>
          <p:nvPr/>
        </p:nvSpPr>
        <p:spPr>
          <a:xfrm>
            <a:off x="4892040" y="3191256"/>
            <a:ext cx="457200" cy="457200"/>
          </a:xfrm>
          <a:prstGeom prst="ellipse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0"/>
          <p:cNvSpPr/>
          <p:nvPr/>
        </p:nvSpPr>
        <p:spPr>
          <a:xfrm>
            <a:off x="489204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0680" y="3218688"/>
            <a:ext cx="365760" cy="3657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897880" y="319125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— Your Research Journey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Am I?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journey rooted in African soil and global ambition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1A1464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2194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at OOU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4600" y="132588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1A1464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514600" y="1508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14600" y="2194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1A1464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20040" y="31546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0040" y="3840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Clusters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14600" y="297180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1A1464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514600" y="31546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514600" y="3840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Grants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298448"/>
            <a:ext cx="416052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846320" y="1508760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Professor, Dept. of CS, OOU, Ago-Iwoye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Researcher — ARISG (Artificial Intelligence System Research Group, OOU)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Editor-in-Chief, Journal of Nigerian Society of Physical Sciences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ICTP Regular Associate | NeurIPS 2024 acceptance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— Google exploreCSR &amp; Black in AI grants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Co-PI — Royal Academy of Engineering &amp; TETFund grants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AI Strategy (NAIS) Nigeria co-creation contributor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 Research — especially in Africa?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182880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60520" cy="1737360"/>
          </a:xfrm>
          <a:prstGeom prst="roundRect">
            <a:avLst>
              <a:gd name="adj" fmla="val 6316"/>
            </a:avLst>
          </a:prstGeom>
          <a:solidFill>
            <a:srgbClr val="1E1A6E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417320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3272" y="1417320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World Needs African Voices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84632" y="189280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systems trained without African data fail African people. Your research changes that.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234440"/>
            <a:ext cx="4160520" cy="1737360"/>
          </a:xfrm>
          <a:prstGeom prst="roundRect">
            <a:avLst>
              <a:gd name="adj" fmla="val 6316"/>
            </a:avLst>
          </a:prstGeom>
          <a:solidFill>
            <a:srgbClr val="1E1A6E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417320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68112" y="1417320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Transforms Every Domain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919472" y="189280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Healthcare, agriculture, security, culture — every field is being reimagined. You can lead that reimagination.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20040" y="3154680"/>
            <a:ext cx="4160520" cy="1737360"/>
          </a:xfrm>
          <a:prstGeom prst="roundRect">
            <a:avLst>
              <a:gd name="adj" fmla="val 6316"/>
            </a:avLst>
          </a:prstGeom>
          <a:solidFill>
            <a:srgbClr val="1E1A6E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337560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33272" y="3337560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&amp; Legacy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84632" y="381304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builds institutions, trains the next generation, and creates lasting impact beyond your own career.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754880" y="3154680"/>
            <a:ext cx="4160520" cy="1737360"/>
          </a:xfrm>
          <a:prstGeom prst="roundRect">
            <a:avLst>
              <a:gd name="adj" fmla="val 6316"/>
            </a:avLst>
          </a:prstGeom>
          <a:solidFill>
            <a:srgbClr val="1E1A6E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337560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68112" y="3337560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Frontier Problems Are Unsolved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919472" y="381304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Low-resource languages, federated learning across poor connectivity, FAIR data in Africa — real open problems.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Research Landscape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the territory before you start exploring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965960" cy="1554480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1965960" cy="475488"/>
          </a:xfrm>
          <a:prstGeom prst="roundRect">
            <a:avLst>
              <a:gd name="adj" fmla="val 25000"/>
            </a:avLst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20040" y="1719072"/>
            <a:ext cx="1965960" cy="164592"/>
          </a:xfrm>
          <a:prstGeom prst="rect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417320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190195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Deep Learning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423160" y="1371600"/>
            <a:ext cx="1965960" cy="1554480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2423160" y="1371600"/>
            <a:ext cx="1965960" cy="475488"/>
          </a:xfrm>
          <a:prstGeom prst="roundRect">
            <a:avLst>
              <a:gd name="adj" fmla="val 25000"/>
            </a:avLst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2423160" y="1719072"/>
            <a:ext cx="1965960" cy="164592"/>
          </a:xfrm>
          <a:prstGeom prst="rect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1417320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14600" y="190195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Language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26280" y="1371600"/>
            <a:ext cx="1965960" cy="1554480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4526280" y="1371600"/>
            <a:ext cx="1965960" cy="475488"/>
          </a:xfrm>
          <a:prstGeom prst="roundRect">
            <a:avLst>
              <a:gd name="adj" fmla="val 25000"/>
            </a:avLst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4526280" y="1719072"/>
            <a:ext cx="1965960" cy="164592"/>
          </a:xfrm>
          <a:prstGeom prst="rect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1417320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17720" y="190195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Medical Imaging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629400" y="1371600"/>
            <a:ext cx="1965960" cy="1554480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7"/>
          <p:cNvSpPr/>
          <p:nvPr/>
        </p:nvSpPr>
        <p:spPr>
          <a:xfrm>
            <a:off x="6629400" y="1371600"/>
            <a:ext cx="1965960" cy="475488"/>
          </a:xfrm>
          <a:prstGeom prst="roundRect">
            <a:avLst>
              <a:gd name="adj" fmla="val 25000"/>
            </a:avLst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6629400" y="1719072"/>
            <a:ext cx="1965960" cy="164592"/>
          </a:xfrm>
          <a:prstGeom prst="rect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2" y="1417320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20840" y="190195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AI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320040" y="3063240"/>
            <a:ext cx="1965960" cy="1554480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1"/>
          <p:cNvSpPr/>
          <p:nvPr/>
        </p:nvSpPr>
        <p:spPr>
          <a:xfrm>
            <a:off x="320040" y="3063240"/>
            <a:ext cx="1965960" cy="475488"/>
          </a:xfrm>
          <a:prstGeom prst="roundRect">
            <a:avLst>
              <a:gd name="adj" fmla="val 25000"/>
            </a:avLst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2"/>
          <p:cNvSpPr/>
          <p:nvPr/>
        </p:nvSpPr>
        <p:spPr>
          <a:xfrm>
            <a:off x="320040" y="3410712"/>
            <a:ext cx="1965960" cy="164592"/>
          </a:xfrm>
          <a:prstGeom prst="rect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92" y="3108960"/>
            <a:ext cx="402336" cy="40233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11480" y="359359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Data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2423160" y="3063240"/>
            <a:ext cx="1965960" cy="1554480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25"/>
          <p:cNvSpPr/>
          <p:nvPr/>
        </p:nvSpPr>
        <p:spPr>
          <a:xfrm>
            <a:off x="2423160" y="3063240"/>
            <a:ext cx="1965960" cy="475488"/>
          </a:xfrm>
          <a:prstGeom prst="roundRect">
            <a:avLst>
              <a:gd name="adj" fmla="val 25000"/>
            </a:avLst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26"/>
          <p:cNvSpPr/>
          <p:nvPr/>
        </p:nvSpPr>
        <p:spPr>
          <a:xfrm>
            <a:off x="2423160" y="3410712"/>
            <a:ext cx="1965960" cy="164592"/>
          </a:xfrm>
          <a:prstGeom prst="rect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82112" y="3108960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2514600" y="359359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AI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MIR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4526280" y="3063240"/>
            <a:ext cx="1965960" cy="1554480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29"/>
          <p:cNvSpPr/>
          <p:nvPr/>
        </p:nvSpPr>
        <p:spPr>
          <a:xfrm>
            <a:off x="4526280" y="3063240"/>
            <a:ext cx="1965960" cy="475488"/>
          </a:xfrm>
          <a:prstGeom prst="roundRect">
            <a:avLst>
              <a:gd name="adj" fmla="val 25000"/>
            </a:avLst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0"/>
          <p:cNvSpPr/>
          <p:nvPr/>
        </p:nvSpPr>
        <p:spPr>
          <a:xfrm>
            <a:off x="4526280" y="3410712"/>
            <a:ext cx="1965960" cy="164592"/>
          </a:xfrm>
          <a:prstGeom prst="rect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5232" y="3108960"/>
            <a:ext cx="402336" cy="40233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4617720" y="359359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6629400" y="3063240"/>
            <a:ext cx="1965960" cy="1554480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2" name="Shape 33"/>
          <p:cNvSpPr/>
          <p:nvPr/>
        </p:nvSpPr>
        <p:spPr>
          <a:xfrm>
            <a:off x="6629400" y="3063240"/>
            <a:ext cx="1965960" cy="475488"/>
          </a:xfrm>
          <a:prstGeom prst="roundRect">
            <a:avLst>
              <a:gd name="adj" fmla="val 25000"/>
            </a:avLst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Shape 34"/>
          <p:cNvSpPr/>
          <p:nvPr/>
        </p:nvSpPr>
        <p:spPr>
          <a:xfrm>
            <a:off x="6629400" y="3410712"/>
            <a:ext cx="1965960" cy="164592"/>
          </a:xfrm>
          <a:prstGeom prst="rect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88352" y="3108960"/>
            <a:ext cx="402336" cy="402336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6720840" y="359359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AI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Systems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Your Research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decision you will make as a researcher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49881"/>
            <a:ext cx="3017520" cy="2743200"/>
          </a:xfrm>
          <a:prstGeom prst="ellipse">
            <a:avLst/>
          </a:prstGeom>
          <a:solidFill>
            <a:srgbClr val="1A1464">
              <a:alpha val="85000"/>
            </a:srgbClr>
          </a:solidFill>
          <a:ln w="12700">
            <a:solidFill>
              <a:srgbClr val="1A14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702" y="26746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Passionates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949881"/>
            <a:ext cx="3017520" cy="2743200"/>
          </a:xfrm>
          <a:prstGeom prst="ellipse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754880" y="2452801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65960" y="1538401"/>
            <a:ext cx="3017520" cy="2743200"/>
          </a:xfrm>
          <a:prstGeom prst="ellipse">
            <a:avLst/>
          </a:prstGeom>
          <a:solidFill>
            <a:srgbClr val="D4A017">
              <a:alpha val="78000"/>
            </a:srgbClr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344783" y="1417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60320" y="2892417"/>
            <a:ext cx="196596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560320" y="28763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Research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Sweet Spot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1298448"/>
            <a:ext cx="2377440" cy="3520440"/>
          </a:xfrm>
          <a:prstGeom prst="roundRect">
            <a:avLst>
              <a:gd name="adj" fmla="val 4615"/>
            </a:avLst>
          </a:prstGeom>
          <a:solidFill>
            <a:srgbClr val="1A1464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67512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Tips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192024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10 recent papers in your target area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3 open problems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can I get data?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can I finish in 12–18 months?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to a supervisor early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matters: Nigerian problems deserve Nigerian solutions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 Process — Step by Step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roadmap for your first AI project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29768" y="1453896"/>
            <a:ext cx="438912" cy="438912"/>
          </a:xfrm>
          <a:prstGeom prst="ellipse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29768" y="1453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49047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99032" y="14813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1947672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Scholar, Semantic Scholar, Scopus. Read surveys first, then landmark papers.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64408" y="132588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3374136" y="1453896"/>
            <a:ext cx="438912" cy="438912"/>
          </a:xfrm>
          <a:prstGeom prst="ellipse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3374136" y="1453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4488" y="149047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43400" y="14813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Formulation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401568" y="1947672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inputs, outputs, constraints. Write a one-paragraph problem statement.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208776" y="132588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6318504" y="1453896"/>
            <a:ext cx="438912" cy="438912"/>
          </a:xfrm>
          <a:prstGeom prst="ellipse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6"/>
          <p:cNvSpPr/>
          <p:nvPr/>
        </p:nvSpPr>
        <p:spPr>
          <a:xfrm>
            <a:off x="6318504" y="1453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8856" y="1490472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287768" y="14813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Acquisition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45936" y="1947672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open datasets or collect your own. Always document source, license, limitations.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320040" y="315468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0"/>
          <p:cNvSpPr/>
          <p:nvPr/>
        </p:nvSpPr>
        <p:spPr>
          <a:xfrm>
            <a:off x="429768" y="3282696"/>
            <a:ext cx="438912" cy="438912"/>
          </a:xfrm>
          <a:prstGeom prst="ellipse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1"/>
          <p:cNvSpPr/>
          <p:nvPr/>
        </p:nvSpPr>
        <p:spPr>
          <a:xfrm>
            <a:off x="429768" y="32826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319272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99032" y="33101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Model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57200" y="3776472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baselines, design your method, justify every design decision.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3264408" y="315468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5"/>
          <p:cNvSpPr/>
          <p:nvPr/>
        </p:nvSpPr>
        <p:spPr>
          <a:xfrm>
            <a:off x="3374136" y="3282696"/>
            <a:ext cx="438912" cy="438912"/>
          </a:xfrm>
          <a:prstGeom prst="ellipse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6"/>
          <p:cNvSpPr/>
          <p:nvPr/>
        </p:nvSpPr>
        <p:spPr>
          <a:xfrm>
            <a:off x="3374136" y="32826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4488" y="3319272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343400" y="33101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Experiments &amp; Results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3401568" y="3776472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code (seed=42). Report metrics with confidence intervals.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6208776" y="315468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30"/>
          <p:cNvSpPr/>
          <p:nvPr/>
        </p:nvSpPr>
        <p:spPr>
          <a:xfrm>
            <a:off x="6318504" y="3282696"/>
            <a:ext cx="438912" cy="438912"/>
          </a:xfrm>
          <a:prstGeom prst="ellipse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1"/>
          <p:cNvSpPr/>
          <p:nvPr/>
        </p:nvSpPr>
        <p:spPr>
          <a:xfrm>
            <a:off x="6318504" y="32826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8856" y="3319272"/>
            <a:ext cx="365760" cy="36576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287768" y="33101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&amp; Submission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6345936" y="3776472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right venue. Write the abstract last. Follow reviewer guidelines.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Tools &amp; Skills Every AI Researcher Needs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01168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029968" cy="3703320"/>
          </a:xfrm>
          <a:prstGeom prst="roundRect">
            <a:avLst>
              <a:gd name="adj" fmla="val 5405"/>
            </a:avLst>
          </a:prstGeom>
          <a:solidFill>
            <a:srgbClr val="1E1A6E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1572768" cy="36576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920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(numpy, pandas, sklearn)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or TensorFlow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/ Linux basics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96312" y="1143000"/>
            <a:ext cx="2029968" cy="3703320"/>
          </a:xfrm>
          <a:prstGeom prst="roundRect">
            <a:avLst>
              <a:gd name="adj" fmla="val 5405"/>
            </a:avLst>
          </a:prstGeom>
          <a:solidFill>
            <a:srgbClr val="1E1A6E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587752" y="12344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&amp; Stats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24912" y="1664208"/>
            <a:ext cx="1572768" cy="36576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587752" y="1783080"/>
            <a:ext cx="1874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(matrices, eigenvalues)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&amp; Bayes theorem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(gradients, backprop)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(CI, p-values, effect size)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theory basics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72584" y="1143000"/>
            <a:ext cx="2029968" cy="3703320"/>
          </a:xfrm>
          <a:prstGeom prst="roundRect">
            <a:avLst>
              <a:gd name="adj" fmla="val 5405"/>
            </a:avLst>
          </a:prstGeom>
          <a:solidFill>
            <a:srgbClr val="1E1A6E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64024" y="12344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Skills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01184" y="1664208"/>
            <a:ext cx="1572768" cy="36576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764024" y="1783080"/>
            <a:ext cx="1874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literature review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writing (LaTeX)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reading of papers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&amp; open science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ethics &amp; data privacy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48856" y="1143000"/>
            <a:ext cx="2029968" cy="3703320"/>
          </a:xfrm>
          <a:prstGeom prst="roundRect">
            <a:avLst>
              <a:gd name="adj" fmla="val 5405"/>
            </a:avLst>
          </a:prstGeom>
          <a:solidFill>
            <a:srgbClr val="1E1A6E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940296" y="12344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077456" y="1664208"/>
            <a:ext cx="1572768" cy="36576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940296" y="1783080"/>
            <a:ext cx="1874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 — Deep Learning Indaba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in AI / WiML / DSN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contributions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Twitter/X academic threads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Research — Five Interconnected Clusters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work and why it matters for Nigeria &amp; Africa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1371600"/>
            <a:ext cx="1627632" cy="34290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82880" y="1371600"/>
            <a:ext cx="1627632" cy="530352"/>
          </a:xfrm>
          <a:prstGeom prst="roundRect">
            <a:avLst>
              <a:gd name="adj" fmla="val 20690"/>
            </a:avLst>
          </a:prstGeom>
          <a:solidFill>
            <a:srgbClr val="E53E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82880" y="1773936"/>
            <a:ext cx="1627632" cy="164592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435608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196596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AI &amp; Epidemiology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2670048"/>
            <a:ext cx="1261872" cy="36576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274320" y="2788920"/>
            <a:ext cx="14447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disease diagnosis, malaria prediction, COVID-19 analytics, TB/HIV co-infection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947672" y="1371600"/>
            <a:ext cx="1627632" cy="34290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1947672" y="1371600"/>
            <a:ext cx="1627632" cy="530352"/>
          </a:xfrm>
          <a:prstGeom prst="roundRect">
            <a:avLst>
              <a:gd name="adj" fmla="val 20690"/>
            </a:avLst>
          </a:pr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1947672" y="1773936"/>
            <a:ext cx="1627632" cy="164592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1435608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39112" y="196596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Methodology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130552" y="2670048"/>
            <a:ext cx="1261872" cy="36576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5"/>
          <p:cNvSpPr/>
          <p:nvPr/>
        </p:nvSpPr>
        <p:spPr>
          <a:xfrm>
            <a:off x="2039112" y="2788920"/>
            <a:ext cx="14447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imbalance, ensemble learning, transfer learning, multi-task vs. multi-label learning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3712464" y="1371600"/>
            <a:ext cx="1627632" cy="34290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7"/>
          <p:cNvSpPr/>
          <p:nvPr/>
        </p:nvSpPr>
        <p:spPr>
          <a:xfrm>
            <a:off x="3712464" y="1371600"/>
            <a:ext cx="1627632" cy="530352"/>
          </a:xfrm>
          <a:prstGeom prst="roundRect">
            <a:avLst>
              <a:gd name="adj" fmla="val 20690"/>
            </a:avLst>
          </a:prstGeom>
          <a:solidFill>
            <a:srgbClr val="38A16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18"/>
          <p:cNvSpPr/>
          <p:nvPr/>
        </p:nvSpPr>
        <p:spPr>
          <a:xfrm>
            <a:off x="3712464" y="1773936"/>
            <a:ext cx="1627632" cy="164592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1435608"/>
            <a:ext cx="402336" cy="40233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803904" y="196596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Data &amp; Health Governance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3895344" y="2670048"/>
            <a:ext cx="1261872" cy="36576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1"/>
          <p:cNvSpPr/>
          <p:nvPr/>
        </p:nvSpPr>
        <p:spPr>
          <a:xfrm>
            <a:off x="3803904" y="2788920"/>
            <a:ext cx="14447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data infrastructure, curriculum development, VODAN-Africa, African data sovereignty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5477256" y="1371600"/>
            <a:ext cx="1627632" cy="34290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3"/>
          <p:cNvSpPr/>
          <p:nvPr/>
        </p:nvSpPr>
        <p:spPr>
          <a:xfrm>
            <a:off x="5477256" y="1371600"/>
            <a:ext cx="1627632" cy="530352"/>
          </a:xfrm>
          <a:prstGeom prst="roundRect">
            <a:avLst>
              <a:gd name="adj" fmla="val 20690"/>
            </a:avLst>
          </a:prstGeom>
          <a:solidFill>
            <a:srgbClr val="D69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4"/>
          <p:cNvSpPr/>
          <p:nvPr/>
        </p:nvSpPr>
        <p:spPr>
          <a:xfrm>
            <a:off x="5477256" y="1773936"/>
            <a:ext cx="1627632" cy="164592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904" y="1435608"/>
            <a:ext cx="402336" cy="40233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568696" y="196596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 &amp; IoT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5660136" y="2670048"/>
            <a:ext cx="1261872" cy="36576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27"/>
          <p:cNvSpPr/>
          <p:nvPr/>
        </p:nvSpPr>
        <p:spPr>
          <a:xfrm>
            <a:off x="5568696" y="2788920"/>
            <a:ext cx="14447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IIoT intrusion detection, botnet detection, IoMT systems, blockchain for healthcare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7242048" y="1371600"/>
            <a:ext cx="1627632" cy="34290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29"/>
          <p:cNvSpPr/>
          <p:nvPr/>
        </p:nvSpPr>
        <p:spPr>
          <a:xfrm>
            <a:off x="7242048" y="1371600"/>
            <a:ext cx="1627632" cy="530352"/>
          </a:xfrm>
          <a:prstGeom prst="roundRect">
            <a:avLst>
              <a:gd name="adj" fmla="val 20690"/>
            </a:avLst>
          </a:prstGeom>
          <a:solidFill>
            <a:srgbClr val="805AD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0"/>
          <p:cNvSpPr/>
          <p:nvPr/>
        </p:nvSpPr>
        <p:spPr>
          <a:xfrm>
            <a:off x="7242048" y="1773936"/>
            <a:ext cx="1627632" cy="164592"/>
          </a:xfrm>
          <a:prstGeom prst="rect">
            <a:avLst/>
          </a:prstGeom>
          <a:solidFill>
            <a:srgbClr val="805AD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4696" y="1435608"/>
            <a:ext cx="402336" cy="40233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333488" y="196596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Cultural AI &amp; MIR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7424928" y="2670048"/>
            <a:ext cx="1261872" cy="36576"/>
          </a:xfrm>
          <a:prstGeom prst="rect">
            <a:avLst/>
          </a:prstGeom>
          <a:solidFill>
            <a:srgbClr val="805AD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3"/>
          <p:cNvSpPr/>
          <p:nvPr/>
        </p:nvSpPr>
        <p:spPr>
          <a:xfrm>
            <a:off x="7333488" y="2788920"/>
            <a:ext cx="14447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Yorùbá/Hausa/Igbo NLP, Nigerian music analysis, NeurIPS 2024, WestAfriMeta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29622" y="25624"/>
            <a:ext cx="88636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Spotlight: Federated Learning for Healthcare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191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AI in low-resource African settings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206240" cy="3520440"/>
          </a:xfrm>
          <a:prstGeom prst="roundRect">
            <a:avLst>
              <a:gd name="adj" fmla="val 3117"/>
            </a:avLst>
          </a:prstGeom>
          <a:solidFill>
            <a:srgbClr val="1A1464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Federated Learning?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38862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r>
              <a:rPr lang="en-US" sz="12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cannot leave hospitals — yet we need large datasets to train good models.
</a:t>
            </a: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Idea: </a:t>
            </a:r>
            <a:r>
              <a:rPr lang="en-US" sz="12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locally, share only model gradients. The global model improves without raw data ever moving.
</a:t>
            </a: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Relevance: </a:t>
            </a:r>
            <a:r>
              <a:rPr lang="en-US" sz="12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Cross-hospital learning under the NDPA 2023 data residency constraints.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1298448"/>
            <a:ext cx="42062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846320" y="14173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Work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00600" y="192024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EBF4F7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919472" y="19751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for Digital Healthcare Systems (2024)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19472" y="226771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FedTrust-Loan: Federated cooperative loan default prediction (Expert Systems with Applications — under review)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2999232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EBF4F7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919472" y="30540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 Medicine (under review)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9472" y="334670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FairFed-CMR: Fairness-aware federated learning for cardiometabolic risk using DiaBD dataset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4078224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EBF4F7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919472" y="41330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PMLR Vol. 319 (IndabaX Nigeria 2026)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19472" y="44256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editor, proceedings including federated and privacy-preserving AI tracks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Spotlight: FAIR Data &amp; African NLP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African data Findable, Accessible, Interoperable, Reusable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160520" cy="3520440"/>
          </a:xfrm>
          <a:prstGeom prst="roundRect">
            <a:avLst>
              <a:gd name="adj" fmla="val 3117"/>
            </a:avLst>
          </a:prstGeom>
          <a:solidFill>
            <a:srgbClr val="1A1464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Data in Africa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938528"/>
            <a:ext cx="3291840" cy="457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3794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VODAN-Africa initiative and our curriculum development work (Data Intelligence, 2022) established frameworks for FAIR data stewardship across 5 African countries.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outputs: FAIR ML pipeline, digital health regulatory guidelines, COVID-19 FAIRification case studies.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298448"/>
            <a:ext cx="4160520" cy="3520440"/>
          </a:xfrm>
          <a:prstGeom prst="roundRect">
            <a:avLst>
              <a:gd name="adj" fmla="val 3117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846320" y="144475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for West African Languages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846320" y="1938528"/>
            <a:ext cx="3291840" cy="457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846320" y="2084832"/>
            <a:ext cx="3794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Yorùbá, Hausa, and Igbo are spoken by 120M+ people but barely represented in LLMs.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2025: Multilingual Nigerian lyrics analysis (Deep Roots, Green Topics)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YoruRhythm: FAIR Yorùbá music dataset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 for Nigerian cultural heritage (ISMIR target)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Published — Venues, Strategy &amp; Community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publish and who to publish with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416052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Conferences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· ICML · ICLR · EMNLP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ISMIR · ECAI · IJCAI · ACL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587752"/>
            <a:ext cx="416052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7200" y="26791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Journals (AI)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04495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 Medicine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 with Applications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Neurocomputing · Pattern Recognition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822192"/>
            <a:ext cx="416052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57200" y="39136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4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African &amp; Regional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2793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DSN · Deep Learning Indaba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IndabaX Nigeria · SACAIR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in AI Workshop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298448"/>
            <a:ext cx="4206240" cy="3520440"/>
          </a:xfrm>
          <a:prstGeom prst="roundRect">
            <a:avLst>
              <a:gd name="adj" fmla="val 3117"/>
            </a:avLst>
          </a:prstGeom>
          <a:solidFill>
            <a:srgbClr val="1A1464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800600" y="144475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 Strategy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00600" y="1965960"/>
            <a:ext cx="391363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aim &amp; scope BEFORE writing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your contribution to the venue's community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abstract first as a clarity check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the venue's own papers (shows you've read them)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 strategically — find complementary expertise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preprint on arXiv for visibility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reviews professionally and thoroughly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rejection is not failure — it is part of the process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D4A017">
              <a:alpha val="1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Ecosystem — ARISG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System Research Group · Dept. of Computer Sciences · OOU, Nigeria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56032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60520" cy="1572768"/>
          </a:xfrm>
          <a:prstGeom prst="roundRect">
            <a:avLst>
              <a:gd name="adj" fmla="val 6977"/>
            </a:avLst>
          </a:prstGeom>
          <a:solidFill>
            <a:srgbClr val="1E1A6E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58191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5819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Data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84632" y="202082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data sovereignty, open dataset production, data governance frameworks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417320"/>
            <a:ext cx="4160520" cy="1572768"/>
          </a:xfrm>
          <a:prstGeom prst="roundRect">
            <a:avLst>
              <a:gd name="adj" fmla="val 6977"/>
            </a:avLst>
          </a:prstGeom>
          <a:solidFill>
            <a:srgbClr val="1E1A6E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58191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5819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 Analytics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19472" y="202082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distributed AI for cross-institution collaboration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20040" y="3200400"/>
            <a:ext cx="4160520" cy="1572768"/>
          </a:xfrm>
          <a:prstGeom prst="roundRect">
            <a:avLst>
              <a:gd name="adj" fmla="val 6977"/>
            </a:avLst>
          </a:prstGeom>
          <a:solidFill>
            <a:srgbClr val="1E1A6E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36499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33649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Indigenous Knowledge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84632" y="380390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Omoluabi ethics, Ubuntu philosophy into AI system design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754880" y="3200400"/>
            <a:ext cx="4160520" cy="1572768"/>
          </a:xfrm>
          <a:prstGeom prst="roundRect">
            <a:avLst>
              <a:gd name="adj" fmla="val 6977"/>
            </a:avLst>
          </a:prstGeom>
          <a:solidFill>
            <a:srgbClr val="1E1A6E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364992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40680" y="33649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&amp; Capacity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919472" y="380390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InternshipInABook™, AIBridge certificate, MSc curricula, mentoring pipeline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Mentoring Advice — What I Wish I Had Known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principles for a sustainable research career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35608"/>
            <a:ext cx="420624" cy="420624"/>
          </a:xfrm>
          <a:prstGeom prst="ellipse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20040" y="1435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" y="141732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narrow, not broad. One well-defined problem beats three vague ones.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167128"/>
            <a:ext cx="420624" cy="420624"/>
          </a:xfrm>
          <a:prstGeom prst="ellipse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20040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" y="214884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day. 2 papers a week compounds into fluency in 12 months.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898648"/>
            <a:ext cx="420624" cy="420624"/>
          </a:xfrm>
          <a:prstGeom prst="ellipse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20040" y="2898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" y="288036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early and often. Bad first drafts beat perfect blank pages.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630168"/>
            <a:ext cx="420624" cy="420624"/>
          </a:xfrm>
          <a:prstGeom prst="ellipse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20040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0392" y="361188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reproducibly from day one: seeds, logs, version control.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4361688"/>
            <a:ext cx="420624" cy="420624"/>
          </a:xfrm>
          <a:prstGeom prst="ellipse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20040" y="4361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" y="434340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community — DSN, IndabaX, Black in AI — before you need them.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73168" y="1435608"/>
            <a:ext cx="420624" cy="420624"/>
          </a:xfrm>
          <a:prstGeom prst="ellipse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773168" y="1435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141732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context is your strength. Nigerian problems are under-researched.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73168" y="2167128"/>
            <a:ext cx="420624" cy="420624"/>
          </a:xfrm>
          <a:prstGeom prst="ellipse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773168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0" y="214884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imposter syndrome. You belong in this field.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73168" y="2898648"/>
            <a:ext cx="420624" cy="420624"/>
          </a:xfrm>
          <a:prstGeom prst="ellipse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773168" y="2898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288036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across disciplines — your best paper may be with a clinician.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73168" y="3630168"/>
            <a:ext cx="420624" cy="420624"/>
          </a:xfrm>
          <a:prstGeom prst="ellipse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773168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361188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Publish, but not at any cost. Quality over quantity always.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73168" y="4361688"/>
            <a:ext cx="420624" cy="420624"/>
          </a:xfrm>
          <a:prstGeom prst="ellipse">
            <a:avLst/>
          </a:prstGeom>
          <a:solidFill>
            <a:srgbClr val="1A146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4773168" y="4361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434340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care of your wellbeing. A sustainable pace beats a sprint.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2743200"/>
            <a:ext cx="3657600" cy="3657600"/>
          </a:xfrm>
          <a:prstGeom prst="ellipse">
            <a:avLst/>
          </a:prstGeom>
          <a:solidFill>
            <a:srgbClr val="028090">
              <a:alpha val="1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D4A017">
              <a:alpha val="1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914400" y="5486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best time to start your research was five years ago.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second best time is today."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057400"/>
            <a:ext cx="274320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25856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93392" y="22128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me on ResearchGate &amp;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Google Scholar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6609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93392" y="261518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ARISG — Dept. of CS, OOU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06324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93392" y="30175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DSN, IndabaX Nigeria &amp; Black in AI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465576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93392" y="341985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reading: 2 papers this week</a:t>
            </a:r>
            <a:endParaRPr lang="en-US" sz="14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867912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993392" y="382219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me with your research idea</a:t>
            </a:r>
            <a:endParaRPr lang="en-US" sz="1450" dirty="0"/>
          </a:p>
        </p:txBody>
      </p:sp>
      <p:sp>
        <p:nvSpPr>
          <p:cNvPr id="16" name="Shape 9"/>
          <p:cNvSpPr/>
          <p:nvPr/>
        </p:nvSpPr>
        <p:spPr>
          <a:xfrm>
            <a:off x="457200" y="4160520"/>
            <a:ext cx="8229600" cy="54864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0"/>
          <p:cNvSpPr/>
          <p:nvPr/>
        </p:nvSpPr>
        <p:spPr>
          <a:xfrm>
            <a:off x="457200" y="42519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Sakinat Oluwabukonla Folorunso  ·  OOU, Ago-Iwoye  ·  ARISG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D4A017">
              <a:alpha val="12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82296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914400" y="3108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 — about AI research, your research idea, my work, or how to get started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joining me today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46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7BABC6-433B-77A7-C5C0-6DFE4EC28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A31BF7D-6905-913A-02B7-09297AB2AD55}"/>
              </a:ext>
            </a:extLst>
          </p:cNvPr>
          <p:cNvSpPr txBox="1"/>
          <p:nvPr/>
        </p:nvSpPr>
        <p:spPr>
          <a:xfrm>
            <a:off x="164855" y="257797"/>
            <a:ext cx="8863589" cy="4266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6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Sakinat Folorunso, PhD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b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Associate Professor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Department of Computer Sciences, Olabisi Onabanjo University, Nigeria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b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Research focus:</a:t>
            </a: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AI Systems; Machine &amp; Federated Learning; NLP; Cultural AI; FAIR Data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b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b="1" u="sng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Contacts:</a:t>
            </a:r>
            <a:r>
              <a:rPr lang="en-US" sz="1800" u="sng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u="sng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| </a:t>
            </a:r>
            <a:r>
              <a:rPr lang="en-US" sz="1800" u="sng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Scholar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| </a:t>
            </a:r>
            <a:r>
              <a:rPr lang="en-US" sz="1800" u="sng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ORCID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| </a:t>
            </a:r>
            <a:r>
              <a:rPr lang="en-US" sz="1800" u="sng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| </a:t>
            </a:r>
            <a:r>
              <a:rPr lang="en-US" sz="1800" u="sng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Website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| </a:t>
            </a:r>
            <a:r>
              <a:rPr lang="en-US" sz="1800" u="sng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GB" sz="18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125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2026</Words>
  <Application>Microsoft Office PowerPoint</Application>
  <PresentationFormat>On-screen Show (16:9)</PresentationFormat>
  <Paragraphs>269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Starting Your AI Research Journey</dc:title>
  <dc:subject>PptxGenJS Presentation</dc:subject>
  <dc:creator>Prof. Dr. Sakinat Oluwabukonla Folorunso</dc:creator>
  <cp:lastModifiedBy>Sakinat TijaniFolorunso</cp:lastModifiedBy>
  <cp:revision>2</cp:revision>
  <dcterms:created xsi:type="dcterms:W3CDTF">2026-06-27T10:19:32Z</dcterms:created>
  <dcterms:modified xsi:type="dcterms:W3CDTF">2026-06-27T10:49:07Z</dcterms:modified>
</cp:coreProperties>
</file>